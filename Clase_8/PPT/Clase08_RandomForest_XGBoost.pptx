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OOT 2010</c:v>
                </c:pt>
              </c:strCache>
            </c:strRef>
          </c:tx>
          <c:spPr>
            <a:solidFill>
              <a:srgbClr val="4A82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Logística</c:v>
                  </c:pt>
                  <c:pt idx="1">
                    <c:v>Árbol</c:v>
                  </c:pt>
                  <c:pt idx="2">
                    <c:v>KNN</c:v>
                  </c:pt>
                  <c:pt idx="3">
                    <c:v>Random Forest</c:v>
                  </c:pt>
                  <c:pt idx="4">
                    <c:v>XGBoost</c:v>
                  </c:pt>
                  <c:pt idx="5">
                    <c:v>Promedio de 3</c:v>
                  </c:pt>
                  <c:pt idx="6">
                    <c:v>SVC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0.704</c:v>
                </c:pt>
                <c:pt idx="1">
                  <c:v>0.7</c:v>
                </c:pt>
                <c:pt idx="2">
                  <c:v>0.686</c:v>
                </c:pt>
                <c:pt idx="3">
                  <c:v>0.698</c:v>
                </c:pt>
                <c:pt idx="4">
                  <c:v>0.704</c:v>
                </c:pt>
                <c:pt idx="5">
                  <c:v>0.703</c:v>
                </c:pt>
                <c:pt idx="6">
                  <c:v>0.609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4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"/>
        </c:scaling>
        <c:delete val="0"/>
        <c:axPos val="b"/>
        <c:majorGridlines>
          <c:spPr>
            <a:ln w="9525" cap="flat">
              <a:solidFill>
                <a:srgbClr val="1E3A7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BB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A2559"/>
                </a:solidFill>
                <a:latin typeface="Calibri"/>
              </a:rPr>
              <a:t>AUC en validación según cuántos árboles votan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votación de los primeros k árboles</c:v>
                </c:pt>
              </c:strCache>
            </c:strRef>
          </c:tx>
          <c:spPr>
            <a:solidFill>
              <a:srgbClr val="1A56E8"/>
            </a:solidFill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0.521</c:v>
                </c:pt>
                <c:pt idx="1">
                  <c:v>0.535</c:v>
                </c:pt>
                <c:pt idx="2">
                  <c:v>0.535</c:v>
                </c:pt>
                <c:pt idx="3">
                  <c:v>0.536</c:v>
                </c:pt>
                <c:pt idx="4">
                  <c:v>0.539</c:v>
                </c:pt>
                <c:pt idx="5">
                  <c:v>0.543</c:v>
                </c:pt>
                <c:pt idx="6">
                  <c:v>0.548</c:v>
                </c:pt>
                <c:pt idx="7">
                  <c:v>0.549</c:v>
                </c:pt>
                <c:pt idx="8">
                  <c:v>0.547</c:v>
                </c:pt>
                <c:pt idx="9">
                  <c:v>0.549</c:v>
                </c:pt>
                <c:pt idx="10">
                  <c:v>0.547</c:v>
                </c:pt>
                <c:pt idx="11">
                  <c:v>0.548</c:v>
                </c:pt>
                <c:pt idx="12">
                  <c:v>0.549</c:v>
                </c:pt>
                <c:pt idx="13">
                  <c:v>0.55</c:v>
                </c:pt>
                <c:pt idx="14">
                  <c:v>0.553</c:v>
                </c:pt>
                <c:pt idx="15">
                  <c:v>0.553</c:v>
                </c:pt>
                <c:pt idx="16">
                  <c:v>0.556</c:v>
                </c:pt>
                <c:pt idx="17">
                  <c:v>0.56</c:v>
                </c:pt>
                <c:pt idx="18">
                  <c:v>0.562</c:v>
                </c:pt>
                <c:pt idx="19">
                  <c:v>0.56</c:v>
                </c:pt>
                <c:pt idx="20">
                  <c:v>0.558</c:v>
                </c:pt>
                <c:pt idx="21">
                  <c:v>0.557</c:v>
                </c:pt>
                <c:pt idx="22">
                  <c:v>0.559</c:v>
                </c:pt>
                <c:pt idx="23">
                  <c:v>0.557</c:v>
                </c:pt>
                <c:pt idx="24">
                  <c:v>0.559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E6115E"/>
            </a:solidFill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0.619</c:v>
                </c:pt>
                <c:pt idx="1">
                  <c:v>0.619</c:v>
                </c:pt>
                <c:pt idx="2">
                  <c:v>0.619</c:v>
                </c:pt>
                <c:pt idx="3">
                  <c:v>0.619</c:v>
                </c:pt>
                <c:pt idx="4">
                  <c:v>0.619</c:v>
                </c:pt>
                <c:pt idx="5">
                  <c:v>0.619</c:v>
                </c:pt>
                <c:pt idx="6">
                  <c:v>0.619</c:v>
                </c:pt>
                <c:pt idx="7">
                  <c:v>0.619</c:v>
                </c:pt>
                <c:pt idx="8">
                  <c:v>0.619</c:v>
                </c:pt>
                <c:pt idx="9">
                  <c:v>0.619</c:v>
                </c:pt>
                <c:pt idx="10">
                  <c:v>0.619</c:v>
                </c:pt>
                <c:pt idx="11">
                  <c:v>0.619</c:v>
                </c:pt>
                <c:pt idx="12">
                  <c:v>0.619</c:v>
                </c:pt>
                <c:pt idx="13">
                  <c:v>0.619</c:v>
                </c:pt>
                <c:pt idx="14">
                  <c:v>0.619</c:v>
                </c:pt>
                <c:pt idx="15">
                  <c:v>0.619</c:v>
                </c:pt>
                <c:pt idx="16">
                  <c:v>0.619</c:v>
                </c:pt>
                <c:pt idx="17">
                  <c:v>0.619</c:v>
                </c:pt>
                <c:pt idx="18">
                  <c:v>0.619</c:v>
                </c:pt>
                <c:pt idx="19">
                  <c:v>0.619</c:v>
                </c:pt>
                <c:pt idx="20">
                  <c:v>0.619</c:v>
                </c:pt>
                <c:pt idx="21">
                  <c:v>0.619</c:v>
                </c:pt>
                <c:pt idx="22">
                  <c:v>0.619</c:v>
                </c:pt>
                <c:pt idx="23">
                  <c:v>0.619</c:v>
                </c:pt>
                <c:pt idx="24">
                  <c:v>0.619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árboles que votan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0.64"/>
          <c:min val="0.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A2559"/>
                </a:solidFill>
                <a:latin typeface="Calibri"/>
              </a:rPr>
              <a:t>AUC según el tamaño mínimo de hoja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0A2559"/>
            </a:solidFill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  <c:pt idx="5">
                    <c:v>200</c:v>
                  </c:pt>
                  <c:pt idx="6">
                    <c:v>400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0.989</c:v>
                </c:pt>
                <c:pt idx="1">
                  <c:v>0.831</c:v>
                </c:pt>
                <c:pt idx="2">
                  <c:v>0.752</c:v>
                </c:pt>
                <c:pt idx="3">
                  <c:v>0.712</c:v>
                </c:pt>
                <c:pt idx="4">
                  <c:v>0.688</c:v>
                </c:pt>
                <c:pt idx="5">
                  <c:v>0.67</c:v>
                </c:pt>
                <c:pt idx="6">
                  <c:v>0.652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OOB (dentro de 2008–2009)</c:v>
                </c:pt>
              </c:strCache>
            </c:strRef>
          </c:tx>
          <c:spPr>
            <a:solidFill>
              <a:srgbClr val="12B886"/>
            </a:solidFill>
            <a:ln w="28575" cap="flat">
              <a:solidFill>
                <a:srgbClr val="12B8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  <c:pt idx="5">
                    <c:v>200</c:v>
                  </c:pt>
                  <c:pt idx="6">
                    <c:v>400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0.569</c:v>
                </c:pt>
                <c:pt idx="1">
                  <c:v>0.631</c:v>
                </c:pt>
                <c:pt idx="2">
                  <c:v>0.637</c:v>
                </c:pt>
                <c:pt idx="3">
                  <c:v>0.639</c:v>
                </c:pt>
                <c:pt idx="4">
                  <c:v>0.642</c:v>
                </c:pt>
                <c:pt idx="5">
                  <c:v>0.644</c:v>
                </c:pt>
                <c:pt idx="6">
                  <c:v>0.635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validación 2009-S2</c:v>
                </c:pt>
              </c:strCache>
            </c:strRef>
          </c:tx>
          <c:spPr>
            <a:solidFill>
              <a:srgbClr val="1A56E8"/>
            </a:solidFill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  <c:pt idx="5">
                    <c:v>200</c:v>
                  </c:pt>
                  <c:pt idx="6">
                    <c:v>400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0.572</c:v>
                </c:pt>
                <c:pt idx="1">
                  <c:v>0.607</c:v>
                </c:pt>
                <c:pt idx="2">
                  <c:v>0.613</c:v>
                </c:pt>
                <c:pt idx="3">
                  <c:v>0.613</c:v>
                </c:pt>
                <c:pt idx="4">
                  <c:v>0.618</c:v>
                </c:pt>
                <c:pt idx="5">
                  <c:v>0.621</c:v>
                </c:pt>
                <c:pt idx="6">
                  <c:v>0.553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min_samples_leaf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A2559"/>
                </a:solidFill>
                <a:latin typeface="Calibri"/>
              </a:rPr>
              <a:t>Por impureza · entrenamiento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impureza</c:v>
                </c:pt>
              </c:strCache>
            </c:strRef>
          </c:tx>
          <c:spPr>
            <a:solidFill>
              <a:srgbClr val="5B6B8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A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contactado_antes</c:v>
                  </c:pt>
                  <c:pt idx="1">
                    <c:v>resultado_previo</c:v>
                  </c:pt>
                  <c:pt idx="2">
                    <c:v>canal</c:v>
                  </c:pt>
                  <c:pt idx="3">
                    <c:v>edad</c:v>
                  </c:pt>
                  <c:pt idx="4">
                    <c:v>estado_civil</c:v>
                  </c:pt>
                  <c:pt idx="5">
                    <c:v>contactos_previos</c:v>
                  </c:pt>
                  <c:pt idx="6">
                    <c:v>ocupacion</c:v>
                  </c:pt>
                  <c:pt idx="7">
                    <c:v>mora_previa</c:v>
                  </c:pt>
                  <c:pt idx="8">
                    <c:v>prestamo_consumo</c:v>
                  </c:pt>
                  <c:pt idx="9">
                    <c:v>hipoteca</c:v>
                  </c:pt>
                  <c:pt idx="10">
                    <c:v>educacion</c:v>
                  </c:pt>
                  <c:pt idx="11">
                    <c:v>dia_semana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0.107</c:v>
                </c:pt>
                <c:pt idx="1">
                  <c:v>0.09</c:v>
                </c:pt>
                <c:pt idx="2">
                  <c:v>0.301</c:v>
                </c:pt>
                <c:pt idx="3">
                  <c:v>0.189</c:v>
                </c:pt>
                <c:pt idx="4">
                  <c:v>0.055</c:v>
                </c:pt>
                <c:pt idx="5">
                  <c:v>0.013</c:v>
                </c:pt>
                <c:pt idx="6">
                  <c:v>0.078</c:v>
                </c:pt>
                <c:pt idx="7">
                  <c:v>0.075</c:v>
                </c:pt>
                <c:pt idx="8">
                  <c:v>0.006</c:v>
                </c:pt>
                <c:pt idx="9">
                  <c:v>0.015</c:v>
                </c:pt>
                <c:pt idx="10">
                  <c:v>0.041</c:v>
                </c:pt>
                <c:pt idx="11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C3A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b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A2559"/>
                </a:solidFill>
                <a:latin typeface="Calibri"/>
              </a:rPr>
              <a:t>Por permutación · caída del AUC en validación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permutación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A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contactado_antes</c:v>
                  </c:pt>
                  <c:pt idx="1">
                    <c:v>resultado_previo</c:v>
                  </c:pt>
                  <c:pt idx="2">
                    <c:v>canal</c:v>
                  </c:pt>
                  <c:pt idx="3">
                    <c:v>edad</c:v>
                  </c:pt>
                  <c:pt idx="4">
                    <c:v>estado_civil</c:v>
                  </c:pt>
                  <c:pt idx="5">
                    <c:v>contactos_previos</c:v>
                  </c:pt>
                  <c:pt idx="6">
                    <c:v>ocupacion</c:v>
                  </c:pt>
                  <c:pt idx="7">
                    <c:v>mora_previa</c:v>
                  </c:pt>
                  <c:pt idx="8">
                    <c:v>prestamo_consumo</c:v>
                  </c:pt>
                  <c:pt idx="9">
                    <c:v>hipoteca</c:v>
                  </c:pt>
                  <c:pt idx="10">
                    <c:v>educacion</c:v>
                  </c:pt>
                  <c:pt idx="11">
                    <c:v>dia_semana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0.0409</c:v>
                </c:pt>
                <c:pt idx="1">
                  <c:v>0.0146</c:v>
                </c:pt>
                <c:pt idx="2">
                  <c:v>0.0124</c:v>
                </c:pt>
                <c:pt idx="3">
                  <c:v>0.0111</c:v>
                </c:pt>
                <c:pt idx="4">
                  <c:v>0.0059</c:v>
                </c:pt>
                <c:pt idx="5">
                  <c:v>0.0016</c:v>
                </c:pt>
                <c:pt idx="6">
                  <c:v>0.0014</c:v>
                </c:pt>
                <c:pt idx="7">
                  <c:v>0.0011</c:v>
                </c:pt>
                <c:pt idx="8">
                  <c:v>0.0004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2C3A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"/>
          <c:min val="0"/>
        </c:scaling>
        <c:delete val="0"/>
        <c:axPos val="b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A2559"/>
                </a:solidFill>
                <a:latin typeface="Calibri"/>
              </a:rPr>
              <a:t>AUC árbol por árbol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0A2559"/>
            </a:solidFill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30</c:v>
                  </c:pt>
                  <c:pt idx="9">
                    <c:v>50</c:v>
                  </c:pt>
                  <c:pt idx="10">
                    <c:v>75</c:v>
                  </c:pt>
                  <c:pt idx="11">
                    <c:v>100</c:v>
                  </c:pt>
                  <c:pt idx="12">
                    <c:v>150</c:v>
                  </c:pt>
                  <c:pt idx="13">
                    <c:v>200</c:v>
                  </c:pt>
                  <c:pt idx="14">
                    <c:v>300</c:v>
                  </c:pt>
                  <c:pt idx="15">
                    <c:v>400</c:v>
                  </c:pt>
                  <c:pt idx="16">
                    <c:v>500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0.611</c:v>
                </c:pt>
                <c:pt idx="1">
                  <c:v>0.612</c:v>
                </c:pt>
                <c:pt idx="2">
                  <c:v>0.614</c:v>
                </c:pt>
                <c:pt idx="3">
                  <c:v>0.63</c:v>
                </c:pt>
                <c:pt idx="4">
                  <c:v>0.64</c:v>
                </c:pt>
                <c:pt idx="5">
                  <c:v>0.643</c:v>
                </c:pt>
                <c:pt idx="6">
                  <c:v>0.645</c:v>
                </c:pt>
                <c:pt idx="7">
                  <c:v>0.646</c:v>
                </c:pt>
                <c:pt idx="8">
                  <c:v>0.652</c:v>
                </c:pt>
                <c:pt idx="9">
                  <c:v>0.656</c:v>
                </c:pt>
                <c:pt idx="10">
                  <c:v>0.66</c:v>
                </c:pt>
                <c:pt idx="11">
                  <c:v>0.663</c:v>
                </c:pt>
                <c:pt idx="12">
                  <c:v>0.669</c:v>
                </c:pt>
                <c:pt idx="13">
                  <c:v>0.674</c:v>
                </c:pt>
                <c:pt idx="14">
                  <c:v>0.683</c:v>
                </c:pt>
                <c:pt idx="15">
                  <c:v>0.689</c:v>
                </c:pt>
                <c:pt idx="16">
                  <c:v>0.695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 2009-S2</c:v>
                </c:pt>
              </c:strCache>
            </c:strRef>
          </c:tx>
          <c:spPr>
            <a:solidFill>
              <a:srgbClr val="1A56E8"/>
            </a:solidFill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30</c:v>
                  </c:pt>
                  <c:pt idx="9">
                    <c:v>50</c:v>
                  </c:pt>
                  <c:pt idx="10">
                    <c:v>75</c:v>
                  </c:pt>
                  <c:pt idx="11">
                    <c:v>100</c:v>
                  </c:pt>
                  <c:pt idx="12">
                    <c:v>150</c:v>
                  </c:pt>
                  <c:pt idx="13">
                    <c:v>200</c:v>
                  </c:pt>
                  <c:pt idx="14">
                    <c:v>300</c:v>
                  </c:pt>
                  <c:pt idx="15">
                    <c:v>400</c:v>
                  </c:pt>
                  <c:pt idx="16">
                    <c:v>500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0.611</c:v>
                </c:pt>
                <c:pt idx="1">
                  <c:v>0.605</c:v>
                </c:pt>
                <c:pt idx="2">
                  <c:v>0.602</c:v>
                </c:pt>
                <c:pt idx="3">
                  <c:v>0.614</c:v>
                </c:pt>
                <c:pt idx="4">
                  <c:v>0.618</c:v>
                </c:pt>
                <c:pt idx="5">
                  <c:v>0.62</c:v>
                </c:pt>
                <c:pt idx="6">
                  <c:v>0.621</c:v>
                </c:pt>
                <c:pt idx="7">
                  <c:v>0.618</c:v>
                </c:pt>
                <c:pt idx="8">
                  <c:v>0.616</c:v>
                </c:pt>
                <c:pt idx="9">
                  <c:v>0.611</c:v>
                </c:pt>
                <c:pt idx="10">
                  <c:v>0.609</c:v>
                </c:pt>
                <c:pt idx="11">
                  <c:v>0.61</c:v>
                </c:pt>
                <c:pt idx="12">
                  <c:v>0.606</c:v>
                </c:pt>
                <c:pt idx="13">
                  <c:v>0.605</c:v>
                </c:pt>
                <c:pt idx="14">
                  <c:v>0.603</c:v>
                </c:pt>
                <c:pt idx="15">
                  <c:v>0.601</c:v>
                </c:pt>
                <c:pt idx="16">
                  <c:v>0.6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2010</c:v>
                </c:pt>
              </c:strCache>
            </c:strRef>
          </c:tx>
          <c:spPr>
            <a:solidFill>
              <a:srgbClr val="E6115E"/>
            </a:solidFill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30</c:v>
                  </c:pt>
                  <c:pt idx="9">
                    <c:v>50</c:v>
                  </c:pt>
                  <c:pt idx="10">
                    <c:v>75</c:v>
                  </c:pt>
                  <c:pt idx="11">
                    <c:v>100</c:v>
                  </c:pt>
                  <c:pt idx="12">
                    <c:v>150</c:v>
                  </c:pt>
                  <c:pt idx="13">
                    <c:v>200</c:v>
                  </c:pt>
                  <c:pt idx="14">
                    <c:v>300</c:v>
                  </c:pt>
                  <c:pt idx="15">
                    <c:v>400</c:v>
                  </c:pt>
                  <c:pt idx="16">
                    <c:v>500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0.686</c:v>
                </c:pt>
                <c:pt idx="1">
                  <c:v>0.679</c:v>
                </c:pt>
                <c:pt idx="2">
                  <c:v>0.674</c:v>
                </c:pt>
                <c:pt idx="3">
                  <c:v>0.69</c:v>
                </c:pt>
                <c:pt idx="4">
                  <c:v>0.697</c:v>
                </c:pt>
                <c:pt idx="5">
                  <c:v>0.697</c:v>
                </c:pt>
                <c:pt idx="6">
                  <c:v>0.7</c:v>
                </c:pt>
                <c:pt idx="7">
                  <c:v>0.697</c:v>
                </c:pt>
                <c:pt idx="8">
                  <c:v>0.694</c:v>
                </c:pt>
                <c:pt idx="9">
                  <c:v>0.695</c:v>
                </c:pt>
                <c:pt idx="10">
                  <c:v>0.691</c:v>
                </c:pt>
                <c:pt idx="11">
                  <c:v>0.694</c:v>
                </c:pt>
                <c:pt idx="12">
                  <c:v>0.692</c:v>
                </c:pt>
                <c:pt idx="13">
                  <c:v>0.692</c:v>
                </c:pt>
                <c:pt idx="14">
                  <c:v>0.69</c:v>
                </c:pt>
                <c:pt idx="15">
                  <c:v>0.69</c:v>
                </c:pt>
                <c:pt idx="16">
                  <c:v>0.69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7"/>
                    </a:solidFill>
                    <a:latin typeface="Arial"/>
                  </a:rPr>
                  <a:t>número de árboles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8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En la Clase 4, con California Housing, XGBoost subió el R² de 0.651 a 0.841. Hoy repetimos la pregunta con el banco: ¿muchos árboles juntos le ganan a la logística? El gráfico es el resultado final: seis modelos muy distintos llegan casi al mismo AUC en 2010. La única mejora consistente viene de promediar tres modelos. Anuncia también que cerramos el Módulo 2 con preguntas tipo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minutos incluyen teoría y laboratorio. El notebook tarda unos dos minutos en correr completo en Colab. Si el tiempo aprieta, el Bloque 2 se puede dar solo con la slide y la demostración 2.2. El Bloque 5 se puede dejar como tarea si el parcial no es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para recordar la Clase 7. La Celda 0 del notebook rearma la base y la logística de la Clase 6, y ahora además deja listas las matrices Xe, Xv, Xo para XGBoost y las funciones de ganancia de la Clase 7. Pregunta a la clase: si en la Clase 4 XGBoost subió tanto el R², ¿qué esperan hoy? Anota las apuestas en la pizarra y vuelve a ellas en el Bloque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la Clase 4: bootstrap y subconjunto de variables por corte. Lo nuevo en clasificación es qué se promedia. El experimento del Ejercicio 1.1: 25 árboles sin límite, cada uno con su bootstrap. Cada uno solo da entre 0.498 y 0.549; la votación sube a 0.559, pero no llega a la logística (0.619). Promediar 25 memorias no reconstruye una señal simple: hay que frenar a cada árbol.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1.3. Tres lecturas. Uno: el valor por defecto de sklearn sobreajusta igual que el árbol sin límite de la Clase 7. Dos: al agrandar las hojas, la validación sube hasta 200 y empata con la logística. Tres: en 400 el OOB y la validación se separan. Antes de mostrar la siguiente slide, pregunta: ¿qué grupo de clientes no puede quedar aislado en una hoja de 400?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1.5. El banco cambió de estrategia: empezó a volver a llamar a sus clientes. En el entrenamiento los contactados son menos del 1 %, en 2010 son más de un tercio. Por eso un error que dentro de 2008–2009 es invisible se vuelve enorme en el futuro. Conecta con la Clase 6: es la misma razón por la que el split aleatorio miente cuando hay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2.1. La impureza viene por columna codificada: hay que sumarla por variable original. Por impureza gana el canal y la edad sale segunda; por permutación, contactado_antes vale más de dos veces lo que cualquier otra. La diferencia sale del mismo fenómeno del Bloque 1: los contactados son pocos en el entrenamiento y muchos en validación. Los valores negativos de permutación se muestran como cero en el 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3.1. Recuerda que el boosting trabaja sobre los log-odds, como la logística: cada árbol suma una pequeña corrección. Lo importante es la forma de las curvas: el entrenamiento sube sin parar y la validación toca techo en unos 15 árboles y después baja. Con estas 12 variables no hay mucho que corregir.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3.2 y 3.3. Insiste en el cuidado con la validación: la usamos para parar y para elegir la profundidad, así que su AUC ya está un poco inflado. El OOT de 2010 no se tocó. Sobre scale_pos_weight: es la receta que aparece en todos los tutoriales de XGBoost para clases desbalanceadas. Como elegimos el umbral por ganancia, no lo necesitamos.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4.1. El promedio es el ensamble más simple: tres modelos que se equivocan de formas distintas, votando. Antes de pasar a la siguiente slide, pregunta: ¿ustedes pondrían en producción el promedio por €305? Que voten. La respuesta depende de si la diferencia es consistente, y eso es el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4.2 y demostración 4.3. El bootstrap responde qué pasaría con otra muestra del mismo 2010. Los umbrales quedan fijos: solo cambian los clientes. Ojo con lo que no mide: no cambia el entrenamiento ni el año. ¿Por qué el promedio sí? Porque los tres modelos se equivocan en clientes distintos, y al promediar esos errores se cancelan en parte. Es la idea del Random Forest con modelos de familias diferentes; en la Clase 13 la llevamos más lejos con el stacking.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4. La pregunta que conviene dejar: ¿qué variables le faltan al banco para que un modelo más complejo tenga algo que encontrar? Ideas: el saldo del cliente, sus productos en el momento de la llamada, su historial transaccional. La macro la dejamos fuera a propósito en la Clase 6 y vuelve en la Clase 14 con el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minutos: una pregunta por clase y su respuesta. Si la fecha del parcial ya está definida, anúnciala aquí y recuerda que entran también los Módulos 1 (regresión, Clases 1 a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1. No se puede saber. No llamar a nadie ya da 92.7 %, porque solo contrata el 7.3 %. Con desbalance se mira AUC, KS, PR-AUC o la ganancia.
2. Se conoce al colgar: cuando hay que decidir a quién llamar, no existe. Es una fuga.
3. p = 0.25. Gini = 1 − 0.0625 − 0.5625 = 0.375. Entropía = 0.811.
4. Gini = 2·AUC − 1 = 0.408. No es el Gini de impureza de los árboles.
5. p &gt; 20/50 = 0.40. Solo vale con probabilidades calibradas, y las nuestras no lo están: el modelo aprendió con un 7 % de éxito.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6. Cambian las probabilidades. No cambia el orden: el AUC queda casi igual y Spearman da 0.94 a 0.98.
7. No: la línea base subió de 0.398 a 0.521. El lift queda igual (1.36 contra 1.35).
8. A la validación. Las hojas de 400 no aíslan a los 342 contactados; el OOB mezcla meses y no ve que en el futuro son muchos más.
9. La logística: la diferencia no es consistente y se explica variable por variable. XGBoost queda como retador.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la fecha del parcial ya está definida, reemplaza «fecha por confirmar» en esta slide antes de la clase. La Clase 9 abre el Módulo 3 con el mismo banco: el maestro de clientes de la Clase 6, ahora sin variable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868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CLASE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árboles,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techo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63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XGBoost para clasificar, y la tabla completa del Módulo 2, con el mismo caso del banco.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2010 de la logística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XGBoost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+€305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ganancia si 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promedian tres modelos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árboles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 la parada temprana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(981 en la Clase 4)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Sesión 8 de 15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83680" y="109728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58368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el OOT de 2010: seis modelos, casi el mismo techo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bloques con el mismo caso del banco y el cierre del Módulo 2.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quedamos y las dos preguntas del día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para clasificar: votos, hojas mínimas y el OOB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mira el bosque? Importancia por impureza y por permutación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en clasificación: parada temprana y scale_pos_weight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tabla del Módulo 2 y el bootstrap de la ganancia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del Módulo 2: preguntas tipo examen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2103120"/>
            <a:ext cx="38862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606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un Random Forest para clasificar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no alcanza el OOB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importancias medidas en datos nuevos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bootstrap si una diferencia es real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4617720"/>
            <a:ext cx="3886200" cy="1417320"/>
          </a:xfrm>
          <a:prstGeom prst="roundRect">
            <a:avLst>
              <a:gd name="adj" fmla="val 38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7731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importante. </a:t>
            </a:r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decide qué modelo va a producción, y por qué una diferencia de €300 no basta por sí sola.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quedamos: el umbral vale más que el modelo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modelos, cada uno con el umbral que más ganaba en validación, aplicado sin tocar en 2010.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€14 455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con el umbral de validación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a batir: llama a 749 de 2 058 clientes en 2010.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€130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logística, árbol y KNN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propio umbral, los tres quedan prácticamente empatados.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4152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 → 0.841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la Clase 4 con XGBoost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California Housing, juntar árboles cambió todo.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06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· ¿Muchos árboles le ganan a la logística?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54296"/>
            <a:ext cx="5120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XGBoost, ahora para clasificar, con las mismas variables y el mismo corte temporal.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9632" y="41605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4306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¿Cómo sé si una diferencia es real?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654296"/>
            <a:ext cx="5120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2010 hay 2 058 clientes. Con otros 2 058 del mismo año, €300 de ventaja pueden desaparecer.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clasificación, el bosque vota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devuelve la tasa de su hoja; el bosque las promedia. Con hojas puras, es una votación.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= promedio de p</a:t>
            </a:r>
            <a:pPr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pb(x) es la tasa de contratación de la hoja del árbol b donde cae el cliente x. Si 3 de cada 10 árboles dicen «contrata», el bosque da 0.3.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42336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8188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distintos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51480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muestra bootstrap: el resto se repite.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406908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8688" y="42336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48188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25 árboles votando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18688" y="51480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suelto da 0.519 en promedio.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623560" y="2057400"/>
          <a:ext cx="6080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Random Forest sin tocar memoriza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árboles por configuración. min_samples_leaf obliga a que cada hoja tenga al menos ese número de clientes.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20116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2157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1 (el valor por defecto)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5054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0.989 en entrenamiento y 0.572 en validación: memoriza.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33832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5295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200: la elegida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8770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0.621 en validación: empata con la logística (0.619).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26680" y="47548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9011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400: algo se rompe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2486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casi no se mueve (0.635); la validación cae a 0.553.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no se enteró porque el futuro cambió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ya contactados son 342 clientes en el entrenamiento. Con hojas de 400, ningún árbol puede aislarlos.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2008–2009-S1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 el 40.4 %, contra 7.0 % del resto. Perderlos casi no mueve el OOB.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20.4 %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validación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 el 64.1 %, contra 33.6 % del resto.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4152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35.2 %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2010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tercio de la lista. Contratan el 74.8 %.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6949440" cy="1645920"/>
          </a:xfrm>
          <a:prstGeom prst="roundRect">
            <a:avLst>
              <a:gd name="adj" fmla="val 333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7083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es un split aleatorio disfrazado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548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se puntúa con los árboles que no lo vieron, pero todos son del mismo período. Mezcla meses igual que el train_test_split de la Clase 6, así que no ve lo que cambia con el tiempo.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2062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sí sirve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700016"/>
            <a:ext cx="3657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configuraciones dentro de un mismo período. Para elegir un modelo que se usará en el futuro, valida con el futuro.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IMPORTANCIAS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importancias, dos respuestas distintas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Random Forest (hojas de 200). Ordenadas por la importancia de permutación.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96596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846320" y="196596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9235440" y="196596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418320" y="2112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418320" y="2459736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usó para aprender. Premia a las variables con muchos cortes, como la edad.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235440" y="365760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18320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Permutación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418320" y="4151376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sirve para predecir. contactado_antes vale 0.041 de AUC.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532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explicarle un modelo al negocio o a un validador de riesgos, usa la permutación medida en datos que el modelo no vio. </a:t>
            </a:r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dia_semana y educacion dan cero: el bosque las usa, pero no generalizan.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XGBOOST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toca techo en 15 árboles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3 y η = 0.05. Cada árbol nuevo mejora el entrenamiento; la validación deja de mejorar enseguida.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7033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02168" y="2176272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500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202168" y="276148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02168" y="3090672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0.645 → 0.695. Validación 0.621 → 0.600.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97764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02168" y="4142232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 vs 11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02168" y="472744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árboles: Clase 4 contra hoy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02168" y="5056632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parada temprana mide cuánta señal hay que exprimir. En California había mucha; aquí, muy poca.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XGBOOST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parada temprana elige; scale_pos_weight no ayuda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early_stopping_rounds = 50 con el AUC de validación. Desde aquí la validación ya se usó: el OOT es el único juez.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319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078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max_depth = 2, con 11 árboles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25696"/>
            <a:ext cx="52120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0.622 en validación, igual que la logística (0.619). Los árboles de 6 niveles aprenden más rápido el entrenamiento y peor el futuro.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205740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12.7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entre positivos del entrenamiento: el class_weight de XGBoost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media 2010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con el 0.5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1 743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2010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entre los dos scores: 0.943. Mueve las probabilidades, no el orden: lo mismo que class_weight en la Clase 7.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TABLA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del Módulo 2: todos llegan al mismo techo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variables y mismo corte. Umbral elegido en validación y aplicado sin tocar en 2010.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7955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"/>
                <a:gridCol w="777240"/>
                <a:gridCol w="914400"/>
                <a:gridCol w="777240"/>
                <a:gridCol w="960120"/>
                <a:gridCol w="1005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en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(prof.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€14 395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 = 201)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rbf (10 000)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€11 495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€14 315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€14 170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logística, RF y 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€14 760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 a todos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€12 930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2011680"/>
            <a:ext cx="2971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2157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el bosque ni XGBoost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505456"/>
            <a:ext cx="2606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€14 315 y €14 170 contra €14 455 de la logística.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3977640"/>
            <a:ext cx="2971800" cy="1783080"/>
          </a:xfrm>
          <a:prstGeom prst="roundRect">
            <a:avLst>
              <a:gd name="adj" fmla="val 307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5400" y="4123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promedio, primero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4471416"/>
            <a:ext cx="2606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€14 760: €305 más que la logística. ¿Es real?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BOOTSTRAP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real la diferencia? Mil versiones de 2010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de cada modelo menos la de la logística, en 1 000 muestras bootstrap del OOT, con los umbrales ya fijados.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768096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−€800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68189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2429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−€600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3177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7417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−€400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8166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2406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43154" y="2331720"/>
            <a:ext cx="0" cy="292608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277394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8143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02383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93131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7371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4505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2 niveles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84429" y="2532888"/>
            <a:ext cx="259183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5427" y="252374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1363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9162" y="3218688"/>
            <a:ext cx="404362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0272" y="320954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221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05066" y="3904488"/>
            <a:ext cx="259183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100" y="389534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5079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tres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22867" y="4590288"/>
            <a:ext cx="1433665" cy="146304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6350">
            <a:solidFill>
              <a:srgbClr val="12B88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55210" y="458114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43200" y="5577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barra: intervalo del 90 % · punto: diferencia media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12480" y="201168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0" y="2157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 el cero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2505456"/>
            <a:ext cx="2926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Árbol, bosque y XGBoost no se distinguen de la logística. XGBoost pierde en el 91 % de las muestras.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12480" y="406908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0" y="4215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en el 99 %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595360" y="4562856"/>
            <a:ext cx="2926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promedio: entre €105 y €500. Poco (un 2 %), pero consistente.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LECCIÓN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complejo solo gana si hay algo que 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algoritmos, dos problemas distintos.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· Clase 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es geográfica: costas, bahías, barrios. Curvas e interacciones.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0.651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0.841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986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que eligió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· Clases 6 a 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42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 la señal está en tres preguntas: contactado antes, canal y resultado previo.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86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que eligió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73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y retador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230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riesgos, la logística queda como modelo oficial y el de árboles como retador (challenger). Si el retador gana por mucho, hay una señal escondida que vale la pena buscar. Si empata, como hoy, se queda la logística: se explica variable por variable.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2 en tres preguntas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entra en el parcial del caso del banco.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arma y se mide un modelo de propensión?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fuentes con control de filas. Sacar las fugas (duracion_seg). Cortar por tiempo. Logística, matriz de confusión, AUC, KS y Gini.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2010: 0.704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corta la lista?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y entropía a mano. Profundidad y k con validación. Desbalance y PR-AUC con su línea base. Umbral por ganancia.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€3 415 → €14 455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9244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¿Muchos árboles le ganan a la logística?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hojas mínimas. El OOB no es validación temporal. Importancia por permutación. Bootstrap de la diferencia.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+€305, promediando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 (1 de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sin mirar el notebook. Las respuestas están en las notas del orador y en el notebook de solución.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tiene 92.7 % de exactitud en el entrenamiento. ¿Es bueno?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sacamos duracion_seg, si es la variable que más predice?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tiene 120 clientes y contratan 30. ¿Gini y entropía?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 tiene AUC 0.704 en 2010. ¿Cuál es su Gini de riesgo?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9560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37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cuesta €20 y cada venta deja €50. ¿Umbral teórico? ¿Por qué no usarlo tal cual?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 (2 de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sin mirar el notebook. Las respuestas están en las notas del orador y en el notebook de solución.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 y qué no con class_weight o scale_pos_weight?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PR-AUC sube de 0.540 en validación a 0.703 en 2010. ¿Mejoró el modelo?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hojas de 400: OOB 0.635 y validación 0.553. ¿A cuál le crees?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gana €14 170 y la logística €14 455. ¿Cuál va a producción?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estas preguntas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respondan en parejas, unos 2 minutos por pregunta, y comparen antes de ver la respuesta. Las preguntas 3 y 4 piden calculadora; el Ejercicio 5.1 las comprueba con código.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clasificación, el bosque promedia las tasas de las hojas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3865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Ajusto min_samples_leaf: el Random Forest por defecto memoriza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9900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mezcla meses: no reemplaza a la validación temporal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5935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Impureza: qué usó para aprender. Permutación: qué le sirve para predecir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1970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parada temprana, y leo cuántos árboles eligió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8006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mueve las probabilidades, no el orden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589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404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declarar un ganador, bootstrap de la diferencia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98080" y="178308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2668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· FECHA POR CONFIRMAR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286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1 y 2: regresión y clasificación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las Clases 1 a 8. Las preguntas de hoy son un buen punto de partida.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93192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2668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9 · MÓDULO 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434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K-Means sobre el maestro de clientes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Dejamos de predecir quién contrata y preguntamos qué tipos de clientes hay.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 · Random Forest y XGBoost para clasificar</dc:title>
  <dc:subject>PptxGenJS Presentation</dc:subject>
  <dc:creator>Josef Renato Rodriguez</dc:creator>
  <cp:lastModifiedBy>Josef Renato Rodriguez</cp:lastModifiedBy>
  <cp:revision>1</cp:revision>
  <dcterms:created xsi:type="dcterms:W3CDTF">2026-10-22T01:16:56Z</dcterms:created>
  <dcterms:modified xsi:type="dcterms:W3CDTF">2026-10-22T01:16:56Z</dcterms:modified>
</cp:coreProperties>
</file>