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46"/>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sigmoide</c:v>
                </c:pt>
              </c:strCache>
            </c:strRef>
          </c:tx>
          <c:spPr>
            <a:ln w="34925" cap="flat">
              <a:solidFill>
                <a:srgbClr val="E6115E"/>
              </a:solidFill>
              <a:prstDash val="solid"/>
              <a:round/>
            </a:ln>
            <a:effectLst/>
          </c:spPr>
          <c:marker>
            <c:symbol val="none"/>
          </c:marker>
          <c:cat>
            <c:strRef>
              <c:f>Sheet1!$A$2:$A$26</c:f>
              <c:strCache>
                <c:ptCount val="25"/>
                <c:pt idx="0">
                  <c:v>-6</c:v>
                </c:pt>
                <c:pt idx="4">
                  <c:v>-4</c:v>
                </c:pt>
                <c:pt idx="8">
                  <c:v>-2</c:v>
                </c:pt>
                <c:pt idx="12">
                  <c:v>0</c:v>
                </c:pt>
                <c:pt idx="16">
                  <c:v>2</c:v>
                </c:pt>
                <c:pt idx="20">
                  <c:v>4</c:v>
                </c:pt>
                <c:pt idx="24">
                  <c:v>6</c:v>
                </c:pt>
              </c:strCache>
            </c:strRef>
          </c:cat>
          <c:val>
            <c:numRef>
              <c:f>Sheet1!$B$2:$B$26</c:f>
              <c:numCache>
                <c:formatCode>General</c:formatCode>
                <c:ptCount val="25"/>
                <c:pt idx="0">
                  <c:v>2E-3</c:v>
                </c:pt>
                <c:pt idx="1">
                  <c:v>4.0000000000000001E-3</c:v>
                </c:pt>
                <c:pt idx="2">
                  <c:v>7.0000000000000001E-3</c:v>
                </c:pt>
                <c:pt idx="3">
                  <c:v>1.0999999999999999E-2</c:v>
                </c:pt>
                <c:pt idx="4">
                  <c:v>1.7999999999999999E-2</c:v>
                </c:pt>
                <c:pt idx="5">
                  <c:v>2.9000000000000001E-2</c:v>
                </c:pt>
                <c:pt idx="6">
                  <c:v>4.7E-2</c:v>
                </c:pt>
                <c:pt idx="7">
                  <c:v>7.5999999999999998E-2</c:v>
                </c:pt>
                <c:pt idx="8">
                  <c:v>0.11899999999999999</c:v>
                </c:pt>
                <c:pt idx="9">
                  <c:v>0.182</c:v>
                </c:pt>
                <c:pt idx="10">
                  <c:v>0.26900000000000002</c:v>
                </c:pt>
                <c:pt idx="11">
                  <c:v>0.378</c:v>
                </c:pt>
                <c:pt idx="12">
                  <c:v>0.5</c:v>
                </c:pt>
                <c:pt idx="13">
                  <c:v>0.622</c:v>
                </c:pt>
                <c:pt idx="14">
                  <c:v>0.73099999999999998</c:v>
                </c:pt>
                <c:pt idx="15">
                  <c:v>0.81799999999999995</c:v>
                </c:pt>
                <c:pt idx="16">
                  <c:v>0.88100000000000001</c:v>
                </c:pt>
                <c:pt idx="17">
                  <c:v>0.92400000000000004</c:v>
                </c:pt>
                <c:pt idx="18">
                  <c:v>0.95299999999999996</c:v>
                </c:pt>
                <c:pt idx="19">
                  <c:v>0.97099999999999997</c:v>
                </c:pt>
                <c:pt idx="20">
                  <c:v>0.98199999999999998</c:v>
                </c:pt>
                <c:pt idx="21">
                  <c:v>0.98899999999999999</c:v>
                </c:pt>
                <c:pt idx="22">
                  <c:v>0.99299999999999999</c:v>
                </c:pt>
                <c:pt idx="23">
                  <c:v>0.996</c:v>
                </c:pt>
                <c:pt idx="24">
                  <c:v>0.998</c:v>
                </c:pt>
              </c:numCache>
            </c:numRef>
          </c:val>
          <c:smooth val="0"/>
          <c:extLst>
            <c:ext xmlns:c16="http://schemas.microsoft.com/office/drawing/2014/chart" uri="{C3380CC4-5D6E-409C-BE32-E72D297353CC}">
              <c16:uniqueId val="{00000000-A680-044B-985B-AC752A7B4091}"/>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50" b="0" i="0" u="none" strike="noStrike">
                    <a:solidFill>
                      <a:srgbClr val="5B6B87"/>
                    </a:solidFill>
                    <a:latin typeface="Arial"/>
                  </a:defRPr>
                </a:pPr>
                <a:r>
                  <a:rPr lang="en-US" sz="1050" b="0" i="0" u="none" strike="noStrike">
                    <a:solidFill>
                      <a:srgbClr val="5B6B87"/>
                    </a:solidFill>
                    <a:latin typeface="Arial"/>
                  </a:rPr>
                  <a:t>z: el puntaje lineal (log-odds)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3E8F2"/>
              </a:solidFill>
              <a:prstDash val="solid"/>
              <a:round/>
            </a:ln>
          </c:spPr>
        </c:majorGridlines>
        <c:title>
          <c:tx>
            <c:rich>
              <a:bodyPr/>
              <a:lstStyle/>
              <a:p>
                <a:pPr>
                  <a:defRPr sz="1050" b="0" i="0" u="none" strike="noStrike">
                    <a:solidFill>
                      <a:srgbClr val="5B6B87"/>
                    </a:solidFill>
                    <a:latin typeface="Arial"/>
                  </a:defRPr>
                </a:pPr>
                <a:r>
                  <a:rPr lang="en-US" sz="1050" b="0" i="0" u="none" strike="noStrike">
                    <a:solidFill>
                      <a:srgbClr val="5B6B87"/>
                    </a:solidFill>
                    <a:latin typeface="Arial"/>
                  </a:rPr>
                  <a:t>probabilidad</a:t>
                </a:r>
              </a:p>
            </c:rich>
          </c:tx>
          <c:overlay val="0"/>
        </c:title>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modelo</c:v>
                </c:pt>
              </c:strCache>
            </c:strRef>
          </c:tx>
          <c:spPr>
            <a:ln w="28575" cap="flat">
              <a:solidFill>
                <a:srgbClr val="1A56E8"/>
              </a:solidFill>
              <a:prstDash val="solid"/>
              <a:round/>
            </a:ln>
            <a:effectLst/>
          </c:spPr>
          <c:marker>
            <c:symbol val="none"/>
          </c:marker>
          <c:xVal>
            <c:numRef>
              <c:f>Sheet1!$A$2:$A$41</c:f>
              <c:numCache>
                <c:formatCode>General</c:formatCode>
                <c:ptCount val="40"/>
                <c:pt idx="0">
                  <c:v>0</c:v>
                </c:pt>
                <c:pt idx="1">
                  <c:v>1.4213197969543147E-2</c:v>
                </c:pt>
                <c:pt idx="2">
                  <c:v>3.0456852791878174E-2</c:v>
                </c:pt>
                <c:pt idx="3">
                  <c:v>4.5685279187817257E-2</c:v>
                </c:pt>
                <c:pt idx="4">
                  <c:v>6.7005076142131983E-2</c:v>
                </c:pt>
                <c:pt idx="5">
                  <c:v>8.0203045685279181E-2</c:v>
                </c:pt>
                <c:pt idx="6">
                  <c:v>9.4416243654822332E-2</c:v>
                </c:pt>
                <c:pt idx="7">
                  <c:v>0.10862944162436548</c:v>
                </c:pt>
                <c:pt idx="8">
                  <c:v>0.11979695431472082</c:v>
                </c:pt>
                <c:pt idx="9">
                  <c:v>0.13807106598984772</c:v>
                </c:pt>
                <c:pt idx="10">
                  <c:v>0.1532994923857868</c:v>
                </c:pt>
                <c:pt idx="11">
                  <c:v>0.16852791878172588</c:v>
                </c:pt>
                <c:pt idx="12">
                  <c:v>0.1918781725888325</c:v>
                </c:pt>
                <c:pt idx="13">
                  <c:v>0.20710659898477157</c:v>
                </c:pt>
                <c:pt idx="14">
                  <c:v>0.24162436548223351</c:v>
                </c:pt>
                <c:pt idx="15">
                  <c:v>0.26091370558375637</c:v>
                </c:pt>
                <c:pt idx="16">
                  <c:v>0.28629441624365481</c:v>
                </c:pt>
                <c:pt idx="17">
                  <c:v>0.31675126903553297</c:v>
                </c:pt>
                <c:pt idx="18">
                  <c:v>0.33807106598984771</c:v>
                </c:pt>
                <c:pt idx="19">
                  <c:v>0.35634517766497464</c:v>
                </c:pt>
                <c:pt idx="20">
                  <c:v>0.37766497461928933</c:v>
                </c:pt>
                <c:pt idx="21">
                  <c:v>0.40710659898477158</c:v>
                </c:pt>
                <c:pt idx="22">
                  <c:v>0.43045685279187818</c:v>
                </c:pt>
                <c:pt idx="23">
                  <c:v>0.45380710659898477</c:v>
                </c:pt>
                <c:pt idx="24">
                  <c:v>0.4730964467005076</c:v>
                </c:pt>
                <c:pt idx="25">
                  <c:v>0.49238578680203043</c:v>
                </c:pt>
                <c:pt idx="26">
                  <c:v>0.51573604060913703</c:v>
                </c:pt>
                <c:pt idx="27">
                  <c:v>0.54314720812182737</c:v>
                </c:pt>
                <c:pt idx="28">
                  <c:v>0.56548223350253812</c:v>
                </c:pt>
                <c:pt idx="29">
                  <c:v>0.6</c:v>
                </c:pt>
                <c:pt idx="30">
                  <c:v>0.62233502538071062</c:v>
                </c:pt>
                <c:pt idx="31">
                  <c:v>0.65583756345177668</c:v>
                </c:pt>
                <c:pt idx="32">
                  <c:v>0.68832487309644674</c:v>
                </c:pt>
                <c:pt idx="33">
                  <c:v>0.71065989847715738</c:v>
                </c:pt>
                <c:pt idx="34">
                  <c:v>0.73705583756345172</c:v>
                </c:pt>
                <c:pt idx="35">
                  <c:v>0.76954314720812178</c:v>
                </c:pt>
                <c:pt idx="36">
                  <c:v>0.82335025380710658</c:v>
                </c:pt>
                <c:pt idx="37">
                  <c:v>0.88324873096446699</c:v>
                </c:pt>
                <c:pt idx="38">
                  <c:v>0.95736040609137052</c:v>
                </c:pt>
                <c:pt idx="39">
                  <c:v>1</c:v>
                </c:pt>
              </c:numCache>
            </c:numRef>
          </c:xVal>
          <c:yVal>
            <c:numRef>
              <c:f>Sheet1!$B$2:$B$41</c:f>
              <c:numCache>
                <c:formatCode>General</c:formatCode>
                <c:ptCount val="40"/>
                <c:pt idx="0">
                  <c:v>0</c:v>
                </c:pt>
                <c:pt idx="1">
                  <c:v>4.7530288909599254E-2</c:v>
                </c:pt>
                <c:pt idx="2">
                  <c:v>8.9468779123951542E-2</c:v>
                </c:pt>
                <c:pt idx="3">
                  <c:v>0.1435228331780056</c:v>
                </c:pt>
                <c:pt idx="4">
                  <c:v>0.17241379310344829</c:v>
                </c:pt>
                <c:pt idx="5">
                  <c:v>0.23112767940354148</c:v>
                </c:pt>
                <c:pt idx="6">
                  <c:v>0.27772600186393293</c:v>
                </c:pt>
                <c:pt idx="7">
                  <c:v>0.32152842497670087</c:v>
                </c:pt>
                <c:pt idx="8">
                  <c:v>0.38024231127679403</c:v>
                </c:pt>
                <c:pt idx="9">
                  <c:v>0.40726933830382106</c:v>
                </c:pt>
                <c:pt idx="10">
                  <c:v>0.45293569431500463</c:v>
                </c:pt>
                <c:pt idx="11">
                  <c:v>0.47809878844361603</c:v>
                </c:pt>
                <c:pt idx="12">
                  <c:v>0.50698974836905875</c:v>
                </c:pt>
                <c:pt idx="13">
                  <c:v>0.52283317800559181</c:v>
                </c:pt>
                <c:pt idx="14">
                  <c:v>0.54147250698974836</c:v>
                </c:pt>
                <c:pt idx="15">
                  <c:v>0.5610438024231128</c:v>
                </c:pt>
                <c:pt idx="16">
                  <c:v>0.57875116495806156</c:v>
                </c:pt>
                <c:pt idx="17">
                  <c:v>0.59552656104380242</c:v>
                </c:pt>
                <c:pt idx="18">
                  <c:v>0.61602982292637465</c:v>
                </c:pt>
                <c:pt idx="19">
                  <c:v>0.63839701770736257</c:v>
                </c:pt>
                <c:pt idx="20">
                  <c:v>0.6579683131407269</c:v>
                </c:pt>
                <c:pt idx="21">
                  <c:v>0.67474370922646787</c:v>
                </c:pt>
                <c:pt idx="22">
                  <c:v>0.69617893755824789</c:v>
                </c:pt>
                <c:pt idx="23">
                  <c:v>0.71481826654240443</c:v>
                </c:pt>
                <c:pt idx="24">
                  <c:v>0.73532152842497667</c:v>
                </c:pt>
                <c:pt idx="25">
                  <c:v>0.75862068965517238</c:v>
                </c:pt>
                <c:pt idx="26">
                  <c:v>0.77912395153774461</c:v>
                </c:pt>
                <c:pt idx="27">
                  <c:v>0.80149114631873253</c:v>
                </c:pt>
                <c:pt idx="28">
                  <c:v>0.82385834109972045</c:v>
                </c:pt>
                <c:pt idx="29">
                  <c:v>0.84622553588070826</c:v>
                </c:pt>
                <c:pt idx="30">
                  <c:v>0.8657968313140727</c:v>
                </c:pt>
                <c:pt idx="31">
                  <c:v>0.88070829450139798</c:v>
                </c:pt>
                <c:pt idx="32">
                  <c:v>0.89468779123951536</c:v>
                </c:pt>
                <c:pt idx="33">
                  <c:v>0.91053122087604843</c:v>
                </c:pt>
                <c:pt idx="34">
                  <c:v>0.93103448275862066</c:v>
                </c:pt>
                <c:pt idx="35">
                  <c:v>0.94687791239515373</c:v>
                </c:pt>
                <c:pt idx="36">
                  <c:v>0.95806150978564775</c:v>
                </c:pt>
                <c:pt idx="37">
                  <c:v>0.97110904007455734</c:v>
                </c:pt>
                <c:pt idx="38">
                  <c:v>0.98602050326188262</c:v>
                </c:pt>
                <c:pt idx="39">
                  <c:v>1</c:v>
                </c:pt>
              </c:numCache>
            </c:numRef>
          </c:yVal>
          <c:smooth val="0"/>
          <c:extLst>
            <c:ext xmlns:c16="http://schemas.microsoft.com/office/drawing/2014/chart" uri="{C3380CC4-5D6E-409C-BE32-E72D297353CC}">
              <c16:uniqueId val="{00000000-EB74-834E-A13E-5FD1623118EA}"/>
            </c:ext>
          </c:extLst>
        </c:ser>
        <c:ser>
          <c:idx val="1"/>
          <c:order val="1"/>
          <c:tx>
            <c:strRef>
              <c:f>Sheet1!$C$1</c:f>
              <c:strCache>
                <c:ptCount val="1"/>
                <c:pt idx="0">
                  <c:v>azar</c:v>
                </c:pt>
              </c:strCache>
            </c:strRef>
          </c:tx>
          <c:spPr>
            <a:ln w="28575" cap="flat">
              <a:solidFill>
                <a:srgbClr val="8A97AD"/>
              </a:solidFill>
              <a:prstDash val="solid"/>
              <a:round/>
            </a:ln>
            <a:effectLst/>
          </c:spPr>
          <c:marker>
            <c:symbol val="none"/>
          </c:marker>
          <c:xVal>
            <c:numRef>
              <c:f>Sheet1!$A$2:$A$41</c:f>
              <c:numCache>
                <c:formatCode>General</c:formatCode>
                <c:ptCount val="40"/>
                <c:pt idx="0">
                  <c:v>0</c:v>
                </c:pt>
                <c:pt idx="1">
                  <c:v>1.4213197969543147E-2</c:v>
                </c:pt>
                <c:pt idx="2">
                  <c:v>3.0456852791878174E-2</c:v>
                </c:pt>
                <c:pt idx="3">
                  <c:v>4.5685279187817257E-2</c:v>
                </c:pt>
                <c:pt idx="4">
                  <c:v>6.7005076142131983E-2</c:v>
                </c:pt>
                <c:pt idx="5">
                  <c:v>8.0203045685279181E-2</c:v>
                </c:pt>
                <c:pt idx="6">
                  <c:v>9.4416243654822332E-2</c:v>
                </c:pt>
                <c:pt idx="7">
                  <c:v>0.10862944162436548</c:v>
                </c:pt>
                <c:pt idx="8">
                  <c:v>0.11979695431472082</c:v>
                </c:pt>
                <c:pt idx="9">
                  <c:v>0.13807106598984772</c:v>
                </c:pt>
                <c:pt idx="10">
                  <c:v>0.1532994923857868</c:v>
                </c:pt>
                <c:pt idx="11">
                  <c:v>0.16852791878172588</c:v>
                </c:pt>
                <c:pt idx="12">
                  <c:v>0.1918781725888325</c:v>
                </c:pt>
                <c:pt idx="13">
                  <c:v>0.20710659898477157</c:v>
                </c:pt>
                <c:pt idx="14">
                  <c:v>0.24162436548223351</c:v>
                </c:pt>
                <c:pt idx="15">
                  <c:v>0.26091370558375637</c:v>
                </c:pt>
                <c:pt idx="16">
                  <c:v>0.28629441624365481</c:v>
                </c:pt>
                <c:pt idx="17">
                  <c:v>0.31675126903553297</c:v>
                </c:pt>
                <c:pt idx="18">
                  <c:v>0.33807106598984771</c:v>
                </c:pt>
                <c:pt idx="19">
                  <c:v>0.35634517766497464</c:v>
                </c:pt>
                <c:pt idx="20">
                  <c:v>0.37766497461928933</c:v>
                </c:pt>
                <c:pt idx="21">
                  <c:v>0.40710659898477158</c:v>
                </c:pt>
                <c:pt idx="22">
                  <c:v>0.43045685279187818</c:v>
                </c:pt>
                <c:pt idx="23">
                  <c:v>0.45380710659898477</c:v>
                </c:pt>
                <c:pt idx="24">
                  <c:v>0.4730964467005076</c:v>
                </c:pt>
                <c:pt idx="25">
                  <c:v>0.49238578680203043</c:v>
                </c:pt>
                <c:pt idx="26">
                  <c:v>0.51573604060913703</c:v>
                </c:pt>
                <c:pt idx="27">
                  <c:v>0.54314720812182737</c:v>
                </c:pt>
                <c:pt idx="28">
                  <c:v>0.56548223350253812</c:v>
                </c:pt>
                <c:pt idx="29">
                  <c:v>0.6</c:v>
                </c:pt>
                <c:pt idx="30">
                  <c:v>0.62233502538071062</c:v>
                </c:pt>
                <c:pt idx="31">
                  <c:v>0.65583756345177668</c:v>
                </c:pt>
                <c:pt idx="32">
                  <c:v>0.68832487309644674</c:v>
                </c:pt>
                <c:pt idx="33">
                  <c:v>0.71065989847715738</c:v>
                </c:pt>
                <c:pt idx="34">
                  <c:v>0.73705583756345172</c:v>
                </c:pt>
                <c:pt idx="35">
                  <c:v>0.76954314720812178</c:v>
                </c:pt>
                <c:pt idx="36">
                  <c:v>0.82335025380710658</c:v>
                </c:pt>
                <c:pt idx="37">
                  <c:v>0.88324873096446699</c:v>
                </c:pt>
                <c:pt idx="38">
                  <c:v>0.95736040609137052</c:v>
                </c:pt>
                <c:pt idx="39">
                  <c:v>1</c:v>
                </c:pt>
              </c:numCache>
            </c:numRef>
          </c:xVal>
          <c:yVal>
            <c:numRef>
              <c:f>Sheet1!$C$2:$C$41</c:f>
              <c:numCache>
                <c:formatCode>General</c:formatCode>
                <c:ptCount val="40"/>
                <c:pt idx="0">
                  <c:v>0</c:v>
                </c:pt>
                <c:pt idx="1">
                  <c:v>1.4213197969543147E-2</c:v>
                </c:pt>
                <c:pt idx="2">
                  <c:v>3.0456852791878174E-2</c:v>
                </c:pt>
                <c:pt idx="3">
                  <c:v>4.5685279187817257E-2</c:v>
                </c:pt>
                <c:pt idx="4">
                  <c:v>6.7005076142131983E-2</c:v>
                </c:pt>
                <c:pt idx="5">
                  <c:v>8.0203045685279181E-2</c:v>
                </c:pt>
                <c:pt idx="6">
                  <c:v>9.4416243654822332E-2</c:v>
                </c:pt>
                <c:pt idx="7">
                  <c:v>0.10862944162436548</c:v>
                </c:pt>
                <c:pt idx="8">
                  <c:v>0.11979695431472082</c:v>
                </c:pt>
                <c:pt idx="9">
                  <c:v>0.13807106598984772</c:v>
                </c:pt>
                <c:pt idx="10">
                  <c:v>0.1532994923857868</c:v>
                </c:pt>
                <c:pt idx="11">
                  <c:v>0.16852791878172588</c:v>
                </c:pt>
                <c:pt idx="12">
                  <c:v>0.1918781725888325</c:v>
                </c:pt>
                <c:pt idx="13">
                  <c:v>0.20710659898477157</c:v>
                </c:pt>
                <c:pt idx="14">
                  <c:v>0.24162436548223351</c:v>
                </c:pt>
                <c:pt idx="15">
                  <c:v>0.26091370558375637</c:v>
                </c:pt>
                <c:pt idx="16">
                  <c:v>0.28629441624365481</c:v>
                </c:pt>
                <c:pt idx="17">
                  <c:v>0.31675126903553297</c:v>
                </c:pt>
                <c:pt idx="18">
                  <c:v>0.33807106598984771</c:v>
                </c:pt>
                <c:pt idx="19">
                  <c:v>0.35634517766497464</c:v>
                </c:pt>
                <c:pt idx="20">
                  <c:v>0.37766497461928933</c:v>
                </c:pt>
                <c:pt idx="21">
                  <c:v>0.40710659898477158</c:v>
                </c:pt>
                <c:pt idx="22">
                  <c:v>0.43045685279187818</c:v>
                </c:pt>
                <c:pt idx="23">
                  <c:v>0.45380710659898477</c:v>
                </c:pt>
                <c:pt idx="24">
                  <c:v>0.4730964467005076</c:v>
                </c:pt>
                <c:pt idx="25">
                  <c:v>0.49238578680203043</c:v>
                </c:pt>
                <c:pt idx="26">
                  <c:v>0.51573604060913703</c:v>
                </c:pt>
                <c:pt idx="27">
                  <c:v>0.54314720812182737</c:v>
                </c:pt>
                <c:pt idx="28">
                  <c:v>0.56548223350253812</c:v>
                </c:pt>
                <c:pt idx="29">
                  <c:v>0.6</c:v>
                </c:pt>
                <c:pt idx="30">
                  <c:v>0.62233502538071062</c:v>
                </c:pt>
                <c:pt idx="31">
                  <c:v>0.65583756345177668</c:v>
                </c:pt>
                <c:pt idx="32">
                  <c:v>0.68832487309644674</c:v>
                </c:pt>
                <c:pt idx="33">
                  <c:v>0.71065989847715738</c:v>
                </c:pt>
                <c:pt idx="34">
                  <c:v>0.73705583756345172</c:v>
                </c:pt>
                <c:pt idx="35">
                  <c:v>0.76954314720812178</c:v>
                </c:pt>
                <c:pt idx="36">
                  <c:v>0.82335025380710658</c:v>
                </c:pt>
                <c:pt idx="37">
                  <c:v>0.88324873096446699</c:v>
                </c:pt>
                <c:pt idx="38">
                  <c:v>0.95736040609137052</c:v>
                </c:pt>
                <c:pt idx="39">
                  <c:v>1</c:v>
                </c:pt>
              </c:numCache>
            </c:numRef>
          </c:yVal>
          <c:smooth val="0"/>
          <c:extLst>
            <c:ext xmlns:c16="http://schemas.microsoft.com/office/drawing/2014/chart" uri="{C3380CC4-5D6E-409C-BE32-E72D297353CC}">
              <c16:uniqueId val="{00000001-EB74-834E-A13E-5FD1623118EA}"/>
            </c:ext>
          </c:extLst>
        </c:ser>
        <c:dLbls>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000" b="0" i="0" u="none" strike="noStrike">
                    <a:solidFill>
                      <a:srgbClr val="5B6B87"/>
                    </a:solidFill>
                    <a:latin typeface="Arial"/>
                  </a:defRPr>
                </a:pPr>
                <a:r>
                  <a:rPr lang="en-US" sz="1000" b="0" i="0" u="none" strike="noStrike">
                    <a:solidFill>
                      <a:srgbClr val="5B6B87"/>
                    </a:solidFill>
                    <a:latin typeface="Arial"/>
                  </a:rPr>
                  <a:t>FPR: no contratantes llamados</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B87"/>
                </a:solidFill>
                <a:latin typeface="Arial"/>
              </a:defRPr>
            </a:pPr>
            <a:endParaRPr lang="en-US"/>
          </a:p>
        </c:txPr>
        <c:crossAx val="2094734552"/>
        <c:crosses val="autoZero"/>
        <c:crossBetween val="midCat"/>
      </c:valAx>
      <c:valAx>
        <c:axId val="2094734552"/>
        <c:scaling>
          <c:orientation val="minMax"/>
          <c:max val="1"/>
          <c:min val="0"/>
        </c:scaling>
        <c:delete val="0"/>
        <c:axPos val="l"/>
        <c:majorGridlines>
          <c:spPr>
            <a:ln w="6350" cap="flat">
              <a:solidFill>
                <a:srgbClr val="E3E8F2"/>
              </a:solidFill>
              <a:prstDash val="solid"/>
              <a:round/>
            </a:ln>
          </c:spPr>
        </c:majorGridlines>
        <c:title>
          <c:tx>
            <c:rich>
              <a:bodyPr/>
              <a:lstStyle/>
              <a:p>
                <a:pPr>
                  <a:defRPr sz="1000" b="0" i="0" u="none" strike="noStrike">
                    <a:solidFill>
                      <a:srgbClr val="5B6B87"/>
                    </a:solidFill>
                    <a:latin typeface="Arial"/>
                  </a:defRPr>
                </a:pPr>
                <a:r>
                  <a:rPr lang="en-US" sz="1000" b="0" i="0" u="none" strike="noStrike">
                    <a:solidFill>
                      <a:srgbClr val="5B6B87"/>
                    </a:solidFill>
                    <a:latin typeface="Arial"/>
                  </a:rPr>
                  <a:t>TPR (recall)</a:t>
                </a:r>
              </a:p>
            </c:rich>
          </c:tx>
          <c:overlay val="0"/>
        </c:title>
        <c:numFmt formatCode="0.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B87"/>
                </a:solidFill>
                <a:latin typeface="Arial"/>
              </a:defRPr>
            </a:pPr>
            <a:endParaRPr lang="en-US"/>
          </a:p>
        </c:txPr>
        <c:crossAx val="2094734554"/>
        <c:crosses val="autoZero"/>
        <c:crossBetween val="midCat"/>
      </c:valAx>
      <c:spPr>
        <a:noFill/>
        <a:ln>
          <a:noFill/>
        </a:ln>
        <a:effectLst/>
      </c:spPr>
    </c:plotArea>
    <c:legend>
      <c:legendPos val="t"/>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6527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imagen de la derecha es el caso entero: el banco llamó muchísimo en 2008 con una tasa de éxito bajísima, y después de la crisis llamó poco y con mucho éxito. Ese cambio va a marcar todo: el split, las métricas y el PSI.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vas retrasado, el PSI se cuenta con una sola slide: vuelve completo en la Clase 14. El bloque 4 no se recorta.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Bloque 1 del notebook. Recorre la línea de izquierda a derecha con una llamada concreta. La decisión del modelo es a quién llamar este mes: en ese momento ni siquiera existen los intentos de esta campaña. Esta tabla es la que van a usar en el Bloque 3 para cazar las fugas.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cinco fuentes salen de la tabla real de UCI. El ID de cliente no existe en el original; lo creamos. También simulamos los defectos que van a encontrar: el ID como texto, clientes repetidos y clientes que faltan en el maestro. La variable n_productos_hoy también es simulada, y es una trampa a propósito.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Bloque 2 completo. Las filas no cambian en ningún peldaño: 41 188 de principio a fin. Si en algún momento crecen, es que una llave no era única. Pregunta al grupo: ¿por qué empezar por las gestiones y no por los clientes? Porque la unidad del modelo es la llamada, no el cliente.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los ejercicios 2.1 y 2.2 y la demostración 2.3. Sobre la macro: el euribor se publica a diario, pero lo que tenemos es el promedio mensual, que solo existe cuando el mes termina. Usar el del mismo mes es una fuga pequeña; la regla es usar el último mes cerrado.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demostración 3.1. Insiste en que la tasa no subió porque la gente quisiera más depósitos, sino porque el banco cambió a quién llamaba. Es drift por cambio de política, muy común en banca: cambian los filtros de una campaña y la población que llega al modelo es otra.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3.2. Las macro (en gris) también separan bien, pero por otra razón: casi no cambian dentro de un mes, así que funcionan como un reloj. Eso se ve en la tabla del bloque 4. La documentación de UCI ya advierte que la duración solo sirve como referencia, no para un modelo real.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sigmoide convierte cualquier número en una probabilidad. Con z = 0, la probabilidad es 0.5. Los coeficientes se estiman maximizando la verosimilitud, no con mínimos cuadrados, pero la intuición es la misma: un efecto por variable. scikit-learn aplica por defecto una regularización L2, la misma idea de Ridge de la Clase 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4.1 y la demostración 4.2: la slide central de la clase. El OOT de 2010 sale más alto que la validación de 2009 porque en 2010 la población es más fácil de ordenar (más clientes ya contactados, con historial informativo); no es que el modelo mejore con el tiempo. Lo importante es la comparación dentro de cada columna.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demostración 4.3. La escala horizontal es logarítmica, para que duplicar y reducir a la mitad se vean del mismo tamaño. Que el fijo convierta menos puede ser por el canal o porque los clientes con fijo son distintos: la logística no lo separa.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5.1. La exactitud es casi inútil aquí: sube o baja con la tasa base. Elegir el umbral según el costo de la llamada y el margen de cada venta es el tema de la Clase 7.</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5.2 y la demostración 5.3. Gini y AUC son la misma información en otra escala. El KS tiene una lectura visual: es la distancia vertical máxima entre la curva ROC y la diagonal. En riesgos de crédito, un KS de 0.3 en un modelo de originación se considera aceptable; aquí, con un caso de marketing, la vara es parecida.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demostración 6.1, solo un adelanto. La hipoteca casi no se mueve: sirve de referencia. El euribor no tiene superposición alguna entre 2008-2009 y 2010: el PSI se dispara. El PSI del score resume todo el cambio de población. Y aun así el AUC de 2010 fue razonable: el PSI no es una métrica de desempeño. En la Clase 14 llegan los meses de 2011 y vemos los tres tipos de drift, incluido uno que el PSI no detecta.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1 del notebook es solo lectura. Si alguien no puede subir el zip, que suba los cinco CSV a una carpeta llamada fuentes. La demostración 4.2 entrena seis modelos: tarda unos segundos.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salida: si alguien les presenta un modelo con AUC 0.89, ¿qué tres preguntas le harían? Cómo cortó los datos, cuándo se conoce cada variable, y cómo le fue fuera de tiempo.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960120"/>
            <a:ext cx="256032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960120"/>
            <a:ext cx="256032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MÓDULO 2 · CLASE 6</a:t>
            </a:r>
            <a:endParaRPr lang="en-US" sz="1100" dirty="0"/>
          </a:p>
        </p:txBody>
      </p:sp>
      <p:sp>
        <p:nvSpPr>
          <p:cNvPr id="4" name="Text 2"/>
          <p:cNvSpPr txBox="1"/>
          <p:nvPr/>
        </p:nvSpPr>
        <p:spPr>
          <a:xfrm>
            <a:off x="502920" y="1508760"/>
            <a:ext cx="6400800" cy="146304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¿A quién</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llamamos?</a:t>
            </a:r>
            <a:endParaRPr lang="en-US" sz="4000" dirty="0"/>
          </a:p>
        </p:txBody>
      </p:sp>
      <p:sp>
        <p:nvSpPr>
          <p:cNvPr id="5" name="Text 3"/>
          <p:cNvSpPr txBox="1"/>
          <p:nvPr/>
        </p:nvSpPr>
        <p:spPr>
          <a:xfrm>
            <a:off x="530352" y="3246120"/>
            <a:ext cx="6217920" cy="731520"/>
          </a:xfrm>
          <a:prstGeom prst="rect">
            <a:avLst/>
          </a:prstGeom>
          <a:noFill/>
          <a:ln/>
        </p:spPr>
        <p:txBody>
          <a:bodyPr wrap="square" lIns="0" tIns="0" rIns="0" bIns="0" rtlCol="0" anchor="t"/>
          <a:lstStyle/>
          <a:p>
            <a:pPr marL="0" indent="0">
              <a:buNone/>
            </a:pPr>
            <a:r>
              <a:rPr lang="en-US" sz="1500" dirty="0">
                <a:solidFill>
                  <a:srgbClr val="C9D4EA"/>
                </a:solidFill>
                <a:latin typeface="Calibri" pitchFamily="34" charset="0"/>
                <a:ea typeface="Calibri" pitchFamily="34" charset="-122"/>
                <a:cs typeface="Calibri" pitchFamily="34" charset="-120"/>
              </a:rPr>
              <a:t>Clasificación con regresión logística, en una campaña real</a:t>
            </a:r>
            <a:endParaRPr lang="en-US" sz="1500" dirty="0"/>
          </a:p>
          <a:p>
            <a:pPr marL="0" indent="0">
              <a:buNone/>
            </a:pPr>
            <a:r>
              <a:rPr lang="en-US" sz="1500" dirty="0">
                <a:solidFill>
                  <a:srgbClr val="C9D4EA"/>
                </a:solidFill>
                <a:latin typeface="Calibri" pitchFamily="34" charset="0"/>
                <a:ea typeface="Calibri" pitchFamily="34" charset="-122"/>
                <a:cs typeface="Calibri" pitchFamily="34" charset="-120"/>
              </a:rPr>
              <a:t>de un banco: cinco fuentes, una escalera y el paso del tiempo.</a:t>
            </a:r>
            <a:endParaRPr lang="en-US" sz="1500" dirty="0"/>
          </a:p>
        </p:txBody>
      </p:sp>
      <p:sp>
        <p:nvSpPr>
          <p:cNvPr id="6" name="Text 4"/>
          <p:cNvSpPr txBox="1"/>
          <p:nvPr/>
        </p:nvSpPr>
        <p:spPr>
          <a:xfrm>
            <a:off x="53035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41 188</a:t>
            </a:r>
            <a:endParaRPr lang="en-US" sz="1800" dirty="0"/>
          </a:p>
        </p:txBody>
      </p:sp>
      <p:sp>
        <p:nvSpPr>
          <p:cNvPr id="7" name="Text 5"/>
          <p:cNvSpPr txBox="1"/>
          <p:nvPr/>
        </p:nvSpPr>
        <p:spPr>
          <a:xfrm>
            <a:off x="530352" y="4709160"/>
            <a:ext cx="2011680" cy="457200"/>
          </a:xfrm>
          <a:prstGeom prst="rect">
            <a:avLst/>
          </a:prstGeom>
          <a:noFill/>
          <a:ln/>
        </p:spPr>
        <p:txBody>
          <a:bodyPr wrap="square" lIns="0" tIns="0" rIns="0" bIns="0" rtlCol="0" anchor="t"/>
          <a:lstStyle/>
          <a:p>
            <a:pPr marL="0" indent="0">
              <a:buNone/>
            </a:pPr>
            <a:r>
              <a:rPr lang="en-US" sz="1150" dirty="0">
                <a:solidFill>
                  <a:srgbClr val="A9B7D4"/>
                </a:solidFill>
                <a:latin typeface="Calibri" pitchFamily="34" charset="0"/>
                <a:ea typeface="Calibri" pitchFamily="34" charset="-122"/>
                <a:cs typeface="Calibri" pitchFamily="34" charset="-120"/>
              </a:rPr>
              <a:t>llamadas reales, 2008–2010</a:t>
            </a:r>
            <a:endParaRPr lang="en-US" sz="1150" dirty="0"/>
          </a:p>
        </p:txBody>
      </p:sp>
      <p:sp>
        <p:nvSpPr>
          <p:cNvPr id="8" name="Text 6"/>
          <p:cNvSpPr txBox="1"/>
          <p:nvPr/>
        </p:nvSpPr>
        <p:spPr>
          <a:xfrm>
            <a:off x="263347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5 fuentes</a:t>
            </a:r>
            <a:endParaRPr lang="en-US" sz="1800" dirty="0"/>
          </a:p>
        </p:txBody>
      </p:sp>
      <p:sp>
        <p:nvSpPr>
          <p:cNvPr id="9" name="Text 7"/>
          <p:cNvSpPr txBox="1"/>
          <p:nvPr/>
        </p:nvSpPr>
        <p:spPr>
          <a:xfrm>
            <a:off x="2633472" y="4709160"/>
            <a:ext cx="2011680" cy="457200"/>
          </a:xfrm>
          <a:prstGeom prst="rect">
            <a:avLst/>
          </a:prstGeom>
          <a:noFill/>
          <a:ln/>
        </p:spPr>
        <p:txBody>
          <a:bodyPr wrap="square" lIns="0" tIns="0" rIns="0" bIns="0" rtlCol="0" anchor="t"/>
          <a:lstStyle/>
          <a:p>
            <a:pPr marL="0" indent="0">
              <a:buNone/>
            </a:pPr>
            <a:r>
              <a:rPr lang="en-US" sz="1150" dirty="0">
                <a:solidFill>
                  <a:srgbClr val="A9B7D4"/>
                </a:solidFill>
                <a:latin typeface="Calibri" pitchFamily="34" charset="0"/>
                <a:ea typeface="Calibri" pitchFamily="34" charset="-122"/>
                <a:cs typeface="Calibri" pitchFamily="34" charset="-120"/>
              </a:rPr>
              <a:t>que hay que pegar</a:t>
            </a:r>
            <a:endParaRPr lang="en-US" sz="1150" dirty="0"/>
          </a:p>
        </p:txBody>
      </p:sp>
      <p:sp>
        <p:nvSpPr>
          <p:cNvPr id="10" name="Text 8"/>
          <p:cNvSpPr txBox="1"/>
          <p:nvPr/>
        </p:nvSpPr>
        <p:spPr>
          <a:xfrm>
            <a:off x="473659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AUC 0.704</a:t>
            </a:r>
            <a:endParaRPr lang="en-US" sz="1800" dirty="0"/>
          </a:p>
        </p:txBody>
      </p:sp>
      <p:sp>
        <p:nvSpPr>
          <p:cNvPr id="11" name="Text 9"/>
          <p:cNvSpPr txBox="1"/>
          <p:nvPr/>
        </p:nvSpPr>
        <p:spPr>
          <a:xfrm>
            <a:off x="4736592" y="4709160"/>
            <a:ext cx="2011680" cy="457200"/>
          </a:xfrm>
          <a:prstGeom prst="rect">
            <a:avLst/>
          </a:prstGeom>
          <a:noFill/>
          <a:ln/>
        </p:spPr>
        <p:txBody>
          <a:bodyPr wrap="square" lIns="0" tIns="0" rIns="0" bIns="0" rtlCol="0" anchor="t"/>
          <a:lstStyle/>
          <a:p>
            <a:pPr marL="0" indent="0">
              <a:buNone/>
            </a:pPr>
            <a:r>
              <a:rPr lang="en-US" sz="1150" dirty="0">
                <a:solidFill>
                  <a:srgbClr val="A9B7D4"/>
                </a:solidFill>
                <a:latin typeface="Calibri" pitchFamily="34" charset="0"/>
                <a:ea typeface="Calibri" pitchFamily="34" charset="-122"/>
                <a:cs typeface="Calibri" pitchFamily="34" charset="-120"/>
              </a:rPr>
              <a:t>fuera de tiempo, 2010</a:t>
            </a:r>
            <a:endParaRPr lang="en-US" sz="1150" dirty="0"/>
          </a:p>
        </p:txBody>
      </p:sp>
      <p:sp>
        <p:nvSpPr>
          <p:cNvPr id="12" name="Text 10"/>
          <p:cNvSpPr txBox="1"/>
          <p:nvPr/>
        </p:nvSpPr>
        <p:spPr>
          <a:xfrm>
            <a:off x="530352" y="5440680"/>
            <a:ext cx="5943600" cy="320040"/>
          </a:xfrm>
          <a:prstGeom prst="rect">
            <a:avLst/>
          </a:prstGeom>
          <a:noFill/>
          <a:ln/>
        </p:spPr>
        <p:txBody>
          <a:bodyPr wrap="square" lIns="0" tIns="0" rIns="0" bIns="0" rtlCol="0" anchor="ctr"/>
          <a:lstStyle/>
          <a:p>
            <a:pPr marL="0" indent="0">
              <a:buNone/>
            </a:pPr>
            <a:r>
              <a:rPr lang="en-US" sz="1400" dirty="0">
                <a:solidFill>
                  <a:srgbClr val="A9B7D4"/>
                </a:solidFill>
                <a:latin typeface="Calibri" pitchFamily="34" charset="0"/>
                <a:ea typeface="Calibri" pitchFamily="34" charset="-122"/>
                <a:cs typeface="Calibri" pitchFamily="34" charset="-120"/>
              </a:rPr>
              <a:t>Docente  </a:t>
            </a:r>
            <a:r>
              <a:rPr lang="en-US" sz="1400" b="1" dirty="0">
                <a:solidFill>
                  <a:srgbClr val="FFFFFF"/>
                </a:solidFill>
                <a:latin typeface="Calibri" pitchFamily="34" charset="0"/>
                <a:ea typeface="Calibri" pitchFamily="34" charset="-122"/>
                <a:cs typeface="Calibri" pitchFamily="34" charset="-120"/>
              </a:rPr>
              <a:t>Josef Renato Rodriguez</a:t>
            </a:r>
            <a:endParaRPr lang="en-US" sz="1400" dirty="0"/>
          </a:p>
        </p:txBody>
      </p:sp>
      <p:sp>
        <p:nvSpPr>
          <p:cNvPr id="13" name="Text 11"/>
          <p:cNvSpPr txBox="1"/>
          <p:nvPr/>
        </p:nvSpPr>
        <p:spPr>
          <a:xfrm>
            <a:off x="530352" y="6172200"/>
            <a:ext cx="73152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Programa de Especialización Data Scientist · Sesión 6 de 15</a:t>
            </a:r>
            <a:endParaRPr lang="en-US" sz="1050" dirty="0"/>
          </a:p>
        </p:txBody>
      </p:sp>
      <p:sp>
        <p:nvSpPr>
          <p:cNvPr id="14" name="Shape 12"/>
          <p:cNvSpPr/>
          <p:nvPr/>
        </p:nvSpPr>
        <p:spPr>
          <a:xfrm>
            <a:off x="7242048" y="1904884"/>
            <a:ext cx="135753" cy="2941436"/>
          </a:xfrm>
          <a:prstGeom prst="rect">
            <a:avLst/>
          </a:prstGeom>
          <a:solidFill>
            <a:srgbClr val="2F4B85"/>
          </a:solidFill>
          <a:ln/>
        </p:spPr>
      </p:sp>
      <p:sp>
        <p:nvSpPr>
          <p:cNvPr id="15" name="Shape 13"/>
          <p:cNvSpPr/>
          <p:nvPr/>
        </p:nvSpPr>
        <p:spPr>
          <a:xfrm>
            <a:off x="7255061" y="4681205"/>
            <a:ext cx="109728" cy="109728"/>
          </a:xfrm>
          <a:prstGeom prst="ellipse">
            <a:avLst/>
          </a:prstGeom>
          <a:solidFill>
            <a:srgbClr val="FF6B9A"/>
          </a:solidFill>
          <a:ln/>
        </p:spPr>
      </p:sp>
      <p:sp>
        <p:nvSpPr>
          <p:cNvPr id="16" name="Shape 14"/>
          <p:cNvSpPr/>
          <p:nvPr/>
        </p:nvSpPr>
        <p:spPr>
          <a:xfrm>
            <a:off x="7414377" y="3188992"/>
            <a:ext cx="135753" cy="1657328"/>
          </a:xfrm>
          <a:prstGeom prst="rect">
            <a:avLst/>
          </a:prstGeom>
          <a:solidFill>
            <a:srgbClr val="2F4B85"/>
          </a:solidFill>
          <a:ln/>
        </p:spPr>
      </p:sp>
      <p:sp>
        <p:nvSpPr>
          <p:cNvPr id="17" name="Shape 15"/>
          <p:cNvSpPr/>
          <p:nvPr/>
        </p:nvSpPr>
        <p:spPr>
          <a:xfrm>
            <a:off x="7427390" y="4638178"/>
            <a:ext cx="109728" cy="109728"/>
          </a:xfrm>
          <a:prstGeom prst="ellipse">
            <a:avLst/>
          </a:prstGeom>
          <a:solidFill>
            <a:srgbClr val="FF6B9A"/>
          </a:solidFill>
          <a:ln/>
        </p:spPr>
      </p:sp>
      <p:sp>
        <p:nvSpPr>
          <p:cNvPr id="18" name="Shape 16"/>
          <p:cNvSpPr/>
          <p:nvPr/>
        </p:nvSpPr>
        <p:spPr>
          <a:xfrm>
            <a:off x="7586706" y="2313343"/>
            <a:ext cx="135753" cy="2532977"/>
          </a:xfrm>
          <a:prstGeom prst="rect">
            <a:avLst/>
          </a:prstGeom>
          <a:solidFill>
            <a:srgbClr val="2F4B85"/>
          </a:solidFill>
          <a:ln/>
        </p:spPr>
      </p:sp>
      <p:sp>
        <p:nvSpPr>
          <p:cNvPr id="19" name="Shape 17"/>
          <p:cNvSpPr/>
          <p:nvPr/>
        </p:nvSpPr>
        <p:spPr>
          <a:xfrm>
            <a:off x="7599719" y="4574339"/>
            <a:ext cx="109728" cy="109728"/>
          </a:xfrm>
          <a:prstGeom prst="ellipse">
            <a:avLst/>
          </a:prstGeom>
          <a:solidFill>
            <a:srgbClr val="FF6B9A"/>
          </a:solidFill>
          <a:ln/>
        </p:spPr>
      </p:sp>
      <p:sp>
        <p:nvSpPr>
          <p:cNvPr id="20" name="Shape 18"/>
          <p:cNvSpPr/>
          <p:nvPr/>
        </p:nvSpPr>
        <p:spPr>
          <a:xfrm>
            <a:off x="7759036" y="2885489"/>
            <a:ext cx="135753" cy="1960831"/>
          </a:xfrm>
          <a:prstGeom prst="rect">
            <a:avLst/>
          </a:prstGeom>
          <a:solidFill>
            <a:srgbClr val="2F4B85"/>
          </a:solidFill>
          <a:ln/>
        </p:spPr>
      </p:sp>
      <p:sp>
        <p:nvSpPr>
          <p:cNvPr id="21" name="Shape 19"/>
          <p:cNvSpPr/>
          <p:nvPr/>
        </p:nvSpPr>
        <p:spPr>
          <a:xfrm>
            <a:off x="7772048" y="4604706"/>
            <a:ext cx="109728" cy="109728"/>
          </a:xfrm>
          <a:prstGeom prst="ellipse">
            <a:avLst/>
          </a:prstGeom>
          <a:solidFill>
            <a:srgbClr val="FF6B9A"/>
          </a:solidFill>
          <a:ln/>
        </p:spPr>
      </p:sp>
      <p:sp>
        <p:nvSpPr>
          <p:cNvPr id="22" name="Shape 20"/>
          <p:cNvSpPr/>
          <p:nvPr/>
        </p:nvSpPr>
        <p:spPr>
          <a:xfrm>
            <a:off x="7931365" y="4820933"/>
            <a:ext cx="135753" cy="25387"/>
          </a:xfrm>
          <a:prstGeom prst="rect">
            <a:avLst/>
          </a:prstGeom>
          <a:solidFill>
            <a:srgbClr val="2F4B85"/>
          </a:solidFill>
          <a:ln/>
        </p:spPr>
      </p:sp>
      <p:sp>
        <p:nvSpPr>
          <p:cNvPr id="23" name="Shape 21"/>
          <p:cNvSpPr/>
          <p:nvPr/>
        </p:nvSpPr>
        <p:spPr>
          <a:xfrm>
            <a:off x="7944378" y="2555953"/>
            <a:ext cx="109728" cy="109728"/>
          </a:xfrm>
          <a:prstGeom prst="ellipse">
            <a:avLst/>
          </a:prstGeom>
          <a:solidFill>
            <a:srgbClr val="FF6B9A"/>
          </a:solidFill>
          <a:ln/>
        </p:spPr>
      </p:sp>
      <p:sp>
        <p:nvSpPr>
          <p:cNvPr id="24" name="Shape 22"/>
          <p:cNvSpPr/>
          <p:nvPr/>
        </p:nvSpPr>
        <p:spPr>
          <a:xfrm>
            <a:off x="8103694" y="3476201"/>
            <a:ext cx="135753" cy="1370119"/>
          </a:xfrm>
          <a:prstGeom prst="rect">
            <a:avLst/>
          </a:prstGeom>
          <a:solidFill>
            <a:srgbClr val="2F4B85"/>
          </a:solidFill>
          <a:ln/>
        </p:spPr>
      </p:sp>
      <p:sp>
        <p:nvSpPr>
          <p:cNvPr id="25" name="Shape 23"/>
          <p:cNvSpPr/>
          <p:nvPr/>
        </p:nvSpPr>
        <p:spPr>
          <a:xfrm>
            <a:off x="8116707" y="4604075"/>
            <a:ext cx="109728" cy="109728"/>
          </a:xfrm>
          <a:prstGeom prst="ellipse">
            <a:avLst/>
          </a:prstGeom>
          <a:solidFill>
            <a:srgbClr val="FF6B9A"/>
          </a:solidFill>
          <a:ln/>
        </p:spPr>
      </p:sp>
      <p:sp>
        <p:nvSpPr>
          <p:cNvPr id="26" name="Shape 24"/>
          <p:cNvSpPr/>
          <p:nvPr/>
        </p:nvSpPr>
        <p:spPr>
          <a:xfrm>
            <a:off x="8276023" y="4842531"/>
            <a:ext cx="135753" cy="3789"/>
          </a:xfrm>
          <a:prstGeom prst="rect">
            <a:avLst/>
          </a:prstGeom>
          <a:solidFill>
            <a:srgbClr val="2F4B85"/>
          </a:solidFill>
          <a:ln/>
        </p:spPr>
      </p:sp>
      <p:sp>
        <p:nvSpPr>
          <p:cNvPr id="27" name="Shape 25"/>
          <p:cNvSpPr/>
          <p:nvPr/>
        </p:nvSpPr>
        <p:spPr>
          <a:xfrm>
            <a:off x="8289036" y="4434840"/>
            <a:ext cx="109728" cy="109728"/>
          </a:xfrm>
          <a:prstGeom prst="ellipse">
            <a:avLst/>
          </a:prstGeom>
          <a:solidFill>
            <a:srgbClr val="FF6B9A"/>
          </a:solidFill>
          <a:ln/>
        </p:spPr>
      </p:sp>
      <p:sp>
        <p:nvSpPr>
          <p:cNvPr id="28" name="Shape 26"/>
          <p:cNvSpPr/>
          <p:nvPr/>
        </p:nvSpPr>
        <p:spPr>
          <a:xfrm>
            <a:off x="8448353" y="4739469"/>
            <a:ext cx="135753" cy="106851"/>
          </a:xfrm>
          <a:prstGeom prst="rect">
            <a:avLst/>
          </a:prstGeom>
          <a:solidFill>
            <a:srgbClr val="2F4B85"/>
          </a:solidFill>
          <a:ln/>
        </p:spPr>
      </p:sp>
      <p:sp>
        <p:nvSpPr>
          <p:cNvPr id="29" name="Shape 27"/>
          <p:cNvSpPr/>
          <p:nvPr/>
        </p:nvSpPr>
        <p:spPr>
          <a:xfrm>
            <a:off x="8461365" y="3198065"/>
            <a:ext cx="109728" cy="109728"/>
          </a:xfrm>
          <a:prstGeom prst="ellipse">
            <a:avLst/>
          </a:prstGeom>
          <a:solidFill>
            <a:srgbClr val="FF6B9A"/>
          </a:solidFill>
          <a:ln/>
        </p:spPr>
      </p:sp>
      <p:sp>
        <p:nvSpPr>
          <p:cNvPr id="30" name="Shape 28"/>
          <p:cNvSpPr/>
          <p:nvPr/>
        </p:nvSpPr>
        <p:spPr>
          <a:xfrm>
            <a:off x="8620682" y="3914973"/>
            <a:ext cx="135753" cy="931347"/>
          </a:xfrm>
          <a:prstGeom prst="rect">
            <a:avLst/>
          </a:prstGeom>
          <a:solidFill>
            <a:srgbClr val="2F4B85"/>
          </a:solidFill>
          <a:ln/>
        </p:spPr>
      </p:sp>
      <p:sp>
        <p:nvSpPr>
          <p:cNvPr id="31" name="Shape 29"/>
          <p:cNvSpPr/>
          <p:nvPr/>
        </p:nvSpPr>
        <p:spPr>
          <a:xfrm>
            <a:off x="8633694" y="4150186"/>
            <a:ext cx="109728" cy="109728"/>
          </a:xfrm>
          <a:prstGeom prst="ellipse">
            <a:avLst/>
          </a:prstGeom>
          <a:solidFill>
            <a:srgbClr val="FF6B9A"/>
          </a:solidFill>
          <a:ln/>
        </p:spPr>
      </p:sp>
      <p:sp>
        <p:nvSpPr>
          <p:cNvPr id="32" name="Shape 30"/>
          <p:cNvSpPr/>
          <p:nvPr/>
        </p:nvSpPr>
        <p:spPr>
          <a:xfrm>
            <a:off x="8793011" y="2650947"/>
            <a:ext cx="135753" cy="2195373"/>
          </a:xfrm>
          <a:prstGeom prst="rect">
            <a:avLst/>
          </a:prstGeom>
          <a:solidFill>
            <a:srgbClr val="2F4B85"/>
          </a:solidFill>
          <a:ln/>
        </p:spPr>
      </p:sp>
      <p:sp>
        <p:nvSpPr>
          <p:cNvPr id="33" name="Shape 31"/>
          <p:cNvSpPr/>
          <p:nvPr/>
        </p:nvSpPr>
        <p:spPr>
          <a:xfrm>
            <a:off x="8806024" y="4468938"/>
            <a:ext cx="109728" cy="109728"/>
          </a:xfrm>
          <a:prstGeom prst="ellipse">
            <a:avLst/>
          </a:prstGeom>
          <a:solidFill>
            <a:srgbClr val="FF6B9A"/>
          </a:solidFill>
          <a:ln/>
        </p:spPr>
      </p:sp>
      <p:sp>
        <p:nvSpPr>
          <p:cNvPr id="34" name="Shape 32"/>
          <p:cNvSpPr/>
          <p:nvPr/>
        </p:nvSpPr>
        <p:spPr>
          <a:xfrm>
            <a:off x="8965340" y="4575403"/>
            <a:ext cx="135753" cy="270917"/>
          </a:xfrm>
          <a:prstGeom prst="rect">
            <a:avLst/>
          </a:prstGeom>
          <a:solidFill>
            <a:srgbClr val="2F4B85"/>
          </a:solidFill>
          <a:ln/>
        </p:spPr>
      </p:sp>
      <p:sp>
        <p:nvSpPr>
          <p:cNvPr id="35" name="Shape 33"/>
          <p:cNvSpPr/>
          <p:nvPr/>
        </p:nvSpPr>
        <p:spPr>
          <a:xfrm>
            <a:off x="8978353" y="3474720"/>
            <a:ext cx="109728" cy="109728"/>
          </a:xfrm>
          <a:prstGeom prst="ellipse">
            <a:avLst/>
          </a:prstGeom>
          <a:solidFill>
            <a:srgbClr val="FF6B9A"/>
          </a:solidFill>
          <a:ln/>
        </p:spPr>
      </p:sp>
      <p:sp>
        <p:nvSpPr>
          <p:cNvPr id="36" name="Shape 34"/>
          <p:cNvSpPr/>
          <p:nvPr/>
        </p:nvSpPr>
        <p:spPr>
          <a:xfrm>
            <a:off x="9137670" y="4778875"/>
            <a:ext cx="135753" cy="67445"/>
          </a:xfrm>
          <a:prstGeom prst="rect">
            <a:avLst/>
          </a:prstGeom>
          <a:solidFill>
            <a:srgbClr val="2F4B85"/>
          </a:solidFill>
          <a:ln/>
        </p:spPr>
      </p:sp>
      <p:sp>
        <p:nvSpPr>
          <p:cNvPr id="37" name="Shape 35"/>
          <p:cNvSpPr/>
          <p:nvPr/>
        </p:nvSpPr>
        <p:spPr>
          <a:xfrm>
            <a:off x="9150682" y="3469172"/>
            <a:ext cx="109728" cy="109728"/>
          </a:xfrm>
          <a:prstGeom prst="ellipse">
            <a:avLst/>
          </a:prstGeom>
          <a:solidFill>
            <a:srgbClr val="FF6B9A"/>
          </a:solidFill>
          <a:ln/>
        </p:spPr>
      </p:sp>
      <p:sp>
        <p:nvSpPr>
          <p:cNvPr id="38" name="Shape 36"/>
          <p:cNvSpPr/>
          <p:nvPr/>
        </p:nvSpPr>
        <p:spPr>
          <a:xfrm>
            <a:off x="9309999" y="4554564"/>
            <a:ext cx="135753" cy="291756"/>
          </a:xfrm>
          <a:prstGeom prst="rect">
            <a:avLst/>
          </a:prstGeom>
          <a:solidFill>
            <a:srgbClr val="2F4B85"/>
          </a:solidFill>
          <a:ln/>
        </p:spPr>
      </p:sp>
      <p:sp>
        <p:nvSpPr>
          <p:cNvPr id="39" name="Shape 37"/>
          <p:cNvSpPr/>
          <p:nvPr/>
        </p:nvSpPr>
        <p:spPr>
          <a:xfrm>
            <a:off x="9323011" y="3568773"/>
            <a:ext cx="109728" cy="109728"/>
          </a:xfrm>
          <a:prstGeom prst="ellipse">
            <a:avLst/>
          </a:prstGeom>
          <a:solidFill>
            <a:srgbClr val="FF6B9A"/>
          </a:solidFill>
          <a:ln/>
        </p:spPr>
      </p:sp>
      <p:sp>
        <p:nvSpPr>
          <p:cNvPr id="40" name="Shape 38"/>
          <p:cNvSpPr/>
          <p:nvPr/>
        </p:nvSpPr>
        <p:spPr>
          <a:xfrm>
            <a:off x="9482328" y="4745152"/>
            <a:ext cx="135753" cy="101168"/>
          </a:xfrm>
          <a:prstGeom prst="rect">
            <a:avLst/>
          </a:prstGeom>
          <a:solidFill>
            <a:srgbClr val="2F4B85"/>
          </a:solidFill>
          <a:ln/>
        </p:spPr>
      </p:sp>
      <p:sp>
        <p:nvSpPr>
          <p:cNvPr id="41" name="Shape 39"/>
          <p:cNvSpPr/>
          <p:nvPr/>
        </p:nvSpPr>
        <p:spPr>
          <a:xfrm>
            <a:off x="9495341" y="3375677"/>
            <a:ext cx="109728" cy="109728"/>
          </a:xfrm>
          <a:prstGeom prst="ellipse">
            <a:avLst/>
          </a:prstGeom>
          <a:solidFill>
            <a:srgbClr val="FF6B9A"/>
          </a:solidFill>
          <a:ln/>
        </p:spPr>
      </p:sp>
      <p:sp>
        <p:nvSpPr>
          <p:cNvPr id="42" name="Shape 40"/>
          <p:cNvSpPr/>
          <p:nvPr/>
        </p:nvSpPr>
        <p:spPr>
          <a:xfrm>
            <a:off x="9654657" y="4676950"/>
            <a:ext cx="135753" cy="169370"/>
          </a:xfrm>
          <a:prstGeom prst="rect">
            <a:avLst/>
          </a:prstGeom>
          <a:solidFill>
            <a:srgbClr val="2F4B85"/>
          </a:solidFill>
          <a:ln/>
        </p:spPr>
      </p:sp>
      <p:sp>
        <p:nvSpPr>
          <p:cNvPr id="43" name="Shape 41"/>
          <p:cNvSpPr/>
          <p:nvPr/>
        </p:nvSpPr>
        <p:spPr>
          <a:xfrm>
            <a:off x="9667670" y="3355418"/>
            <a:ext cx="109728" cy="109728"/>
          </a:xfrm>
          <a:prstGeom prst="ellipse">
            <a:avLst/>
          </a:prstGeom>
          <a:solidFill>
            <a:srgbClr val="FF6B9A"/>
          </a:solidFill>
          <a:ln/>
        </p:spPr>
      </p:sp>
      <p:sp>
        <p:nvSpPr>
          <p:cNvPr id="44" name="Shape 42"/>
          <p:cNvSpPr/>
          <p:nvPr/>
        </p:nvSpPr>
        <p:spPr>
          <a:xfrm>
            <a:off x="9826986" y="4711051"/>
            <a:ext cx="135753" cy="135269"/>
          </a:xfrm>
          <a:prstGeom prst="rect">
            <a:avLst/>
          </a:prstGeom>
          <a:solidFill>
            <a:srgbClr val="2F4B85"/>
          </a:solidFill>
          <a:ln/>
        </p:spPr>
      </p:sp>
      <p:sp>
        <p:nvSpPr>
          <p:cNvPr id="45" name="Shape 43"/>
          <p:cNvSpPr/>
          <p:nvPr/>
        </p:nvSpPr>
        <p:spPr>
          <a:xfrm>
            <a:off x="9839999" y="3113263"/>
            <a:ext cx="109728" cy="109728"/>
          </a:xfrm>
          <a:prstGeom prst="ellipse">
            <a:avLst/>
          </a:prstGeom>
          <a:solidFill>
            <a:srgbClr val="FF6B9A"/>
          </a:solidFill>
          <a:ln/>
        </p:spPr>
      </p:sp>
      <p:sp>
        <p:nvSpPr>
          <p:cNvPr id="46" name="Shape 44"/>
          <p:cNvSpPr/>
          <p:nvPr/>
        </p:nvSpPr>
        <p:spPr>
          <a:xfrm>
            <a:off x="9999316" y="4781148"/>
            <a:ext cx="135753" cy="65172"/>
          </a:xfrm>
          <a:prstGeom prst="rect">
            <a:avLst/>
          </a:prstGeom>
          <a:solidFill>
            <a:srgbClr val="2F4B85"/>
          </a:solidFill>
          <a:ln/>
        </p:spPr>
      </p:sp>
      <p:sp>
        <p:nvSpPr>
          <p:cNvPr id="47" name="Shape 45"/>
          <p:cNvSpPr/>
          <p:nvPr/>
        </p:nvSpPr>
        <p:spPr>
          <a:xfrm>
            <a:off x="10012328" y="2966909"/>
            <a:ext cx="109728" cy="109728"/>
          </a:xfrm>
          <a:prstGeom prst="ellipse">
            <a:avLst/>
          </a:prstGeom>
          <a:solidFill>
            <a:srgbClr val="FF6B9A"/>
          </a:solidFill>
          <a:ln/>
        </p:spPr>
      </p:sp>
      <p:sp>
        <p:nvSpPr>
          <p:cNvPr id="48" name="Shape 46"/>
          <p:cNvSpPr/>
          <p:nvPr/>
        </p:nvSpPr>
        <p:spPr>
          <a:xfrm>
            <a:off x="10171645" y="4746289"/>
            <a:ext cx="135753" cy="100031"/>
          </a:xfrm>
          <a:prstGeom prst="rect">
            <a:avLst/>
          </a:prstGeom>
          <a:solidFill>
            <a:srgbClr val="2F4B85"/>
          </a:solidFill>
          <a:ln/>
        </p:spPr>
      </p:sp>
      <p:sp>
        <p:nvSpPr>
          <p:cNvPr id="49" name="Shape 47"/>
          <p:cNvSpPr/>
          <p:nvPr/>
        </p:nvSpPr>
        <p:spPr>
          <a:xfrm>
            <a:off x="10184658" y="2765229"/>
            <a:ext cx="109728" cy="109728"/>
          </a:xfrm>
          <a:prstGeom prst="ellipse">
            <a:avLst/>
          </a:prstGeom>
          <a:solidFill>
            <a:srgbClr val="FF6B9A"/>
          </a:solidFill>
          <a:ln/>
        </p:spPr>
      </p:sp>
      <p:sp>
        <p:nvSpPr>
          <p:cNvPr id="50" name="Shape 48"/>
          <p:cNvSpPr/>
          <p:nvPr/>
        </p:nvSpPr>
        <p:spPr>
          <a:xfrm>
            <a:off x="10343974" y="4780391"/>
            <a:ext cx="135753" cy="65929"/>
          </a:xfrm>
          <a:prstGeom prst="rect">
            <a:avLst/>
          </a:prstGeom>
          <a:solidFill>
            <a:srgbClr val="2F4B85"/>
          </a:solidFill>
          <a:ln/>
        </p:spPr>
      </p:sp>
      <p:sp>
        <p:nvSpPr>
          <p:cNvPr id="51" name="Shape 49"/>
          <p:cNvSpPr/>
          <p:nvPr/>
        </p:nvSpPr>
        <p:spPr>
          <a:xfrm>
            <a:off x="10356987" y="2803424"/>
            <a:ext cx="109728" cy="109728"/>
          </a:xfrm>
          <a:prstGeom prst="ellipse">
            <a:avLst/>
          </a:prstGeom>
          <a:solidFill>
            <a:srgbClr val="FF6B9A"/>
          </a:solidFill>
          <a:ln/>
        </p:spPr>
      </p:sp>
      <p:sp>
        <p:nvSpPr>
          <p:cNvPr id="52" name="Shape 50"/>
          <p:cNvSpPr/>
          <p:nvPr/>
        </p:nvSpPr>
        <p:spPr>
          <a:xfrm>
            <a:off x="10516303" y="4765992"/>
            <a:ext cx="135753" cy="80328"/>
          </a:xfrm>
          <a:prstGeom prst="rect">
            <a:avLst/>
          </a:prstGeom>
          <a:solidFill>
            <a:srgbClr val="2F4B85"/>
          </a:solidFill>
          <a:ln/>
        </p:spPr>
      </p:sp>
      <p:sp>
        <p:nvSpPr>
          <p:cNvPr id="53" name="Shape 51"/>
          <p:cNvSpPr/>
          <p:nvPr/>
        </p:nvSpPr>
        <p:spPr>
          <a:xfrm>
            <a:off x="10529316" y="2739232"/>
            <a:ext cx="109728" cy="109728"/>
          </a:xfrm>
          <a:prstGeom prst="ellipse">
            <a:avLst/>
          </a:prstGeom>
          <a:solidFill>
            <a:srgbClr val="FF6B9A"/>
          </a:solidFill>
          <a:ln/>
        </p:spPr>
      </p:sp>
      <p:sp>
        <p:nvSpPr>
          <p:cNvPr id="54" name="Shape 52"/>
          <p:cNvSpPr/>
          <p:nvPr/>
        </p:nvSpPr>
        <p:spPr>
          <a:xfrm>
            <a:off x="10688633" y="4759551"/>
            <a:ext cx="135753" cy="86769"/>
          </a:xfrm>
          <a:prstGeom prst="rect">
            <a:avLst/>
          </a:prstGeom>
          <a:solidFill>
            <a:srgbClr val="2F4B85"/>
          </a:solidFill>
          <a:ln/>
        </p:spPr>
      </p:sp>
      <p:sp>
        <p:nvSpPr>
          <p:cNvPr id="55" name="Shape 53"/>
          <p:cNvSpPr/>
          <p:nvPr/>
        </p:nvSpPr>
        <p:spPr>
          <a:xfrm>
            <a:off x="10701645" y="3125172"/>
            <a:ext cx="109728" cy="109728"/>
          </a:xfrm>
          <a:prstGeom prst="ellipse">
            <a:avLst/>
          </a:prstGeom>
          <a:solidFill>
            <a:srgbClr val="FF6B9A"/>
          </a:solidFill>
          <a:ln/>
        </p:spPr>
      </p:sp>
      <p:sp>
        <p:nvSpPr>
          <p:cNvPr id="56" name="Shape 54"/>
          <p:cNvSpPr/>
          <p:nvPr/>
        </p:nvSpPr>
        <p:spPr>
          <a:xfrm>
            <a:off x="10860962" y="4728481"/>
            <a:ext cx="135753" cy="117839"/>
          </a:xfrm>
          <a:prstGeom prst="rect">
            <a:avLst/>
          </a:prstGeom>
          <a:solidFill>
            <a:srgbClr val="2F4B85"/>
          </a:solidFill>
          <a:ln/>
        </p:spPr>
      </p:sp>
      <p:sp>
        <p:nvSpPr>
          <p:cNvPr id="57" name="Shape 55"/>
          <p:cNvSpPr/>
          <p:nvPr/>
        </p:nvSpPr>
        <p:spPr>
          <a:xfrm>
            <a:off x="10873974" y="2773308"/>
            <a:ext cx="109728" cy="109728"/>
          </a:xfrm>
          <a:prstGeom prst="ellipse">
            <a:avLst/>
          </a:prstGeom>
          <a:solidFill>
            <a:srgbClr val="FF6B9A"/>
          </a:solidFill>
          <a:ln/>
        </p:spPr>
      </p:sp>
      <p:sp>
        <p:nvSpPr>
          <p:cNvPr id="58" name="Shape 56"/>
          <p:cNvSpPr/>
          <p:nvPr/>
        </p:nvSpPr>
        <p:spPr>
          <a:xfrm>
            <a:off x="11033291" y="4758035"/>
            <a:ext cx="135753" cy="88285"/>
          </a:xfrm>
          <a:prstGeom prst="rect">
            <a:avLst/>
          </a:prstGeom>
          <a:solidFill>
            <a:srgbClr val="2F4B85"/>
          </a:solidFill>
          <a:ln/>
        </p:spPr>
      </p:sp>
      <p:sp>
        <p:nvSpPr>
          <p:cNvPr id="59" name="Shape 57"/>
          <p:cNvSpPr/>
          <p:nvPr/>
        </p:nvSpPr>
        <p:spPr>
          <a:xfrm>
            <a:off x="11046304" y="2954807"/>
            <a:ext cx="109728" cy="109728"/>
          </a:xfrm>
          <a:prstGeom prst="ellipse">
            <a:avLst/>
          </a:prstGeom>
          <a:solidFill>
            <a:srgbClr val="FF6B9A"/>
          </a:solidFill>
          <a:ln/>
        </p:spPr>
      </p:sp>
      <p:sp>
        <p:nvSpPr>
          <p:cNvPr id="60" name="Shape 58"/>
          <p:cNvSpPr/>
          <p:nvPr/>
        </p:nvSpPr>
        <p:spPr>
          <a:xfrm>
            <a:off x="11205620" y="4731512"/>
            <a:ext cx="135753" cy="114808"/>
          </a:xfrm>
          <a:prstGeom prst="rect">
            <a:avLst/>
          </a:prstGeom>
          <a:solidFill>
            <a:srgbClr val="2F4B85"/>
          </a:solidFill>
          <a:ln/>
        </p:spPr>
      </p:sp>
      <p:sp>
        <p:nvSpPr>
          <p:cNvPr id="61" name="Shape 59"/>
          <p:cNvSpPr/>
          <p:nvPr/>
        </p:nvSpPr>
        <p:spPr>
          <a:xfrm>
            <a:off x="11218633" y="3026030"/>
            <a:ext cx="109728" cy="109728"/>
          </a:xfrm>
          <a:prstGeom prst="ellipse">
            <a:avLst/>
          </a:prstGeom>
          <a:solidFill>
            <a:srgbClr val="FF6B9A"/>
          </a:solidFill>
          <a:ln/>
        </p:spPr>
      </p:sp>
      <p:sp>
        <p:nvSpPr>
          <p:cNvPr id="62" name="Shape 60"/>
          <p:cNvSpPr/>
          <p:nvPr/>
        </p:nvSpPr>
        <p:spPr>
          <a:xfrm>
            <a:off x="11377950" y="4769023"/>
            <a:ext cx="135753" cy="77297"/>
          </a:xfrm>
          <a:prstGeom prst="rect">
            <a:avLst/>
          </a:prstGeom>
          <a:solidFill>
            <a:srgbClr val="2F4B85"/>
          </a:solidFill>
          <a:ln/>
        </p:spPr>
      </p:sp>
      <p:sp>
        <p:nvSpPr>
          <p:cNvPr id="63" name="Shape 61"/>
          <p:cNvSpPr/>
          <p:nvPr/>
        </p:nvSpPr>
        <p:spPr>
          <a:xfrm>
            <a:off x="11390962" y="3165707"/>
            <a:ext cx="109728" cy="109728"/>
          </a:xfrm>
          <a:prstGeom prst="ellipse">
            <a:avLst/>
          </a:prstGeom>
          <a:solidFill>
            <a:srgbClr val="FF6B9A"/>
          </a:solidFill>
          <a:ln/>
        </p:spPr>
      </p:sp>
      <p:sp>
        <p:nvSpPr>
          <p:cNvPr id="64" name="Shape 62"/>
          <p:cNvSpPr/>
          <p:nvPr/>
        </p:nvSpPr>
        <p:spPr>
          <a:xfrm>
            <a:off x="11550279" y="4797820"/>
            <a:ext cx="135753" cy="48500"/>
          </a:xfrm>
          <a:prstGeom prst="rect">
            <a:avLst/>
          </a:prstGeom>
          <a:solidFill>
            <a:srgbClr val="2F4B85"/>
          </a:solidFill>
          <a:ln/>
        </p:spPr>
      </p:sp>
      <p:sp>
        <p:nvSpPr>
          <p:cNvPr id="65" name="Shape 63"/>
          <p:cNvSpPr/>
          <p:nvPr/>
        </p:nvSpPr>
        <p:spPr>
          <a:xfrm>
            <a:off x="11563291" y="3175540"/>
            <a:ext cx="109728" cy="109728"/>
          </a:xfrm>
          <a:prstGeom prst="ellipse">
            <a:avLst/>
          </a:prstGeom>
          <a:solidFill>
            <a:srgbClr val="FF6B9A"/>
          </a:solidFill>
          <a:ln/>
        </p:spPr>
      </p:sp>
      <p:sp>
        <p:nvSpPr>
          <p:cNvPr id="66" name="Text 64"/>
          <p:cNvSpPr txBox="1"/>
          <p:nvPr/>
        </p:nvSpPr>
        <p:spPr>
          <a:xfrm>
            <a:off x="7223760" y="4983480"/>
            <a:ext cx="4480560" cy="274320"/>
          </a:xfrm>
          <a:prstGeom prst="rect">
            <a:avLst/>
          </a:prstGeom>
          <a:noFill/>
          <a:ln/>
        </p:spPr>
        <p:txBody>
          <a:bodyPr wrap="square" lIns="0" tIns="0" rIns="0" bIns="0" rtlCol="0" anchor="ctr"/>
          <a:lstStyle/>
          <a:p>
            <a:pPr marL="0" indent="0" algn="ctr">
              <a:buNone/>
            </a:pPr>
            <a:r>
              <a:rPr lang="en-US" sz="1100" i="1" dirty="0">
                <a:solidFill>
                  <a:srgbClr val="8595B5"/>
                </a:solidFill>
                <a:latin typeface="Calibri" pitchFamily="34" charset="0"/>
                <a:ea typeface="Calibri" pitchFamily="34" charset="-122"/>
                <a:cs typeface="Calibri" pitchFamily="34" charset="-120"/>
              </a:rPr>
              <a:t>barras: llamadas por mes · puntos: tasa de contratación</a:t>
            </a:r>
            <a:endParaRPr lang="en-US" sz="1100" dirty="0"/>
          </a:p>
        </p:txBody>
      </p:sp>
      <p:sp>
        <p:nvSpPr>
          <p:cNvPr id="67" name="Text 65"/>
          <p:cNvSpPr txBox="1"/>
          <p:nvPr/>
        </p:nvSpPr>
        <p:spPr>
          <a:xfrm>
            <a:off x="7223760" y="5257800"/>
            <a:ext cx="914400" cy="228600"/>
          </a:xfrm>
          <a:prstGeom prst="rect">
            <a:avLst/>
          </a:prstGeom>
          <a:noFill/>
          <a:ln/>
        </p:spPr>
        <p:txBody>
          <a:bodyPr wrap="square" lIns="0" tIns="0" rIns="0" bIns="0" rtlCol="0" anchor="ctr"/>
          <a:lstStyle/>
          <a:p>
            <a:pPr marL="0" indent="0">
              <a:buNone/>
            </a:pPr>
            <a:r>
              <a:rPr lang="en-US" sz="1000" dirty="0">
                <a:solidFill>
                  <a:srgbClr val="A9B7D4"/>
                </a:solidFill>
                <a:latin typeface="Calibri" pitchFamily="34" charset="0"/>
                <a:ea typeface="Calibri" pitchFamily="34" charset="-122"/>
                <a:cs typeface="Calibri" pitchFamily="34" charset="-120"/>
              </a:rPr>
              <a:t>2008</a:t>
            </a:r>
            <a:endParaRPr lang="en-US" sz="1000" dirty="0"/>
          </a:p>
        </p:txBody>
      </p:sp>
      <p:sp>
        <p:nvSpPr>
          <p:cNvPr id="68" name="Text 66"/>
          <p:cNvSpPr txBox="1"/>
          <p:nvPr/>
        </p:nvSpPr>
        <p:spPr>
          <a:xfrm>
            <a:off x="10789920" y="5257800"/>
            <a:ext cx="914400" cy="228600"/>
          </a:xfrm>
          <a:prstGeom prst="rect">
            <a:avLst/>
          </a:prstGeom>
          <a:noFill/>
          <a:ln/>
        </p:spPr>
        <p:txBody>
          <a:bodyPr wrap="square" lIns="0" tIns="0" rIns="0" bIns="0" rtlCol="0" anchor="ctr"/>
          <a:lstStyle/>
          <a:p>
            <a:pPr marL="0" indent="0" algn="r">
              <a:buNone/>
            </a:pPr>
            <a:r>
              <a:rPr lang="en-US" sz="1000" dirty="0">
                <a:solidFill>
                  <a:srgbClr val="A9B7D4"/>
                </a:solidFill>
                <a:latin typeface="Calibri" pitchFamily="34" charset="0"/>
                <a:ea typeface="Calibri" pitchFamily="34" charset="-122"/>
                <a:cs typeface="Calibri" pitchFamily="34" charset="-120"/>
              </a:rPr>
              <a:t>2010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AGENDA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Cómo repartimos los 120 minutos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Seis bloques que recorren CRISP-DM con el mismo caso, de la pregunta de negocio a la métrica.</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766560" cy="3621024"/>
        </p:xfrm>
        <a:graphic>
          <a:graphicData uri="http://schemas.openxmlformats.org/drawingml/2006/table">
            <a:tbl>
              <a:tblPr/>
              <a:tblGrid>
                <a:gridCol w="8229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Entender el negocio: ¿cuándo se conoce cada dato?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escalera: pegar cinco fuentes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Explorar por período y cazar fugas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Split aleatorio contra temporal · regresión logística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Matriz de confusión, precision, recall, ROC-AUC, KS y Gini</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Adelanto: drift y PSI</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Laboratorio en Colab</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Cierre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Shape 4"/>
          <p:cNvSpPr/>
          <p:nvPr/>
        </p:nvSpPr>
        <p:spPr>
          <a:xfrm>
            <a:off x="7589520" y="2103120"/>
            <a:ext cx="4096512" cy="2148840"/>
          </a:xfrm>
          <a:prstGeom prst="roundRect">
            <a:avLst>
              <a:gd name="adj" fmla="val 2553"/>
            </a:avLst>
          </a:prstGeom>
          <a:solidFill>
            <a:srgbClr val="E9EEF8"/>
          </a:solidFill>
          <a:ln w="9525">
            <a:solidFill>
              <a:srgbClr val="D2DBEC"/>
            </a:solidFill>
            <a:prstDash val="solid"/>
          </a:ln>
        </p:spPr>
      </p:sp>
      <p:sp>
        <p:nvSpPr>
          <p:cNvPr id="8" name="Shape 5"/>
          <p:cNvSpPr/>
          <p:nvPr/>
        </p:nvSpPr>
        <p:spPr>
          <a:xfrm>
            <a:off x="7818120" y="2350008"/>
            <a:ext cx="128016" cy="128016"/>
          </a:xfrm>
          <a:prstGeom prst="roundRect">
            <a:avLst>
              <a:gd name="adj" fmla="val 21429"/>
            </a:avLst>
          </a:prstGeom>
          <a:solidFill>
            <a:srgbClr val="E6115E"/>
          </a:solidFill>
          <a:ln w="12700">
            <a:solidFill>
              <a:srgbClr val="E6115E"/>
            </a:solidFill>
            <a:prstDash val="solid"/>
          </a:ln>
        </p:spPr>
      </p:sp>
      <p:sp>
        <p:nvSpPr>
          <p:cNvPr id="9" name="Text 6"/>
          <p:cNvSpPr txBox="1"/>
          <p:nvPr/>
        </p:nvSpPr>
        <p:spPr>
          <a:xfrm>
            <a:off x="8046720" y="2240280"/>
            <a:ext cx="34564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0" name="Text 7"/>
          <p:cNvSpPr txBox="1"/>
          <p:nvPr/>
        </p:nvSpPr>
        <p:spPr>
          <a:xfrm>
            <a:off x="7818120" y="2606040"/>
            <a:ext cx="3657600" cy="15544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Pegar fuentes sin multiplicar filas</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Detectar una fuga antes de que te engañe</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Por qué el split aleatorio promete de más</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Leer una regresión logística</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Elegir y explicar la métrica correcta</a:t>
            </a:r>
            <a:endParaRPr lang="en-US" sz="1250" dirty="0"/>
          </a:p>
        </p:txBody>
      </p:sp>
      <p:sp>
        <p:nvSpPr>
          <p:cNvPr id="11" name="Shape 8"/>
          <p:cNvSpPr/>
          <p:nvPr/>
        </p:nvSpPr>
        <p:spPr>
          <a:xfrm>
            <a:off x="7589520" y="4434840"/>
            <a:ext cx="4096512" cy="1783080"/>
          </a:xfrm>
          <a:prstGeom prst="roundRect">
            <a:avLst>
              <a:gd name="adj" fmla="val 3077"/>
            </a:avLst>
          </a:prstGeom>
          <a:solidFill>
            <a:srgbClr val="0A2559"/>
          </a:solidFill>
          <a:ln w="9525">
            <a:solidFill>
              <a:srgbClr val="0A2559"/>
            </a:solidFill>
            <a:prstDash val="solid"/>
          </a:ln>
        </p:spPr>
      </p:sp>
      <p:sp>
        <p:nvSpPr>
          <p:cNvPr id="12" name="Shape 9"/>
          <p:cNvSpPr/>
          <p:nvPr/>
        </p:nvSpPr>
        <p:spPr>
          <a:xfrm>
            <a:off x="7818120" y="4681728"/>
            <a:ext cx="128016" cy="128016"/>
          </a:xfrm>
          <a:prstGeom prst="roundRect">
            <a:avLst>
              <a:gd name="adj" fmla="val 21429"/>
            </a:avLst>
          </a:prstGeom>
          <a:solidFill>
            <a:srgbClr val="E6115E"/>
          </a:solidFill>
          <a:ln w="12700">
            <a:solidFill>
              <a:srgbClr val="E6115E"/>
            </a:solidFill>
            <a:prstDash val="solid"/>
          </a:ln>
        </p:spPr>
      </p:sp>
      <p:sp>
        <p:nvSpPr>
          <p:cNvPr id="13" name="Text 10"/>
          <p:cNvSpPr txBox="1"/>
          <p:nvPr/>
        </p:nvSpPr>
        <p:spPr>
          <a:xfrm>
            <a:off x="8046720" y="4572000"/>
            <a:ext cx="34564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bloque 4 es el importante</a:t>
            </a:r>
            <a:endParaRPr lang="en-US" sz="1400" dirty="0"/>
          </a:p>
        </p:txBody>
      </p:sp>
      <p:sp>
        <p:nvSpPr>
          <p:cNvPr id="14" name="Text 11"/>
          <p:cNvSpPr txBox="1"/>
          <p:nvPr/>
        </p:nvSpPr>
        <p:spPr>
          <a:xfrm>
            <a:off x="7818120" y="4937760"/>
            <a:ext cx="3657600" cy="118872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Una sola tabla muestra cómo el split aleatorio, las macro y una fuga pueden inflar un AUC.</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 · NEGOCIO</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La pregunta que evita la mitad de los errores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modelo se usa antes de llamar. ¿Cuándo se conoce cada dato?</a:t>
            </a:r>
            <a:endParaRPr lang="en-US" sz="1400" dirty="0"/>
          </a:p>
        </p:txBody>
      </p:sp>
      <p:sp>
        <p:nvSpPr>
          <p:cNvPr id="6" name="Shape 4"/>
          <p:cNvSpPr/>
          <p:nvPr/>
        </p:nvSpPr>
        <p:spPr>
          <a:xfrm>
            <a:off x="502920" y="2743200"/>
            <a:ext cx="11183112" cy="0"/>
          </a:xfrm>
          <a:prstGeom prst="line">
            <a:avLst/>
          </a:prstGeom>
          <a:noFill/>
          <a:ln w="25400">
            <a:solidFill>
              <a:srgbClr val="5B6B87"/>
            </a:solidFill>
            <a:prstDash val="solid"/>
            <a:tailEnd type="triangle"/>
          </a:ln>
        </p:spPr>
      </p:sp>
      <p:sp>
        <p:nvSpPr>
          <p:cNvPr id="7" name="Text 5"/>
          <p:cNvSpPr txBox="1"/>
          <p:nvPr/>
        </p:nvSpPr>
        <p:spPr>
          <a:xfrm>
            <a:off x="1635252" y="2057400"/>
            <a:ext cx="1463040" cy="274320"/>
          </a:xfrm>
          <a:prstGeom prst="rect">
            <a:avLst/>
          </a:prstGeom>
          <a:noFill/>
          <a:ln/>
        </p:spPr>
        <p:txBody>
          <a:bodyPr wrap="square" lIns="0" tIns="0" rIns="0" bIns="0" rtlCol="0" anchor="ctr"/>
          <a:lstStyle/>
          <a:p>
            <a:pPr marL="0" indent="0" algn="ctr">
              <a:buNone/>
            </a:pPr>
            <a:r>
              <a:rPr lang="en-US" sz="1000" b="1" kern="0" spc="100" dirty="0">
                <a:solidFill>
                  <a:srgbClr val="E6115E"/>
                </a:solidFill>
                <a:latin typeface="Calibri" pitchFamily="34" charset="0"/>
                <a:ea typeface="Calibri" pitchFamily="34" charset="-122"/>
                <a:cs typeface="Calibri" pitchFamily="34" charset="-120"/>
              </a:rPr>
              <a:t>LA LLAMADA</a:t>
            </a:r>
            <a:endParaRPr lang="en-US" sz="1000" dirty="0"/>
          </a:p>
        </p:txBody>
      </p:sp>
      <p:sp>
        <p:nvSpPr>
          <p:cNvPr id="8" name="Shape 6"/>
          <p:cNvSpPr/>
          <p:nvPr/>
        </p:nvSpPr>
        <p:spPr>
          <a:xfrm>
            <a:off x="2366772" y="2331720"/>
            <a:ext cx="0" cy="777240"/>
          </a:xfrm>
          <a:prstGeom prst="line">
            <a:avLst/>
          </a:prstGeom>
          <a:noFill/>
          <a:ln w="25400">
            <a:solidFill>
              <a:srgbClr val="E6115E"/>
            </a:solidFill>
            <a:prstDash val="dash"/>
          </a:ln>
        </p:spPr>
      </p:sp>
      <p:sp>
        <p:nvSpPr>
          <p:cNvPr id="9" name="Shape 7"/>
          <p:cNvSpPr/>
          <p:nvPr/>
        </p:nvSpPr>
        <p:spPr>
          <a:xfrm>
            <a:off x="1325118" y="2633472"/>
            <a:ext cx="219456" cy="219456"/>
          </a:xfrm>
          <a:prstGeom prst="ellipse">
            <a:avLst/>
          </a:prstGeom>
          <a:solidFill>
            <a:srgbClr val="12B886"/>
          </a:solidFill>
          <a:ln/>
        </p:spPr>
      </p:sp>
      <p:sp>
        <p:nvSpPr>
          <p:cNvPr id="10" name="Shape 8"/>
          <p:cNvSpPr/>
          <p:nvPr/>
        </p:nvSpPr>
        <p:spPr>
          <a:xfrm>
            <a:off x="557784" y="3108960"/>
            <a:ext cx="1754124" cy="1737360"/>
          </a:xfrm>
          <a:prstGeom prst="roundRect">
            <a:avLst>
              <a:gd name="adj" fmla="val 3158"/>
            </a:avLst>
          </a:prstGeom>
          <a:solidFill>
            <a:srgbClr val="FFFFFF"/>
          </a:solidFill>
          <a:ln w="9525">
            <a:solidFill>
              <a:srgbClr val="D2DBEC"/>
            </a:solidFill>
            <a:prstDash val="solid"/>
          </a:ln>
        </p:spPr>
      </p:sp>
      <p:sp>
        <p:nvSpPr>
          <p:cNvPr id="11" name="Text 9"/>
          <p:cNvSpPr txBox="1"/>
          <p:nvPr/>
        </p:nvSpPr>
        <p:spPr>
          <a:xfrm>
            <a:off x="649224" y="3200400"/>
            <a:ext cx="1571244" cy="502920"/>
          </a:xfrm>
          <a:prstGeom prst="rect">
            <a:avLst/>
          </a:prstGeom>
          <a:noFill/>
          <a:ln/>
        </p:spPr>
        <p:txBody>
          <a:bodyPr wrap="square" lIns="0" tIns="0" rIns="0" bIns="0" rtlCol="0" anchor="t"/>
          <a:lstStyle/>
          <a:p>
            <a:pPr marL="0" indent="0">
              <a:buNone/>
            </a:pPr>
            <a:r>
              <a:rPr lang="en-US" sz="1250" b="1" dirty="0">
                <a:solidFill>
                  <a:srgbClr val="12B886"/>
                </a:solidFill>
                <a:latin typeface="Calibri" pitchFamily="34" charset="0"/>
                <a:ea typeface="Calibri" pitchFamily="34" charset="-122"/>
                <a:cs typeface="Calibri" pitchFamily="34" charset="-120"/>
              </a:rPr>
              <a:t>antes de llamar</a:t>
            </a:r>
            <a:endParaRPr lang="en-US" sz="1250" dirty="0"/>
          </a:p>
        </p:txBody>
      </p:sp>
      <p:sp>
        <p:nvSpPr>
          <p:cNvPr id="12" name="Text 10"/>
          <p:cNvSpPr txBox="1"/>
          <p:nvPr/>
        </p:nvSpPr>
        <p:spPr>
          <a:xfrm>
            <a:off x="649224" y="3749040"/>
            <a:ext cx="1571244" cy="10515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edad, ocupación, créditos, campañas anteriores, canal, día</a:t>
            </a:r>
            <a:endParaRPr lang="en-US" sz="1150" dirty="0"/>
          </a:p>
        </p:txBody>
      </p:sp>
      <p:sp>
        <p:nvSpPr>
          <p:cNvPr id="13" name="Shape 11"/>
          <p:cNvSpPr/>
          <p:nvPr/>
        </p:nvSpPr>
        <p:spPr>
          <a:xfrm>
            <a:off x="3188970" y="2633472"/>
            <a:ext cx="219456" cy="219456"/>
          </a:xfrm>
          <a:prstGeom prst="ellipse">
            <a:avLst/>
          </a:prstGeom>
          <a:solidFill>
            <a:srgbClr val="1A56E8"/>
          </a:solidFill>
          <a:ln/>
        </p:spPr>
      </p:sp>
      <p:sp>
        <p:nvSpPr>
          <p:cNvPr id="14" name="Shape 12"/>
          <p:cNvSpPr/>
          <p:nvPr/>
        </p:nvSpPr>
        <p:spPr>
          <a:xfrm>
            <a:off x="2421636" y="3108960"/>
            <a:ext cx="1754124" cy="1737360"/>
          </a:xfrm>
          <a:prstGeom prst="roundRect">
            <a:avLst>
              <a:gd name="adj" fmla="val 3158"/>
            </a:avLst>
          </a:prstGeom>
          <a:solidFill>
            <a:srgbClr val="E9EEF8"/>
          </a:solidFill>
          <a:ln w="9525">
            <a:solidFill>
              <a:srgbClr val="D2DBEC"/>
            </a:solidFill>
            <a:prstDash val="solid"/>
          </a:ln>
        </p:spPr>
      </p:sp>
      <p:sp>
        <p:nvSpPr>
          <p:cNvPr id="15" name="Text 13"/>
          <p:cNvSpPr txBox="1"/>
          <p:nvPr/>
        </p:nvSpPr>
        <p:spPr>
          <a:xfrm>
            <a:off x="2513076" y="3200400"/>
            <a:ext cx="1571244" cy="502920"/>
          </a:xfrm>
          <a:prstGeom prst="rect">
            <a:avLst/>
          </a:prstGeom>
          <a:noFill/>
          <a:ln/>
        </p:spPr>
        <p:txBody>
          <a:bodyPr wrap="square" lIns="0" tIns="0" rIns="0" bIns="0" rtlCol="0" anchor="t"/>
          <a:lstStyle/>
          <a:p>
            <a:pPr marL="0" indent="0">
              <a:buNone/>
            </a:pPr>
            <a:r>
              <a:rPr lang="en-US" sz="1250" b="1" dirty="0">
                <a:solidFill>
                  <a:srgbClr val="1A56E8"/>
                </a:solidFill>
                <a:latin typeface="Calibri" pitchFamily="34" charset="0"/>
                <a:ea typeface="Calibri" pitchFamily="34" charset="-122"/>
                <a:cs typeface="Calibri" pitchFamily="34" charset="-120"/>
              </a:rPr>
              <a:t>durante la campaña</a:t>
            </a:r>
            <a:endParaRPr lang="en-US" sz="1250" dirty="0"/>
          </a:p>
        </p:txBody>
      </p:sp>
      <p:sp>
        <p:nvSpPr>
          <p:cNvPr id="16" name="Text 14"/>
          <p:cNvSpPr txBox="1"/>
          <p:nvPr/>
        </p:nvSpPr>
        <p:spPr>
          <a:xfrm>
            <a:off x="2513076" y="3749040"/>
            <a:ext cx="1571244" cy="10515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n_llamadas: los intentos de esta campaña</a:t>
            </a:r>
            <a:endParaRPr lang="en-US" sz="1150" dirty="0"/>
          </a:p>
        </p:txBody>
      </p:sp>
      <p:sp>
        <p:nvSpPr>
          <p:cNvPr id="17" name="Shape 15"/>
          <p:cNvSpPr/>
          <p:nvPr/>
        </p:nvSpPr>
        <p:spPr>
          <a:xfrm>
            <a:off x="5052822" y="2633472"/>
            <a:ext cx="219456" cy="219456"/>
          </a:xfrm>
          <a:prstGeom prst="ellipse">
            <a:avLst/>
          </a:prstGeom>
          <a:solidFill>
            <a:srgbClr val="E6115E"/>
          </a:solidFill>
          <a:ln/>
        </p:spPr>
      </p:sp>
      <p:sp>
        <p:nvSpPr>
          <p:cNvPr id="18" name="Shape 16"/>
          <p:cNvSpPr/>
          <p:nvPr/>
        </p:nvSpPr>
        <p:spPr>
          <a:xfrm>
            <a:off x="4285488" y="3108960"/>
            <a:ext cx="1754124" cy="1737360"/>
          </a:xfrm>
          <a:prstGeom prst="roundRect">
            <a:avLst>
              <a:gd name="adj" fmla="val 3158"/>
            </a:avLst>
          </a:prstGeom>
          <a:solidFill>
            <a:srgbClr val="E9EEF8"/>
          </a:solidFill>
          <a:ln w="9525">
            <a:solidFill>
              <a:srgbClr val="D2DBEC"/>
            </a:solidFill>
            <a:prstDash val="solid"/>
          </a:ln>
        </p:spPr>
      </p:sp>
      <p:sp>
        <p:nvSpPr>
          <p:cNvPr id="19" name="Text 17"/>
          <p:cNvSpPr txBox="1"/>
          <p:nvPr/>
        </p:nvSpPr>
        <p:spPr>
          <a:xfrm>
            <a:off x="4376928" y="3200400"/>
            <a:ext cx="1571244" cy="502920"/>
          </a:xfrm>
          <a:prstGeom prst="rect">
            <a:avLst/>
          </a:prstGeom>
          <a:noFill/>
          <a:ln/>
        </p:spPr>
        <p:txBody>
          <a:bodyPr wrap="square" lIns="0" tIns="0" rIns="0" bIns="0" rtlCol="0" anchor="t"/>
          <a:lstStyle/>
          <a:p>
            <a:pPr marL="0" indent="0">
              <a:buNone/>
            </a:pPr>
            <a:r>
              <a:rPr lang="en-US" sz="1250" b="1" dirty="0">
                <a:solidFill>
                  <a:srgbClr val="E6115E"/>
                </a:solidFill>
                <a:latin typeface="Calibri" pitchFamily="34" charset="0"/>
                <a:ea typeface="Calibri" pitchFamily="34" charset="-122"/>
                <a:cs typeface="Calibri" pitchFamily="34" charset="-120"/>
              </a:rPr>
              <a:t>al colgar</a:t>
            </a:r>
            <a:endParaRPr lang="en-US" sz="1250" dirty="0"/>
          </a:p>
        </p:txBody>
      </p:sp>
      <p:sp>
        <p:nvSpPr>
          <p:cNvPr id="20" name="Text 18"/>
          <p:cNvSpPr txBox="1"/>
          <p:nvPr/>
        </p:nvSpPr>
        <p:spPr>
          <a:xfrm>
            <a:off x="4376928" y="3749040"/>
            <a:ext cx="1571244" cy="10515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duracion_seg</a:t>
            </a:r>
            <a:endParaRPr lang="en-US" sz="1150" dirty="0"/>
          </a:p>
        </p:txBody>
      </p:sp>
      <p:sp>
        <p:nvSpPr>
          <p:cNvPr id="21" name="Shape 19"/>
          <p:cNvSpPr/>
          <p:nvPr/>
        </p:nvSpPr>
        <p:spPr>
          <a:xfrm>
            <a:off x="6916674" y="2633472"/>
            <a:ext cx="219456" cy="219456"/>
          </a:xfrm>
          <a:prstGeom prst="ellipse">
            <a:avLst/>
          </a:prstGeom>
          <a:solidFill>
            <a:srgbClr val="E6115E"/>
          </a:solidFill>
          <a:ln/>
        </p:spPr>
      </p:sp>
      <p:sp>
        <p:nvSpPr>
          <p:cNvPr id="22" name="Shape 20"/>
          <p:cNvSpPr/>
          <p:nvPr/>
        </p:nvSpPr>
        <p:spPr>
          <a:xfrm>
            <a:off x="6149340" y="3108960"/>
            <a:ext cx="1754124" cy="1737360"/>
          </a:xfrm>
          <a:prstGeom prst="roundRect">
            <a:avLst>
              <a:gd name="adj" fmla="val 3158"/>
            </a:avLst>
          </a:prstGeom>
          <a:solidFill>
            <a:srgbClr val="E9EEF8"/>
          </a:solidFill>
          <a:ln w="9525">
            <a:solidFill>
              <a:srgbClr val="D2DBEC"/>
            </a:solidFill>
            <a:prstDash val="solid"/>
          </a:ln>
        </p:spPr>
      </p:sp>
      <p:sp>
        <p:nvSpPr>
          <p:cNvPr id="23" name="Text 21"/>
          <p:cNvSpPr txBox="1"/>
          <p:nvPr/>
        </p:nvSpPr>
        <p:spPr>
          <a:xfrm>
            <a:off x="6240780" y="3200400"/>
            <a:ext cx="1571244" cy="502920"/>
          </a:xfrm>
          <a:prstGeom prst="rect">
            <a:avLst/>
          </a:prstGeom>
          <a:noFill/>
          <a:ln/>
        </p:spPr>
        <p:txBody>
          <a:bodyPr wrap="square" lIns="0" tIns="0" rIns="0" bIns="0" rtlCol="0" anchor="t"/>
          <a:lstStyle/>
          <a:p>
            <a:pPr marL="0" indent="0">
              <a:buNone/>
            </a:pPr>
            <a:r>
              <a:rPr lang="en-US" sz="1250" b="1" dirty="0">
                <a:solidFill>
                  <a:srgbClr val="E6115E"/>
                </a:solidFill>
                <a:latin typeface="Calibri" pitchFamily="34" charset="0"/>
                <a:ea typeface="Calibri" pitchFamily="34" charset="-122"/>
                <a:cs typeface="Calibri" pitchFamily="34" charset="-120"/>
              </a:rPr>
              <a:t>al cerrar el mes</a:t>
            </a:r>
            <a:endParaRPr lang="en-US" sz="1250" dirty="0"/>
          </a:p>
        </p:txBody>
      </p:sp>
      <p:sp>
        <p:nvSpPr>
          <p:cNvPr id="24" name="Text 22"/>
          <p:cNvSpPr txBox="1"/>
          <p:nvPr/>
        </p:nvSpPr>
        <p:spPr>
          <a:xfrm>
            <a:off x="6240780" y="3749040"/>
            <a:ext cx="1571244" cy="10515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la macro de ese mes</a:t>
            </a:r>
            <a:endParaRPr lang="en-US" sz="1150" dirty="0"/>
          </a:p>
        </p:txBody>
      </p:sp>
      <p:sp>
        <p:nvSpPr>
          <p:cNvPr id="25" name="Shape 23"/>
          <p:cNvSpPr/>
          <p:nvPr/>
        </p:nvSpPr>
        <p:spPr>
          <a:xfrm>
            <a:off x="8780526" y="2633472"/>
            <a:ext cx="219456" cy="219456"/>
          </a:xfrm>
          <a:prstGeom prst="ellipse">
            <a:avLst/>
          </a:prstGeom>
          <a:solidFill>
            <a:srgbClr val="E6115E"/>
          </a:solidFill>
          <a:ln/>
        </p:spPr>
      </p:sp>
      <p:sp>
        <p:nvSpPr>
          <p:cNvPr id="26" name="Shape 24"/>
          <p:cNvSpPr/>
          <p:nvPr/>
        </p:nvSpPr>
        <p:spPr>
          <a:xfrm>
            <a:off x="8013192" y="3108960"/>
            <a:ext cx="1754124" cy="1737360"/>
          </a:xfrm>
          <a:prstGeom prst="roundRect">
            <a:avLst>
              <a:gd name="adj" fmla="val 3158"/>
            </a:avLst>
          </a:prstGeom>
          <a:solidFill>
            <a:srgbClr val="E9EEF8"/>
          </a:solidFill>
          <a:ln w="9525">
            <a:solidFill>
              <a:srgbClr val="D2DBEC"/>
            </a:solidFill>
            <a:prstDash val="solid"/>
          </a:ln>
        </p:spPr>
      </p:sp>
      <p:sp>
        <p:nvSpPr>
          <p:cNvPr id="27" name="Text 25"/>
          <p:cNvSpPr txBox="1"/>
          <p:nvPr/>
        </p:nvSpPr>
        <p:spPr>
          <a:xfrm>
            <a:off x="8104632" y="3200400"/>
            <a:ext cx="1571244" cy="502920"/>
          </a:xfrm>
          <a:prstGeom prst="rect">
            <a:avLst/>
          </a:prstGeom>
          <a:noFill/>
          <a:ln/>
        </p:spPr>
        <p:txBody>
          <a:bodyPr wrap="square" lIns="0" tIns="0" rIns="0" bIns="0" rtlCol="0" anchor="t"/>
          <a:lstStyle/>
          <a:p>
            <a:pPr marL="0" indent="0">
              <a:buNone/>
            </a:pPr>
            <a:r>
              <a:rPr lang="en-US" sz="1250" b="1" dirty="0">
                <a:solidFill>
                  <a:srgbClr val="E6115E"/>
                </a:solidFill>
                <a:latin typeface="Calibri" pitchFamily="34" charset="0"/>
                <a:ea typeface="Calibri" pitchFamily="34" charset="-122"/>
                <a:cs typeface="Calibri" pitchFamily="34" charset="-120"/>
              </a:rPr>
              <a:t>en diciembre de 2010</a:t>
            </a:r>
            <a:endParaRPr lang="en-US" sz="1250" dirty="0"/>
          </a:p>
        </p:txBody>
      </p:sp>
      <p:sp>
        <p:nvSpPr>
          <p:cNvPr id="28" name="Text 26"/>
          <p:cNvSpPr txBox="1"/>
          <p:nvPr/>
        </p:nvSpPr>
        <p:spPr>
          <a:xfrm>
            <a:off x="8104632" y="3749040"/>
            <a:ext cx="1571244" cy="10515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la foto del maestro: n_productos_hoy</a:t>
            </a:r>
            <a:endParaRPr lang="en-US" sz="1150" dirty="0"/>
          </a:p>
        </p:txBody>
      </p:sp>
      <p:sp>
        <p:nvSpPr>
          <p:cNvPr id="29" name="Shape 27"/>
          <p:cNvSpPr/>
          <p:nvPr/>
        </p:nvSpPr>
        <p:spPr>
          <a:xfrm>
            <a:off x="10644378" y="2633472"/>
            <a:ext cx="219456" cy="219456"/>
          </a:xfrm>
          <a:prstGeom prst="ellipse">
            <a:avLst/>
          </a:prstGeom>
          <a:solidFill>
            <a:srgbClr val="0A2559"/>
          </a:solidFill>
          <a:ln/>
        </p:spPr>
      </p:sp>
      <p:sp>
        <p:nvSpPr>
          <p:cNvPr id="30" name="Shape 28"/>
          <p:cNvSpPr/>
          <p:nvPr/>
        </p:nvSpPr>
        <p:spPr>
          <a:xfrm>
            <a:off x="9877044" y="3108960"/>
            <a:ext cx="1754124" cy="1737360"/>
          </a:xfrm>
          <a:prstGeom prst="roundRect">
            <a:avLst>
              <a:gd name="adj" fmla="val 3158"/>
            </a:avLst>
          </a:prstGeom>
          <a:solidFill>
            <a:srgbClr val="E9EEF8"/>
          </a:solidFill>
          <a:ln w="9525">
            <a:solidFill>
              <a:srgbClr val="D2DBEC"/>
            </a:solidFill>
            <a:prstDash val="solid"/>
          </a:ln>
        </p:spPr>
      </p:sp>
      <p:sp>
        <p:nvSpPr>
          <p:cNvPr id="31" name="Text 29"/>
          <p:cNvSpPr txBox="1"/>
          <p:nvPr/>
        </p:nvSpPr>
        <p:spPr>
          <a:xfrm>
            <a:off x="9968484" y="3200400"/>
            <a:ext cx="1571244" cy="502920"/>
          </a:xfrm>
          <a:prstGeom prst="rect">
            <a:avLst/>
          </a:prstGeom>
          <a:noFill/>
          <a:ln/>
        </p:spPr>
        <p:txBody>
          <a:bodyPr wrap="square" lIns="0" tIns="0" rIns="0" bIns="0" rtlCol="0" anchor="t"/>
          <a:lstStyle/>
          <a:p>
            <a:pPr marL="0" indent="0">
              <a:buNone/>
            </a:pPr>
            <a:r>
              <a:rPr lang="en-US" sz="1250" b="1" dirty="0">
                <a:solidFill>
                  <a:srgbClr val="0A2559"/>
                </a:solidFill>
                <a:latin typeface="Calibri" pitchFamily="34" charset="0"/>
                <a:ea typeface="Calibri" pitchFamily="34" charset="-122"/>
                <a:cs typeface="Calibri" pitchFamily="34" charset="-120"/>
              </a:rPr>
              <a:t>después de la campaña</a:t>
            </a:r>
            <a:endParaRPr lang="en-US" sz="1250" dirty="0"/>
          </a:p>
        </p:txBody>
      </p:sp>
      <p:sp>
        <p:nvSpPr>
          <p:cNvPr id="32" name="Text 30"/>
          <p:cNvSpPr txBox="1"/>
          <p:nvPr/>
        </p:nvSpPr>
        <p:spPr>
          <a:xfrm>
            <a:off x="9968484" y="3749040"/>
            <a:ext cx="1571244" cy="10515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contrato (el objetivo)</a:t>
            </a:r>
            <a:endParaRPr lang="en-US" sz="1150" dirty="0"/>
          </a:p>
        </p:txBody>
      </p:sp>
      <p:sp>
        <p:nvSpPr>
          <p:cNvPr id="33" name="Shape 31"/>
          <p:cNvSpPr/>
          <p:nvPr/>
        </p:nvSpPr>
        <p:spPr>
          <a:xfrm>
            <a:off x="502920" y="5074920"/>
            <a:ext cx="11183112" cy="1143000"/>
          </a:xfrm>
          <a:prstGeom prst="roundRect">
            <a:avLst>
              <a:gd name="adj" fmla="val 4800"/>
            </a:avLst>
          </a:prstGeom>
          <a:solidFill>
            <a:srgbClr val="0A2559"/>
          </a:solidFill>
          <a:ln w="9525">
            <a:solidFill>
              <a:srgbClr val="0A2559"/>
            </a:solidFill>
            <a:prstDash val="solid"/>
          </a:ln>
        </p:spPr>
      </p:sp>
      <p:sp>
        <p:nvSpPr>
          <p:cNvPr id="34" name="Text 32"/>
          <p:cNvSpPr txBox="1"/>
          <p:nvPr/>
        </p:nvSpPr>
        <p:spPr>
          <a:xfrm>
            <a:off x="731520" y="5074920"/>
            <a:ext cx="10789920" cy="1143000"/>
          </a:xfrm>
          <a:prstGeom prst="rect">
            <a:avLst/>
          </a:prstGeom>
          <a:noFill/>
          <a:ln/>
        </p:spPr>
        <p:txBody>
          <a:bodyPr wrap="square" lIns="0" tIns="0" rIns="0" bIns="0" rtlCol="0" anchor="ctr"/>
          <a:lstStyle/>
          <a:p>
            <a:pPr marL="0" indent="0">
              <a:spcAft>
                <a:spcPts val="400"/>
              </a:spcAft>
              <a:buNone/>
            </a:pPr>
            <a:r>
              <a:rPr lang="en-US" sz="1350" b="1" dirty="0">
                <a:solidFill>
                  <a:srgbClr val="FFFFFF"/>
                </a:solidFill>
                <a:latin typeface="Calibri" pitchFamily="34" charset="0"/>
                <a:ea typeface="Calibri" pitchFamily="34" charset="-122"/>
                <a:cs typeface="Calibri" pitchFamily="34" charset="-120"/>
              </a:rPr>
              <a:t>Solo entra al modelo lo que está a la izquierda de la línea punteada. </a:t>
            </a:r>
            <a:r>
              <a:rPr lang="en-US" sz="1350" dirty="0">
                <a:solidFill>
                  <a:srgbClr val="C9D4EA"/>
                </a:solidFill>
                <a:latin typeface="Calibri" pitchFamily="34" charset="0"/>
                <a:ea typeface="Calibri" pitchFamily="34" charset="-122"/>
                <a:cs typeface="Calibri" pitchFamily="34" charset="-120"/>
              </a:rPr>
              <a:t>Todo lo demás es una fuga de información: el modelo se vería genial en el notebook y fallaría el primer día en producción.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 · DATOS</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Cinco fuentes, cinco áreas del banco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Así llegan los datos en la vida real. Hay que pegarlos por cliente_id y periodo.</a:t>
            </a:r>
            <a:endParaRPr lang="en-US" sz="1400" dirty="0"/>
          </a:p>
        </p:txBody>
      </p:sp>
      <p:sp>
        <p:nvSpPr>
          <p:cNvPr id="6" name="Shape 4"/>
          <p:cNvSpPr/>
          <p:nvPr/>
        </p:nvSpPr>
        <p:spPr>
          <a:xfrm>
            <a:off x="502920" y="2103120"/>
            <a:ext cx="2103120" cy="3063240"/>
          </a:xfrm>
          <a:prstGeom prst="roundRect">
            <a:avLst>
              <a:gd name="adj" fmla="val 2609"/>
            </a:avLst>
          </a:prstGeom>
          <a:solidFill>
            <a:srgbClr val="0A2559"/>
          </a:solidFill>
          <a:ln w="9525">
            <a:solidFill>
              <a:srgbClr val="0A2559"/>
            </a:solidFill>
            <a:prstDash val="solid"/>
          </a:ln>
        </p:spPr>
      </p:sp>
      <p:sp>
        <p:nvSpPr>
          <p:cNvPr id="7" name="Text 5"/>
          <p:cNvSpPr txBox="1"/>
          <p:nvPr/>
        </p:nvSpPr>
        <p:spPr>
          <a:xfrm>
            <a:off x="685800" y="2240280"/>
            <a:ext cx="1737360" cy="274320"/>
          </a:xfrm>
          <a:prstGeom prst="rect">
            <a:avLst/>
          </a:prstGeom>
          <a:noFill/>
          <a:ln/>
        </p:spPr>
        <p:txBody>
          <a:bodyPr wrap="square" lIns="0" tIns="0" rIns="0" bIns="0" rtlCol="0" anchor="ctr"/>
          <a:lstStyle/>
          <a:p>
            <a:pPr marL="0" indent="0">
              <a:buNone/>
            </a:pPr>
            <a:r>
              <a:rPr lang="en-US" sz="950" b="1" kern="0" spc="100" dirty="0">
                <a:solidFill>
                  <a:srgbClr val="FF6B9A"/>
                </a:solidFill>
                <a:latin typeface="Calibri" pitchFamily="34" charset="0"/>
                <a:ea typeface="Calibri" pitchFamily="34" charset="-122"/>
                <a:cs typeface="Calibri" pitchFamily="34" charset="-120"/>
              </a:rPr>
              <a:t>CAMPAÑAS</a:t>
            </a:r>
            <a:endParaRPr lang="en-US" sz="950" dirty="0"/>
          </a:p>
        </p:txBody>
      </p:sp>
      <p:sp>
        <p:nvSpPr>
          <p:cNvPr id="8" name="Text 6"/>
          <p:cNvSpPr txBox="1"/>
          <p:nvPr/>
        </p:nvSpPr>
        <p:spPr>
          <a:xfrm>
            <a:off x="685800" y="2560320"/>
            <a:ext cx="1783080"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gestiones</a:t>
            </a:r>
            <a:endParaRPr lang="en-US" sz="1300" dirty="0"/>
          </a:p>
        </p:txBody>
      </p:sp>
      <p:sp>
        <p:nvSpPr>
          <p:cNvPr id="9" name="Text 7"/>
          <p:cNvSpPr txBox="1"/>
          <p:nvPr/>
        </p:nvSpPr>
        <p:spPr>
          <a:xfrm>
            <a:off x="685800" y="3063240"/>
            <a:ext cx="173736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41 188</a:t>
            </a:r>
            <a:endParaRPr lang="en-US" sz="2400" dirty="0"/>
          </a:p>
        </p:txBody>
      </p:sp>
      <p:sp>
        <p:nvSpPr>
          <p:cNvPr id="10" name="Text 8"/>
          <p:cNvSpPr txBox="1"/>
          <p:nvPr/>
        </p:nvSpPr>
        <p:spPr>
          <a:xfrm>
            <a:off x="685800" y="3520440"/>
            <a:ext cx="1737360" cy="228600"/>
          </a:xfrm>
          <a:prstGeom prst="rect">
            <a:avLst/>
          </a:prstGeom>
          <a:noFill/>
          <a:ln/>
        </p:spPr>
        <p:txBody>
          <a:bodyPr wrap="square" lIns="0" tIns="0" rIns="0" bIns="0" rtlCol="0" anchor="ctr"/>
          <a:lstStyle/>
          <a:p>
            <a:pPr marL="0" indent="0">
              <a:buNone/>
            </a:pPr>
            <a:r>
              <a:rPr lang="en-US" sz="1050" dirty="0">
                <a:solidFill>
                  <a:srgbClr val="A9B7D4"/>
                </a:solidFill>
                <a:latin typeface="Calibri" pitchFamily="34" charset="0"/>
                <a:ea typeface="Calibri" pitchFamily="34" charset="-122"/>
                <a:cs typeface="Calibri" pitchFamily="34" charset="-120"/>
              </a:rPr>
              <a:t>filas</a:t>
            </a:r>
            <a:endParaRPr lang="en-US" sz="1050" dirty="0"/>
          </a:p>
        </p:txBody>
      </p:sp>
      <p:sp>
        <p:nvSpPr>
          <p:cNvPr id="11" name="Text 9"/>
          <p:cNvSpPr txBox="1"/>
          <p:nvPr/>
        </p:nvSpPr>
        <p:spPr>
          <a:xfrm>
            <a:off x="685800" y="3840480"/>
            <a:ext cx="1737360" cy="365760"/>
          </a:xfrm>
          <a:prstGeom prst="rect">
            <a:avLst/>
          </a:prstGeom>
          <a:noFill/>
          <a:ln/>
        </p:spPr>
        <p:txBody>
          <a:bodyPr wrap="square" lIns="0" tIns="0" rIns="0" bIns="0" rtlCol="0" anchor="t"/>
          <a:lstStyle/>
          <a:p>
            <a:pPr marL="0" indent="0">
              <a:spcAft>
                <a:spcPts val="400"/>
              </a:spcAft>
              <a:buNone/>
            </a:pPr>
            <a:r>
              <a:rPr lang="en-US" sz="1100" i="1" dirty="0">
                <a:solidFill>
                  <a:srgbClr val="C9D4EA"/>
                </a:solidFill>
                <a:latin typeface="Calibri" pitchFamily="34" charset="0"/>
                <a:ea typeface="Calibri" pitchFamily="34" charset="-122"/>
                <a:cs typeface="Calibri" pitchFamily="34" charset="-120"/>
              </a:rPr>
              <a:t>una fila por llamada</a:t>
            </a:r>
            <a:endParaRPr lang="en-US" sz="1100" dirty="0"/>
          </a:p>
        </p:txBody>
      </p:sp>
      <p:sp>
        <p:nvSpPr>
          <p:cNvPr id="12" name="Text 10"/>
          <p:cNvSpPr txBox="1"/>
          <p:nvPr/>
        </p:nvSpPr>
        <p:spPr>
          <a:xfrm>
            <a:off x="685800" y="4251960"/>
            <a:ext cx="1737360" cy="82296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canal, día, intentos, duración</a:t>
            </a:r>
            <a:endParaRPr lang="en-US" sz="1150" dirty="0"/>
          </a:p>
        </p:txBody>
      </p:sp>
      <p:sp>
        <p:nvSpPr>
          <p:cNvPr id="13" name="Shape 11"/>
          <p:cNvSpPr/>
          <p:nvPr/>
        </p:nvSpPr>
        <p:spPr>
          <a:xfrm>
            <a:off x="2761488" y="2103120"/>
            <a:ext cx="2103120" cy="3063240"/>
          </a:xfrm>
          <a:prstGeom prst="roundRect">
            <a:avLst>
              <a:gd name="adj" fmla="val 2609"/>
            </a:avLst>
          </a:prstGeom>
          <a:solidFill>
            <a:srgbClr val="FFFFFF"/>
          </a:solidFill>
          <a:ln w="9525">
            <a:solidFill>
              <a:srgbClr val="D2DBEC"/>
            </a:solidFill>
            <a:prstDash val="solid"/>
          </a:ln>
        </p:spPr>
      </p:sp>
      <p:sp>
        <p:nvSpPr>
          <p:cNvPr id="14" name="Text 12"/>
          <p:cNvSpPr txBox="1"/>
          <p:nvPr/>
        </p:nvSpPr>
        <p:spPr>
          <a:xfrm>
            <a:off x="2944368" y="2240280"/>
            <a:ext cx="1737360" cy="274320"/>
          </a:xfrm>
          <a:prstGeom prst="rect">
            <a:avLst/>
          </a:prstGeom>
          <a:noFill/>
          <a:ln/>
        </p:spPr>
        <p:txBody>
          <a:bodyPr wrap="square" lIns="0" tIns="0" rIns="0" bIns="0" rtlCol="0" anchor="ctr"/>
          <a:lstStyle/>
          <a:p>
            <a:pPr marL="0" indent="0">
              <a:buNone/>
            </a:pPr>
            <a:r>
              <a:rPr lang="en-US" sz="950" b="1" kern="0" spc="100" dirty="0">
                <a:solidFill>
                  <a:srgbClr val="1A56E8"/>
                </a:solidFill>
                <a:latin typeface="Calibri" pitchFamily="34" charset="0"/>
                <a:ea typeface="Calibri" pitchFamily="34" charset="-122"/>
                <a:cs typeface="Calibri" pitchFamily="34" charset="-120"/>
              </a:rPr>
              <a:t>CRM</a:t>
            </a:r>
            <a:endParaRPr lang="en-US" sz="950" dirty="0"/>
          </a:p>
        </p:txBody>
      </p:sp>
      <p:sp>
        <p:nvSpPr>
          <p:cNvPr id="15" name="Text 13"/>
          <p:cNvSpPr txBox="1"/>
          <p:nvPr/>
        </p:nvSpPr>
        <p:spPr>
          <a:xfrm>
            <a:off x="2944368" y="2560320"/>
            <a:ext cx="1783080" cy="457200"/>
          </a:xfrm>
          <a:prstGeom prst="rect">
            <a:avLst/>
          </a:prstGeom>
          <a:noFill/>
          <a:ln/>
        </p:spPr>
        <p:txBody>
          <a:bodyPr wrap="square" lIns="0" tIns="0" rIns="0" bIns="0" rtlCol="0" anchor="t"/>
          <a:lstStyle/>
          <a:p>
            <a:pPr marL="0" indent="0">
              <a:buNone/>
            </a:pPr>
            <a:r>
              <a:rPr lang="en-US" sz="1300" b="1" dirty="0">
                <a:solidFill>
                  <a:srgbClr val="0A2559"/>
                </a:solidFill>
                <a:latin typeface="Calibri" pitchFamily="34" charset="0"/>
                <a:ea typeface="Calibri" pitchFamily="34" charset="-122"/>
                <a:cs typeface="Calibri" pitchFamily="34" charset="-120"/>
              </a:rPr>
              <a:t>historial_campanas</a:t>
            </a:r>
            <a:endParaRPr lang="en-US" sz="1300" dirty="0"/>
          </a:p>
        </p:txBody>
      </p:sp>
      <p:sp>
        <p:nvSpPr>
          <p:cNvPr id="16" name="Text 14"/>
          <p:cNvSpPr txBox="1"/>
          <p:nvPr/>
        </p:nvSpPr>
        <p:spPr>
          <a:xfrm>
            <a:off x="2944368" y="3063240"/>
            <a:ext cx="1737360" cy="457200"/>
          </a:xfrm>
          <a:prstGeom prst="rect">
            <a:avLst/>
          </a:prstGeom>
          <a:noFill/>
          <a:ln/>
        </p:spPr>
        <p:txBody>
          <a:bodyPr wrap="square" lIns="0" tIns="0" rIns="0" bIns="0" rtlCol="0" anchor="ctr"/>
          <a:lstStyle/>
          <a:p>
            <a:pPr marL="0" indent="0">
              <a:buNone/>
            </a:pPr>
            <a:r>
              <a:rPr lang="en-US" sz="2400" b="1" dirty="0">
                <a:solidFill>
                  <a:srgbClr val="1A56E8"/>
                </a:solidFill>
                <a:latin typeface="Calibri" pitchFamily="34" charset="0"/>
                <a:ea typeface="Calibri" pitchFamily="34" charset="-122"/>
                <a:cs typeface="Calibri" pitchFamily="34" charset="-120"/>
              </a:rPr>
              <a:t>41 188</a:t>
            </a:r>
            <a:endParaRPr lang="en-US" sz="2400" dirty="0"/>
          </a:p>
        </p:txBody>
      </p:sp>
      <p:sp>
        <p:nvSpPr>
          <p:cNvPr id="17" name="Text 15"/>
          <p:cNvSpPr txBox="1"/>
          <p:nvPr/>
        </p:nvSpPr>
        <p:spPr>
          <a:xfrm>
            <a:off x="2944368" y="3520440"/>
            <a:ext cx="1737360" cy="228600"/>
          </a:xfrm>
          <a:prstGeom prst="rect">
            <a:avLst/>
          </a:prstGeom>
          <a:noFill/>
          <a:ln/>
        </p:spPr>
        <p:txBody>
          <a:bodyPr wrap="square" lIns="0" tIns="0" rIns="0" bIns="0" rtlCol="0" anchor="ctr"/>
          <a:lstStyle/>
          <a:p>
            <a:pPr marL="0" indent="0">
              <a:buNone/>
            </a:pPr>
            <a:r>
              <a:rPr lang="en-US" sz="1050" dirty="0">
                <a:solidFill>
                  <a:srgbClr val="5B6B87"/>
                </a:solidFill>
                <a:latin typeface="Calibri" pitchFamily="34" charset="0"/>
                <a:ea typeface="Calibri" pitchFamily="34" charset="-122"/>
                <a:cs typeface="Calibri" pitchFamily="34" charset="-120"/>
              </a:rPr>
              <a:t>filas</a:t>
            </a:r>
            <a:endParaRPr lang="en-US" sz="1050" dirty="0"/>
          </a:p>
        </p:txBody>
      </p:sp>
      <p:sp>
        <p:nvSpPr>
          <p:cNvPr id="18" name="Text 16"/>
          <p:cNvSpPr txBox="1"/>
          <p:nvPr/>
        </p:nvSpPr>
        <p:spPr>
          <a:xfrm>
            <a:off x="2944368" y="3840480"/>
            <a:ext cx="1737360" cy="365760"/>
          </a:xfrm>
          <a:prstGeom prst="rect">
            <a:avLst/>
          </a:prstGeom>
          <a:noFill/>
          <a:ln/>
        </p:spPr>
        <p:txBody>
          <a:bodyPr wrap="square" lIns="0" tIns="0" rIns="0" bIns="0" rtlCol="0" anchor="t"/>
          <a:lstStyle/>
          <a:p>
            <a:pPr marL="0" indent="0">
              <a:spcAft>
                <a:spcPts val="400"/>
              </a:spcAft>
              <a:buNone/>
            </a:pPr>
            <a:r>
              <a:rPr lang="en-US" sz="1100" i="1" dirty="0">
                <a:solidFill>
                  <a:srgbClr val="5B6B87"/>
                </a:solidFill>
                <a:latin typeface="Calibri" pitchFamily="34" charset="0"/>
                <a:ea typeface="Calibri" pitchFamily="34" charset="-122"/>
                <a:cs typeface="Calibri" pitchFamily="34" charset="-120"/>
              </a:rPr>
              <a:t>una fila por gestión</a:t>
            </a:r>
            <a:endParaRPr lang="en-US" sz="1100" dirty="0"/>
          </a:p>
        </p:txBody>
      </p:sp>
      <p:sp>
        <p:nvSpPr>
          <p:cNvPr id="19" name="Text 17"/>
          <p:cNvSpPr txBox="1"/>
          <p:nvPr/>
        </p:nvSpPr>
        <p:spPr>
          <a:xfrm>
            <a:off x="2944368" y="4251960"/>
            <a:ext cx="1737360" cy="8229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contactos y resultado de campañas anteriores</a:t>
            </a:r>
            <a:endParaRPr lang="en-US" sz="1150" dirty="0"/>
          </a:p>
        </p:txBody>
      </p:sp>
      <p:sp>
        <p:nvSpPr>
          <p:cNvPr id="20" name="Shape 18"/>
          <p:cNvSpPr/>
          <p:nvPr/>
        </p:nvSpPr>
        <p:spPr>
          <a:xfrm>
            <a:off x="5020056" y="2103120"/>
            <a:ext cx="2103120" cy="3063240"/>
          </a:xfrm>
          <a:prstGeom prst="roundRect">
            <a:avLst>
              <a:gd name="adj" fmla="val 2609"/>
            </a:avLst>
          </a:prstGeom>
          <a:solidFill>
            <a:srgbClr val="FFFFFF"/>
          </a:solidFill>
          <a:ln w="9525">
            <a:solidFill>
              <a:srgbClr val="D2DBEC"/>
            </a:solidFill>
            <a:prstDash val="solid"/>
          </a:ln>
        </p:spPr>
      </p:sp>
      <p:sp>
        <p:nvSpPr>
          <p:cNvPr id="21" name="Text 19"/>
          <p:cNvSpPr txBox="1"/>
          <p:nvPr/>
        </p:nvSpPr>
        <p:spPr>
          <a:xfrm>
            <a:off x="5202936" y="2240280"/>
            <a:ext cx="1737360" cy="274320"/>
          </a:xfrm>
          <a:prstGeom prst="rect">
            <a:avLst/>
          </a:prstGeom>
          <a:noFill/>
          <a:ln/>
        </p:spPr>
        <p:txBody>
          <a:bodyPr wrap="square" lIns="0" tIns="0" rIns="0" bIns="0" rtlCol="0" anchor="ctr"/>
          <a:lstStyle/>
          <a:p>
            <a:pPr marL="0" indent="0">
              <a:buNone/>
            </a:pPr>
            <a:r>
              <a:rPr lang="en-US" sz="950" b="1" kern="0" spc="100" dirty="0">
                <a:solidFill>
                  <a:srgbClr val="1A56E8"/>
                </a:solidFill>
                <a:latin typeface="Calibri" pitchFamily="34" charset="0"/>
                <a:ea typeface="Calibri" pitchFamily="34" charset="-122"/>
                <a:cs typeface="Calibri" pitchFamily="34" charset="-120"/>
              </a:rPr>
              <a:t>MAESTRO</a:t>
            </a:r>
            <a:endParaRPr lang="en-US" sz="950" dirty="0"/>
          </a:p>
        </p:txBody>
      </p:sp>
      <p:sp>
        <p:nvSpPr>
          <p:cNvPr id="22" name="Text 20"/>
          <p:cNvSpPr txBox="1"/>
          <p:nvPr/>
        </p:nvSpPr>
        <p:spPr>
          <a:xfrm>
            <a:off x="5202936" y="2560320"/>
            <a:ext cx="1783080" cy="457200"/>
          </a:xfrm>
          <a:prstGeom prst="rect">
            <a:avLst/>
          </a:prstGeom>
          <a:noFill/>
          <a:ln/>
        </p:spPr>
        <p:txBody>
          <a:bodyPr wrap="square" lIns="0" tIns="0" rIns="0" bIns="0" rtlCol="0" anchor="t"/>
          <a:lstStyle/>
          <a:p>
            <a:pPr marL="0" indent="0">
              <a:buNone/>
            </a:pPr>
            <a:r>
              <a:rPr lang="en-US" sz="1300" b="1" dirty="0">
                <a:solidFill>
                  <a:srgbClr val="0A2559"/>
                </a:solidFill>
                <a:latin typeface="Calibri" pitchFamily="34" charset="0"/>
                <a:ea typeface="Calibri" pitchFamily="34" charset="-122"/>
                <a:cs typeface="Calibri" pitchFamily="34" charset="-120"/>
              </a:rPr>
              <a:t>clientes</a:t>
            </a:r>
            <a:endParaRPr lang="en-US" sz="1300" dirty="0"/>
          </a:p>
        </p:txBody>
      </p:sp>
      <p:sp>
        <p:nvSpPr>
          <p:cNvPr id="23" name="Text 21"/>
          <p:cNvSpPr txBox="1"/>
          <p:nvPr/>
        </p:nvSpPr>
        <p:spPr>
          <a:xfrm>
            <a:off x="5202936" y="3063240"/>
            <a:ext cx="1737360" cy="457200"/>
          </a:xfrm>
          <a:prstGeom prst="rect">
            <a:avLst/>
          </a:prstGeom>
          <a:noFill/>
          <a:ln/>
        </p:spPr>
        <p:txBody>
          <a:bodyPr wrap="square" lIns="0" tIns="0" rIns="0" bIns="0" rtlCol="0" anchor="ctr"/>
          <a:lstStyle/>
          <a:p>
            <a:pPr marL="0" indent="0">
              <a:buNone/>
            </a:pPr>
            <a:r>
              <a:rPr lang="en-US" sz="2400" b="1" dirty="0">
                <a:solidFill>
                  <a:srgbClr val="1A56E8"/>
                </a:solidFill>
                <a:latin typeface="Calibri" pitchFamily="34" charset="0"/>
                <a:ea typeface="Calibri" pitchFamily="34" charset="-122"/>
                <a:cs typeface="Calibri" pitchFamily="34" charset="-120"/>
              </a:rPr>
              <a:t>41 235</a:t>
            </a:r>
            <a:endParaRPr lang="en-US" sz="2400" dirty="0"/>
          </a:p>
        </p:txBody>
      </p:sp>
      <p:sp>
        <p:nvSpPr>
          <p:cNvPr id="24" name="Text 22"/>
          <p:cNvSpPr txBox="1"/>
          <p:nvPr/>
        </p:nvSpPr>
        <p:spPr>
          <a:xfrm>
            <a:off x="5202936" y="3520440"/>
            <a:ext cx="1737360" cy="228600"/>
          </a:xfrm>
          <a:prstGeom prst="rect">
            <a:avLst/>
          </a:prstGeom>
          <a:noFill/>
          <a:ln/>
        </p:spPr>
        <p:txBody>
          <a:bodyPr wrap="square" lIns="0" tIns="0" rIns="0" bIns="0" rtlCol="0" anchor="ctr"/>
          <a:lstStyle/>
          <a:p>
            <a:pPr marL="0" indent="0">
              <a:buNone/>
            </a:pPr>
            <a:r>
              <a:rPr lang="en-US" sz="1050" dirty="0">
                <a:solidFill>
                  <a:srgbClr val="5B6B87"/>
                </a:solidFill>
                <a:latin typeface="Calibri" pitchFamily="34" charset="0"/>
                <a:ea typeface="Calibri" pitchFamily="34" charset="-122"/>
                <a:cs typeface="Calibri" pitchFamily="34" charset="-120"/>
              </a:rPr>
              <a:t>filas</a:t>
            </a:r>
            <a:endParaRPr lang="en-US" sz="1050" dirty="0"/>
          </a:p>
        </p:txBody>
      </p:sp>
      <p:sp>
        <p:nvSpPr>
          <p:cNvPr id="25" name="Text 23"/>
          <p:cNvSpPr txBox="1"/>
          <p:nvPr/>
        </p:nvSpPr>
        <p:spPr>
          <a:xfrm>
            <a:off x="5202936" y="3840480"/>
            <a:ext cx="1737360" cy="365760"/>
          </a:xfrm>
          <a:prstGeom prst="rect">
            <a:avLst/>
          </a:prstGeom>
          <a:noFill/>
          <a:ln/>
        </p:spPr>
        <p:txBody>
          <a:bodyPr wrap="square" lIns="0" tIns="0" rIns="0" bIns="0" rtlCol="0" anchor="t"/>
          <a:lstStyle/>
          <a:p>
            <a:pPr marL="0" indent="0">
              <a:spcAft>
                <a:spcPts val="400"/>
              </a:spcAft>
              <a:buNone/>
            </a:pPr>
            <a:r>
              <a:rPr lang="en-US" sz="1100" i="1" dirty="0">
                <a:solidFill>
                  <a:srgbClr val="5B6B87"/>
                </a:solidFill>
                <a:latin typeface="Calibri" pitchFamily="34" charset="0"/>
                <a:ea typeface="Calibri" pitchFamily="34" charset="-122"/>
                <a:cs typeface="Calibri" pitchFamily="34" charset="-120"/>
              </a:rPr>
              <a:t>foto de diciembre 2010</a:t>
            </a:r>
            <a:endParaRPr lang="en-US" sz="1100" dirty="0"/>
          </a:p>
        </p:txBody>
      </p:sp>
      <p:sp>
        <p:nvSpPr>
          <p:cNvPr id="26" name="Text 24"/>
          <p:cNvSpPr txBox="1"/>
          <p:nvPr/>
        </p:nvSpPr>
        <p:spPr>
          <a:xfrm>
            <a:off x="5202936" y="4251960"/>
            <a:ext cx="1737360" cy="8229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edad, ocupación, créditos, productos</a:t>
            </a:r>
            <a:endParaRPr lang="en-US" sz="1150" dirty="0"/>
          </a:p>
        </p:txBody>
      </p:sp>
      <p:sp>
        <p:nvSpPr>
          <p:cNvPr id="27" name="Shape 25"/>
          <p:cNvSpPr/>
          <p:nvPr/>
        </p:nvSpPr>
        <p:spPr>
          <a:xfrm>
            <a:off x="7278624" y="2103120"/>
            <a:ext cx="2103120" cy="3063240"/>
          </a:xfrm>
          <a:prstGeom prst="roundRect">
            <a:avLst>
              <a:gd name="adj" fmla="val 2609"/>
            </a:avLst>
          </a:prstGeom>
          <a:solidFill>
            <a:srgbClr val="FFFFFF"/>
          </a:solidFill>
          <a:ln w="9525">
            <a:solidFill>
              <a:srgbClr val="D2DBEC"/>
            </a:solidFill>
            <a:prstDash val="solid"/>
          </a:ln>
        </p:spPr>
      </p:sp>
      <p:sp>
        <p:nvSpPr>
          <p:cNvPr id="28" name="Text 26"/>
          <p:cNvSpPr txBox="1"/>
          <p:nvPr/>
        </p:nvSpPr>
        <p:spPr>
          <a:xfrm>
            <a:off x="7461504" y="2240280"/>
            <a:ext cx="1737360" cy="274320"/>
          </a:xfrm>
          <a:prstGeom prst="rect">
            <a:avLst/>
          </a:prstGeom>
          <a:noFill/>
          <a:ln/>
        </p:spPr>
        <p:txBody>
          <a:bodyPr wrap="square" lIns="0" tIns="0" rIns="0" bIns="0" rtlCol="0" anchor="ctr"/>
          <a:lstStyle/>
          <a:p>
            <a:pPr marL="0" indent="0">
              <a:buNone/>
            </a:pPr>
            <a:r>
              <a:rPr lang="en-US" sz="950" b="1" kern="0" spc="100" dirty="0">
                <a:solidFill>
                  <a:srgbClr val="1A56E8"/>
                </a:solidFill>
                <a:latin typeface="Calibri" pitchFamily="34" charset="0"/>
                <a:ea typeface="Calibri" pitchFamily="34" charset="-122"/>
                <a:cs typeface="Calibri" pitchFamily="34" charset="-120"/>
              </a:rPr>
              <a:t>ESTUDIOS ECONÓMICOS</a:t>
            </a:r>
            <a:endParaRPr lang="en-US" sz="950" dirty="0"/>
          </a:p>
        </p:txBody>
      </p:sp>
      <p:sp>
        <p:nvSpPr>
          <p:cNvPr id="29" name="Text 27"/>
          <p:cNvSpPr txBox="1"/>
          <p:nvPr/>
        </p:nvSpPr>
        <p:spPr>
          <a:xfrm>
            <a:off x="7461504" y="2560320"/>
            <a:ext cx="1783080" cy="457200"/>
          </a:xfrm>
          <a:prstGeom prst="rect">
            <a:avLst/>
          </a:prstGeom>
          <a:noFill/>
          <a:ln/>
        </p:spPr>
        <p:txBody>
          <a:bodyPr wrap="square" lIns="0" tIns="0" rIns="0" bIns="0" rtlCol="0" anchor="t"/>
          <a:lstStyle/>
          <a:p>
            <a:pPr marL="0" indent="0">
              <a:buNone/>
            </a:pPr>
            <a:r>
              <a:rPr lang="en-US" sz="1300" b="1" dirty="0">
                <a:solidFill>
                  <a:srgbClr val="0A2559"/>
                </a:solidFill>
                <a:latin typeface="Calibri" pitchFamily="34" charset="0"/>
                <a:ea typeface="Calibri" pitchFamily="34" charset="-122"/>
                <a:cs typeface="Calibri" pitchFamily="34" charset="-120"/>
              </a:rPr>
              <a:t>macro_mensual</a:t>
            </a:r>
            <a:endParaRPr lang="en-US" sz="1300" dirty="0"/>
          </a:p>
        </p:txBody>
      </p:sp>
      <p:sp>
        <p:nvSpPr>
          <p:cNvPr id="30" name="Text 28"/>
          <p:cNvSpPr txBox="1"/>
          <p:nvPr/>
        </p:nvSpPr>
        <p:spPr>
          <a:xfrm>
            <a:off x="7461504" y="3063240"/>
            <a:ext cx="1737360" cy="457200"/>
          </a:xfrm>
          <a:prstGeom prst="rect">
            <a:avLst/>
          </a:prstGeom>
          <a:noFill/>
          <a:ln/>
        </p:spPr>
        <p:txBody>
          <a:bodyPr wrap="square" lIns="0" tIns="0" rIns="0" bIns="0" rtlCol="0" anchor="ctr"/>
          <a:lstStyle/>
          <a:p>
            <a:pPr marL="0" indent="0">
              <a:buNone/>
            </a:pPr>
            <a:r>
              <a:rPr lang="en-US" sz="2400" b="1" dirty="0">
                <a:solidFill>
                  <a:srgbClr val="1A56E8"/>
                </a:solidFill>
                <a:latin typeface="Calibri" pitchFamily="34" charset="0"/>
                <a:ea typeface="Calibri" pitchFamily="34" charset="-122"/>
                <a:cs typeface="Calibri" pitchFamily="34" charset="-120"/>
              </a:rPr>
              <a:t>27</a:t>
            </a:r>
            <a:endParaRPr lang="en-US" sz="2400" dirty="0"/>
          </a:p>
        </p:txBody>
      </p:sp>
      <p:sp>
        <p:nvSpPr>
          <p:cNvPr id="31" name="Text 29"/>
          <p:cNvSpPr txBox="1"/>
          <p:nvPr/>
        </p:nvSpPr>
        <p:spPr>
          <a:xfrm>
            <a:off x="7461504" y="3520440"/>
            <a:ext cx="1737360" cy="228600"/>
          </a:xfrm>
          <a:prstGeom prst="rect">
            <a:avLst/>
          </a:prstGeom>
          <a:noFill/>
          <a:ln/>
        </p:spPr>
        <p:txBody>
          <a:bodyPr wrap="square" lIns="0" tIns="0" rIns="0" bIns="0" rtlCol="0" anchor="ctr"/>
          <a:lstStyle/>
          <a:p>
            <a:pPr marL="0" indent="0">
              <a:buNone/>
            </a:pPr>
            <a:r>
              <a:rPr lang="en-US" sz="1050" dirty="0">
                <a:solidFill>
                  <a:srgbClr val="5B6B87"/>
                </a:solidFill>
                <a:latin typeface="Calibri" pitchFamily="34" charset="0"/>
                <a:ea typeface="Calibri" pitchFamily="34" charset="-122"/>
                <a:cs typeface="Calibri" pitchFamily="34" charset="-120"/>
              </a:rPr>
              <a:t>filas</a:t>
            </a:r>
            <a:endParaRPr lang="en-US" sz="1050" dirty="0"/>
          </a:p>
        </p:txBody>
      </p:sp>
      <p:sp>
        <p:nvSpPr>
          <p:cNvPr id="32" name="Text 30"/>
          <p:cNvSpPr txBox="1"/>
          <p:nvPr/>
        </p:nvSpPr>
        <p:spPr>
          <a:xfrm>
            <a:off x="7461504" y="3840480"/>
            <a:ext cx="1737360" cy="365760"/>
          </a:xfrm>
          <a:prstGeom prst="rect">
            <a:avLst/>
          </a:prstGeom>
          <a:noFill/>
          <a:ln/>
        </p:spPr>
        <p:txBody>
          <a:bodyPr wrap="square" lIns="0" tIns="0" rIns="0" bIns="0" rtlCol="0" anchor="t"/>
          <a:lstStyle/>
          <a:p>
            <a:pPr marL="0" indent="0">
              <a:spcAft>
                <a:spcPts val="400"/>
              </a:spcAft>
              <a:buNone/>
            </a:pPr>
            <a:r>
              <a:rPr lang="en-US" sz="1100" i="1" dirty="0">
                <a:solidFill>
                  <a:srgbClr val="5B6B87"/>
                </a:solidFill>
                <a:latin typeface="Calibri" pitchFamily="34" charset="0"/>
                <a:ea typeface="Calibri" pitchFamily="34" charset="-122"/>
                <a:cs typeface="Calibri" pitchFamily="34" charset="-120"/>
              </a:rPr>
              <a:t>un mes por fila</a:t>
            </a:r>
            <a:endParaRPr lang="en-US" sz="1100" dirty="0"/>
          </a:p>
        </p:txBody>
      </p:sp>
      <p:sp>
        <p:nvSpPr>
          <p:cNvPr id="33" name="Text 31"/>
          <p:cNvSpPr txBox="1"/>
          <p:nvPr/>
        </p:nvSpPr>
        <p:spPr>
          <a:xfrm>
            <a:off x="7461504" y="4251960"/>
            <a:ext cx="1737360" cy="8229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euribor, empleo, precios, confianza</a:t>
            </a:r>
            <a:endParaRPr lang="en-US" sz="1150" dirty="0"/>
          </a:p>
        </p:txBody>
      </p:sp>
      <p:sp>
        <p:nvSpPr>
          <p:cNvPr id="34" name="Shape 32"/>
          <p:cNvSpPr/>
          <p:nvPr/>
        </p:nvSpPr>
        <p:spPr>
          <a:xfrm>
            <a:off x="9537192" y="2103120"/>
            <a:ext cx="2103120" cy="3063240"/>
          </a:xfrm>
          <a:prstGeom prst="roundRect">
            <a:avLst>
              <a:gd name="adj" fmla="val 2609"/>
            </a:avLst>
          </a:prstGeom>
          <a:solidFill>
            <a:srgbClr val="FFFFFF"/>
          </a:solidFill>
          <a:ln w="9525">
            <a:solidFill>
              <a:srgbClr val="D2DBEC"/>
            </a:solidFill>
            <a:prstDash val="solid"/>
          </a:ln>
        </p:spPr>
      </p:sp>
      <p:sp>
        <p:nvSpPr>
          <p:cNvPr id="35" name="Text 33"/>
          <p:cNvSpPr txBox="1"/>
          <p:nvPr/>
        </p:nvSpPr>
        <p:spPr>
          <a:xfrm>
            <a:off x="9720072" y="2240280"/>
            <a:ext cx="1737360" cy="274320"/>
          </a:xfrm>
          <a:prstGeom prst="rect">
            <a:avLst/>
          </a:prstGeom>
          <a:noFill/>
          <a:ln/>
        </p:spPr>
        <p:txBody>
          <a:bodyPr wrap="square" lIns="0" tIns="0" rIns="0" bIns="0" rtlCol="0" anchor="ctr"/>
          <a:lstStyle/>
          <a:p>
            <a:pPr marL="0" indent="0">
              <a:buNone/>
            </a:pPr>
            <a:r>
              <a:rPr lang="en-US" sz="950" b="1" kern="0" spc="100" dirty="0">
                <a:solidFill>
                  <a:srgbClr val="E6115E"/>
                </a:solidFill>
                <a:latin typeface="Calibri" pitchFamily="34" charset="0"/>
                <a:ea typeface="Calibri" pitchFamily="34" charset="-122"/>
                <a:cs typeface="Calibri" pitchFamily="34" charset="-120"/>
              </a:rPr>
              <a:t>PRODUCTOS</a:t>
            </a:r>
            <a:endParaRPr lang="en-US" sz="950" dirty="0"/>
          </a:p>
        </p:txBody>
      </p:sp>
      <p:sp>
        <p:nvSpPr>
          <p:cNvPr id="36" name="Text 34"/>
          <p:cNvSpPr txBox="1"/>
          <p:nvPr/>
        </p:nvSpPr>
        <p:spPr>
          <a:xfrm>
            <a:off x="9720072" y="2560320"/>
            <a:ext cx="1783080" cy="457200"/>
          </a:xfrm>
          <a:prstGeom prst="rect">
            <a:avLst/>
          </a:prstGeom>
          <a:noFill/>
          <a:ln/>
        </p:spPr>
        <p:txBody>
          <a:bodyPr wrap="square" lIns="0" tIns="0" rIns="0" bIns="0" rtlCol="0" anchor="t"/>
          <a:lstStyle/>
          <a:p>
            <a:pPr marL="0" indent="0">
              <a:buNone/>
            </a:pPr>
            <a:r>
              <a:rPr lang="en-US" sz="1300" b="1" dirty="0">
                <a:solidFill>
                  <a:srgbClr val="0A2559"/>
                </a:solidFill>
                <a:latin typeface="Calibri" pitchFamily="34" charset="0"/>
                <a:ea typeface="Calibri" pitchFamily="34" charset="-122"/>
                <a:cs typeface="Calibri" pitchFamily="34" charset="-120"/>
              </a:rPr>
              <a:t>respuestas</a:t>
            </a:r>
            <a:endParaRPr lang="en-US" sz="1300" dirty="0"/>
          </a:p>
        </p:txBody>
      </p:sp>
      <p:sp>
        <p:nvSpPr>
          <p:cNvPr id="37" name="Text 35"/>
          <p:cNvSpPr txBox="1"/>
          <p:nvPr/>
        </p:nvSpPr>
        <p:spPr>
          <a:xfrm>
            <a:off x="9720072" y="3063240"/>
            <a:ext cx="1737360" cy="457200"/>
          </a:xfrm>
          <a:prstGeom prst="rect">
            <a:avLst/>
          </a:prstGeom>
          <a:noFill/>
          <a:ln/>
        </p:spPr>
        <p:txBody>
          <a:bodyPr wrap="square" lIns="0" tIns="0" rIns="0" bIns="0" rtlCol="0" anchor="ctr"/>
          <a:lstStyle/>
          <a:p>
            <a:pPr marL="0" indent="0">
              <a:buNone/>
            </a:pPr>
            <a:r>
              <a:rPr lang="en-US" sz="2400" b="1" dirty="0">
                <a:solidFill>
                  <a:srgbClr val="E6115E"/>
                </a:solidFill>
                <a:latin typeface="Calibri" pitchFamily="34" charset="0"/>
                <a:ea typeface="Calibri" pitchFamily="34" charset="-122"/>
                <a:cs typeface="Calibri" pitchFamily="34" charset="-120"/>
              </a:rPr>
              <a:t>41 188</a:t>
            </a:r>
            <a:endParaRPr lang="en-US" sz="2400" dirty="0"/>
          </a:p>
        </p:txBody>
      </p:sp>
      <p:sp>
        <p:nvSpPr>
          <p:cNvPr id="38" name="Text 36"/>
          <p:cNvSpPr txBox="1"/>
          <p:nvPr/>
        </p:nvSpPr>
        <p:spPr>
          <a:xfrm>
            <a:off x="9720072" y="3520440"/>
            <a:ext cx="1737360" cy="228600"/>
          </a:xfrm>
          <a:prstGeom prst="rect">
            <a:avLst/>
          </a:prstGeom>
          <a:noFill/>
          <a:ln/>
        </p:spPr>
        <p:txBody>
          <a:bodyPr wrap="square" lIns="0" tIns="0" rIns="0" bIns="0" rtlCol="0" anchor="ctr"/>
          <a:lstStyle/>
          <a:p>
            <a:pPr marL="0" indent="0">
              <a:buNone/>
            </a:pPr>
            <a:r>
              <a:rPr lang="en-US" sz="1050" dirty="0">
                <a:solidFill>
                  <a:srgbClr val="5B6B87"/>
                </a:solidFill>
                <a:latin typeface="Calibri" pitchFamily="34" charset="0"/>
                <a:ea typeface="Calibri" pitchFamily="34" charset="-122"/>
                <a:cs typeface="Calibri" pitchFamily="34" charset="-120"/>
              </a:rPr>
              <a:t>filas</a:t>
            </a:r>
            <a:endParaRPr lang="en-US" sz="1050" dirty="0"/>
          </a:p>
        </p:txBody>
      </p:sp>
      <p:sp>
        <p:nvSpPr>
          <p:cNvPr id="39" name="Text 37"/>
          <p:cNvSpPr txBox="1"/>
          <p:nvPr/>
        </p:nvSpPr>
        <p:spPr>
          <a:xfrm>
            <a:off x="9720072" y="3840480"/>
            <a:ext cx="1737360" cy="365760"/>
          </a:xfrm>
          <a:prstGeom prst="rect">
            <a:avLst/>
          </a:prstGeom>
          <a:noFill/>
          <a:ln/>
        </p:spPr>
        <p:txBody>
          <a:bodyPr wrap="square" lIns="0" tIns="0" rIns="0" bIns="0" rtlCol="0" anchor="t"/>
          <a:lstStyle/>
          <a:p>
            <a:pPr marL="0" indent="0">
              <a:spcAft>
                <a:spcPts val="400"/>
              </a:spcAft>
              <a:buNone/>
            </a:pPr>
            <a:r>
              <a:rPr lang="en-US" sz="1100" i="1" dirty="0">
                <a:solidFill>
                  <a:srgbClr val="5B6B87"/>
                </a:solidFill>
                <a:latin typeface="Calibri" pitchFamily="34" charset="0"/>
                <a:ea typeface="Calibri" pitchFamily="34" charset="-122"/>
                <a:cs typeface="Calibri" pitchFamily="34" charset="-120"/>
              </a:rPr>
              <a:t>una fila por gestión</a:t>
            </a:r>
            <a:endParaRPr lang="en-US" sz="1100" dirty="0"/>
          </a:p>
        </p:txBody>
      </p:sp>
      <p:sp>
        <p:nvSpPr>
          <p:cNvPr id="40" name="Text 38"/>
          <p:cNvSpPr txBox="1"/>
          <p:nvPr/>
        </p:nvSpPr>
        <p:spPr>
          <a:xfrm>
            <a:off x="9720072" y="4251960"/>
            <a:ext cx="1737360" cy="8229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contrato: 1 o 0</a:t>
            </a:r>
            <a:endParaRPr lang="en-US" sz="1150" dirty="0"/>
          </a:p>
        </p:txBody>
      </p:sp>
      <p:sp>
        <p:nvSpPr>
          <p:cNvPr id="41" name="Shape 39"/>
          <p:cNvSpPr/>
          <p:nvPr/>
        </p:nvSpPr>
        <p:spPr>
          <a:xfrm>
            <a:off x="502920" y="5394960"/>
            <a:ext cx="11183112" cy="822960"/>
          </a:xfrm>
          <a:prstGeom prst="roundRect">
            <a:avLst>
              <a:gd name="adj" fmla="val 6667"/>
            </a:avLst>
          </a:prstGeom>
          <a:solidFill>
            <a:srgbClr val="E9EEF8"/>
          </a:solidFill>
          <a:ln w="9525">
            <a:solidFill>
              <a:srgbClr val="D2DBEC"/>
            </a:solidFill>
            <a:prstDash val="solid"/>
          </a:ln>
        </p:spPr>
      </p:sp>
      <p:sp>
        <p:nvSpPr>
          <p:cNvPr id="42" name="Text 40"/>
          <p:cNvSpPr txBox="1"/>
          <p:nvPr/>
        </p:nvSpPr>
        <p:spPr>
          <a:xfrm>
            <a:off x="731520" y="5394960"/>
            <a:ext cx="10789920" cy="822960"/>
          </a:xfrm>
          <a:prstGeom prst="rect">
            <a:avLst/>
          </a:prstGeom>
          <a:noFill/>
          <a:ln/>
        </p:spPr>
        <p:txBody>
          <a:bodyPr wrap="square" lIns="0" tIns="0" rIns="0" bIns="0" rtlCol="0" anchor="ctr"/>
          <a:lstStyle/>
          <a:p>
            <a:pPr marL="0" indent="0">
              <a:spcAft>
                <a:spcPts val="400"/>
              </a:spcAft>
              <a:buNone/>
            </a:pPr>
            <a:r>
              <a:rPr lang="en-US" sz="1300" b="1" dirty="0">
                <a:solidFill>
                  <a:srgbClr val="0A2559"/>
                </a:solidFill>
                <a:latin typeface="Calibri" pitchFamily="34" charset="0"/>
                <a:ea typeface="Calibri" pitchFamily="34" charset="-122"/>
                <a:cs typeface="Calibri" pitchFamily="34" charset="-120"/>
              </a:rPr>
              <a:t>La tabla de partida es la que define la unidad: </a:t>
            </a:r>
            <a:r>
              <a:rPr lang="en-US" sz="1300" dirty="0">
                <a:solidFill>
                  <a:srgbClr val="2C3A55"/>
                </a:solidFill>
                <a:latin typeface="Calibri" pitchFamily="34" charset="0"/>
                <a:ea typeface="Calibri" pitchFamily="34" charset="-122"/>
                <a:cs typeface="Calibri" pitchFamily="34" charset="-120"/>
              </a:rPr>
              <a:t>aquí, las gestiones. Las demás se le pegan una a una. El maestro tiene más filas que clientes: ya es una pista.</a:t>
            </a:r>
            <a:endParaRPr lang="en-US" sz="1300" dirty="0"/>
          </a:p>
        </p:txBody>
      </p:sp>
      <p:sp>
        <p:nvSpPr>
          <p:cNvPr id="43" name="Text 41"/>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Datos: Moro, S., Cortez, P. y Rita, P. (2014). A data-driven approach to predict the success of bank telemarketing. Decision Support Systems, 62, 22–31. El ID de cliente y algunos defectos de las fuentes se simularon para el curso.</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 · DATOS</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La escalera: un peldaño a la vez, contando filas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En cada peldaño, dos controles: que no cambie el número de filas, y cuántos nulos aparecen y por qué.</a:t>
            </a:r>
            <a:endParaRPr lang="en-US" sz="1400" dirty="0"/>
          </a:p>
        </p:txBody>
      </p:sp>
      <p:sp>
        <p:nvSpPr>
          <p:cNvPr id="6" name="Shape 4"/>
          <p:cNvSpPr/>
          <p:nvPr/>
        </p:nvSpPr>
        <p:spPr>
          <a:xfrm>
            <a:off x="502920" y="2103120"/>
            <a:ext cx="11183112" cy="603504"/>
          </a:xfrm>
          <a:prstGeom prst="roundRect">
            <a:avLst>
              <a:gd name="adj" fmla="val 9091"/>
            </a:avLst>
          </a:prstGeom>
          <a:solidFill>
            <a:srgbClr val="FFFFFF"/>
          </a:solidFill>
          <a:ln w="9525">
            <a:solidFill>
              <a:srgbClr val="D2DBEC"/>
            </a:solidFill>
            <a:prstDash val="solid"/>
          </a:ln>
        </p:spPr>
      </p:sp>
      <p:sp>
        <p:nvSpPr>
          <p:cNvPr id="7" name="Shape 5"/>
          <p:cNvSpPr/>
          <p:nvPr/>
        </p:nvSpPr>
        <p:spPr>
          <a:xfrm>
            <a:off x="640080" y="2212848"/>
            <a:ext cx="384048" cy="384048"/>
          </a:xfrm>
          <a:prstGeom prst="ellipse">
            <a:avLst/>
          </a:prstGeom>
          <a:solidFill>
            <a:srgbClr val="1A56E8"/>
          </a:solidFill>
          <a:ln w="12700">
            <a:solidFill>
              <a:srgbClr val="1A56E8"/>
            </a:solidFill>
            <a:prstDash val="solid"/>
          </a:ln>
        </p:spPr>
      </p:sp>
      <p:sp>
        <p:nvSpPr>
          <p:cNvPr id="8" name="Text 6"/>
          <p:cNvSpPr txBox="1"/>
          <p:nvPr/>
        </p:nvSpPr>
        <p:spPr>
          <a:xfrm>
            <a:off x="640080" y="22128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9" name="Text 7"/>
          <p:cNvSpPr txBox="1"/>
          <p:nvPr/>
        </p:nvSpPr>
        <p:spPr>
          <a:xfrm>
            <a:off x="1188720" y="2103120"/>
            <a:ext cx="1645920" cy="603504"/>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gestiones</a:t>
            </a:r>
            <a:endParaRPr lang="en-US" sz="1400" dirty="0"/>
          </a:p>
        </p:txBody>
      </p:sp>
      <p:sp>
        <p:nvSpPr>
          <p:cNvPr id="10" name="Text 8"/>
          <p:cNvSpPr txBox="1"/>
          <p:nvPr/>
        </p:nvSpPr>
        <p:spPr>
          <a:xfrm>
            <a:off x="2880360" y="2103120"/>
            <a:ext cx="3840480" cy="603504"/>
          </a:xfrm>
          <a:prstGeom prst="rect">
            <a:avLst/>
          </a:prstGeom>
          <a:noFill/>
          <a:ln/>
        </p:spPr>
        <p:txBody>
          <a:bodyPr wrap="square" lIns="0" tIns="0" rIns="0" bIns="0" rtlCol="0" anchor="ctr"/>
          <a:lstStyle/>
          <a:p>
            <a:pPr marL="0" indent="0">
              <a:buNone/>
            </a:pPr>
            <a:r>
              <a:rPr lang="en-US" sz="1150" i="1" dirty="0">
                <a:solidFill>
                  <a:srgbClr val="5B6B87"/>
                </a:solidFill>
                <a:latin typeface="Calibri" pitchFamily="34" charset="0"/>
                <a:ea typeface="Calibri" pitchFamily="34" charset="-122"/>
                <a:cs typeface="Calibri" pitchFamily="34" charset="-120"/>
              </a:rPr>
              <a:t>la unidad: una llamada</a:t>
            </a:r>
            <a:endParaRPr lang="en-US" sz="1150" dirty="0"/>
          </a:p>
        </p:txBody>
      </p:sp>
      <p:sp>
        <p:nvSpPr>
          <p:cNvPr id="11" name="Text 9"/>
          <p:cNvSpPr txBox="1"/>
          <p:nvPr/>
        </p:nvSpPr>
        <p:spPr>
          <a:xfrm>
            <a:off x="8668512" y="2103120"/>
            <a:ext cx="1417320" cy="603504"/>
          </a:xfrm>
          <a:prstGeom prst="rect">
            <a:avLst/>
          </a:prstGeom>
          <a:noFill/>
          <a:ln/>
        </p:spPr>
        <p:txBody>
          <a:bodyPr wrap="square" lIns="0" tIns="0" rIns="0" bIns="0" rtlCol="0" anchor="ctr"/>
          <a:lstStyle/>
          <a:p>
            <a:pPr marL="0" indent="0" algn="r">
              <a:buNone/>
            </a:pPr>
            <a:r>
              <a:rPr lang="en-US" sz="1300" b="1" dirty="0">
                <a:solidFill>
                  <a:srgbClr val="0A2559"/>
                </a:solidFill>
                <a:latin typeface="Calibri" pitchFamily="34" charset="0"/>
                <a:ea typeface="Calibri" pitchFamily="34" charset="-122"/>
                <a:cs typeface="Calibri" pitchFamily="34" charset="-120"/>
              </a:rPr>
              <a:t>41 188 × 7</a:t>
            </a:r>
            <a:endParaRPr lang="en-US" sz="1300" dirty="0"/>
          </a:p>
        </p:txBody>
      </p:sp>
      <p:sp>
        <p:nvSpPr>
          <p:cNvPr id="12" name="Text 10"/>
          <p:cNvSpPr txBox="1"/>
          <p:nvPr/>
        </p:nvSpPr>
        <p:spPr>
          <a:xfrm>
            <a:off x="10177272" y="2103120"/>
            <a:ext cx="1371600" cy="603504"/>
          </a:xfrm>
          <a:prstGeom prst="rect">
            <a:avLst/>
          </a:prstGeom>
          <a:noFill/>
          <a:ln/>
        </p:spPr>
        <p:txBody>
          <a:bodyPr wrap="square" lIns="0" tIns="0" rIns="0" bIns="0" rtlCol="0" anchor="ctr"/>
          <a:lstStyle/>
          <a:p>
            <a:pPr marL="0" indent="0" algn="r">
              <a:buNone/>
            </a:pPr>
            <a:endParaRPr lang="en-US" sz="1100" dirty="0"/>
          </a:p>
        </p:txBody>
      </p:sp>
      <p:sp>
        <p:nvSpPr>
          <p:cNvPr id="13" name="Shape 11"/>
          <p:cNvSpPr/>
          <p:nvPr/>
        </p:nvSpPr>
        <p:spPr>
          <a:xfrm>
            <a:off x="1417320" y="2816352"/>
            <a:ext cx="10268712" cy="603504"/>
          </a:xfrm>
          <a:prstGeom prst="roundRect">
            <a:avLst>
              <a:gd name="adj" fmla="val 9091"/>
            </a:avLst>
          </a:prstGeom>
          <a:solidFill>
            <a:srgbClr val="FFFFFF"/>
          </a:solidFill>
          <a:ln w="9525">
            <a:solidFill>
              <a:srgbClr val="D2DBEC"/>
            </a:solidFill>
            <a:prstDash val="solid"/>
          </a:ln>
        </p:spPr>
      </p:sp>
      <p:sp>
        <p:nvSpPr>
          <p:cNvPr id="14" name="Shape 12"/>
          <p:cNvSpPr/>
          <p:nvPr/>
        </p:nvSpPr>
        <p:spPr>
          <a:xfrm>
            <a:off x="1554480" y="2926080"/>
            <a:ext cx="384048" cy="384048"/>
          </a:xfrm>
          <a:prstGeom prst="ellipse">
            <a:avLst/>
          </a:prstGeom>
          <a:solidFill>
            <a:srgbClr val="1A56E8"/>
          </a:solidFill>
          <a:ln w="12700">
            <a:solidFill>
              <a:srgbClr val="1A56E8"/>
            </a:solidFill>
            <a:prstDash val="solid"/>
          </a:ln>
        </p:spPr>
      </p:sp>
      <p:sp>
        <p:nvSpPr>
          <p:cNvPr id="15" name="Text 13"/>
          <p:cNvSpPr txBox="1"/>
          <p:nvPr/>
        </p:nvSpPr>
        <p:spPr>
          <a:xfrm>
            <a:off x="1554480" y="29260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4"/>
          <p:cNvSpPr txBox="1"/>
          <p:nvPr/>
        </p:nvSpPr>
        <p:spPr>
          <a:xfrm>
            <a:off x="2103120" y="2816352"/>
            <a:ext cx="1645920" cy="603504"/>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 historial</a:t>
            </a:r>
            <a:endParaRPr lang="en-US" sz="1400" dirty="0"/>
          </a:p>
        </p:txBody>
      </p:sp>
      <p:sp>
        <p:nvSpPr>
          <p:cNvPr id="17" name="Text 15"/>
          <p:cNvSpPr txBox="1"/>
          <p:nvPr/>
        </p:nvSpPr>
        <p:spPr>
          <a:xfrm>
            <a:off x="3794760" y="2816352"/>
            <a:ext cx="3840480" cy="603504"/>
          </a:xfrm>
          <a:prstGeom prst="rect">
            <a:avLst/>
          </a:prstGeom>
          <a:noFill/>
          <a:ln/>
        </p:spPr>
        <p:txBody>
          <a:bodyPr wrap="square" lIns="0" tIns="0" rIns="0" bIns="0" rtlCol="0" anchor="ctr"/>
          <a:lstStyle/>
          <a:p>
            <a:pPr marL="0" indent="0">
              <a:buNone/>
            </a:pPr>
            <a:r>
              <a:rPr lang="en-US" sz="1150" i="1" dirty="0">
                <a:solidFill>
                  <a:srgbClr val="5B6B87"/>
                </a:solidFill>
                <a:latin typeface="Calibri" pitchFamily="34" charset="0"/>
                <a:ea typeface="Calibri" pitchFamily="34" charset="-122"/>
                <a:cs typeface="Calibri" pitchFamily="34" charset="-120"/>
              </a:rPr>
              <a:t>por cliente_id y periodo · one_to_one</a:t>
            </a:r>
            <a:endParaRPr lang="en-US" sz="1150" dirty="0"/>
          </a:p>
        </p:txBody>
      </p:sp>
      <p:sp>
        <p:nvSpPr>
          <p:cNvPr id="18" name="Text 16"/>
          <p:cNvSpPr txBox="1"/>
          <p:nvPr/>
        </p:nvSpPr>
        <p:spPr>
          <a:xfrm>
            <a:off x="8668512" y="2816352"/>
            <a:ext cx="1417320" cy="603504"/>
          </a:xfrm>
          <a:prstGeom prst="rect">
            <a:avLst/>
          </a:prstGeom>
          <a:noFill/>
          <a:ln/>
        </p:spPr>
        <p:txBody>
          <a:bodyPr wrap="square" lIns="0" tIns="0" rIns="0" bIns="0" rtlCol="0" anchor="ctr"/>
          <a:lstStyle/>
          <a:p>
            <a:pPr marL="0" indent="0" algn="r">
              <a:buNone/>
            </a:pPr>
            <a:r>
              <a:rPr lang="en-US" sz="1300" b="1" dirty="0">
                <a:solidFill>
                  <a:srgbClr val="0A2559"/>
                </a:solidFill>
                <a:latin typeface="Calibri" pitchFamily="34" charset="0"/>
                <a:ea typeface="Calibri" pitchFamily="34" charset="-122"/>
                <a:cs typeface="Calibri" pitchFamily="34" charset="-120"/>
              </a:rPr>
              <a:t>41 188 × 10</a:t>
            </a:r>
            <a:endParaRPr lang="en-US" sz="1300" dirty="0"/>
          </a:p>
        </p:txBody>
      </p:sp>
      <p:sp>
        <p:nvSpPr>
          <p:cNvPr id="19" name="Text 17"/>
          <p:cNvSpPr txBox="1"/>
          <p:nvPr/>
        </p:nvSpPr>
        <p:spPr>
          <a:xfrm>
            <a:off x="10177272" y="2816352"/>
            <a:ext cx="1371600" cy="603504"/>
          </a:xfrm>
          <a:prstGeom prst="rect">
            <a:avLst/>
          </a:prstGeom>
          <a:noFill/>
          <a:ln/>
        </p:spPr>
        <p:txBody>
          <a:bodyPr wrap="square" lIns="0" tIns="0" rIns="0" bIns="0" rtlCol="0" anchor="ctr"/>
          <a:lstStyle/>
          <a:p>
            <a:pPr marL="0" indent="0" algn="r">
              <a:buNone/>
            </a:pPr>
            <a:r>
              <a:rPr lang="en-US" sz="1100" b="1" dirty="0">
                <a:solidFill>
                  <a:srgbClr val="E6115E"/>
                </a:solidFill>
                <a:latin typeface="Calibri" pitchFamily="34" charset="0"/>
                <a:ea typeface="Calibri" pitchFamily="34" charset="-122"/>
                <a:cs typeface="Calibri" pitchFamily="34" charset="-120"/>
              </a:rPr>
              <a:t>0 sin historial</a:t>
            </a:r>
            <a:endParaRPr lang="en-US" sz="1100" dirty="0"/>
          </a:p>
        </p:txBody>
      </p:sp>
      <p:sp>
        <p:nvSpPr>
          <p:cNvPr id="20" name="Shape 18"/>
          <p:cNvSpPr/>
          <p:nvPr/>
        </p:nvSpPr>
        <p:spPr>
          <a:xfrm>
            <a:off x="2331720" y="3529584"/>
            <a:ext cx="9354312" cy="603504"/>
          </a:xfrm>
          <a:prstGeom prst="roundRect">
            <a:avLst>
              <a:gd name="adj" fmla="val 9091"/>
            </a:avLst>
          </a:prstGeom>
          <a:solidFill>
            <a:srgbClr val="FFFFFF"/>
          </a:solidFill>
          <a:ln w="9525">
            <a:solidFill>
              <a:srgbClr val="D2DBEC"/>
            </a:solidFill>
            <a:prstDash val="solid"/>
          </a:ln>
        </p:spPr>
      </p:sp>
      <p:sp>
        <p:nvSpPr>
          <p:cNvPr id="21" name="Shape 19"/>
          <p:cNvSpPr/>
          <p:nvPr/>
        </p:nvSpPr>
        <p:spPr>
          <a:xfrm>
            <a:off x="2468880" y="3639312"/>
            <a:ext cx="384048" cy="384048"/>
          </a:xfrm>
          <a:prstGeom prst="ellipse">
            <a:avLst/>
          </a:prstGeom>
          <a:solidFill>
            <a:srgbClr val="1A56E8"/>
          </a:solidFill>
          <a:ln w="12700">
            <a:solidFill>
              <a:srgbClr val="1A56E8"/>
            </a:solidFill>
            <a:prstDash val="solid"/>
          </a:ln>
        </p:spPr>
      </p:sp>
      <p:sp>
        <p:nvSpPr>
          <p:cNvPr id="22" name="Text 20"/>
          <p:cNvSpPr txBox="1"/>
          <p:nvPr/>
        </p:nvSpPr>
        <p:spPr>
          <a:xfrm>
            <a:off x="2468880" y="36393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1"/>
          <p:cNvSpPr txBox="1"/>
          <p:nvPr/>
        </p:nvSpPr>
        <p:spPr>
          <a:xfrm>
            <a:off x="3017520" y="3529584"/>
            <a:ext cx="1645920" cy="603504"/>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 clientes</a:t>
            </a:r>
            <a:endParaRPr lang="en-US" sz="1400" dirty="0"/>
          </a:p>
        </p:txBody>
      </p:sp>
      <p:sp>
        <p:nvSpPr>
          <p:cNvPr id="24" name="Text 22"/>
          <p:cNvSpPr txBox="1"/>
          <p:nvPr/>
        </p:nvSpPr>
        <p:spPr>
          <a:xfrm>
            <a:off x="4709160" y="3529584"/>
            <a:ext cx="3840480" cy="603504"/>
          </a:xfrm>
          <a:prstGeom prst="rect">
            <a:avLst/>
          </a:prstGeom>
          <a:noFill/>
          <a:ln/>
        </p:spPr>
        <p:txBody>
          <a:bodyPr wrap="square" lIns="0" tIns="0" rIns="0" bIns="0" rtlCol="0" anchor="ctr"/>
          <a:lstStyle/>
          <a:p>
            <a:pPr marL="0" indent="0">
              <a:buNone/>
            </a:pPr>
            <a:r>
              <a:rPr lang="en-US" sz="1150" i="1" dirty="0">
                <a:solidFill>
                  <a:srgbClr val="5B6B87"/>
                </a:solidFill>
                <a:latin typeface="Calibri" pitchFamily="34" charset="0"/>
                <a:ea typeface="Calibri" pitchFamily="34" charset="-122"/>
                <a:cs typeface="Calibri" pitchFamily="34" charset="-120"/>
              </a:rPr>
              <a:t>por cliente_id · many_to_one</a:t>
            </a:r>
            <a:endParaRPr lang="en-US" sz="1150" dirty="0"/>
          </a:p>
        </p:txBody>
      </p:sp>
      <p:sp>
        <p:nvSpPr>
          <p:cNvPr id="25" name="Text 23"/>
          <p:cNvSpPr txBox="1"/>
          <p:nvPr/>
        </p:nvSpPr>
        <p:spPr>
          <a:xfrm>
            <a:off x="8668512" y="3529584"/>
            <a:ext cx="1417320" cy="603504"/>
          </a:xfrm>
          <a:prstGeom prst="rect">
            <a:avLst/>
          </a:prstGeom>
          <a:noFill/>
          <a:ln/>
        </p:spPr>
        <p:txBody>
          <a:bodyPr wrap="square" lIns="0" tIns="0" rIns="0" bIns="0" rtlCol="0" anchor="ctr"/>
          <a:lstStyle/>
          <a:p>
            <a:pPr marL="0" indent="0" algn="r">
              <a:buNone/>
            </a:pPr>
            <a:r>
              <a:rPr lang="en-US" sz="1300" b="1" dirty="0">
                <a:solidFill>
                  <a:srgbClr val="0A2559"/>
                </a:solidFill>
                <a:latin typeface="Calibri" pitchFamily="34" charset="0"/>
                <a:ea typeface="Calibri" pitchFamily="34" charset="-122"/>
                <a:cs typeface="Calibri" pitchFamily="34" charset="-120"/>
              </a:rPr>
              <a:t>41 188 × 19</a:t>
            </a:r>
            <a:endParaRPr lang="en-US" sz="1300" dirty="0"/>
          </a:p>
        </p:txBody>
      </p:sp>
      <p:sp>
        <p:nvSpPr>
          <p:cNvPr id="26" name="Text 24"/>
          <p:cNvSpPr txBox="1"/>
          <p:nvPr/>
        </p:nvSpPr>
        <p:spPr>
          <a:xfrm>
            <a:off x="10177272" y="3529584"/>
            <a:ext cx="1371600" cy="603504"/>
          </a:xfrm>
          <a:prstGeom prst="rect">
            <a:avLst/>
          </a:prstGeom>
          <a:noFill/>
          <a:ln/>
        </p:spPr>
        <p:txBody>
          <a:bodyPr wrap="square" lIns="0" tIns="0" rIns="0" bIns="0" rtlCol="0" anchor="ctr"/>
          <a:lstStyle/>
          <a:p>
            <a:pPr marL="0" indent="0" algn="r">
              <a:buNone/>
            </a:pPr>
            <a:r>
              <a:rPr lang="en-US" sz="1100" b="1" dirty="0">
                <a:solidFill>
                  <a:srgbClr val="E6115E"/>
                </a:solidFill>
                <a:latin typeface="Calibri" pitchFamily="34" charset="0"/>
                <a:ea typeface="Calibri" pitchFamily="34" charset="-122"/>
                <a:cs typeface="Calibri" pitchFamily="34" charset="-120"/>
              </a:rPr>
              <a:t>300 huérfanos</a:t>
            </a:r>
            <a:endParaRPr lang="en-US" sz="1100" dirty="0"/>
          </a:p>
        </p:txBody>
      </p:sp>
      <p:sp>
        <p:nvSpPr>
          <p:cNvPr id="27" name="Shape 25"/>
          <p:cNvSpPr/>
          <p:nvPr/>
        </p:nvSpPr>
        <p:spPr>
          <a:xfrm>
            <a:off x="3246120" y="4242816"/>
            <a:ext cx="8439912" cy="603504"/>
          </a:xfrm>
          <a:prstGeom prst="roundRect">
            <a:avLst>
              <a:gd name="adj" fmla="val 9091"/>
            </a:avLst>
          </a:prstGeom>
          <a:solidFill>
            <a:srgbClr val="FFFFFF"/>
          </a:solidFill>
          <a:ln w="9525">
            <a:solidFill>
              <a:srgbClr val="D2DBEC"/>
            </a:solidFill>
            <a:prstDash val="solid"/>
          </a:ln>
        </p:spPr>
      </p:sp>
      <p:sp>
        <p:nvSpPr>
          <p:cNvPr id="28" name="Shape 26"/>
          <p:cNvSpPr/>
          <p:nvPr/>
        </p:nvSpPr>
        <p:spPr>
          <a:xfrm>
            <a:off x="3383280" y="4352544"/>
            <a:ext cx="384048" cy="384048"/>
          </a:xfrm>
          <a:prstGeom prst="ellipse">
            <a:avLst/>
          </a:prstGeom>
          <a:solidFill>
            <a:srgbClr val="1A56E8"/>
          </a:solidFill>
          <a:ln w="12700">
            <a:solidFill>
              <a:srgbClr val="1A56E8"/>
            </a:solidFill>
            <a:prstDash val="solid"/>
          </a:ln>
        </p:spPr>
      </p:sp>
      <p:sp>
        <p:nvSpPr>
          <p:cNvPr id="29" name="Text 27"/>
          <p:cNvSpPr txBox="1"/>
          <p:nvPr/>
        </p:nvSpPr>
        <p:spPr>
          <a:xfrm>
            <a:off x="3383280" y="4352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Text 28"/>
          <p:cNvSpPr txBox="1"/>
          <p:nvPr/>
        </p:nvSpPr>
        <p:spPr>
          <a:xfrm>
            <a:off x="3931920" y="4242816"/>
            <a:ext cx="1645920" cy="603504"/>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 macro</a:t>
            </a:r>
            <a:endParaRPr lang="en-US" sz="1400" dirty="0"/>
          </a:p>
        </p:txBody>
      </p:sp>
      <p:sp>
        <p:nvSpPr>
          <p:cNvPr id="31" name="Text 29"/>
          <p:cNvSpPr txBox="1"/>
          <p:nvPr/>
        </p:nvSpPr>
        <p:spPr>
          <a:xfrm>
            <a:off x="5623560" y="4242816"/>
            <a:ext cx="3840480" cy="603504"/>
          </a:xfrm>
          <a:prstGeom prst="rect">
            <a:avLst/>
          </a:prstGeom>
          <a:noFill/>
          <a:ln/>
        </p:spPr>
        <p:txBody>
          <a:bodyPr wrap="square" lIns="0" tIns="0" rIns="0" bIns="0" rtlCol="0" anchor="ctr"/>
          <a:lstStyle/>
          <a:p>
            <a:pPr marL="0" indent="0">
              <a:buNone/>
            </a:pPr>
            <a:r>
              <a:rPr lang="en-US" sz="1150" i="1" dirty="0">
                <a:solidFill>
                  <a:srgbClr val="5B6B87"/>
                </a:solidFill>
                <a:latin typeface="Calibri" pitchFamily="34" charset="0"/>
                <a:ea typeface="Calibri" pitchFamily="34" charset="-122"/>
                <a:cs typeface="Calibri" pitchFamily="34" charset="-120"/>
              </a:rPr>
              <a:t>merge_asof: último mes publicado</a:t>
            </a:r>
            <a:endParaRPr lang="en-US" sz="1150" dirty="0"/>
          </a:p>
        </p:txBody>
      </p:sp>
      <p:sp>
        <p:nvSpPr>
          <p:cNvPr id="32" name="Text 30"/>
          <p:cNvSpPr txBox="1"/>
          <p:nvPr/>
        </p:nvSpPr>
        <p:spPr>
          <a:xfrm>
            <a:off x="8668512" y="4242816"/>
            <a:ext cx="1417320" cy="603504"/>
          </a:xfrm>
          <a:prstGeom prst="rect">
            <a:avLst/>
          </a:prstGeom>
          <a:noFill/>
          <a:ln/>
        </p:spPr>
        <p:txBody>
          <a:bodyPr wrap="square" lIns="0" tIns="0" rIns="0" bIns="0" rtlCol="0" anchor="ctr"/>
          <a:lstStyle/>
          <a:p>
            <a:pPr marL="0" indent="0" algn="r">
              <a:buNone/>
            </a:pPr>
            <a:r>
              <a:rPr lang="en-US" sz="1300" b="1" dirty="0">
                <a:solidFill>
                  <a:srgbClr val="0A2559"/>
                </a:solidFill>
                <a:latin typeface="Calibri" pitchFamily="34" charset="0"/>
                <a:ea typeface="Calibri" pitchFamily="34" charset="-122"/>
                <a:cs typeface="Calibri" pitchFamily="34" charset="-120"/>
              </a:rPr>
              <a:t>41 188 × 27</a:t>
            </a:r>
            <a:endParaRPr lang="en-US" sz="1300" dirty="0"/>
          </a:p>
        </p:txBody>
      </p:sp>
      <p:sp>
        <p:nvSpPr>
          <p:cNvPr id="33" name="Text 31"/>
          <p:cNvSpPr txBox="1"/>
          <p:nvPr/>
        </p:nvSpPr>
        <p:spPr>
          <a:xfrm>
            <a:off x="10177272" y="4242816"/>
            <a:ext cx="1371600" cy="603504"/>
          </a:xfrm>
          <a:prstGeom prst="rect">
            <a:avLst/>
          </a:prstGeom>
          <a:noFill/>
          <a:ln/>
        </p:spPr>
        <p:txBody>
          <a:bodyPr wrap="square" lIns="0" tIns="0" rIns="0" bIns="0" rtlCol="0" anchor="ctr"/>
          <a:lstStyle/>
          <a:p>
            <a:pPr marL="0" indent="0" algn="r">
              <a:buNone/>
            </a:pPr>
            <a:r>
              <a:rPr lang="en-US" sz="1100" b="1" dirty="0">
                <a:solidFill>
                  <a:srgbClr val="E6115E"/>
                </a:solidFill>
                <a:latin typeface="Calibri" pitchFamily="34" charset="0"/>
                <a:ea typeface="Calibri" pitchFamily="34" charset="-122"/>
                <a:cs typeface="Calibri" pitchFamily="34" charset="-120"/>
              </a:rPr>
              <a:t>0 sin macro</a:t>
            </a:r>
            <a:endParaRPr lang="en-US" sz="1100" dirty="0"/>
          </a:p>
        </p:txBody>
      </p:sp>
      <p:sp>
        <p:nvSpPr>
          <p:cNvPr id="34" name="Shape 32"/>
          <p:cNvSpPr/>
          <p:nvPr/>
        </p:nvSpPr>
        <p:spPr>
          <a:xfrm>
            <a:off x="4160520" y="4956048"/>
            <a:ext cx="7525512" cy="603504"/>
          </a:xfrm>
          <a:prstGeom prst="roundRect">
            <a:avLst>
              <a:gd name="adj" fmla="val 9091"/>
            </a:avLst>
          </a:prstGeom>
          <a:solidFill>
            <a:srgbClr val="0A2559"/>
          </a:solidFill>
          <a:ln w="9525">
            <a:solidFill>
              <a:srgbClr val="0A2559"/>
            </a:solidFill>
            <a:prstDash val="solid"/>
          </a:ln>
        </p:spPr>
      </p:sp>
      <p:sp>
        <p:nvSpPr>
          <p:cNvPr id="35" name="Shape 33"/>
          <p:cNvSpPr/>
          <p:nvPr/>
        </p:nvSpPr>
        <p:spPr>
          <a:xfrm>
            <a:off x="4297680" y="5065776"/>
            <a:ext cx="384048" cy="384048"/>
          </a:xfrm>
          <a:prstGeom prst="ellipse">
            <a:avLst/>
          </a:prstGeom>
          <a:solidFill>
            <a:srgbClr val="E6115E"/>
          </a:solidFill>
          <a:ln w="12700">
            <a:solidFill>
              <a:srgbClr val="E6115E"/>
            </a:solidFill>
            <a:prstDash val="solid"/>
          </a:ln>
        </p:spPr>
      </p:sp>
      <p:sp>
        <p:nvSpPr>
          <p:cNvPr id="36" name="Text 34"/>
          <p:cNvSpPr txBox="1"/>
          <p:nvPr/>
        </p:nvSpPr>
        <p:spPr>
          <a:xfrm>
            <a:off x="4297680" y="50657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7" name="Text 35"/>
          <p:cNvSpPr txBox="1"/>
          <p:nvPr/>
        </p:nvSpPr>
        <p:spPr>
          <a:xfrm>
            <a:off x="4846320" y="4956048"/>
            <a:ext cx="1645920" cy="60350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respuestas</a:t>
            </a:r>
            <a:endParaRPr lang="en-US" sz="1400" dirty="0"/>
          </a:p>
        </p:txBody>
      </p:sp>
      <p:sp>
        <p:nvSpPr>
          <p:cNvPr id="38" name="Text 36"/>
          <p:cNvSpPr txBox="1"/>
          <p:nvPr/>
        </p:nvSpPr>
        <p:spPr>
          <a:xfrm>
            <a:off x="6537960" y="4956048"/>
            <a:ext cx="3840480" cy="603504"/>
          </a:xfrm>
          <a:prstGeom prst="rect">
            <a:avLst/>
          </a:prstGeom>
          <a:noFill/>
          <a:ln/>
        </p:spPr>
        <p:txBody>
          <a:bodyPr wrap="square" lIns="0" tIns="0" rIns="0" bIns="0" rtlCol="0" anchor="ctr"/>
          <a:lstStyle/>
          <a:p>
            <a:pPr marL="0" indent="0">
              <a:buNone/>
            </a:pPr>
            <a:r>
              <a:rPr lang="en-US" sz="1150" i="1" dirty="0">
                <a:solidFill>
                  <a:srgbClr val="C9D4EA"/>
                </a:solidFill>
                <a:latin typeface="Calibri" pitchFamily="34" charset="0"/>
                <a:ea typeface="Calibri" pitchFamily="34" charset="-122"/>
                <a:cs typeface="Calibri" pitchFamily="34" charset="-120"/>
              </a:rPr>
              <a:t>por cliente_id y periodo · one_to_one</a:t>
            </a:r>
            <a:endParaRPr lang="en-US" sz="1150" dirty="0"/>
          </a:p>
        </p:txBody>
      </p:sp>
      <p:sp>
        <p:nvSpPr>
          <p:cNvPr id="39" name="Text 37"/>
          <p:cNvSpPr txBox="1"/>
          <p:nvPr/>
        </p:nvSpPr>
        <p:spPr>
          <a:xfrm>
            <a:off x="8668512" y="4956048"/>
            <a:ext cx="1417320" cy="603504"/>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41 188 × 29</a:t>
            </a:r>
            <a:endParaRPr lang="en-US" sz="1300" dirty="0"/>
          </a:p>
        </p:txBody>
      </p:sp>
      <p:sp>
        <p:nvSpPr>
          <p:cNvPr id="40" name="Text 38"/>
          <p:cNvSpPr txBox="1"/>
          <p:nvPr/>
        </p:nvSpPr>
        <p:spPr>
          <a:xfrm>
            <a:off x="10177272" y="4956048"/>
            <a:ext cx="1371600" cy="603504"/>
          </a:xfrm>
          <a:prstGeom prst="rect">
            <a:avLst/>
          </a:prstGeom>
          <a:noFill/>
          <a:ln/>
        </p:spPr>
        <p:txBody>
          <a:bodyPr wrap="square" lIns="0" tIns="0" rIns="0" bIns="0" rtlCol="0" anchor="ctr"/>
          <a:lstStyle/>
          <a:p>
            <a:pPr marL="0" indent="0" algn="r">
              <a:buNone/>
            </a:pPr>
            <a:r>
              <a:rPr lang="en-US" sz="1100" b="1" dirty="0">
                <a:solidFill>
                  <a:srgbClr val="FF6B9A"/>
                </a:solidFill>
                <a:latin typeface="Calibri" pitchFamily="34" charset="0"/>
                <a:ea typeface="Calibri" pitchFamily="34" charset="-122"/>
                <a:cs typeface="Calibri" pitchFamily="34" charset="-120"/>
              </a:rPr>
              <a:t>tasa 11.3 %</a:t>
            </a:r>
            <a:endParaRPr lang="en-US" sz="1100" dirty="0"/>
          </a:p>
        </p:txBody>
      </p:sp>
      <p:sp>
        <p:nvSpPr>
          <p:cNvPr id="41" name="Shape 39"/>
          <p:cNvSpPr/>
          <p:nvPr/>
        </p:nvSpPr>
        <p:spPr>
          <a:xfrm>
            <a:off x="502920" y="5715000"/>
            <a:ext cx="11183112" cy="548640"/>
          </a:xfrm>
          <a:prstGeom prst="roundRect">
            <a:avLst>
              <a:gd name="adj" fmla="val 10000"/>
            </a:avLst>
          </a:prstGeom>
          <a:solidFill>
            <a:srgbClr val="E9EEF8"/>
          </a:solidFill>
          <a:ln w="9525">
            <a:solidFill>
              <a:srgbClr val="D2DBEC"/>
            </a:solidFill>
            <a:prstDash val="solid"/>
          </a:ln>
        </p:spPr>
      </p:sp>
      <p:sp>
        <p:nvSpPr>
          <p:cNvPr id="42" name="Text 40"/>
          <p:cNvSpPr txBox="1"/>
          <p:nvPr/>
        </p:nvSpPr>
        <p:spPr>
          <a:xfrm>
            <a:off x="731520" y="5715000"/>
            <a:ext cx="10789920" cy="548640"/>
          </a:xfrm>
          <a:prstGeom prst="rect">
            <a:avLst/>
          </a:prstGeom>
          <a:noFill/>
          <a:ln/>
        </p:spPr>
        <p:txBody>
          <a:bodyPr wrap="square" lIns="0" tIns="0" rIns="0" bIns="0" rtlCol="0" anchor="ctr"/>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validate en pd.merge: </a:t>
            </a:r>
            <a:r>
              <a:rPr lang="en-US" sz="1250" dirty="0">
                <a:solidFill>
                  <a:srgbClr val="2C3A55"/>
                </a:solidFill>
                <a:latin typeface="Calibri" pitchFamily="34" charset="0"/>
                <a:ea typeface="Calibri" pitchFamily="34" charset="-122"/>
                <a:cs typeface="Calibri" pitchFamily="34" charset="-120"/>
              </a:rPr>
              <a:t>si la relación no es la que dices (por ejemplo, un cliente repetido en el maestro), el merge falla en vez de duplicar filas en silencio.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 · DATOS</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Cuatro problemas que nadie te avisa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Todos son comunes en un banco. Ninguno rompe el código: por eso hay que buscarlos.</a:t>
            </a:r>
            <a:endParaRPr lang="en-US" sz="1400" dirty="0"/>
          </a:p>
        </p:txBody>
      </p:sp>
      <p:sp>
        <p:nvSpPr>
          <p:cNvPr id="6" name="Shape 4"/>
          <p:cNvSpPr/>
          <p:nvPr/>
        </p:nvSpPr>
        <p:spPr>
          <a:xfrm>
            <a:off x="502920" y="2103120"/>
            <a:ext cx="5486400" cy="1920240"/>
          </a:xfrm>
          <a:prstGeom prst="roundRect">
            <a:avLst>
              <a:gd name="adj" fmla="val 2857"/>
            </a:avLst>
          </a:prstGeom>
          <a:solidFill>
            <a:srgbClr val="FFFFFF"/>
          </a:solidFill>
          <a:ln w="9525">
            <a:solidFill>
              <a:srgbClr val="D2DBEC"/>
            </a:solidFill>
            <a:prstDash val="solid"/>
          </a:ln>
        </p:spPr>
      </p:sp>
      <p:sp>
        <p:nvSpPr>
          <p:cNvPr id="7" name="Text 5"/>
          <p:cNvSpPr txBox="1"/>
          <p:nvPr/>
        </p:nvSpPr>
        <p:spPr>
          <a:xfrm>
            <a:off x="731520" y="2240280"/>
            <a:ext cx="5029200" cy="41148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El ID no cruza</a:t>
            </a:r>
            <a:endParaRPr lang="en-US" sz="1600" dirty="0"/>
          </a:p>
        </p:txBody>
      </p:sp>
      <p:sp>
        <p:nvSpPr>
          <p:cNvPr id="8" name="Text 6"/>
          <p:cNvSpPr txBox="1"/>
          <p:nvPr/>
        </p:nvSpPr>
        <p:spPr>
          <a:xfrm>
            <a:off x="731520" y="2743200"/>
            <a:ext cx="5029200" cy="1188720"/>
          </a:xfrm>
          <a:prstGeom prst="rect">
            <a:avLst/>
          </a:prstGeom>
          <a:noFill/>
          <a:ln/>
        </p:spPr>
        <p:txBody>
          <a:bodyPr wrap="square" lIns="0" tIns="0" rIns="0" bIns="0" rtlCol="0" anchor="t"/>
          <a:lstStyle/>
          <a:p>
            <a:pPr marL="0" indent="0">
              <a:spcAft>
                <a:spcPts val="400"/>
              </a:spcAft>
              <a:buNone/>
            </a:pPr>
            <a:r>
              <a:rPr lang="en-US" sz="1400" dirty="0">
                <a:solidFill>
                  <a:srgbClr val="2C3A55"/>
                </a:solidFill>
                <a:latin typeface="Calibri" pitchFamily="34" charset="0"/>
                <a:ea typeface="Calibri" pitchFamily="34" charset="-122"/>
                <a:cs typeface="Calibri" pitchFamily="34" charset="-120"/>
              </a:rPr>
              <a:t>En gestiones, cliente_id es texto con ceros a la izquierda («00512345»); en las demás fuentes es número. Hay que unificar el tipo antes de pegar.</a:t>
            </a:r>
            <a:endParaRPr lang="en-US" sz="1400" dirty="0"/>
          </a:p>
        </p:txBody>
      </p:sp>
      <p:sp>
        <p:nvSpPr>
          <p:cNvPr id="9" name="Shape 7"/>
          <p:cNvSpPr/>
          <p:nvPr/>
        </p:nvSpPr>
        <p:spPr>
          <a:xfrm>
            <a:off x="6199632" y="2103120"/>
            <a:ext cx="5486400" cy="1920240"/>
          </a:xfrm>
          <a:prstGeom prst="roundRect">
            <a:avLst>
              <a:gd name="adj" fmla="val 2857"/>
            </a:avLst>
          </a:prstGeom>
          <a:solidFill>
            <a:srgbClr val="FFFFFF"/>
          </a:solidFill>
          <a:ln w="9525">
            <a:solidFill>
              <a:srgbClr val="D2DBEC"/>
            </a:solidFill>
            <a:prstDash val="solid"/>
          </a:ln>
        </p:spPr>
      </p:sp>
      <p:sp>
        <p:nvSpPr>
          <p:cNvPr id="10" name="Text 8"/>
          <p:cNvSpPr txBox="1"/>
          <p:nvPr/>
        </p:nvSpPr>
        <p:spPr>
          <a:xfrm>
            <a:off x="6428232" y="2240280"/>
            <a:ext cx="5029200" cy="41148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347 clientes repetidos</a:t>
            </a:r>
            <a:endParaRPr lang="en-US" sz="1600" dirty="0"/>
          </a:p>
        </p:txBody>
      </p:sp>
      <p:sp>
        <p:nvSpPr>
          <p:cNvPr id="11" name="Text 9"/>
          <p:cNvSpPr txBox="1"/>
          <p:nvPr/>
        </p:nvSpPr>
        <p:spPr>
          <a:xfrm>
            <a:off x="6428232" y="2743200"/>
            <a:ext cx="5029200" cy="1188720"/>
          </a:xfrm>
          <a:prstGeom prst="rect">
            <a:avLst/>
          </a:prstGeom>
          <a:noFill/>
          <a:ln/>
        </p:spPr>
        <p:txBody>
          <a:bodyPr wrap="square" lIns="0" tIns="0" rIns="0" bIns="0" rtlCol="0" anchor="t"/>
          <a:lstStyle/>
          <a:p>
            <a:pPr marL="0" indent="0">
              <a:spcAft>
                <a:spcPts val="400"/>
              </a:spcAft>
              <a:buNone/>
            </a:pPr>
            <a:r>
              <a:rPr lang="en-US" sz="1400" dirty="0">
                <a:solidFill>
                  <a:srgbClr val="2C3A55"/>
                </a:solidFill>
                <a:latin typeface="Calibri" pitchFamily="34" charset="0"/>
                <a:ea typeface="Calibri" pitchFamily="34" charset="-122"/>
                <a:cs typeface="Calibri" pitchFamily="34" charset="-120"/>
              </a:rPr>
              <a:t>El maestro guarda versiones viejas y nuevas. Sin limpiar, el merge duplica gestiones. Nos quedamos con la versión más reciente.</a:t>
            </a:r>
            <a:endParaRPr lang="en-US" sz="1400" dirty="0"/>
          </a:p>
        </p:txBody>
      </p:sp>
      <p:sp>
        <p:nvSpPr>
          <p:cNvPr id="12" name="Shape 10"/>
          <p:cNvSpPr/>
          <p:nvPr/>
        </p:nvSpPr>
        <p:spPr>
          <a:xfrm>
            <a:off x="502920" y="4206240"/>
            <a:ext cx="5486400" cy="1920240"/>
          </a:xfrm>
          <a:prstGeom prst="roundRect">
            <a:avLst>
              <a:gd name="adj" fmla="val 2857"/>
            </a:avLst>
          </a:prstGeom>
          <a:solidFill>
            <a:srgbClr val="FFFFFF"/>
          </a:solidFill>
          <a:ln w="9525">
            <a:solidFill>
              <a:srgbClr val="D2DBEC"/>
            </a:solidFill>
            <a:prstDash val="solid"/>
          </a:ln>
        </p:spPr>
      </p:sp>
      <p:sp>
        <p:nvSpPr>
          <p:cNvPr id="13" name="Text 11"/>
          <p:cNvSpPr txBox="1"/>
          <p:nvPr/>
        </p:nvSpPr>
        <p:spPr>
          <a:xfrm>
            <a:off x="731520" y="4343400"/>
            <a:ext cx="5029200" cy="41148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300 clientes huérfanos</a:t>
            </a:r>
            <a:endParaRPr lang="en-US" sz="1600" dirty="0"/>
          </a:p>
        </p:txBody>
      </p:sp>
      <p:sp>
        <p:nvSpPr>
          <p:cNvPr id="14" name="Text 12"/>
          <p:cNvSpPr txBox="1"/>
          <p:nvPr/>
        </p:nvSpPr>
        <p:spPr>
          <a:xfrm>
            <a:off x="731520" y="4846320"/>
            <a:ext cx="5029200" cy="1188720"/>
          </a:xfrm>
          <a:prstGeom prst="rect">
            <a:avLst/>
          </a:prstGeom>
          <a:noFill/>
          <a:ln/>
        </p:spPr>
        <p:txBody>
          <a:bodyPr wrap="square" lIns="0" tIns="0" rIns="0" bIns="0" rtlCol="0" anchor="t"/>
          <a:lstStyle/>
          <a:p>
            <a:pPr marL="0" indent="0">
              <a:spcAft>
                <a:spcPts val="400"/>
              </a:spcAft>
              <a:buNone/>
            </a:pPr>
            <a:r>
              <a:rPr lang="en-US" sz="1400" dirty="0">
                <a:solidFill>
                  <a:srgbClr val="2C3A55"/>
                </a:solidFill>
                <a:latin typeface="Calibri" pitchFamily="34" charset="0"/>
                <a:ea typeface="Calibri" pitchFamily="34" charset="-122"/>
                <a:cs typeface="Calibri" pitchFamily="34" charset="-120"/>
              </a:rPr>
              <a:t>Gestiones de clientes que no están en el maestro. Se conservan, con «unknown» en sus variables. Lo importante es que la decisión quede escrita.</a:t>
            </a:r>
            <a:endParaRPr lang="en-US" sz="1400" dirty="0"/>
          </a:p>
        </p:txBody>
      </p:sp>
      <p:sp>
        <p:nvSpPr>
          <p:cNvPr id="15" name="Shape 13"/>
          <p:cNvSpPr/>
          <p:nvPr/>
        </p:nvSpPr>
        <p:spPr>
          <a:xfrm>
            <a:off x="6199632" y="4206240"/>
            <a:ext cx="5486400" cy="1920240"/>
          </a:xfrm>
          <a:prstGeom prst="roundRect">
            <a:avLst>
              <a:gd name="adj" fmla="val 2857"/>
            </a:avLst>
          </a:prstGeom>
          <a:solidFill>
            <a:srgbClr val="0A2559"/>
          </a:solidFill>
          <a:ln w="9525">
            <a:solidFill>
              <a:srgbClr val="0A2559"/>
            </a:solidFill>
            <a:prstDash val="solid"/>
          </a:ln>
        </p:spPr>
      </p:sp>
      <p:sp>
        <p:nvSpPr>
          <p:cNvPr id="16" name="Text 14"/>
          <p:cNvSpPr txBox="1"/>
          <p:nvPr/>
        </p:nvSpPr>
        <p:spPr>
          <a:xfrm>
            <a:off x="6428232" y="4343400"/>
            <a:ext cx="5029200" cy="411480"/>
          </a:xfrm>
          <a:prstGeom prst="rect">
            <a:avLst/>
          </a:prstGeom>
          <a:noFill/>
          <a:ln/>
        </p:spPr>
        <p:txBody>
          <a:bodyPr wrap="square" lIns="0" tIns="0" rIns="0" bIns="0" rtlCol="0" anchor="ctr"/>
          <a:lstStyle/>
          <a:p>
            <a:pPr marL="0" indent="0">
              <a:buNone/>
            </a:pPr>
            <a:r>
              <a:rPr lang="en-US" sz="1600" b="1" dirty="0">
                <a:solidFill>
                  <a:srgbClr val="FF6B9A"/>
                </a:solidFill>
                <a:latin typeface="Calibri" pitchFamily="34" charset="0"/>
                <a:ea typeface="Calibri" pitchFamily="34" charset="-122"/>
                <a:cs typeface="Calibri" pitchFamily="34" charset="-120"/>
              </a:rPr>
              <a:t>La macro, con rezago</a:t>
            </a:r>
            <a:endParaRPr lang="en-US" sz="1600" dirty="0"/>
          </a:p>
        </p:txBody>
      </p:sp>
      <p:sp>
        <p:nvSpPr>
          <p:cNvPr id="17" name="Text 15"/>
          <p:cNvSpPr txBox="1"/>
          <p:nvPr/>
        </p:nvSpPr>
        <p:spPr>
          <a:xfrm>
            <a:off x="6428232" y="4846320"/>
            <a:ext cx="5029200" cy="1188720"/>
          </a:xfrm>
          <a:prstGeom prst="rect">
            <a:avLst/>
          </a:prstGeom>
          <a:noFill/>
          <a:ln/>
        </p:spPr>
        <p:txBody>
          <a:bodyPr wrap="square" lIns="0" tIns="0" rIns="0" bIns="0" rtlCol="0" anchor="t"/>
          <a:lstStyle/>
          <a:p>
            <a:pPr marL="0" indent="0">
              <a:spcAft>
                <a:spcPts val="400"/>
              </a:spcAft>
              <a:buNone/>
            </a:pPr>
            <a:r>
              <a:rPr lang="en-US" sz="1400" dirty="0">
                <a:solidFill>
                  <a:srgbClr val="C9D4EA"/>
                </a:solidFill>
                <a:latin typeface="Calibri" pitchFamily="34" charset="0"/>
                <a:ea typeface="Calibri" pitchFamily="34" charset="-122"/>
                <a:cs typeface="Calibri" pitchFamily="34" charset="-120"/>
              </a:rPr>
              <a:t>El promedio del mes se conoce al cerrarlo. merge_asof busca el último mes publicado: las llamadas de marzo de 2009 usan el dato de 2008-12; las de octubre de 2008, el de 2008-08.</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 · EXPLORAR</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Menos llamadas, más éxito: el banco cambió a quién llamaba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Explorar por período es obligatorio cuando el modelo se va a usar en el futuro.</a:t>
            </a:r>
            <a:endParaRPr lang="en-US" sz="1400" dirty="0"/>
          </a:p>
        </p:txBody>
      </p:sp>
      <p:pic>
        <p:nvPicPr>
          <p:cNvPr id="6" name="Image 0" descr="img_nb1.png"/>
          <p:cNvPicPr>
            <a:picLocks noChangeAspect="1"/>
          </p:cNvPicPr>
          <p:nvPr/>
        </p:nvPicPr>
        <p:blipFill>
          <a:blip r:embed="rId3"/>
          <a:stretch>
            <a:fillRect/>
          </a:stretch>
        </p:blipFill>
        <p:spPr>
          <a:xfrm>
            <a:off x="502920" y="1965960"/>
            <a:ext cx="7680960" cy="2731722"/>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412480" y="2103120"/>
          <a:ext cx="3273552" cy="1682496"/>
        </p:xfrm>
        <a:graphic>
          <a:graphicData uri="http://schemas.openxmlformats.org/drawingml/2006/table">
            <a:tbl>
              <a:tblPr/>
              <a:tblGrid>
                <a:gridCol w="6400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941832">
                  <a:extLst>
                    <a:ext uri="{9D8B030D-6E8A-4147-A177-3AD203B41FA5}">
                      <a16:colId xmlns:a16="http://schemas.microsoft.com/office/drawing/2014/main" val="20003"/>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Año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Llamadas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Tasa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Ya contactados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2008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27 690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4.8 %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0.1 %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2009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11 440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19.5 %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6.6 %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2010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2 058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52.1 %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35.2 %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Shape 4"/>
          <p:cNvSpPr/>
          <p:nvPr/>
        </p:nvSpPr>
        <p:spPr>
          <a:xfrm>
            <a:off x="8412480" y="3977640"/>
            <a:ext cx="3273552" cy="2240280"/>
          </a:xfrm>
          <a:prstGeom prst="roundRect">
            <a:avLst>
              <a:gd name="adj" fmla="val 2449"/>
            </a:avLst>
          </a:prstGeom>
          <a:solidFill>
            <a:srgbClr val="0A2559"/>
          </a:solidFill>
          <a:ln w="9525">
            <a:solidFill>
              <a:srgbClr val="0A2559"/>
            </a:solidFill>
            <a:prstDash val="solid"/>
          </a:ln>
        </p:spPr>
      </p:sp>
      <p:sp>
        <p:nvSpPr>
          <p:cNvPr id="7" name="Shape 5"/>
          <p:cNvSpPr/>
          <p:nvPr/>
        </p:nvSpPr>
        <p:spPr>
          <a:xfrm>
            <a:off x="8641080" y="4224528"/>
            <a:ext cx="128016" cy="128016"/>
          </a:xfrm>
          <a:prstGeom prst="roundRect">
            <a:avLst>
              <a:gd name="adj" fmla="val 21429"/>
            </a:avLst>
          </a:prstGeom>
          <a:solidFill>
            <a:srgbClr val="E6115E"/>
          </a:solidFill>
          <a:ln w="12700">
            <a:solidFill>
              <a:srgbClr val="E6115E"/>
            </a:solidFill>
            <a:prstDash val="solid"/>
          </a:ln>
        </p:spPr>
      </p:sp>
      <p:sp>
        <p:nvSpPr>
          <p:cNvPr id="10" name="Text 6"/>
          <p:cNvSpPr txBox="1"/>
          <p:nvPr/>
        </p:nvSpPr>
        <p:spPr>
          <a:xfrm>
            <a:off x="8869680" y="4114800"/>
            <a:ext cx="263347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 cambió la gente</a:t>
            </a:r>
            <a:endParaRPr lang="en-US" sz="1400" dirty="0"/>
          </a:p>
        </p:txBody>
      </p:sp>
      <p:sp>
        <p:nvSpPr>
          <p:cNvPr id="11" name="Text 7"/>
          <p:cNvSpPr txBox="1"/>
          <p:nvPr/>
        </p:nvSpPr>
        <p:spPr>
          <a:xfrm>
            <a:off x="8641080" y="4480560"/>
            <a:ext cx="2834640" cy="1645920"/>
          </a:xfrm>
          <a:prstGeom prst="rect">
            <a:avLst/>
          </a:prstGeom>
          <a:noFill/>
          <a:ln/>
        </p:spPr>
        <p:txBody>
          <a:bodyPr wrap="square" lIns="0" tIns="0" rIns="0" bIns="0" rtlCol="0" anchor="t"/>
          <a:lstStyle/>
          <a:p>
            <a:pPr marL="0" indent="0">
              <a:spcAft>
                <a:spcPts val="400"/>
              </a:spcAft>
              <a:buNone/>
            </a:pPr>
            <a:r>
              <a:rPr lang="en-US" sz="1200" dirty="0">
                <a:solidFill>
                  <a:srgbClr val="C9D4EA"/>
                </a:solidFill>
                <a:latin typeface="Calibri" pitchFamily="34" charset="0"/>
                <a:ea typeface="Calibri" pitchFamily="34" charset="-122"/>
                <a:cs typeface="Calibri" pitchFamily="34" charset="-120"/>
              </a:rPr>
              <a:t>Cambió la política: después de la crisis el banco llamó poco y a clientes elegidos, muchos ya contactados. El pasado no se parece al presente.</a:t>
            </a:r>
            <a:endParaRPr lang="en-US" sz="1200" dirty="0"/>
          </a:p>
        </p:txBody>
      </p:sp>
      <p:sp>
        <p:nvSpPr>
          <p:cNvPr id="12" name="Text 8"/>
          <p:cNvSpPr txBox="1"/>
          <p:nvPr/>
        </p:nvSpPr>
        <p:spPr>
          <a:xfrm>
            <a:off x="502920" y="4846320"/>
            <a:ext cx="7680960" cy="548640"/>
          </a:xfrm>
          <a:prstGeom prst="rect">
            <a:avLst/>
          </a:prstGeom>
          <a:noFill/>
          <a:ln/>
        </p:spPr>
        <p:txBody>
          <a:bodyPr wrap="square" lIns="0" tIns="0" rIns="0" bIns="0" rtlCol="0" anchor="t"/>
          <a:lstStyle/>
          <a:p>
            <a:pPr marL="0" indent="0">
              <a:spcAft>
                <a:spcPts val="400"/>
              </a:spcAft>
              <a:buNone/>
            </a:pPr>
            <a:r>
              <a:rPr lang="en-US" sz="1150" i="1" dirty="0">
                <a:solidFill>
                  <a:srgbClr val="5B6B87"/>
                </a:solidFill>
                <a:latin typeface="Calibri" pitchFamily="34" charset="0"/>
                <a:ea typeface="Calibri" pitchFamily="34" charset="-122"/>
                <a:cs typeface="Calibri" pitchFamily="34" charset="-120"/>
              </a:rPr>
              <a:t>Los picos de octubre de 2008 y marzo de 2009 son meses con muy pocas llamadas: una tasa con 67 casos no dice mucho.</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 · EXPLORAR</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 detector de fugas: lo que separa demasiado bien, sospecha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AUC de cada variable por sí sola. 0.5 es azar; 1.0, separación perfecta.</a:t>
            </a:r>
            <a:endParaRPr lang="en-US" sz="1400" dirty="0"/>
          </a:p>
        </p:txBody>
      </p:sp>
      <p:sp>
        <p:nvSpPr>
          <p:cNvPr id="6" name="Shape 4"/>
          <p:cNvSpPr/>
          <p:nvPr/>
        </p:nvSpPr>
        <p:spPr>
          <a:xfrm>
            <a:off x="502920" y="2103120"/>
            <a:ext cx="5120640" cy="4114800"/>
          </a:xfrm>
          <a:prstGeom prst="roundRect">
            <a:avLst>
              <a:gd name="adj" fmla="val 1333"/>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1A56E8"/>
          </a:solidFill>
          <a:ln w="12700">
            <a:solidFill>
              <a:srgbClr val="1A56E8"/>
            </a:solidFill>
            <a:prstDash val="solid"/>
          </a:ln>
        </p:spPr>
      </p:sp>
      <p:sp>
        <p:nvSpPr>
          <p:cNvPr id="8" name="Text 6"/>
          <p:cNvSpPr txBox="1"/>
          <p:nvPr/>
        </p:nvSpPr>
        <p:spPr>
          <a:xfrm>
            <a:off x="960120" y="2240280"/>
            <a:ext cx="448056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AUC de una sola variable</a:t>
            </a:r>
            <a:endParaRPr lang="en-US" sz="1400" dirty="0"/>
          </a:p>
        </p:txBody>
      </p:sp>
      <p:sp>
        <p:nvSpPr>
          <p:cNvPr id="9" name="Text 7"/>
          <p:cNvSpPr txBox="1"/>
          <p:nvPr/>
        </p:nvSpPr>
        <p:spPr>
          <a:xfrm>
            <a:off x="731520" y="2697480"/>
            <a:ext cx="1554480" cy="347472"/>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duración (s)</a:t>
            </a:r>
            <a:endParaRPr lang="en-US" sz="1150" dirty="0"/>
          </a:p>
        </p:txBody>
      </p:sp>
      <p:sp>
        <p:nvSpPr>
          <p:cNvPr id="10" name="Shape 8"/>
          <p:cNvSpPr/>
          <p:nvPr/>
        </p:nvSpPr>
        <p:spPr>
          <a:xfrm>
            <a:off x="2331720" y="2770632"/>
            <a:ext cx="2412691" cy="219456"/>
          </a:xfrm>
          <a:prstGeom prst="rect">
            <a:avLst/>
          </a:prstGeom>
          <a:solidFill>
            <a:srgbClr val="E6115E"/>
          </a:solidFill>
          <a:ln/>
        </p:spPr>
      </p:sp>
      <p:sp>
        <p:nvSpPr>
          <p:cNvPr id="11" name="Text 9"/>
          <p:cNvSpPr txBox="1"/>
          <p:nvPr/>
        </p:nvSpPr>
        <p:spPr>
          <a:xfrm>
            <a:off x="4808419" y="2697480"/>
            <a:ext cx="640080" cy="347472"/>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0.818</a:t>
            </a:r>
            <a:endParaRPr lang="en-US" sz="1150" dirty="0"/>
          </a:p>
        </p:txBody>
      </p:sp>
      <p:sp>
        <p:nvSpPr>
          <p:cNvPr id="12" name="Text 10"/>
          <p:cNvSpPr txBox="1"/>
          <p:nvPr/>
        </p:nvSpPr>
        <p:spPr>
          <a:xfrm>
            <a:off x="731520" y="3118104"/>
            <a:ext cx="1554480" cy="347472"/>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productos hoy</a:t>
            </a:r>
            <a:endParaRPr lang="en-US" sz="1150" dirty="0"/>
          </a:p>
        </p:txBody>
      </p:sp>
      <p:sp>
        <p:nvSpPr>
          <p:cNvPr id="13" name="Shape 11"/>
          <p:cNvSpPr/>
          <p:nvPr/>
        </p:nvSpPr>
        <p:spPr>
          <a:xfrm>
            <a:off x="2331720" y="3191256"/>
            <a:ext cx="1956195" cy="219456"/>
          </a:xfrm>
          <a:prstGeom prst="rect">
            <a:avLst/>
          </a:prstGeom>
          <a:solidFill>
            <a:srgbClr val="E6115E"/>
          </a:solidFill>
          <a:ln/>
        </p:spPr>
      </p:sp>
      <p:sp>
        <p:nvSpPr>
          <p:cNvPr id="14" name="Text 12"/>
          <p:cNvSpPr txBox="1"/>
          <p:nvPr/>
        </p:nvSpPr>
        <p:spPr>
          <a:xfrm>
            <a:off x="4351923" y="3118104"/>
            <a:ext cx="640080" cy="347472"/>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0.758</a:t>
            </a:r>
            <a:endParaRPr lang="en-US" sz="1150" dirty="0"/>
          </a:p>
        </p:txBody>
      </p:sp>
      <p:sp>
        <p:nvSpPr>
          <p:cNvPr id="15" name="Text 13"/>
          <p:cNvSpPr txBox="1"/>
          <p:nvPr/>
        </p:nvSpPr>
        <p:spPr>
          <a:xfrm>
            <a:off x="731520" y="3538728"/>
            <a:ext cx="1554480" cy="347472"/>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euribor 3m</a:t>
            </a:r>
            <a:endParaRPr lang="en-US" sz="1150" dirty="0"/>
          </a:p>
        </p:txBody>
      </p:sp>
      <p:sp>
        <p:nvSpPr>
          <p:cNvPr id="16" name="Shape 14"/>
          <p:cNvSpPr/>
          <p:nvPr/>
        </p:nvSpPr>
        <p:spPr>
          <a:xfrm>
            <a:off x="2331720" y="3611880"/>
            <a:ext cx="1804461" cy="219456"/>
          </a:xfrm>
          <a:prstGeom prst="rect">
            <a:avLst/>
          </a:prstGeom>
          <a:solidFill>
            <a:srgbClr val="8A97AD"/>
          </a:solidFill>
          <a:ln/>
        </p:spPr>
      </p:sp>
      <p:sp>
        <p:nvSpPr>
          <p:cNvPr id="17" name="Text 15"/>
          <p:cNvSpPr txBox="1"/>
          <p:nvPr/>
        </p:nvSpPr>
        <p:spPr>
          <a:xfrm>
            <a:off x="4200189" y="3538728"/>
            <a:ext cx="640080" cy="347472"/>
          </a:xfrm>
          <a:prstGeom prst="rect">
            <a:avLst/>
          </a:prstGeom>
          <a:noFill/>
          <a:ln/>
        </p:spPr>
        <p:txBody>
          <a:bodyPr wrap="square" lIns="0" tIns="0" rIns="0" bIns="0" rtlCol="0" anchor="ctr"/>
          <a:lstStyle/>
          <a:p>
            <a:pPr marL="0" indent="0">
              <a:buNone/>
            </a:pPr>
            <a:r>
              <a:rPr lang="en-US" sz="1150" b="1" dirty="0">
                <a:solidFill>
                  <a:srgbClr val="2C3A55"/>
                </a:solidFill>
                <a:latin typeface="Calibri" pitchFamily="34" charset="0"/>
                <a:ea typeface="Calibri" pitchFamily="34" charset="-122"/>
                <a:cs typeface="Calibri" pitchFamily="34" charset="-120"/>
              </a:rPr>
              <a:t>0.738</a:t>
            </a:r>
            <a:endParaRPr lang="en-US" sz="1150" dirty="0"/>
          </a:p>
        </p:txBody>
      </p:sp>
      <p:sp>
        <p:nvSpPr>
          <p:cNvPr id="18" name="Text 16"/>
          <p:cNvSpPr txBox="1"/>
          <p:nvPr/>
        </p:nvSpPr>
        <p:spPr>
          <a:xfrm>
            <a:off x="731520" y="3959352"/>
            <a:ext cx="1554480" cy="347472"/>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n.° empleados</a:t>
            </a:r>
            <a:endParaRPr lang="en-US" sz="1150" dirty="0"/>
          </a:p>
        </p:txBody>
      </p:sp>
      <p:sp>
        <p:nvSpPr>
          <p:cNvPr id="19" name="Shape 17"/>
          <p:cNvSpPr/>
          <p:nvPr/>
        </p:nvSpPr>
        <p:spPr>
          <a:xfrm>
            <a:off x="2331720" y="4032504"/>
            <a:ext cx="1799993" cy="219456"/>
          </a:xfrm>
          <a:prstGeom prst="rect">
            <a:avLst/>
          </a:prstGeom>
          <a:solidFill>
            <a:srgbClr val="8A97AD"/>
          </a:solidFill>
          <a:ln/>
        </p:spPr>
      </p:sp>
      <p:sp>
        <p:nvSpPr>
          <p:cNvPr id="20" name="Text 18"/>
          <p:cNvSpPr txBox="1"/>
          <p:nvPr/>
        </p:nvSpPr>
        <p:spPr>
          <a:xfrm>
            <a:off x="4195721" y="3959352"/>
            <a:ext cx="640080" cy="347472"/>
          </a:xfrm>
          <a:prstGeom prst="rect">
            <a:avLst/>
          </a:prstGeom>
          <a:noFill/>
          <a:ln/>
        </p:spPr>
        <p:txBody>
          <a:bodyPr wrap="square" lIns="0" tIns="0" rIns="0" bIns="0" rtlCol="0" anchor="ctr"/>
          <a:lstStyle/>
          <a:p>
            <a:pPr marL="0" indent="0">
              <a:buNone/>
            </a:pPr>
            <a:r>
              <a:rPr lang="en-US" sz="1150" b="1" dirty="0">
                <a:solidFill>
                  <a:srgbClr val="2C3A55"/>
                </a:solidFill>
                <a:latin typeface="Calibri" pitchFamily="34" charset="0"/>
                <a:ea typeface="Calibri" pitchFamily="34" charset="-122"/>
                <a:cs typeface="Calibri" pitchFamily="34" charset="-120"/>
              </a:rPr>
              <a:t>0.738</a:t>
            </a:r>
            <a:endParaRPr lang="en-US" sz="1150" dirty="0"/>
          </a:p>
        </p:txBody>
      </p:sp>
      <p:sp>
        <p:nvSpPr>
          <p:cNvPr id="21" name="Text 19"/>
          <p:cNvSpPr txBox="1"/>
          <p:nvPr/>
        </p:nvSpPr>
        <p:spPr>
          <a:xfrm>
            <a:off x="731520" y="4379976"/>
            <a:ext cx="1554480" cy="347472"/>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contactos previos</a:t>
            </a:r>
            <a:endParaRPr lang="en-US" sz="1150" dirty="0"/>
          </a:p>
        </p:txBody>
      </p:sp>
      <p:sp>
        <p:nvSpPr>
          <p:cNvPr id="22" name="Shape 20"/>
          <p:cNvSpPr/>
          <p:nvPr/>
        </p:nvSpPr>
        <p:spPr>
          <a:xfrm>
            <a:off x="2331720" y="4453128"/>
            <a:ext cx="828020" cy="219456"/>
          </a:xfrm>
          <a:prstGeom prst="rect">
            <a:avLst/>
          </a:prstGeom>
          <a:solidFill>
            <a:srgbClr val="1A56E8"/>
          </a:solidFill>
          <a:ln/>
        </p:spPr>
      </p:sp>
      <p:sp>
        <p:nvSpPr>
          <p:cNvPr id="23" name="Text 21"/>
          <p:cNvSpPr txBox="1"/>
          <p:nvPr/>
        </p:nvSpPr>
        <p:spPr>
          <a:xfrm>
            <a:off x="3223748" y="4379976"/>
            <a:ext cx="640080" cy="347472"/>
          </a:xfrm>
          <a:prstGeom prst="rect">
            <a:avLst/>
          </a:prstGeom>
          <a:noFill/>
          <a:ln/>
        </p:spPr>
        <p:txBody>
          <a:bodyPr wrap="square" lIns="0" tIns="0" rIns="0" bIns="0" rtlCol="0" anchor="ctr"/>
          <a:lstStyle/>
          <a:p>
            <a:pPr marL="0" indent="0">
              <a:buNone/>
            </a:pPr>
            <a:r>
              <a:rPr lang="en-US" sz="1150" b="1" dirty="0">
                <a:solidFill>
                  <a:srgbClr val="2C3A55"/>
                </a:solidFill>
                <a:latin typeface="Calibri" pitchFamily="34" charset="0"/>
                <a:ea typeface="Calibri" pitchFamily="34" charset="-122"/>
                <a:cs typeface="Calibri" pitchFamily="34" charset="-120"/>
              </a:rPr>
              <a:t>0.609</a:t>
            </a:r>
            <a:endParaRPr lang="en-US" sz="1150" dirty="0"/>
          </a:p>
        </p:txBody>
      </p:sp>
      <p:sp>
        <p:nvSpPr>
          <p:cNvPr id="24" name="Text 22"/>
          <p:cNvSpPr txBox="1"/>
          <p:nvPr/>
        </p:nvSpPr>
        <p:spPr>
          <a:xfrm>
            <a:off x="731520" y="4800600"/>
            <a:ext cx="1554480" cy="347472"/>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contactado antes</a:t>
            </a:r>
            <a:endParaRPr lang="en-US" sz="1150" dirty="0"/>
          </a:p>
        </p:txBody>
      </p:sp>
      <p:sp>
        <p:nvSpPr>
          <p:cNvPr id="25" name="Shape 23"/>
          <p:cNvSpPr/>
          <p:nvPr/>
        </p:nvSpPr>
        <p:spPr>
          <a:xfrm>
            <a:off x="2331720" y="4873752"/>
            <a:ext cx="732686" cy="219456"/>
          </a:xfrm>
          <a:prstGeom prst="rect">
            <a:avLst/>
          </a:prstGeom>
          <a:solidFill>
            <a:srgbClr val="1A56E8"/>
          </a:solidFill>
          <a:ln/>
        </p:spPr>
      </p:sp>
      <p:sp>
        <p:nvSpPr>
          <p:cNvPr id="26" name="Text 24"/>
          <p:cNvSpPr txBox="1"/>
          <p:nvPr/>
        </p:nvSpPr>
        <p:spPr>
          <a:xfrm>
            <a:off x="3128414" y="4800600"/>
            <a:ext cx="640080" cy="347472"/>
          </a:xfrm>
          <a:prstGeom prst="rect">
            <a:avLst/>
          </a:prstGeom>
          <a:noFill/>
          <a:ln/>
        </p:spPr>
        <p:txBody>
          <a:bodyPr wrap="square" lIns="0" tIns="0" rIns="0" bIns="0" rtlCol="0" anchor="ctr"/>
          <a:lstStyle/>
          <a:p>
            <a:pPr marL="0" indent="0">
              <a:buNone/>
            </a:pPr>
            <a:r>
              <a:rPr lang="en-US" sz="1150" b="1" dirty="0">
                <a:solidFill>
                  <a:srgbClr val="2C3A55"/>
                </a:solidFill>
                <a:latin typeface="Calibri" pitchFamily="34" charset="0"/>
                <a:ea typeface="Calibri" pitchFamily="34" charset="-122"/>
                <a:cs typeface="Calibri" pitchFamily="34" charset="-120"/>
              </a:rPr>
              <a:t>0.597</a:t>
            </a:r>
            <a:endParaRPr lang="en-US" sz="1150" dirty="0"/>
          </a:p>
        </p:txBody>
      </p:sp>
      <p:sp>
        <p:nvSpPr>
          <p:cNvPr id="27" name="Text 25"/>
          <p:cNvSpPr txBox="1"/>
          <p:nvPr/>
        </p:nvSpPr>
        <p:spPr>
          <a:xfrm>
            <a:off x="731520" y="5221224"/>
            <a:ext cx="1554480" cy="347472"/>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intentos</a:t>
            </a:r>
            <a:endParaRPr lang="en-US" sz="1150" dirty="0"/>
          </a:p>
        </p:txBody>
      </p:sp>
      <p:sp>
        <p:nvSpPr>
          <p:cNvPr id="28" name="Shape 26"/>
          <p:cNvSpPr/>
          <p:nvPr/>
        </p:nvSpPr>
        <p:spPr>
          <a:xfrm>
            <a:off x="2331720" y="5294376"/>
            <a:ext cx="418291" cy="219456"/>
          </a:xfrm>
          <a:prstGeom prst="rect">
            <a:avLst/>
          </a:prstGeom>
          <a:solidFill>
            <a:srgbClr val="1A56E8"/>
          </a:solidFill>
          <a:ln/>
        </p:spPr>
      </p:sp>
      <p:sp>
        <p:nvSpPr>
          <p:cNvPr id="29" name="Text 27"/>
          <p:cNvSpPr txBox="1"/>
          <p:nvPr/>
        </p:nvSpPr>
        <p:spPr>
          <a:xfrm>
            <a:off x="2814019" y="5221224"/>
            <a:ext cx="640080" cy="347472"/>
          </a:xfrm>
          <a:prstGeom prst="rect">
            <a:avLst/>
          </a:prstGeom>
          <a:noFill/>
          <a:ln/>
        </p:spPr>
        <p:txBody>
          <a:bodyPr wrap="square" lIns="0" tIns="0" rIns="0" bIns="0" rtlCol="0" anchor="ctr"/>
          <a:lstStyle/>
          <a:p>
            <a:pPr marL="0" indent="0">
              <a:buNone/>
            </a:pPr>
            <a:r>
              <a:rPr lang="en-US" sz="1150" b="1" dirty="0">
                <a:solidFill>
                  <a:srgbClr val="2C3A55"/>
                </a:solidFill>
                <a:latin typeface="Calibri" pitchFamily="34" charset="0"/>
                <a:ea typeface="Calibri" pitchFamily="34" charset="-122"/>
                <a:cs typeface="Calibri" pitchFamily="34" charset="-120"/>
              </a:rPr>
              <a:t>0.555</a:t>
            </a:r>
            <a:endParaRPr lang="en-US" sz="1150" dirty="0"/>
          </a:p>
        </p:txBody>
      </p:sp>
      <p:sp>
        <p:nvSpPr>
          <p:cNvPr id="30" name="Text 28"/>
          <p:cNvSpPr txBox="1"/>
          <p:nvPr/>
        </p:nvSpPr>
        <p:spPr>
          <a:xfrm>
            <a:off x="731520" y="5641848"/>
            <a:ext cx="1554480" cy="347472"/>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edad</a:t>
            </a:r>
            <a:endParaRPr lang="en-US" sz="1150" dirty="0"/>
          </a:p>
        </p:txBody>
      </p:sp>
      <p:sp>
        <p:nvSpPr>
          <p:cNvPr id="31" name="Shape 29"/>
          <p:cNvSpPr/>
          <p:nvPr/>
        </p:nvSpPr>
        <p:spPr>
          <a:xfrm>
            <a:off x="2331720" y="5715000"/>
            <a:ext cx="77817" cy="219456"/>
          </a:xfrm>
          <a:prstGeom prst="rect">
            <a:avLst/>
          </a:prstGeom>
          <a:solidFill>
            <a:srgbClr val="1A56E8"/>
          </a:solidFill>
          <a:ln/>
        </p:spPr>
      </p:sp>
      <p:sp>
        <p:nvSpPr>
          <p:cNvPr id="32" name="Text 30"/>
          <p:cNvSpPr txBox="1"/>
          <p:nvPr/>
        </p:nvSpPr>
        <p:spPr>
          <a:xfrm>
            <a:off x="2473545" y="5641848"/>
            <a:ext cx="640080" cy="347472"/>
          </a:xfrm>
          <a:prstGeom prst="rect">
            <a:avLst/>
          </a:prstGeom>
          <a:noFill/>
          <a:ln/>
        </p:spPr>
        <p:txBody>
          <a:bodyPr wrap="square" lIns="0" tIns="0" rIns="0" bIns="0" rtlCol="0" anchor="ctr"/>
          <a:lstStyle/>
          <a:p>
            <a:pPr marL="0" indent="0">
              <a:buNone/>
            </a:pPr>
            <a:r>
              <a:rPr lang="en-US" sz="1150" b="1" dirty="0">
                <a:solidFill>
                  <a:srgbClr val="2C3A55"/>
                </a:solidFill>
                <a:latin typeface="Calibri" pitchFamily="34" charset="0"/>
                <a:ea typeface="Calibri" pitchFamily="34" charset="-122"/>
                <a:cs typeface="Calibri" pitchFamily="34" charset="-120"/>
              </a:rPr>
              <a:t>0.510</a:t>
            </a:r>
            <a:endParaRPr lang="en-US" sz="11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897880" y="2103120"/>
          <a:ext cx="5788152" cy="3072384"/>
        </p:xfrm>
        <a:graphic>
          <a:graphicData uri="http://schemas.openxmlformats.org/drawingml/2006/table">
            <a:tbl>
              <a:tblPr/>
              <a:tblGrid>
                <a:gridCol w="1691640">
                  <a:extLst>
                    <a:ext uri="{9D8B030D-6E8A-4147-A177-3AD203B41FA5}">
                      <a16:colId xmlns:a16="http://schemas.microsoft.com/office/drawing/2014/main" val="20000"/>
                    </a:ext>
                  </a:extLst>
                </a:gridCol>
                <a:gridCol w="4096512">
                  <a:extLst>
                    <a:ext uri="{9D8B030D-6E8A-4147-A177-3AD203B41FA5}">
                      <a16:colId xmlns:a16="http://schemas.microsoft.com/office/drawing/2014/main" val="20001"/>
                    </a:ext>
                  </a:extLst>
                </a:gridCol>
              </a:tblGrid>
              <a:tr h="51206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Fuga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Por qué</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12064">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duracion_seg</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se sabe al colgar. Mediana 449 s si contrata, 164 s si 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n_productos_hoy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foto de dic. 2010 ya incluye el depósito vendido: 3.0 contra 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n_llamadas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intentos de esta campaña: no existe al decidir a quién llamar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macro del mismo mes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el promedio se conoce al cerrar el mes: va con rezago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split aleatorio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entrena con el futuro para predecir el pasado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4" name="Shape 31"/>
          <p:cNvSpPr/>
          <p:nvPr/>
        </p:nvSpPr>
        <p:spPr>
          <a:xfrm>
            <a:off x="5897880" y="5349240"/>
            <a:ext cx="5788152" cy="868680"/>
          </a:xfrm>
          <a:prstGeom prst="roundRect">
            <a:avLst>
              <a:gd name="adj" fmla="val 6316"/>
            </a:avLst>
          </a:prstGeom>
          <a:solidFill>
            <a:srgbClr val="0A2559"/>
          </a:solidFill>
          <a:ln w="9525">
            <a:solidFill>
              <a:srgbClr val="0A2559"/>
            </a:solidFill>
            <a:prstDash val="solid"/>
          </a:ln>
        </p:spPr>
      </p:sp>
      <p:sp>
        <p:nvSpPr>
          <p:cNvPr id="35" name="Text 32"/>
          <p:cNvSpPr txBox="1"/>
          <p:nvPr/>
        </p:nvSpPr>
        <p:spPr>
          <a:xfrm>
            <a:off x="6126480" y="5349240"/>
            <a:ext cx="5394960" cy="868680"/>
          </a:xfrm>
          <a:prstGeom prst="rect">
            <a:avLst/>
          </a:prstGeom>
          <a:noFill/>
          <a:ln/>
        </p:spPr>
        <p:txBody>
          <a:bodyPr wrap="square" lIns="0" tIns="0" rIns="0" bIns="0" rtlCol="0" anchor="ctr"/>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Una fuga no rompe el código: </a:t>
            </a:r>
            <a:r>
              <a:rPr lang="en-US" sz="1250" dirty="0">
                <a:solidFill>
                  <a:srgbClr val="C9D4EA"/>
                </a:solidFill>
                <a:latin typeface="Calibri" pitchFamily="34" charset="0"/>
                <a:ea typeface="Calibri" pitchFamily="34" charset="-122"/>
                <a:cs typeface="Calibri" pitchFamily="34" charset="-120"/>
              </a:rPr>
              <a:t>el modelo sale espectacular. La única defensa es preguntar cuándo se conoce cada variable.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4 · MODELAR</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La regresión logística: una recta que se aplasta entre 0 y 1</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Calcula un puntaje lineal, como la regresión de la Clase 2, y lo pasa por la sigmoide.</a:t>
            </a:r>
            <a:endParaRPr lang="en-US" sz="1400" dirty="0"/>
          </a:p>
        </p:txBody>
      </p:sp>
      <p:sp>
        <p:nvSpPr>
          <p:cNvPr id="6" name="Shape 4"/>
          <p:cNvSpPr/>
          <p:nvPr/>
        </p:nvSpPr>
        <p:spPr>
          <a:xfrm>
            <a:off x="502920" y="2103120"/>
            <a:ext cx="5486400" cy="1280160"/>
          </a:xfrm>
          <a:prstGeom prst="roundRect">
            <a:avLst>
              <a:gd name="adj" fmla="val 4286"/>
            </a:avLst>
          </a:prstGeom>
          <a:solidFill>
            <a:srgbClr val="0A2559"/>
          </a:solidFill>
          <a:ln w="9525">
            <a:solidFill>
              <a:srgbClr val="0A2559"/>
            </a:solidFill>
            <a:prstDash val="solid"/>
          </a:ln>
        </p:spPr>
      </p:sp>
      <p:sp>
        <p:nvSpPr>
          <p:cNvPr id="7" name="Text 5"/>
          <p:cNvSpPr txBox="1"/>
          <p:nvPr/>
        </p:nvSpPr>
        <p:spPr>
          <a:xfrm>
            <a:off x="502920" y="2103120"/>
            <a:ext cx="5486400" cy="12801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z = b₀ + b₁x₁ + … + bₚxₚ</a:t>
            </a:r>
            <a:endParaRPr lang="en-US" sz="2200" dirty="0"/>
          </a:p>
          <a:p>
            <a:pPr marL="0" indent="0" algn="ctr">
              <a:buNone/>
            </a:pPr>
            <a:r>
              <a:rPr lang="en-US" sz="2200" b="1" dirty="0">
                <a:solidFill>
                  <a:srgbClr val="FF6B9A"/>
                </a:solidFill>
                <a:latin typeface="Calibri" pitchFamily="34" charset="0"/>
                <a:ea typeface="Calibri" pitchFamily="34" charset="-122"/>
                <a:cs typeface="Calibri" pitchFamily="34" charset="-120"/>
              </a:rPr>
              <a:t>p̂ = 1 / (1 + e⁻ᶻ)</a:t>
            </a:r>
            <a:endParaRPr lang="en-US" sz="2200" dirty="0"/>
          </a:p>
        </p:txBody>
      </p:sp>
      <p:graphicFrame>
        <p:nvGraphicFramePr>
          <p:cNvPr id="8" name="Chart 0"/>
          <p:cNvGraphicFramePr/>
          <p:nvPr/>
        </p:nvGraphicFramePr>
        <p:xfrm>
          <a:off x="502920" y="3566160"/>
          <a:ext cx="5486400" cy="2651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63640" y="2103120"/>
          <a:ext cx="5422392" cy="2011680"/>
        </p:xfrm>
        <a:graphic>
          <a:graphicData uri="http://schemas.openxmlformats.org/drawingml/2006/table">
            <a:tbl>
              <a:tblPr/>
              <a:tblGrid>
                <a:gridCol w="10058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044952">
                  <a:extLst>
                    <a:ext uri="{9D8B030D-6E8A-4147-A177-3AD203B41FA5}">
                      <a16:colId xmlns:a16="http://schemas.microsoft.com/office/drawing/2014/main" val="20002"/>
                    </a:ext>
                  </a:extLst>
                </a:gridCol>
              </a:tblGrid>
              <a:tr h="50292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Símbolo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 lee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Qué 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zeta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log-odds: el logaritmo de las chances p / (1 − p)</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p̂</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pe sombrero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probabilidad de contratar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e^bⱼ</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 a la be jota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odds ratio: cuánto se multiplican las chances si xⱼ sube una unidad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6"/>
          <p:cNvSpPr/>
          <p:nvPr/>
        </p:nvSpPr>
        <p:spPr>
          <a:xfrm>
            <a:off x="6263640" y="4251960"/>
            <a:ext cx="5422392" cy="1965960"/>
          </a:xfrm>
          <a:prstGeom prst="roundRect">
            <a:avLst>
              <a:gd name="adj" fmla="val 2791"/>
            </a:avLst>
          </a:prstGeom>
          <a:solidFill>
            <a:srgbClr val="FFFFFF"/>
          </a:solidFill>
          <a:ln w="9525">
            <a:solidFill>
              <a:srgbClr val="D2DBEC"/>
            </a:solidFill>
            <a:prstDash val="solid"/>
          </a:ln>
        </p:spPr>
      </p:sp>
      <p:sp>
        <p:nvSpPr>
          <p:cNvPr id="9" name="Shape 7"/>
          <p:cNvSpPr/>
          <p:nvPr/>
        </p:nvSpPr>
        <p:spPr>
          <a:xfrm>
            <a:off x="6492240" y="4498848"/>
            <a:ext cx="128016" cy="128016"/>
          </a:xfrm>
          <a:prstGeom prst="roundRect">
            <a:avLst>
              <a:gd name="adj" fmla="val 21429"/>
            </a:avLst>
          </a:prstGeom>
          <a:solidFill>
            <a:srgbClr val="1A56E8"/>
          </a:solidFill>
          <a:ln w="12700">
            <a:solidFill>
              <a:srgbClr val="1A56E8"/>
            </a:solidFill>
            <a:prstDash val="solid"/>
          </a:ln>
        </p:spPr>
      </p:sp>
      <p:sp>
        <p:nvSpPr>
          <p:cNvPr id="12" name="Text 8"/>
          <p:cNvSpPr txBox="1"/>
          <p:nvPr/>
        </p:nvSpPr>
        <p:spPr>
          <a:xfrm>
            <a:off x="6720840" y="4389120"/>
            <a:ext cx="478231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sigue siendo el estándar en riesgos</a:t>
            </a:r>
            <a:endParaRPr lang="en-US" sz="1400" dirty="0"/>
          </a:p>
        </p:txBody>
      </p:sp>
      <p:sp>
        <p:nvSpPr>
          <p:cNvPr id="13" name="Text 9"/>
          <p:cNvSpPr txBox="1"/>
          <p:nvPr/>
        </p:nvSpPr>
        <p:spPr>
          <a:xfrm>
            <a:off x="6492240" y="4754880"/>
            <a:ext cx="4983480" cy="137160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Cada coeficiente se explica en una frase («ser llamado al fijo reduce las chances a la mitad»), se audita y es estable. Los modelos más complejos se comparan contra ella.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4 · MODELAR</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La tabla que hay que exigirle a cualquier AUC</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mismo modelo, con tres conjuntos de variables, medido con un corte aleatorio y con uno temporal.</a:t>
            </a:r>
            <a:endParaRPr lang="en-US" sz="1400" dirty="0"/>
          </a:p>
        </p:txBody>
      </p:sp>
      <p:sp>
        <p:nvSpPr>
          <p:cNvPr id="6" name="Shape 4"/>
          <p:cNvSpPr/>
          <p:nvPr/>
        </p:nvSpPr>
        <p:spPr>
          <a:xfrm>
            <a:off x="502920" y="2057400"/>
            <a:ext cx="6878665" cy="731520"/>
          </a:xfrm>
          <a:prstGeom prst="roundRect">
            <a:avLst>
              <a:gd name="adj" fmla="val 7500"/>
            </a:avLst>
          </a:prstGeom>
          <a:solidFill>
            <a:srgbClr val="0A2559"/>
          </a:solidFill>
          <a:ln/>
        </p:spPr>
      </p:sp>
      <p:sp>
        <p:nvSpPr>
          <p:cNvPr id="7" name="Text 5"/>
          <p:cNvSpPr txBox="1"/>
          <p:nvPr/>
        </p:nvSpPr>
        <p:spPr>
          <a:xfrm>
            <a:off x="502920" y="2084832"/>
            <a:ext cx="6878665" cy="347472"/>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ENTRENAMIENTO</a:t>
            </a:r>
            <a:endParaRPr lang="en-US" sz="1250" dirty="0"/>
          </a:p>
        </p:txBody>
      </p:sp>
      <p:sp>
        <p:nvSpPr>
          <p:cNvPr id="8" name="Text 6"/>
          <p:cNvSpPr txBox="1"/>
          <p:nvPr/>
        </p:nvSpPr>
        <p:spPr>
          <a:xfrm>
            <a:off x="502920" y="2395728"/>
            <a:ext cx="6878665" cy="320040"/>
          </a:xfrm>
          <a:prstGeom prst="rect">
            <a:avLst/>
          </a:prstGeom>
          <a:noFill/>
          <a:ln/>
        </p:spPr>
        <p:txBody>
          <a:bodyPr wrap="square" lIns="0" tIns="0" rIns="0" bIns="0" rtlCol="0" anchor="ctr"/>
          <a:lstStyle/>
          <a:p>
            <a:pPr marL="0" indent="0" algn="ctr">
              <a:buNone/>
            </a:pPr>
            <a:r>
              <a:rPr lang="en-US" sz="1050" i="1" dirty="0">
                <a:solidFill>
                  <a:srgbClr val="DCE4F5"/>
                </a:solidFill>
                <a:latin typeface="Calibri" pitchFamily="34" charset="0"/>
                <a:ea typeface="Calibri" pitchFamily="34" charset="-122"/>
                <a:cs typeface="Calibri" pitchFamily="34" charset="-120"/>
              </a:rPr>
              <a:t>may 2008 – jun 2009 · 36 939 · tasa 7.3 %</a:t>
            </a:r>
            <a:endParaRPr lang="en-US" sz="1050" dirty="0"/>
          </a:p>
        </p:txBody>
      </p:sp>
      <p:sp>
        <p:nvSpPr>
          <p:cNvPr id="9" name="Shape 7"/>
          <p:cNvSpPr/>
          <p:nvPr/>
        </p:nvSpPr>
        <p:spPr>
          <a:xfrm>
            <a:off x="7436449" y="2057400"/>
            <a:ext cx="2069927" cy="731520"/>
          </a:xfrm>
          <a:prstGeom prst="roundRect">
            <a:avLst>
              <a:gd name="adj" fmla="val 7500"/>
            </a:avLst>
          </a:prstGeom>
          <a:solidFill>
            <a:srgbClr val="1A56E8"/>
          </a:solidFill>
          <a:ln/>
        </p:spPr>
      </p:sp>
      <p:sp>
        <p:nvSpPr>
          <p:cNvPr id="10" name="Text 8"/>
          <p:cNvSpPr txBox="1"/>
          <p:nvPr/>
        </p:nvSpPr>
        <p:spPr>
          <a:xfrm>
            <a:off x="7436449" y="2084832"/>
            <a:ext cx="2069927" cy="347472"/>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VALIDACIÓN</a:t>
            </a:r>
            <a:endParaRPr lang="en-US" sz="1250" dirty="0"/>
          </a:p>
        </p:txBody>
      </p:sp>
      <p:sp>
        <p:nvSpPr>
          <p:cNvPr id="11" name="Text 9"/>
          <p:cNvSpPr txBox="1"/>
          <p:nvPr/>
        </p:nvSpPr>
        <p:spPr>
          <a:xfrm>
            <a:off x="7436449" y="2395728"/>
            <a:ext cx="2069927" cy="320040"/>
          </a:xfrm>
          <a:prstGeom prst="rect">
            <a:avLst/>
          </a:prstGeom>
          <a:noFill/>
          <a:ln/>
        </p:spPr>
        <p:txBody>
          <a:bodyPr wrap="square" lIns="0" tIns="0" rIns="0" bIns="0" rtlCol="0" anchor="ctr"/>
          <a:lstStyle/>
          <a:p>
            <a:pPr marL="0" indent="0" algn="ctr">
              <a:buNone/>
            </a:pPr>
            <a:r>
              <a:rPr lang="en-US" sz="1050" i="1" dirty="0">
                <a:solidFill>
                  <a:srgbClr val="DCE4F5"/>
                </a:solidFill>
                <a:latin typeface="Calibri" pitchFamily="34" charset="0"/>
                <a:ea typeface="Calibri" pitchFamily="34" charset="-122"/>
                <a:cs typeface="Calibri" pitchFamily="34" charset="-120"/>
              </a:rPr>
              <a:t>jul – dic 2009 · 2 191 · 39.8 %</a:t>
            </a:r>
            <a:endParaRPr lang="en-US" sz="1050" dirty="0"/>
          </a:p>
        </p:txBody>
      </p:sp>
      <p:sp>
        <p:nvSpPr>
          <p:cNvPr id="12" name="Shape 10"/>
          <p:cNvSpPr/>
          <p:nvPr/>
        </p:nvSpPr>
        <p:spPr>
          <a:xfrm>
            <a:off x="9561241" y="2057400"/>
            <a:ext cx="2069927" cy="731520"/>
          </a:xfrm>
          <a:prstGeom prst="roundRect">
            <a:avLst>
              <a:gd name="adj" fmla="val 7500"/>
            </a:avLst>
          </a:prstGeom>
          <a:solidFill>
            <a:srgbClr val="E6115E"/>
          </a:solidFill>
          <a:ln/>
        </p:spPr>
      </p:sp>
      <p:sp>
        <p:nvSpPr>
          <p:cNvPr id="13" name="Text 11"/>
          <p:cNvSpPr txBox="1"/>
          <p:nvPr/>
        </p:nvSpPr>
        <p:spPr>
          <a:xfrm>
            <a:off x="9561241" y="2084832"/>
            <a:ext cx="2069927" cy="347472"/>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OOT</a:t>
            </a:r>
            <a:endParaRPr lang="en-US" sz="1250" dirty="0"/>
          </a:p>
        </p:txBody>
      </p:sp>
      <p:sp>
        <p:nvSpPr>
          <p:cNvPr id="14" name="Text 12"/>
          <p:cNvSpPr txBox="1"/>
          <p:nvPr/>
        </p:nvSpPr>
        <p:spPr>
          <a:xfrm>
            <a:off x="9561241" y="2395728"/>
            <a:ext cx="2069927" cy="320040"/>
          </a:xfrm>
          <a:prstGeom prst="rect">
            <a:avLst/>
          </a:prstGeom>
          <a:noFill/>
          <a:ln/>
        </p:spPr>
        <p:txBody>
          <a:bodyPr wrap="square" lIns="0" tIns="0" rIns="0" bIns="0" rtlCol="0" anchor="ctr"/>
          <a:lstStyle/>
          <a:p>
            <a:pPr marL="0" indent="0" algn="ctr">
              <a:buNone/>
            </a:pPr>
            <a:r>
              <a:rPr lang="en-US" sz="1050" i="1" dirty="0">
                <a:solidFill>
                  <a:srgbClr val="DCE4F5"/>
                </a:solidFill>
                <a:latin typeface="Calibri" pitchFamily="34" charset="0"/>
                <a:ea typeface="Calibri" pitchFamily="34" charset="-122"/>
                <a:cs typeface="Calibri" pitchFamily="34" charset="-120"/>
              </a:rPr>
              <a:t>2010 · 2 058 · 52.1 %</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3017520"/>
          <a:ext cx="6949440" cy="2011680"/>
        </p:xfrm>
        <a:graphic>
          <a:graphicData uri="http://schemas.openxmlformats.org/drawingml/2006/table">
            <a:tbl>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50292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Variables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AUC split aleatorio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AUC validación 2009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AUC OOT 2010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02920">
                <a:tc>
                  <a:txBody>
                    <a:bodyPr/>
                    <a:lstStyle/>
                    <a:p>
                      <a:pPr marL="0" indent="0">
                        <a:buNone/>
                      </a:pPr>
                      <a:r>
                        <a:rPr lang="en-US" sz="1150" b="1" dirty="0">
                          <a:solidFill>
                            <a:srgbClr val="12B886"/>
                          </a:solidFill>
                          <a:latin typeface="Calibri" pitchFamily="34" charset="0"/>
                          <a:ea typeface="Calibri" pitchFamily="34" charset="-122"/>
                          <a:cs typeface="Calibri" pitchFamily="34" charset="-120"/>
                        </a:rPr>
                        <a:t>sin macro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0.727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0.619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0.704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con macro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0.786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0.564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0.638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con duración (fuga)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0.891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i="1" dirty="0">
                          <a:solidFill>
                            <a:srgbClr val="5B6B87"/>
                          </a:solidFill>
                          <a:latin typeface="Calibri" pitchFamily="34" charset="0"/>
                          <a:ea typeface="Calibri" pitchFamily="34" charset="-122"/>
                          <a:cs typeface="Calibri" pitchFamily="34" charset="-120"/>
                        </a:rPr>
                        <a:t>no se puede usar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i="1" dirty="0">
                          <a:solidFill>
                            <a:srgbClr val="5B6B87"/>
                          </a:solidFill>
                          <a:latin typeface="Calibri" pitchFamily="34" charset="0"/>
                          <a:ea typeface="Calibri" pitchFamily="34" charset="-122"/>
                          <a:cs typeface="Calibri" pitchFamily="34" charset="-120"/>
                        </a:rPr>
                        <a:t>no se puede usar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Shape 13"/>
          <p:cNvSpPr/>
          <p:nvPr/>
        </p:nvSpPr>
        <p:spPr>
          <a:xfrm>
            <a:off x="7726680" y="3017520"/>
            <a:ext cx="3959352" cy="932688"/>
          </a:xfrm>
          <a:prstGeom prst="roundRect">
            <a:avLst>
              <a:gd name="adj" fmla="val 5882"/>
            </a:avLst>
          </a:prstGeom>
          <a:solidFill>
            <a:srgbClr val="FFFFFF"/>
          </a:solidFill>
          <a:ln w="9525">
            <a:solidFill>
              <a:srgbClr val="D2DBEC"/>
            </a:solidFill>
            <a:prstDash val="solid"/>
          </a:ln>
        </p:spPr>
      </p:sp>
      <p:sp>
        <p:nvSpPr>
          <p:cNvPr id="17" name="Text 14"/>
          <p:cNvSpPr txBox="1"/>
          <p:nvPr/>
        </p:nvSpPr>
        <p:spPr>
          <a:xfrm>
            <a:off x="7909560" y="3081528"/>
            <a:ext cx="3657600" cy="320040"/>
          </a:xfrm>
          <a:prstGeom prst="rect">
            <a:avLst/>
          </a:prstGeom>
          <a:noFill/>
          <a:ln/>
        </p:spPr>
        <p:txBody>
          <a:bodyPr wrap="square" lIns="0" tIns="0" rIns="0" bIns="0" rtlCol="0" anchor="ctr"/>
          <a:lstStyle/>
          <a:p>
            <a:pPr marL="0" indent="0">
              <a:buNone/>
            </a:pPr>
            <a:r>
              <a:rPr lang="en-US" sz="1300" b="1" dirty="0">
                <a:solidFill>
                  <a:srgbClr val="1A56E8"/>
                </a:solidFill>
                <a:latin typeface="Calibri" pitchFamily="34" charset="0"/>
                <a:ea typeface="Calibri" pitchFamily="34" charset="-122"/>
                <a:cs typeface="Calibri" pitchFamily="34" charset="-120"/>
              </a:rPr>
              <a:t>El aleatorio promete de más</a:t>
            </a:r>
            <a:endParaRPr lang="en-US" sz="1300" dirty="0"/>
          </a:p>
        </p:txBody>
      </p:sp>
      <p:sp>
        <p:nvSpPr>
          <p:cNvPr id="18" name="Text 15"/>
          <p:cNvSpPr txBox="1"/>
          <p:nvPr/>
        </p:nvSpPr>
        <p:spPr>
          <a:xfrm>
            <a:off x="7909560" y="3429000"/>
            <a:ext cx="3657600" cy="50292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0.727 prometido; 0.619 y 0.704 en el futuro.</a:t>
            </a:r>
            <a:endParaRPr lang="en-US" sz="1150" dirty="0"/>
          </a:p>
        </p:txBody>
      </p:sp>
      <p:sp>
        <p:nvSpPr>
          <p:cNvPr id="19" name="Shape 16"/>
          <p:cNvSpPr/>
          <p:nvPr/>
        </p:nvSpPr>
        <p:spPr>
          <a:xfrm>
            <a:off x="7726680" y="4069080"/>
            <a:ext cx="3959352" cy="932688"/>
          </a:xfrm>
          <a:prstGeom prst="roundRect">
            <a:avLst>
              <a:gd name="adj" fmla="val 5882"/>
            </a:avLst>
          </a:prstGeom>
          <a:solidFill>
            <a:srgbClr val="FFFFFF"/>
          </a:solidFill>
          <a:ln w="9525">
            <a:solidFill>
              <a:srgbClr val="D2DBEC"/>
            </a:solidFill>
            <a:prstDash val="solid"/>
          </a:ln>
        </p:spPr>
      </p:sp>
      <p:sp>
        <p:nvSpPr>
          <p:cNvPr id="20" name="Text 17"/>
          <p:cNvSpPr txBox="1"/>
          <p:nvPr/>
        </p:nvSpPr>
        <p:spPr>
          <a:xfrm>
            <a:off x="7909560" y="4133088"/>
            <a:ext cx="3657600" cy="320040"/>
          </a:xfrm>
          <a:prstGeom prst="rect">
            <a:avLst/>
          </a:prstGeom>
          <a:noFill/>
          <a:ln/>
        </p:spPr>
        <p:txBody>
          <a:bodyPr wrap="square" lIns="0" tIns="0" rIns="0" bIns="0" rtlCol="0" anchor="ctr"/>
          <a:lstStyle/>
          <a:p>
            <a:pPr marL="0" indent="0">
              <a:buNone/>
            </a:pPr>
            <a:r>
              <a:rPr lang="en-US" sz="1300" b="1" dirty="0">
                <a:solidFill>
                  <a:srgbClr val="E6115E"/>
                </a:solidFill>
                <a:latin typeface="Calibri" pitchFamily="34" charset="0"/>
                <a:ea typeface="Calibri" pitchFamily="34" charset="-122"/>
                <a:cs typeface="Calibri" pitchFamily="34" charset="-120"/>
              </a:rPr>
              <a:t>Las macro son un reloj</a:t>
            </a:r>
            <a:endParaRPr lang="en-US" sz="1300" dirty="0"/>
          </a:p>
        </p:txBody>
      </p:sp>
      <p:sp>
        <p:nvSpPr>
          <p:cNvPr id="21" name="Text 18"/>
          <p:cNvSpPr txBox="1"/>
          <p:nvPr/>
        </p:nvSpPr>
        <p:spPr>
          <a:xfrm>
            <a:off x="7909560" y="4480560"/>
            <a:ext cx="3657600" cy="50292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Suben el AUC aleatorio a 0.786 y bajan el OOT a 0.638: el modelo aprende en qué mes está.</a:t>
            </a:r>
            <a:endParaRPr lang="en-US" sz="1150" dirty="0"/>
          </a:p>
        </p:txBody>
      </p:sp>
      <p:sp>
        <p:nvSpPr>
          <p:cNvPr id="22" name="Shape 19"/>
          <p:cNvSpPr/>
          <p:nvPr/>
        </p:nvSpPr>
        <p:spPr>
          <a:xfrm>
            <a:off x="7726680" y="5120640"/>
            <a:ext cx="3959352" cy="932688"/>
          </a:xfrm>
          <a:prstGeom prst="roundRect">
            <a:avLst>
              <a:gd name="adj" fmla="val 5882"/>
            </a:avLst>
          </a:prstGeom>
          <a:solidFill>
            <a:srgbClr val="FFFFFF"/>
          </a:solidFill>
          <a:ln w="9525">
            <a:solidFill>
              <a:srgbClr val="D2DBEC"/>
            </a:solidFill>
            <a:prstDash val="solid"/>
          </a:ln>
        </p:spPr>
      </p:sp>
      <p:sp>
        <p:nvSpPr>
          <p:cNvPr id="23" name="Text 20"/>
          <p:cNvSpPr txBox="1"/>
          <p:nvPr/>
        </p:nvSpPr>
        <p:spPr>
          <a:xfrm>
            <a:off x="7909560" y="5184648"/>
            <a:ext cx="3657600" cy="320040"/>
          </a:xfrm>
          <a:prstGeom prst="rect">
            <a:avLst/>
          </a:prstGeom>
          <a:noFill/>
          <a:ln/>
        </p:spPr>
        <p:txBody>
          <a:bodyPr wrap="square" lIns="0" tIns="0" rIns="0" bIns="0" rtlCol="0" anchor="ctr"/>
          <a:lstStyle/>
          <a:p>
            <a:pPr marL="0" indent="0">
              <a:buNone/>
            </a:pPr>
            <a:r>
              <a:rPr lang="en-US" sz="1300" b="1" dirty="0">
                <a:solidFill>
                  <a:srgbClr val="E6115E"/>
                </a:solidFill>
                <a:latin typeface="Calibri" pitchFamily="34" charset="0"/>
                <a:ea typeface="Calibri" pitchFamily="34" charset="-122"/>
                <a:cs typeface="Calibri" pitchFamily="34" charset="-120"/>
              </a:rPr>
              <a:t>La fuga es espectacular</a:t>
            </a:r>
            <a:endParaRPr lang="en-US" sz="1300" dirty="0"/>
          </a:p>
        </p:txBody>
      </p:sp>
      <p:sp>
        <p:nvSpPr>
          <p:cNvPr id="24" name="Text 21"/>
          <p:cNvSpPr txBox="1"/>
          <p:nvPr/>
        </p:nvSpPr>
        <p:spPr>
          <a:xfrm>
            <a:off x="7909560" y="5532120"/>
            <a:ext cx="3657600" cy="50292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0.891, con una variable que no existe antes de llamar.</a:t>
            </a:r>
            <a:endParaRPr lang="en-US" sz="1150" dirty="0"/>
          </a:p>
        </p:txBody>
      </p:sp>
      <p:sp>
        <p:nvSpPr>
          <p:cNvPr id="25" name="Shape 22"/>
          <p:cNvSpPr/>
          <p:nvPr/>
        </p:nvSpPr>
        <p:spPr>
          <a:xfrm>
            <a:off x="502920" y="5166360"/>
            <a:ext cx="6949440" cy="1051560"/>
          </a:xfrm>
          <a:prstGeom prst="roundRect">
            <a:avLst>
              <a:gd name="adj" fmla="val 5217"/>
            </a:avLst>
          </a:prstGeom>
          <a:solidFill>
            <a:srgbClr val="0A2559"/>
          </a:solidFill>
          <a:ln w="9525">
            <a:solidFill>
              <a:srgbClr val="0A2559"/>
            </a:solidFill>
            <a:prstDash val="solid"/>
          </a:ln>
        </p:spPr>
      </p:sp>
      <p:sp>
        <p:nvSpPr>
          <p:cNvPr id="26" name="Text 23"/>
          <p:cNvSpPr txBox="1"/>
          <p:nvPr/>
        </p:nvSpPr>
        <p:spPr>
          <a:xfrm>
            <a:off x="731520" y="5166360"/>
            <a:ext cx="6492240" cy="1051560"/>
          </a:xfrm>
          <a:prstGeom prst="rect">
            <a:avLst/>
          </a:prstGeom>
          <a:noFill/>
          <a:ln/>
        </p:spPr>
        <p:txBody>
          <a:bodyPr wrap="square" lIns="0" tIns="0" rIns="0" bIns="0" rtlCol="0" anchor="ctr"/>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Elegimos el modelo sin macro, con el corte temporal. </a:t>
            </a:r>
            <a:r>
              <a:rPr lang="en-US" sz="1250" dirty="0">
                <a:solidFill>
                  <a:srgbClr val="C9D4EA"/>
                </a:solidFill>
                <a:latin typeface="Calibri" pitchFamily="34" charset="0"/>
                <a:ea typeface="Calibri" pitchFamily="34" charset="-122"/>
                <a:cs typeface="Calibri" pitchFamily="34" charset="-120"/>
              </a:rPr>
              <a:t>Con tiempo de por medio, el split aleatorio deja que el modelo vea vecinos del mismo mes: es una fuga más.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4 · MODELAR</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Leer el modelo: los odds ratios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e^b: cuánto se multiplican las chances de contratar. Más de 1 sube; menos de 1 baja.</a:t>
            </a:r>
            <a:endParaRPr lang="en-US" sz="1400" dirty="0"/>
          </a:p>
        </p:txBody>
      </p:sp>
      <p:sp>
        <p:nvSpPr>
          <p:cNvPr id="6" name="Shape 4"/>
          <p:cNvSpPr/>
          <p:nvPr/>
        </p:nvSpPr>
        <p:spPr>
          <a:xfrm>
            <a:off x="502920" y="2103120"/>
            <a:ext cx="7132320" cy="4114800"/>
          </a:xfrm>
          <a:prstGeom prst="roundRect">
            <a:avLst>
              <a:gd name="adj" fmla="val 1333"/>
            </a:avLst>
          </a:prstGeom>
          <a:solidFill>
            <a:srgbClr val="FFFFFF"/>
          </a:solidFill>
          <a:ln w="9525">
            <a:solidFill>
              <a:srgbClr val="D2DBEC"/>
            </a:solidFill>
            <a:prstDash val="solid"/>
          </a:ln>
        </p:spPr>
      </p:sp>
      <p:sp>
        <p:nvSpPr>
          <p:cNvPr id="7" name="Shape 5"/>
          <p:cNvSpPr/>
          <p:nvPr/>
        </p:nvSpPr>
        <p:spPr>
          <a:xfrm>
            <a:off x="4937760" y="2331720"/>
            <a:ext cx="0" cy="3703320"/>
          </a:xfrm>
          <a:prstGeom prst="line">
            <a:avLst/>
          </a:prstGeom>
          <a:noFill/>
          <a:ln w="12700">
            <a:solidFill>
              <a:srgbClr val="5B6B87"/>
            </a:solidFill>
            <a:prstDash val="dash"/>
          </a:ln>
        </p:spPr>
      </p:sp>
      <p:sp>
        <p:nvSpPr>
          <p:cNvPr id="8" name="Text 6"/>
          <p:cNvSpPr txBox="1"/>
          <p:nvPr/>
        </p:nvSpPr>
        <p:spPr>
          <a:xfrm>
            <a:off x="4206240" y="5943600"/>
            <a:ext cx="1463040" cy="228600"/>
          </a:xfrm>
          <a:prstGeom prst="rect">
            <a:avLst/>
          </a:prstGeom>
          <a:noFill/>
          <a:ln/>
        </p:spPr>
        <p:txBody>
          <a:bodyPr wrap="square" lIns="0" tIns="0" rIns="0" bIns="0" rtlCol="0" anchor="ctr"/>
          <a:lstStyle/>
          <a:p>
            <a:pPr marL="0" indent="0" algn="ctr">
              <a:buNone/>
            </a:pPr>
            <a:r>
              <a:rPr lang="en-US" sz="950" i="1" dirty="0">
                <a:solidFill>
                  <a:srgbClr val="5B6B87"/>
                </a:solidFill>
                <a:latin typeface="Calibri" pitchFamily="34" charset="0"/>
                <a:ea typeface="Calibri" pitchFamily="34" charset="-122"/>
                <a:cs typeface="Calibri" pitchFamily="34" charset="-120"/>
              </a:rPr>
              <a:t>1 = sin efecto</a:t>
            </a:r>
            <a:endParaRPr lang="en-US" sz="950" dirty="0"/>
          </a:p>
        </p:txBody>
      </p:sp>
      <p:sp>
        <p:nvSpPr>
          <p:cNvPr id="9" name="Text 7"/>
          <p:cNvSpPr txBox="1"/>
          <p:nvPr/>
        </p:nvSpPr>
        <p:spPr>
          <a:xfrm>
            <a:off x="685800" y="2377440"/>
            <a:ext cx="2103120" cy="310896"/>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ocupación: estudiante</a:t>
            </a:r>
            <a:endParaRPr lang="en-US" sz="1100" dirty="0"/>
          </a:p>
        </p:txBody>
      </p:sp>
      <p:sp>
        <p:nvSpPr>
          <p:cNvPr id="10" name="Shape 8"/>
          <p:cNvSpPr/>
          <p:nvPr/>
        </p:nvSpPr>
        <p:spPr>
          <a:xfrm>
            <a:off x="4937760" y="2432304"/>
            <a:ext cx="1411632" cy="201168"/>
          </a:xfrm>
          <a:prstGeom prst="rect">
            <a:avLst/>
          </a:prstGeom>
          <a:solidFill>
            <a:srgbClr val="12B886"/>
          </a:solidFill>
          <a:ln/>
        </p:spPr>
      </p:sp>
      <p:sp>
        <p:nvSpPr>
          <p:cNvPr id="11" name="Text 9"/>
          <p:cNvSpPr txBox="1"/>
          <p:nvPr/>
        </p:nvSpPr>
        <p:spPr>
          <a:xfrm>
            <a:off x="6404256" y="2377440"/>
            <a:ext cx="512064" cy="310896"/>
          </a:xfrm>
          <a:prstGeom prst="rect">
            <a:avLst/>
          </a:prstGeom>
          <a:noFill/>
          <a:ln/>
        </p:spPr>
        <p:txBody>
          <a:bodyPr wrap="square" lIns="0" tIns="0" rIns="0" bIns="0" rtlCol="0" anchor="ctr"/>
          <a:lstStyle/>
          <a:p>
            <a:pPr marL="0" indent="0" algn="l">
              <a:buNone/>
            </a:pPr>
            <a:r>
              <a:rPr lang="en-US" sz="1100" b="1" dirty="0">
                <a:solidFill>
                  <a:srgbClr val="12B886"/>
                </a:solidFill>
                <a:latin typeface="Calibri" pitchFamily="34" charset="0"/>
                <a:ea typeface="Calibri" pitchFamily="34" charset="-122"/>
                <a:cs typeface="Calibri" pitchFamily="34" charset="-120"/>
              </a:rPr>
              <a:t>2.05</a:t>
            </a:r>
            <a:endParaRPr lang="en-US" sz="1100" dirty="0"/>
          </a:p>
        </p:txBody>
      </p:sp>
      <p:sp>
        <p:nvSpPr>
          <p:cNvPr id="12" name="Text 10"/>
          <p:cNvSpPr txBox="1"/>
          <p:nvPr/>
        </p:nvSpPr>
        <p:spPr>
          <a:xfrm>
            <a:off x="685800" y="2761488"/>
            <a:ext cx="2103120" cy="310896"/>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ocupación: jubilado</a:t>
            </a:r>
            <a:endParaRPr lang="en-US" sz="1100" dirty="0"/>
          </a:p>
        </p:txBody>
      </p:sp>
      <p:sp>
        <p:nvSpPr>
          <p:cNvPr id="13" name="Shape 11"/>
          <p:cNvSpPr/>
          <p:nvPr/>
        </p:nvSpPr>
        <p:spPr>
          <a:xfrm>
            <a:off x="4937760" y="2816352"/>
            <a:ext cx="949034" cy="201168"/>
          </a:xfrm>
          <a:prstGeom prst="rect">
            <a:avLst/>
          </a:prstGeom>
          <a:solidFill>
            <a:srgbClr val="12B886"/>
          </a:solidFill>
          <a:ln/>
        </p:spPr>
      </p:sp>
      <p:sp>
        <p:nvSpPr>
          <p:cNvPr id="14" name="Text 12"/>
          <p:cNvSpPr txBox="1"/>
          <p:nvPr/>
        </p:nvSpPr>
        <p:spPr>
          <a:xfrm>
            <a:off x="5941658" y="2761488"/>
            <a:ext cx="512064" cy="310896"/>
          </a:xfrm>
          <a:prstGeom prst="rect">
            <a:avLst/>
          </a:prstGeom>
          <a:noFill/>
          <a:ln/>
        </p:spPr>
        <p:txBody>
          <a:bodyPr wrap="square" lIns="0" tIns="0" rIns="0" bIns="0" rtlCol="0" anchor="ctr"/>
          <a:lstStyle/>
          <a:p>
            <a:pPr marL="0" indent="0" algn="l">
              <a:buNone/>
            </a:pPr>
            <a:r>
              <a:rPr lang="en-US" sz="1100" b="1" dirty="0">
                <a:solidFill>
                  <a:srgbClr val="12B886"/>
                </a:solidFill>
                <a:latin typeface="Calibri" pitchFamily="34" charset="0"/>
                <a:ea typeface="Calibri" pitchFamily="34" charset="-122"/>
                <a:cs typeface="Calibri" pitchFamily="34" charset="-120"/>
              </a:rPr>
              <a:t>1.62</a:t>
            </a:r>
            <a:endParaRPr lang="en-US" sz="1100" dirty="0"/>
          </a:p>
        </p:txBody>
      </p:sp>
      <p:sp>
        <p:nvSpPr>
          <p:cNvPr id="15" name="Text 13"/>
          <p:cNvSpPr txBox="1"/>
          <p:nvPr/>
        </p:nvSpPr>
        <p:spPr>
          <a:xfrm>
            <a:off x="685800" y="3145536"/>
            <a:ext cx="2103120" cy="310896"/>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contactado antes (por 1 desv.)</a:t>
            </a:r>
            <a:endParaRPr lang="en-US" sz="1100" dirty="0"/>
          </a:p>
        </p:txBody>
      </p:sp>
      <p:sp>
        <p:nvSpPr>
          <p:cNvPr id="16" name="Shape 14"/>
          <p:cNvSpPr/>
          <p:nvPr/>
        </p:nvSpPr>
        <p:spPr>
          <a:xfrm>
            <a:off x="4937760" y="3200400"/>
            <a:ext cx="305252" cy="201168"/>
          </a:xfrm>
          <a:prstGeom prst="rect">
            <a:avLst/>
          </a:prstGeom>
          <a:solidFill>
            <a:srgbClr val="12B886"/>
          </a:solidFill>
          <a:ln/>
        </p:spPr>
      </p:sp>
      <p:sp>
        <p:nvSpPr>
          <p:cNvPr id="17" name="Text 15"/>
          <p:cNvSpPr txBox="1"/>
          <p:nvPr/>
        </p:nvSpPr>
        <p:spPr>
          <a:xfrm>
            <a:off x="5297876" y="3145536"/>
            <a:ext cx="512064" cy="310896"/>
          </a:xfrm>
          <a:prstGeom prst="rect">
            <a:avLst/>
          </a:prstGeom>
          <a:noFill/>
          <a:ln/>
        </p:spPr>
        <p:txBody>
          <a:bodyPr wrap="square" lIns="0" tIns="0" rIns="0" bIns="0" rtlCol="0" anchor="ctr"/>
          <a:lstStyle/>
          <a:p>
            <a:pPr marL="0" indent="0" algn="l">
              <a:buNone/>
            </a:pPr>
            <a:r>
              <a:rPr lang="en-US" sz="1100" b="1" dirty="0">
                <a:solidFill>
                  <a:srgbClr val="12B886"/>
                </a:solidFill>
                <a:latin typeface="Calibri" pitchFamily="34" charset="0"/>
                <a:ea typeface="Calibri" pitchFamily="34" charset="-122"/>
                <a:cs typeface="Calibri" pitchFamily="34" charset="-120"/>
              </a:rPr>
              <a:t>1.17</a:t>
            </a:r>
            <a:endParaRPr lang="en-US" sz="1100" dirty="0"/>
          </a:p>
        </p:txBody>
      </p:sp>
      <p:sp>
        <p:nvSpPr>
          <p:cNvPr id="18" name="Text 16"/>
          <p:cNvSpPr txBox="1"/>
          <p:nvPr/>
        </p:nvSpPr>
        <p:spPr>
          <a:xfrm>
            <a:off x="685800" y="3529584"/>
            <a:ext cx="2103120" cy="310896"/>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estado civil: sin dato</a:t>
            </a:r>
            <a:endParaRPr lang="en-US" sz="1100" dirty="0"/>
          </a:p>
        </p:txBody>
      </p:sp>
      <p:sp>
        <p:nvSpPr>
          <p:cNvPr id="19" name="Shape 17"/>
          <p:cNvSpPr/>
          <p:nvPr/>
        </p:nvSpPr>
        <p:spPr>
          <a:xfrm>
            <a:off x="4937760" y="3584448"/>
            <a:ext cx="96674" cy="201168"/>
          </a:xfrm>
          <a:prstGeom prst="rect">
            <a:avLst/>
          </a:prstGeom>
          <a:solidFill>
            <a:srgbClr val="12B886"/>
          </a:solidFill>
          <a:ln/>
        </p:spPr>
      </p:sp>
      <p:sp>
        <p:nvSpPr>
          <p:cNvPr id="20" name="Text 18"/>
          <p:cNvSpPr txBox="1"/>
          <p:nvPr/>
        </p:nvSpPr>
        <p:spPr>
          <a:xfrm>
            <a:off x="5089298" y="3529584"/>
            <a:ext cx="512064" cy="310896"/>
          </a:xfrm>
          <a:prstGeom prst="rect">
            <a:avLst/>
          </a:prstGeom>
          <a:noFill/>
          <a:ln/>
        </p:spPr>
        <p:txBody>
          <a:bodyPr wrap="square" lIns="0" tIns="0" rIns="0" bIns="0" rtlCol="0" anchor="ctr"/>
          <a:lstStyle/>
          <a:p>
            <a:pPr marL="0" indent="0" algn="l">
              <a:buNone/>
            </a:pPr>
            <a:r>
              <a:rPr lang="en-US" sz="1100" b="1" dirty="0">
                <a:solidFill>
                  <a:srgbClr val="12B886"/>
                </a:solidFill>
                <a:latin typeface="Calibri" pitchFamily="34" charset="0"/>
                <a:ea typeface="Calibri" pitchFamily="34" charset="-122"/>
                <a:cs typeface="Calibri" pitchFamily="34" charset="-120"/>
              </a:rPr>
              <a:t>1.05</a:t>
            </a:r>
            <a:endParaRPr lang="en-US" sz="1100" dirty="0"/>
          </a:p>
        </p:txBody>
      </p:sp>
      <p:sp>
        <p:nvSpPr>
          <p:cNvPr id="21" name="Text 19"/>
          <p:cNvSpPr txBox="1"/>
          <p:nvPr/>
        </p:nvSpPr>
        <p:spPr>
          <a:xfrm>
            <a:off x="685800" y="3913632"/>
            <a:ext cx="2103120" cy="310896"/>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educación: sin estudios</a:t>
            </a:r>
            <a:endParaRPr lang="en-US" sz="1100" dirty="0"/>
          </a:p>
        </p:txBody>
      </p:sp>
      <p:sp>
        <p:nvSpPr>
          <p:cNvPr id="22" name="Shape 20"/>
          <p:cNvSpPr/>
          <p:nvPr/>
        </p:nvSpPr>
        <p:spPr>
          <a:xfrm>
            <a:off x="4937760" y="3968496"/>
            <a:ext cx="70696" cy="201168"/>
          </a:xfrm>
          <a:prstGeom prst="rect">
            <a:avLst/>
          </a:prstGeom>
          <a:solidFill>
            <a:srgbClr val="12B886"/>
          </a:solidFill>
          <a:ln/>
        </p:spPr>
      </p:sp>
      <p:sp>
        <p:nvSpPr>
          <p:cNvPr id="23" name="Text 21"/>
          <p:cNvSpPr txBox="1"/>
          <p:nvPr/>
        </p:nvSpPr>
        <p:spPr>
          <a:xfrm>
            <a:off x="5063320" y="3913632"/>
            <a:ext cx="512064" cy="310896"/>
          </a:xfrm>
          <a:prstGeom prst="rect">
            <a:avLst/>
          </a:prstGeom>
          <a:noFill/>
          <a:ln/>
        </p:spPr>
        <p:txBody>
          <a:bodyPr wrap="square" lIns="0" tIns="0" rIns="0" bIns="0" rtlCol="0" anchor="ctr"/>
          <a:lstStyle/>
          <a:p>
            <a:pPr marL="0" indent="0" algn="l">
              <a:buNone/>
            </a:pPr>
            <a:r>
              <a:rPr lang="en-US" sz="1100" b="1" dirty="0">
                <a:solidFill>
                  <a:srgbClr val="12B886"/>
                </a:solidFill>
                <a:latin typeface="Calibri" pitchFamily="34" charset="0"/>
                <a:ea typeface="Calibri" pitchFamily="34" charset="-122"/>
                <a:cs typeface="Calibri" pitchFamily="34" charset="-120"/>
              </a:rPr>
              <a:t>1.04</a:t>
            </a:r>
            <a:endParaRPr lang="en-US" sz="1100" dirty="0"/>
          </a:p>
        </p:txBody>
      </p:sp>
      <p:sp>
        <p:nvSpPr>
          <p:cNvPr id="24" name="Text 22"/>
          <p:cNvSpPr txBox="1"/>
          <p:nvPr/>
        </p:nvSpPr>
        <p:spPr>
          <a:xfrm>
            <a:off x="685800" y="4297680"/>
            <a:ext cx="2103120" cy="310896"/>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ocupación: empleada doméstica</a:t>
            </a:r>
            <a:endParaRPr lang="en-US" sz="1100" dirty="0"/>
          </a:p>
        </p:txBody>
      </p:sp>
      <p:sp>
        <p:nvSpPr>
          <p:cNvPr id="25" name="Shape 23"/>
          <p:cNvSpPr/>
          <p:nvPr/>
        </p:nvSpPr>
        <p:spPr>
          <a:xfrm>
            <a:off x="4184205" y="4352544"/>
            <a:ext cx="753555" cy="201168"/>
          </a:xfrm>
          <a:prstGeom prst="rect">
            <a:avLst/>
          </a:prstGeom>
          <a:solidFill>
            <a:srgbClr val="E6115E"/>
          </a:solidFill>
          <a:ln/>
        </p:spPr>
      </p:sp>
      <p:sp>
        <p:nvSpPr>
          <p:cNvPr id="26" name="Text 24"/>
          <p:cNvSpPr txBox="1"/>
          <p:nvPr/>
        </p:nvSpPr>
        <p:spPr>
          <a:xfrm>
            <a:off x="3617277" y="4297680"/>
            <a:ext cx="512064" cy="310896"/>
          </a:xfrm>
          <a:prstGeom prst="rect">
            <a:avLst/>
          </a:prstGeom>
          <a:noFill/>
          <a:ln/>
        </p:spPr>
        <p:txBody>
          <a:bodyPr wrap="square" lIns="0" tIns="0" rIns="0" bIns="0" rtlCol="0" anchor="ctr"/>
          <a:lstStyle/>
          <a:p>
            <a:pPr marL="0" indent="0" algn="r">
              <a:buNone/>
            </a:pPr>
            <a:r>
              <a:rPr lang="en-US" sz="1100" b="1" dirty="0">
                <a:solidFill>
                  <a:srgbClr val="E6115E"/>
                </a:solidFill>
                <a:latin typeface="Calibri" pitchFamily="34" charset="0"/>
                <a:ea typeface="Calibri" pitchFamily="34" charset="-122"/>
                <a:cs typeface="Calibri" pitchFamily="34" charset="-120"/>
              </a:rPr>
              <a:t>0.68</a:t>
            </a:r>
            <a:endParaRPr lang="en-US" sz="1100" dirty="0"/>
          </a:p>
        </p:txBody>
      </p:sp>
      <p:sp>
        <p:nvSpPr>
          <p:cNvPr id="27" name="Text 25"/>
          <p:cNvSpPr txBox="1"/>
          <p:nvPr/>
        </p:nvSpPr>
        <p:spPr>
          <a:xfrm>
            <a:off x="685800" y="4681728"/>
            <a:ext cx="2103120" cy="310896"/>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campaña anterior: fracasó</a:t>
            </a:r>
            <a:endParaRPr lang="en-US" sz="1100" dirty="0"/>
          </a:p>
        </p:txBody>
      </p:sp>
      <p:sp>
        <p:nvSpPr>
          <p:cNvPr id="28" name="Shape 26"/>
          <p:cNvSpPr/>
          <p:nvPr/>
        </p:nvSpPr>
        <p:spPr>
          <a:xfrm>
            <a:off x="4002139" y="4736592"/>
            <a:ext cx="935621" cy="201168"/>
          </a:xfrm>
          <a:prstGeom prst="rect">
            <a:avLst/>
          </a:prstGeom>
          <a:solidFill>
            <a:srgbClr val="E6115E"/>
          </a:solidFill>
          <a:ln/>
        </p:spPr>
      </p:sp>
      <p:sp>
        <p:nvSpPr>
          <p:cNvPr id="29" name="Text 27"/>
          <p:cNvSpPr txBox="1"/>
          <p:nvPr/>
        </p:nvSpPr>
        <p:spPr>
          <a:xfrm>
            <a:off x="3435211" y="4681728"/>
            <a:ext cx="512064" cy="310896"/>
          </a:xfrm>
          <a:prstGeom prst="rect">
            <a:avLst/>
          </a:prstGeom>
          <a:noFill/>
          <a:ln/>
        </p:spPr>
        <p:txBody>
          <a:bodyPr wrap="square" lIns="0" tIns="0" rIns="0" bIns="0" rtlCol="0" anchor="ctr"/>
          <a:lstStyle/>
          <a:p>
            <a:pPr marL="0" indent="0" algn="r">
              <a:buNone/>
            </a:pPr>
            <a:r>
              <a:rPr lang="en-US" sz="1100" b="1" dirty="0">
                <a:solidFill>
                  <a:srgbClr val="E6115E"/>
                </a:solidFill>
                <a:latin typeface="Calibri" pitchFamily="34" charset="0"/>
                <a:ea typeface="Calibri" pitchFamily="34" charset="-122"/>
                <a:cs typeface="Calibri" pitchFamily="34" charset="-120"/>
              </a:rPr>
              <a:t>0.62</a:t>
            </a:r>
            <a:endParaRPr lang="en-US" sz="1100" dirty="0"/>
          </a:p>
        </p:txBody>
      </p:sp>
      <p:sp>
        <p:nvSpPr>
          <p:cNvPr id="30" name="Text 28"/>
          <p:cNvSpPr txBox="1"/>
          <p:nvPr/>
        </p:nvSpPr>
        <p:spPr>
          <a:xfrm>
            <a:off x="685800" y="5065776"/>
            <a:ext cx="2103120" cy="310896"/>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mora previa: sin dato</a:t>
            </a:r>
            <a:endParaRPr lang="en-US" sz="1100" dirty="0"/>
          </a:p>
        </p:txBody>
      </p:sp>
      <p:sp>
        <p:nvSpPr>
          <p:cNvPr id="31" name="Shape 29"/>
          <p:cNvSpPr/>
          <p:nvPr/>
        </p:nvSpPr>
        <p:spPr>
          <a:xfrm>
            <a:off x="3814702" y="5120640"/>
            <a:ext cx="1123058" cy="201168"/>
          </a:xfrm>
          <a:prstGeom prst="rect">
            <a:avLst/>
          </a:prstGeom>
          <a:solidFill>
            <a:srgbClr val="E6115E"/>
          </a:solidFill>
          <a:ln/>
        </p:spPr>
      </p:sp>
      <p:sp>
        <p:nvSpPr>
          <p:cNvPr id="32" name="Text 30"/>
          <p:cNvSpPr txBox="1"/>
          <p:nvPr/>
        </p:nvSpPr>
        <p:spPr>
          <a:xfrm>
            <a:off x="3247774" y="5065776"/>
            <a:ext cx="512064" cy="310896"/>
          </a:xfrm>
          <a:prstGeom prst="rect">
            <a:avLst/>
          </a:prstGeom>
          <a:noFill/>
          <a:ln/>
        </p:spPr>
        <p:txBody>
          <a:bodyPr wrap="square" lIns="0" tIns="0" rIns="0" bIns="0" rtlCol="0" anchor="ctr"/>
          <a:lstStyle/>
          <a:p>
            <a:pPr marL="0" indent="0" algn="r">
              <a:buNone/>
            </a:pPr>
            <a:r>
              <a:rPr lang="en-US" sz="1100" b="1" dirty="0">
                <a:solidFill>
                  <a:srgbClr val="E6115E"/>
                </a:solidFill>
                <a:latin typeface="Calibri" pitchFamily="34" charset="0"/>
                <a:ea typeface="Calibri" pitchFamily="34" charset="-122"/>
                <a:cs typeface="Calibri" pitchFamily="34" charset="-120"/>
              </a:rPr>
              <a:t>0.57</a:t>
            </a:r>
            <a:endParaRPr lang="en-US" sz="1100" dirty="0"/>
          </a:p>
        </p:txBody>
      </p:sp>
      <p:sp>
        <p:nvSpPr>
          <p:cNvPr id="33" name="Text 31"/>
          <p:cNvSpPr txBox="1"/>
          <p:nvPr/>
        </p:nvSpPr>
        <p:spPr>
          <a:xfrm>
            <a:off x="685800" y="5449824"/>
            <a:ext cx="2103120" cy="310896"/>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canal: teléfono fijo</a:t>
            </a:r>
            <a:endParaRPr lang="en-US" sz="1100" dirty="0"/>
          </a:p>
        </p:txBody>
      </p:sp>
      <p:sp>
        <p:nvSpPr>
          <p:cNvPr id="34" name="Shape 32"/>
          <p:cNvSpPr/>
          <p:nvPr/>
        </p:nvSpPr>
        <p:spPr>
          <a:xfrm>
            <a:off x="3484855" y="5504688"/>
            <a:ext cx="1452905" cy="201168"/>
          </a:xfrm>
          <a:prstGeom prst="rect">
            <a:avLst/>
          </a:prstGeom>
          <a:solidFill>
            <a:srgbClr val="E6115E"/>
          </a:solidFill>
          <a:ln/>
        </p:spPr>
      </p:sp>
      <p:sp>
        <p:nvSpPr>
          <p:cNvPr id="35" name="Text 33"/>
          <p:cNvSpPr txBox="1"/>
          <p:nvPr/>
        </p:nvSpPr>
        <p:spPr>
          <a:xfrm>
            <a:off x="2917927" y="5449824"/>
            <a:ext cx="512064" cy="310896"/>
          </a:xfrm>
          <a:prstGeom prst="rect">
            <a:avLst/>
          </a:prstGeom>
          <a:noFill/>
          <a:ln/>
        </p:spPr>
        <p:txBody>
          <a:bodyPr wrap="square" lIns="0" tIns="0" rIns="0" bIns="0" rtlCol="0" anchor="ctr"/>
          <a:lstStyle/>
          <a:p>
            <a:pPr marL="0" indent="0" algn="r">
              <a:buNone/>
            </a:pPr>
            <a:r>
              <a:rPr lang="en-US" sz="1100" b="1" dirty="0">
                <a:solidFill>
                  <a:srgbClr val="E6115E"/>
                </a:solidFill>
                <a:latin typeface="Calibri" pitchFamily="34" charset="0"/>
                <a:ea typeface="Calibri" pitchFamily="34" charset="-122"/>
                <a:cs typeface="Calibri" pitchFamily="34" charset="-120"/>
              </a:rPr>
              <a:t>0.48</a:t>
            </a:r>
            <a:endParaRPr lang="en-US" sz="1100" dirty="0"/>
          </a:p>
        </p:txBody>
      </p:sp>
      <p:sp>
        <p:nvSpPr>
          <p:cNvPr id="36" name="Shape 34"/>
          <p:cNvSpPr/>
          <p:nvPr/>
        </p:nvSpPr>
        <p:spPr>
          <a:xfrm>
            <a:off x="7909560" y="2103120"/>
            <a:ext cx="3776472" cy="2011680"/>
          </a:xfrm>
          <a:prstGeom prst="roundRect">
            <a:avLst>
              <a:gd name="adj" fmla="val 2727"/>
            </a:avLst>
          </a:prstGeom>
          <a:solidFill>
            <a:srgbClr val="0A2559"/>
          </a:solidFill>
          <a:ln w="9525">
            <a:solidFill>
              <a:srgbClr val="0A2559"/>
            </a:solidFill>
            <a:prstDash val="solid"/>
          </a:ln>
        </p:spPr>
      </p:sp>
      <p:sp>
        <p:nvSpPr>
          <p:cNvPr id="37" name="Shape 35"/>
          <p:cNvSpPr/>
          <p:nvPr/>
        </p:nvSpPr>
        <p:spPr>
          <a:xfrm>
            <a:off x="8138160" y="2350008"/>
            <a:ext cx="128016" cy="128016"/>
          </a:xfrm>
          <a:prstGeom prst="roundRect">
            <a:avLst>
              <a:gd name="adj" fmla="val 21429"/>
            </a:avLst>
          </a:prstGeom>
          <a:solidFill>
            <a:srgbClr val="E6115E"/>
          </a:solidFill>
          <a:ln w="12700">
            <a:solidFill>
              <a:srgbClr val="E6115E"/>
            </a:solidFill>
            <a:prstDash val="solid"/>
          </a:ln>
        </p:spPr>
      </p:sp>
      <p:sp>
        <p:nvSpPr>
          <p:cNvPr id="38" name="Text 36"/>
          <p:cNvSpPr txBox="1"/>
          <p:nvPr/>
        </p:nvSpPr>
        <p:spPr>
          <a:xfrm>
            <a:off x="8366760" y="2240280"/>
            <a:ext cx="313639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En una frase</a:t>
            </a:r>
            <a:endParaRPr lang="en-US" sz="1400" dirty="0"/>
          </a:p>
        </p:txBody>
      </p:sp>
      <p:sp>
        <p:nvSpPr>
          <p:cNvPr id="39" name="Text 37"/>
          <p:cNvSpPr txBox="1"/>
          <p:nvPr/>
        </p:nvSpPr>
        <p:spPr>
          <a:xfrm>
            <a:off x="8138160" y="2606040"/>
            <a:ext cx="3337560" cy="141732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Llamar al fijo y no al celular deja las chances en menos de la mitad. Un estudiante tiene el doble de chances que la ocupación típica.</a:t>
            </a:r>
            <a:endParaRPr lang="en-US" sz="1250" dirty="0"/>
          </a:p>
        </p:txBody>
      </p:sp>
      <p:sp>
        <p:nvSpPr>
          <p:cNvPr id="40" name="Shape 38"/>
          <p:cNvSpPr/>
          <p:nvPr/>
        </p:nvSpPr>
        <p:spPr>
          <a:xfrm>
            <a:off x="7909560" y="4297680"/>
            <a:ext cx="3776472" cy="1920240"/>
          </a:xfrm>
          <a:prstGeom prst="roundRect">
            <a:avLst>
              <a:gd name="adj" fmla="val 2857"/>
            </a:avLst>
          </a:prstGeom>
          <a:solidFill>
            <a:srgbClr val="FFFFFF"/>
          </a:solidFill>
          <a:ln w="9525">
            <a:solidFill>
              <a:srgbClr val="D2DBEC"/>
            </a:solidFill>
            <a:prstDash val="solid"/>
          </a:ln>
        </p:spPr>
      </p:sp>
      <p:sp>
        <p:nvSpPr>
          <p:cNvPr id="41" name="Shape 39"/>
          <p:cNvSpPr/>
          <p:nvPr/>
        </p:nvSpPr>
        <p:spPr>
          <a:xfrm>
            <a:off x="8138160" y="4544568"/>
            <a:ext cx="128016" cy="128016"/>
          </a:xfrm>
          <a:prstGeom prst="roundRect">
            <a:avLst>
              <a:gd name="adj" fmla="val 21429"/>
            </a:avLst>
          </a:prstGeom>
          <a:solidFill>
            <a:srgbClr val="1A56E8"/>
          </a:solidFill>
          <a:ln w="12700">
            <a:solidFill>
              <a:srgbClr val="1A56E8"/>
            </a:solidFill>
            <a:prstDash val="solid"/>
          </a:ln>
        </p:spPr>
      </p:sp>
      <p:sp>
        <p:nvSpPr>
          <p:cNvPr id="42" name="Text 40"/>
          <p:cNvSpPr txBox="1"/>
          <p:nvPr/>
        </p:nvSpPr>
        <p:spPr>
          <a:xfrm>
            <a:off x="8366760" y="4434840"/>
            <a:ext cx="313639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Dos cuidados</a:t>
            </a:r>
            <a:endParaRPr lang="en-US" sz="1400" dirty="0"/>
          </a:p>
        </p:txBody>
      </p:sp>
      <p:sp>
        <p:nvSpPr>
          <p:cNvPr id="43" name="Text 41"/>
          <p:cNvSpPr txBox="1"/>
          <p:nvPr/>
        </p:nvSpPr>
        <p:spPr>
          <a:xfrm>
            <a:off x="8138160" y="4800600"/>
            <a:ext cx="3337560" cy="132588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Las numéricas están escaladas: su efecto es por una desviación estándar. Y un odds ratio es una asociación, no una causa.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5 · EVALUAR</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La matriz de confusión, y por qué el 0.5 no sirve aquí</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OOT 2010. Con un umbral, cada probabilidad se convierte en «llamar» o «no llamar».</a:t>
            </a:r>
            <a:endParaRPr lang="en-US" sz="1400" dirty="0"/>
          </a:p>
        </p:txBody>
      </p:sp>
      <p:sp>
        <p:nvSpPr>
          <p:cNvPr id="6" name="Text 4"/>
          <p:cNvSpPr txBox="1"/>
          <p:nvPr/>
        </p:nvSpPr>
        <p:spPr>
          <a:xfrm>
            <a:off x="1600200" y="2057400"/>
            <a:ext cx="1737360" cy="274320"/>
          </a:xfrm>
          <a:prstGeom prst="rect">
            <a:avLst/>
          </a:prstGeom>
          <a:noFill/>
          <a:ln/>
        </p:spPr>
        <p:txBody>
          <a:bodyPr wrap="square" lIns="0" tIns="0" rIns="0" bIns="0" rtlCol="0" anchor="ctr"/>
          <a:lstStyle/>
          <a:p>
            <a:pPr marL="0" indent="0" algn="ctr">
              <a:buNone/>
            </a:pPr>
            <a:r>
              <a:rPr lang="en-US" sz="1100" b="1" dirty="0">
                <a:solidFill>
                  <a:srgbClr val="5B6B87"/>
                </a:solidFill>
                <a:latin typeface="Calibri" pitchFamily="34" charset="0"/>
                <a:ea typeface="Calibri" pitchFamily="34" charset="-122"/>
                <a:cs typeface="Calibri" pitchFamily="34" charset="-120"/>
              </a:rPr>
              <a:t>predice 0</a:t>
            </a:r>
            <a:endParaRPr lang="en-US" sz="1100" dirty="0"/>
          </a:p>
        </p:txBody>
      </p:sp>
      <p:sp>
        <p:nvSpPr>
          <p:cNvPr id="7" name="Text 5"/>
          <p:cNvSpPr txBox="1"/>
          <p:nvPr/>
        </p:nvSpPr>
        <p:spPr>
          <a:xfrm>
            <a:off x="3429000" y="2057400"/>
            <a:ext cx="1737360" cy="274320"/>
          </a:xfrm>
          <a:prstGeom prst="rect">
            <a:avLst/>
          </a:prstGeom>
          <a:noFill/>
          <a:ln/>
        </p:spPr>
        <p:txBody>
          <a:bodyPr wrap="square" lIns="0" tIns="0" rIns="0" bIns="0" rtlCol="0" anchor="ctr"/>
          <a:lstStyle/>
          <a:p>
            <a:pPr marL="0" indent="0" algn="ctr">
              <a:buNone/>
            </a:pPr>
            <a:r>
              <a:rPr lang="en-US" sz="1100" b="1" dirty="0">
                <a:solidFill>
                  <a:srgbClr val="5B6B87"/>
                </a:solidFill>
                <a:latin typeface="Calibri" pitchFamily="34" charset="0"/>
                <a:ea typeface="Calibri" pitchFamily="34" charset="-122"/>
                <a:cs typeface="Calibri" pitchFamily="34" charset="-120"/>
              </a:rPr>
              <a:t>predice 1</a:t>
            </a:r>
            <a:endParaRPr lang="en-US" sz="1100" dirty="0"/>
          </a:p>
        </p:txBody>
      </p:sp>
      <p:sp>
        <p:nvSpPr>
          <p:cNvPr id="8" name="Text 6"/>
          <p:cNvSpPr txBox="1"/>
          <p:nvPr/>
        </p:nvSpPr>
        <p:spPr>
          <a:xfrm>
            <a:off x="502920" y="2377440"/>
            <a:ext cx="1005840" cy="1051560"/>
          </a:xfrm>
          <a:prstGeom prst="rect">
            <a:avLst/>
          </a:prstGeom>
          <a:noFill/>
          <a:ln/>
        </p:spPr>
        <p:txBody>
          <a:bodyPr wrap="square" lIns="0" tIns="0" rIns="0" bIns="0" rtlCol="0" anchor="ctr"/>
          <a:lstStyle/>
          <a:p>
            <a:pPr marL="0" indent="0">
              <a:buNone/>
            </a:pPr>
            <a:r>
              <a:rPr lang="en-US" sz="1100" b="1" dirty="0">
                <a:solidFill>
                  <a:srgbClr val="5B6B87"/>
                </a:solidFill>
                <a:latin typeface="Calibri" pitchFamily="34" charset="0"/>
                <a:ea typeface="Calibri" pitchFamily="34" charset="-122"/>
                <a:cs typeface="Calibri" pitchFamily="34" charset="-120"/>
              </a:rPr>
              <a:t>real 0</a:t>
            </a:r>
            <a:endParaRPr lang="en-US" sz="1100" dirty="0"/>
          </a:p>
        </p:txBody>
      </p:sp>
      <p:sp>
        <p:nvSpPr>
          <p:cNvPr id="9" name="Text 7"/>
          <p:cNvSpPr txBox="1"/>
          <p:nvPr/>
        </p:nvSpPr>
        <p:spPr>
          <a:xfrm>
            <a:off x="502920" y="3520440"/>
            <a:ext cx="1005840" cy="1051560"/>
          </a:xfrm>
          <a:prstGeom prst="rect">
            <a:avLst/>
          </a:prstGeom>
          <a:noFill/>
          <a:ln/>
        </p:spPr>
        <p:txBody>
          <a:bodyPr wrap="square" lIns="0" tIns="0" rIns="0" bIns="0" rtlCol="0" anchor="ctr"/>
          <a:lstStyle/>
          <a:p>
            <a:pPr marL="0" indent="0">
              <a:buNone/>
            </a:pPr>
            <a:r>
              <a:rPr lang="en-US" sz="1100" b="1" dirty="0">
                <a:solidFill>
                  <a:srgbClr val="5B6B87"/>
                </a:solidFill>
                <a:latin typeface="Calibri" pitchFamily="34" charset="0"/>
                <a:ea typeface="Calibri" pitchFamily="34" charset="-122"/>
                <a:cs typeface="Calibri" pitchFamily="34" charset="-120"/>
              </a:rPr>
              <a:t>real 1</a:t>
            </a:r>
            <a:endParaRPr lang="en-US" sz="1100" dirty="0"/>
          </a:p>
        </p:txBody>
      </p:sp>
      <p:sp>
        <p:nvSpPr>
          <p:cNvPr id="10" name="Shape 8"/>
          <p:cNvSpPr/>
          <p:nvPr/>
        </p:nvSpPr>
        <p:spPr>
          <a:xfrm>
            <a:off x="1600200" y="2377440"/>
            <a:ext cx="1737360" cy="1051560"/>
          </a:xfrm>
          <a:prstGeom prst="roundRect">
            <a:avLst>
              <a:gd name="adj" fmla="val 4348"/>
            </a:avLst>
          </a:prstGeom>
          <a:solidFill>
            <a:srgbClr val="FFFFFF"/>
          </a:solidFill>
          <a:ln w="9525">
            <a:solidFill>
              <a:srgbClr val="D2DBEC"/>
            </a:solidFill>
            <a:prstDash val="solid"/>
          </a:ln>
        </p:spPr>
      </p:sp>
      <p:sp>
        <p:nvSpPr>
          <p:cNvPr id="11" name="Text 9"/>
          <p:cNvSpPr txBox="1"/>
          <p:nvPr/>
        </p:nvSpPr>
        <p:spPr>
          <a:xfrm>
            <a:off x="1600200" y="2450592"/>
            <a:ext cx="1737360" cy="274320"/>
          </a:xfrm>
          <a:prstGeom prst="rect">
            <a:avLst/>
          </a:prstGeom>
          <a:noFill/>
          <a:ln/>
        </p:spPr>
        <p:txBody>
          <a:bodyPr wrap="square" lIns="0" tIns="0" rIns="0" bIns="0" rtlCol="0" anchor="ctr"/>
          <a:lstStyle/>
          <a:p>
            <a:pPr marL="0" indent="0" algn="ctr">
              <a:buNone/>
            </a:pPr>
            <a:r>
              <a:rPr lang="en-US" sz="1050" b="1" dirty="0">
                <a:solidFill>
                  <a:srgbClr val="0A2559"/>
                </a:solidFill>
                <a:latin typeface="Calibri" pitchFamily="34" charset="0"/>
                <a:ea typeface="Calibri" pitchFamily="34" charset="-122"/>
                <a:cs typeface="Calibri" pitchFamily="34" charset="-120"/>
              </a:rPr>
              <a:t>VN</a:t>
            </a:r>
            <a:endParaRPr lang="en-US" sz="1050" dirty="0"/>
          </a:p>
        </p:txBody>
      </p:sp>
      <p:sp>
        <p:nvSpPr>
          <p:cNvPr id="12" name="Text 10"/>
          <p:cNvSpPr txBox="1"/>
          <p:nvPr/>
        </p:nvSpPr>
        <p:spPr>
          <a:xfrm>
            <a:off x="1600200" y="2697480"/>
            <a:ext cx="1737360" cy="457200"/>
          </a:xfrm>
          <a:prstGeom prst="rect">
            <a:avLst/>
          </a:prstGeom>
          <a:noFill/>
          <a:ln/>
        </p:spPr>
        <p:txBody>
          <a:bodyPr wrap="square" lIns="0" tIns="0" rIns="0" bIns="0" rtlCol="0" anchor="ctr"/>
          <a:lstStyle/>
          <a:p>
            <a:pPr marL="0" indent="0" algn="ctr">
              <a:buNone/>
            </a:pPr>
            <a:r>
              <a:rPr lang="en-US" sz="2400" b="1" dirty="0">
                <a:solidFill>
                  <a:srgbClr val="0A2559"/>
                </a:solidFill>
                <a:latin typeface="Calibri" pitchFamily="34" charset="0"/>
                <a:ea typeface="Calibri" pitchFamily="34" charset="-122"/>
                <a:cs typeface="Calibri" pitchFamily="34" charset="-120"/>
              </a:rPr>
              <a:t>948</a:t>
            </a:r>
            <a:endParaRPr lang="en-US" sz="2400" dirty="0"/>
          </a:p>
        </p:txBody>
      </p:sp>
      <p:sp>
        <p:nvSpPr>
          <p:cNvPr id="13" name="Text 11"/>
          <p:cNvSpPr txBox="1"/>
          <p:nvPr/>
        </p:nvSpPr>
        <p:spPr>
          <a:xfrm>
            <a:off x="1600200" y="3127248"/>
            <a:ext cx="1737360" cy="256032"/>
          </a:xfrm>
          <a:prstGeom prst="rect">
            <a:avLst/>
          </a:prstGeom>
          <a:noFill/>
          <a:ln/>
        </p:spPr>
        <p:txBody>
          <a:bodyPr wrap="square" lIns="0" tIns="0" rIns="0" bIns="0" rtlCol="0" anchor="ctr"/>
          <a:lstStyle/>
          <a:p>
            <a:pPr marL="0" indent="0" algn="ctr">
              <a:buNone/>
            </a:pPr>
            <a:r>
              <a:rPr lang="en-US" sz="950" i="1" dirty="0">
                <a:solidFill>
                  <a:srgbClr val="0A2559"/>
                </a:solidFill>
                <a:latin typeface="Calibri" pitchFamily="34" charset="0"/>
                <a:ea typeface="Calibri" pitchFamily="34" charset="-122"/>
                <a:cs typeface="Calibri" pitchFamily="34" charset="-120"/>
              </a:rPr>
              <a:t>no llamé, no compraba</a:t>
            </a:r>
            <a:endParaRPr lang="en-US" sz="950" dirty="0"/>
          </a:p>
        </p:txBody>
      </p:sp>
      <p:sp>
        <p:nvSpPr>
          <p:cNvPr id="14" name="Shape 12"/>
          <p:cNvSpPr/>
          <p:nvPr/>
        </p:nvSpPr>
        <p:spPr>
          <a:xfrm>
            <a:off x="3429000" y="2377440"/>
            <a:ext cx="1737360" cy="1051560"/>
          </a:xfrm>
          <a:prstGeom prst="roundRect">
            <a:avLst>
              <a:gd name="adj" fmla="val 4348"/>
            </a:avLst>
          </a:prstGeom>
          <a:solidFill>
            <a:srgbClr val="E9EEF8"/>
          </a:solidFill>
          <a:ln w="9525">
            <a:solidFill>
              <a:srgbClr val="D2DBEC"/>
            </a:solidFill>
            <a:prstDash val="solid"/>
          </a:ln>
        </p:spPr>
      </p:sp>
      <p:sp>
        <p:nvSpPr>
          <p:cNvPr id="15" name="Text 13"/>
          <p:cNvSpPr txBox="1"/>
          <p:nvPr/>
        </p:nvSpPr>
        <p:spPr>
          <a:xfrm>
            <a:off x="3429000" y="2450592"/>
            <a:ext cx="1737360" cy="274320"/>
          </a:xfrm>
          <a:prstGeom prst="rect">
            <a:avLst/>
          </a:prstGeom>
          <a:noFill/>
          <a:ln/>
        </p:spPr>
        <p:txBody>
          <a:bodyPr wrap="square" lIns="0" tIns="0" rIns="0" bIns="0" rtlCol="0" anchor="ctr"/>
          <a:lstStyle/>
          <a:p>
            <a:pPr marL="0" indent="0" algn="ctr">
              <a:buNone/>
            </a:pPr>
            <a:r>
              <a:rPr lang="en-US" sz="1050" b="1" dirty="0">
                <a:solidFill>
                  <a:srgbClr val="1A56E8"/>
                </a:solidFill>
                <a:latin typeface="Calibri" pitchFamily="34" charset="0"/>
                <a:ea typeface="Calibri" pitchFamily="34" charset="-122"/>
                <a:cs typeface="Calibri" pitchFamily="34" charset="-120"/>
              </a:rPr>
              <a:t>FP</a:t>
            </a:r>
            <a:endParaRPr lang="en-US" sz="1050" dirty="0"/>
          </a:p>
        </p:txBody>
      </p:sp>
      <p:sp>
        <p:nvSpPr>
          <p:cNvPr id="16" name="Text 14"/>
          <p:cNvSpPr txBox="1"/>
          <p:nvPr/>
        </p:nvSpPr>
        <p:spPr>
          <a:xfrm>
            <a:off x="3429000" y="2697480"/>
            <a:ext cx="1737360" cy="457200"/>
          </a:xfrm>
          <a:prstGeom prst="rect">
            <a:avLst/>
          </a:prstGeom>
          <a:noFill/>
          <a:ln/>
        </p:spPr>
        <p:txBody>
          <a:bodyPr wrap="square" lIns="0" tIns="0" rIns="0" bIns="0" rtlCol="0" anchor="ctr"/>
          <a:lstStyle/>
          <a:p>
            <a:pPr marL="0" indent="0" algn="ctr">
              <a:buNone/>
            </a:pPr>
            <a:r>
              <a:rPr lang="en-US" sz="2400" b="1" dirty="0">
                <a:solidFill>
                  <a:srgbClr val="1A56E8"/>
                </a:solidFill>
                <a:latin typeface="Calibri" pitchFamily="34" charset="0"/>
                <a:ea typeface="Calibri" pitchFamily="34" charset="-122"/>
                <a:cs typeface="Calibri" pitchFamily="34" charset="-120"/>
              </a:rPr>
              <a:t>37</a:t>
            </a:r>
            <a:endParaRPr lang="en-US" sz="2400" dirty="0"/>
          </a:p>
        </p:txBody>
      </p:sp>
      <p:sp>
        <p:nvSpPr>
          <p:cNvPr id="17" name="Text 15"/>
          <p:cNvSpPr txBox="1"/>
          <p:nvPr/>
        </p:nvSpPr>
        <p:spPr>
          <a:xfrm>
            <a:off x="3429000" y="3127248"/>
            <a:ext cx="1737360" cy="256032"/>
          </a:xfrm>
          <a:prstGeom prst="rect">
            <a:avLst/>
          </a:prstGeom>
          <a:noFill/>
          <a:ln/>
        </p:spPr>
        <p:txBody>
          <a:bodyPr wrap="square" lIns="0" tIns="0" rIns="0" bIns="0" rtlCol="0" anchor="ctr"/>
          <a:lstStyle/>
          <a:p>
            <a:pPr marL="0" indent="0" algn="ctr">
              <a:buNone/>
            </a:pPr>
            <a:r>
              <a:rPr lang="en-US" sz="950" i="1" dirty="0">
                <a:solidFill>
                  <a:srgbClr val="1A56E8"/>
                </a:solidFill>
                <a:latin typeface="Calibri" pitchFamily="34" charset="0"/>
                <a:ea typeface="Calibri" pitchFamily="34" charset="-122"/>
                <a:cs typeface="Calibri" pitchFamily="34" charset="-120"/>
              </a:rPr>
              <a:t>llamada perdida</a:t>
            </a:r>
            <a:endParaRPr lang="en-US" sz="950" dirty="0"/>
          </a:p>
        </p:txBody>
      </p:sp>
      <p:sp>
        <p:nvSpPr>
          <p:cNvPr id="18" name="Shape 16"/>
          <p:cNvSpPr/>
          <p:nvPr/>
        </p:nvSpPr>
        <p:spPr>
          <a:xfrm>
            <a:off x="1600200" y="3520440"/>
            <a:ext cx="1737360" cy="1051560"/>
          </a:xfrm>
          <a:prstGeom prst="roundRect">
            <a:avLst>
              <a:gd name="adj" fmla="val 4348"/>
            </a:avLst>
          </a:prstGeom>
          <a:solidFill>
            <a:srgbClr val="FDE7EF"/>
          </a:solidFill>
          <a:ln w="9525">
            <a:solidFill>
              <a:srgbClr val="D2DBEC"/>
            </a:solidFill>
            <a:prstDash val="solid"/>
          </a:ln>
        </p:spPr>
      </p:sp>
      <p:sp>
        <p:nvSpPr>
          <p:cNvPr id="19" name="Text 17"/>
          <p:cNvSpPr txBox="1"/>
          <p:nvPr/>
        </p:nvSpPr>
        <p:spPr>
          <a:xfrm>
            <a:off x="1600200" y="3593592"/>
            <a:ext cx="1737360" cy="274320"/>
          </a:xfrm>
          <a:prstGeom prst="rect">
            <a:avLst/>
          </a:prstGeom>
          <a:noFill/>
          <a:ln/>
        </p:spPr>
        <p:txBody>
          <a:bodyPr wrap="square" lIns="0" tIns="0" rIns="0" bIns="0" rtlCol="0" anchor="ctr"/>
          <a:lstStyle/>
          <a:p>
            <a:pPr marL="0" indent="0" algn="ctr">
              <a:buNone/>
            </a:pPr>
            <a:r>
              <a:rPr lang="en-US" sz="1050" b="1" dirty="0">
                <a:solidFill>
                  <a:srgbClr val="E6115E"/>
                </a:solidFill>
                <a:latin typeface="Calibri" pitchFamily="34" charset="0"/>
                <a:ea typeface="Calibri" pitchFamily="34" charset="-122"/>
                <a:cs typeface="Calibri" pitchFamily="34" charset="-120"/>
              </a:rPr>
              <a:t>FN</a:t>
            </a:r>
            <a:endParaRPr lang="en-US" sz="1050" dirty="0"/>
          </a:p>
        </p:txBody>
      </p:sp>
      <p:sp>
        <p:nvSpPr>
          <p:cNvPr id="20" name="Text 18"/>
          <p:cNvSpPr txBox="1"/>
          <p:nvPr/>
        </p:nvSpPr>
        <p:spPr>
          <a:xfrm>
            <a:off x="1600200" y="3840480"/>
            <a:ext cx="1737360" cy="457200"/>
          </a:xfrm>
          <a:prstGeom prst="rect">
            <a:avLst/>
          </a:prstGeom>
          <a:noFill/>
          <a:ln/>
        </p:spPr>
        <p:txBody>
          <a:bodyPr wrap="square" lIns="0" tIns="0" rIns="0" bIns="0" rtlCol="0" anchor="ctr"/>
          <a:lstStyle/>
          <a:p>
            <a:pPr marL="0" indent="0" algn="ctr">
              <a:buNone/>
            </a:pPr>
            <a:r>
              <a:rPr lang="en-US" sz="2400" b="1" dirty="0">
                <a:solidFill>
                  <a:srgbClr val="E6115E"/>
                </a:solidFill>
                <a:latin typeface="Calibri" pitchFamily="34" charset="0"/>
                <a:ea typeface="Calibri" pitchFamily="34" charset="-122"/>
                <a:cs typeface="Calibri" pitchFamily="34" charset="-120"/>
              </a:rPr>
              <a:t>949</a:t>
            </a:r>
            <a:endParaRPr lang="en-US" sz="2400" dirty="0"/>
          </a:p>
        </p:txBody>
      </p:sp>
      <p:sp>
        <p:nvSpPr>
          <p:cNvPr id="21" name="Text 19"/>
          <p:cNvSpPr txBox="1"/>
          <p:nvPr/>
        </p:nvSpPr>
        <p:spPr>
          <a:xfrm>
            <a:off x="1600200" y="4270248"/>
            <a:ext cx="1737360" cy="256032"/>
          </a:xfrm>
          <a:prstGeom prst="rect">
            <a:avLst/>
          </a:prstGeom>
          <a:noFill/>
          <a:ln/>
        </p:spPr>
        <p:txBody>
          <a:bodyPr wrap="square" lIns="0" tIns="0" rIns="0" bIns="0" rtlCol="0" anchor="ctr"/>
          <a:lstStyle/>
          <a:p>
            <a:pPr marL="0" indent="0" algn="ctr">
              <a:buNone/>
            </a:pPr>
            <a:r>
              <a:rPr lang="en-US" sz="950" i="1" dirty="0">
                <a:solidFill>
                  <a:srgbClr val="E6115E"/>
                </a:solidFill>
                <a:latin typeface="Calibri" pitchFamily="34" charset="0"/>
                <a:ea typeface="Calibri" pitchFamily="34" charset="-122"/>
                <a:cs typeface="Calibri" pitchFamily="34" charset="-120"/>
              </a:rPr>
              <a:t>venta perdida</a:t>
            </a:r>
            <a:endParaRPr lang="en-US" sz="950" dirty="0"/>
          </a:p>
        </p:txBody>
      </p:sp>
      <p:sp>
        <p:nvSpPr>
          <p:cNvPr id="22" name="Shape 20"/>
          <p:cNvSpPr/>
          <p:nvPr/>
        </p:nvSpPr>
        <p:spPr>
          <a:xfrm>
            <a:off x="3429000" y="3520440"/>
            <a:ext cx="1737360" cy="1051560"/>
          </a:xfrm>
          <a:prstGeom prst="roundRect">
            <a:avLst>
              <a:gd name="adj" fmla="val 4348"/>
            </a:avLst>
          </a:prstGeom>
          <a:solidFill>
            <a:srgbClr val="0A2559"/>
          </a:solidFill>
          <a:ln w="9525">
            <a:solidFill>
              <a:srgbClr val="D2DBEC"/>
            </a:solidFill>
            <a:prstDash val="solid"/>
          </a:ln>
        </p:spPr>
      </p:sp>
      <p:sp>
        <p:nvSpPr>
          <p:cNvPr id="23" name="Text 21"/>
          <p:cNvSpPr txBox="1"/>
          <p:nvPr/>
        </p:nvSpPr>
        <p:spPr>
          <a:xfrm>
            <a:off x="3429000" y="3593592"/>
            <a:ext cx="17373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VP</a:t>
            </a:r>
            <a:endParaRPr lang="en-US" sz="1050" dirty="0"/>
          </a:p>
        </p:txBody>
      </p:sp>
      <p:sp>
        <p:nvSpPr>
          <p:cNvPr id="24" name="Text 22"/>
          <p:cNvSpPr txBox="1"/>
          <p:nvPr/>
        </p:nvSpPr>
        <p:spPr>
          <a:xfrm>
            <a:off x="3429000" y="3840480"/>
            <a:ext cx="173736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124</a:t>
            </a:r>
            <a:endParaRPr lang="en-US" sz="2400" dirty="0"/>
          </a:p>
        </p:txBody>
      </p:sp>
      <p:sp>
        <p:nvSpPr>
          <p:cNvPr id="25" name="Text 23"/>
          <p:cNvSpPr txBox="1"/>
          <p:nvPr/>
        </p:nvSpPr>
        <p:spPr>
          <a:xfrm>
            <a:off x="3429000" y="4270248"/>
            <a:ext cx="1737360" cy="256032"/>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llamé y compró</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0" y="2103120"/>
          <a:ext cx="6199632" cy="2286000"/>
        </p:xfrm>
        <a:graphic>
          <a:graphicData uri="http://schemas.openxmlformats.org/drawingml/2006/table">
            <a:tbl>
              <a:tblPr/>
              <a:tblGrid>
                <a:gridCol w="13716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44752">
                  <a:extLst>
                    <a:ext uri="{9D8B030D-6E8A-4147-A177-3AD203B41FA5}">
                      <a16:colId xmlns:a16="http://schemas.microsoft.com/office/drawing/2014/main" val="20003"/>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Métrica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Fórmula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Umbral 0.5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Top 30 %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Precision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VP / (VP + FP)</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77.0 %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76.4 %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Recall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VP / (VP + FN)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11.6 %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44.0 %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F1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2·P·R / (P + 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0.56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Exactitud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(VP + VN) / total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52.1 %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7" name="Shape 24"/>
          <p:cNvSpPr/>
          <p:nvPr/>
        </p:nvSpPr>
        <p:spPr>
          <a:xfrm>
            <a:off x="5486400" y="4572000"/>
            <a:ext cx="6199632" cy="1645920"/>
          </a:xfrm>
          <a:prstGeom prst="roundRect">
            <a:avLst>
              <a:gd name="adj" fmla="val 3333"/>
            </a:avLst>
          </a:prstGeom>
          <a:solidFill>
            <a:srgbClr val="0A2559"/>
          </a:solidFill>
          <a:ln w="9525">
            <a:solidFill>
              <a:srgbClr val="0A2559"/>
            </a:solidFill>
            <a:prstDash val="solid"/>
          </a:ln>
        </p:spPr>
      </p:sp>
      <p:sp>
        <p:nvSpPr>
          <p:cNvPr id="28" name="Text 25"/>
          <p:cNvSpPr txBox="1"/>
          <p:nvPr/>
        </p:nvSpPr>
        <p:spPr>
          <a:xfrm>
            <a:off x="5715000" y="4572000"/>
            <a:ext cx="5760720" cy="1645920"/>
          </a:xfrm>
          <a:prstGeom prst="rect">
            <a:avLst/>
          </a:prstGeom>
          <a:noFill/>
          <a:ln/>
        </p:spPr>
        <p:txBody>
          <a:bodyPr wrap="square" lIns="0" tIns="0" rIns="0" bIns="0" rtlCol="0" anchor="ctr"/>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El modelo está descalibrado: </a:t>
            </a:r>
            <a:r>
              <a:rPr lang="en-US" sz="1250" dirty="0">
                <a:solidFill>
                  <a:srgbClr val="C9D4EA"/>
                </a:solidFill>
                <a:latin typeface="Calibri" pitchFamily="34" charset="0"/>
                <a:ea typeface="Calibri" pitchFamily="34" charset="-122"/>
                <a:cs typeface="Calibri" pitchFamily="34" charset="-120"/>
              </a:rPr>
              <a:t>aprendió con una tasa de 7.3 % y en 2010 predice 0.22 en promedio cuando la tasa real es 0.52. Con el 0.5 casi no llama a nadie. En una campaña, el corte lo fija la capacidad: si llamo al 30 %, llamo al 30 % de mayor score.</a:t>
            </a:r>
            <a:endParaRPr lang="en-US" sz="1250" dirty="0"/>
          </a:p>
        </p:txBody>
      </p:sp>
      <p:sp>
        <p:nvSpPr>
          <p:cNvPr id="29" name="Text 26"/>
          <p:cNvSpPr txBox="1"/>
          <p:nvPr/>
        </p:nvSpPr>
        <p:spPr>
          <a:xfrm>
            <a:off x="502920" y="4846320"/>
            <a:ext cx="4754880" cy="731520"/>
          </a:xfrm>
          <a:prstGeom prst="rect">
            <a:avLst/>
          </a:prstGeom>
          <a:noFill/>
          <a:ln/>
        </p:spPr>
        <p:txBody>
          <a:bodyPr wrap="square" lIns="0" tIns="0" rIns="0" bIns="0" rtlCol="0" anchor="t"/>
          <a:lstStyle/>
          <a:p>
            <a:pPr marL="0" indent="0">
              <a:spcAft>
                <a:spcPts val="400"/>
              </a:spcAft>
              <a:buNone/>
            </a:pPr>
            <a:r>
              <a:rPr lang="en-US" sz="1200" i="1" dirty="0">
                <a:solidFill>
                  <a:srgbClr val="5B6B87"/>
                </a:solidFill>
                <a:latin typeface="Calibri" pitchFamily="34" charset="0"/>
                <a:ea typeface="Calibri" pitchFamily="34" charset="-122"/>
                <a:cs typeface="Calibri" pitchFamily="34" charset="-120"/>
              </a:rPr>
              <a:t>Precision: de los que llamé, cuántos compraron. Recall: de los que iban a comprar, a cuántos llamé.</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5 · EVALUAR</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AUC, KS y Gini: lo que no depende del umbral</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Miden si el modelo ordena bien. KS y Gini son los que se piden en los comités de riesgos.</a:t>
            </a:r>
            <a:endParaRPr lang="en-US" sz="1400" dirty="0"/>
          </a:p>
        </p:txBody>
      </p:sp>
      <p:graphicFrame>
        <p:nvGraphicFramePr>
          <p:cNvPr id="6" name="Chart 0"/>
          <p:cNvGraphicFramePr/>
          <p:nvPr/>
        </p:nvGraphicFramePr>
        <p:xfrm>
          <a:off x="502920" y="2011680"/>
          <a:ext cx="42062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02920" y="5943600"/>
            <a:ext cx="4206240" cy="274320"/>
          </a:xfrm>
          <a:prstGeom prst="rect">
            <a:avLst/>
          </a:prstGeom>
          <a:noFill/>
          <a:ln/>
        </p:spPr>
        <p:txBody>
          <a:bodyPr wrap="square" lIns="0" tIns="0" rIns="0" bIns="0" rtlCol="0" anchor="t"/>
          <a:lstStyle/>
          <a:p>
            <a:pPr marL="0" indent="0" algn="ctr">
              <a:spcAft>
                <a:spcPts val="400"/>
              </a:spcAft>
              <a:buNone/>
            </a:pPr>
            <a:r>
              <a:rPr lang="en-US" sz="1050" i="1" dirty="0">
                <a:solidFill>
                  <a:srgbClr val="5B6B87"/>
                </a:solidFill>
                <a:latin typeface="Calibri" pitchFamily="34" charset="0"/>
                <a:ea typeface="Calibri" pitchFamily="34" charset="-122"/>
                <a:cs typeface="Calibri" pitchFamily="34" charset="-120"/>
              </a:rPr>
              <a:t>Curva ROC · OOT 2010</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983480" y="2103120"/>
          <a:ext cx="6702552" cy="1682496"/>
        </p:xfrm>
        <a:graphic>
          <a:graphicData uri="http://schemas.openxmlformats.org/drawingml/2006/table">
            <a:tbl>
              <a:tblPr/>
              <a:tblGrid>
                <a:gridCol w="1188720">
                  <a:extLst>
                    <a:ext uri="{9D8B030D-6E8A-4147-A177-3AD203B41FA5}">
                      <a16:colId xmlns:a16="http://schemas.microsoft.com/office/drawing/2014/main" val="20000"/>
                    </a:ext>
                  </a:extLst>
                </a:gridCol>
                <a:gridCol w="5513832">
                  <a:extLst>
                    <a:ext uri="{9D8B030D-6E8A-4147-A177-3AD203B41FA5}">
                      <a16:colId xmlns:a16="http://schemas.microsoft.com/office/drawing/2014/main" val="20001"/>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Métrica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Qué mide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ROC-AUC</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prob. de que un contratante tenga mayor score que un no contratante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KS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máxima distancia entre las curvas acumuladas: máx(TPR − FPR)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Gini</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 · AUC − 1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4983480" y="3977640"/>
          <a:ext cx="3291840" cy="1536192"/>
        </p:xfrm>
        <a:graphic>
          <a:graphicData uri="http://schemas.openxmlformats.org/drawingml/2006/table">
            <a:tbl>
              <a:tblPr/>
              <a:tblGrid>
                <a:gridCol w="13716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Tramo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AUC</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KS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Gini</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Entrenamiento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0.648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0.221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0.297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Validación 2009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0.619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0.211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0.239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OOT 2010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0.704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0.319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0.408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5"/>
          <p:cNvSpPr/>
          <p:nvPr/>
        </p:nvSpPr>
        <p:spPr>
          <a:xfrm>
            <a:off x="8503920" y="3977640"/>
            <a:ext cx="3182112" cy="2240280"/>
          </a:xfrm>
          <a:prstGeom prst="roundRect">
            <a:avLst>
              <a:gd name="adj" fmla="val 2449"/>
            </a:avLst>
          </a:prstGeom>
          <a:solidFill>
            <a:srgbClr val="0A2559"/>
          </a:solidFill>
          <a:ln w="9525">
            <a:solidFill>
              <a:srgbClr val="0A2559"/>
            </a:solidFill>
            <a:prstDash val="solid"/>
          </a:ln>
        </p:spPr>
      </p:sp>
      <p:sp>
        <p:nvSpPr>
          <p:cNvPr id="11" name="Shape 6"/>
          <p:cNvSpPr/>
          <p:nvPr/>
        </p:nvSpPr>
        <p:spPr>
          <a:xfrm>
            <a:off x="8732520" y="4224528"/>
            <a:ext cx="128016" cy="128016"/>
          </a:xfrm>
          <a:prstGeom prst="roundRect">
            <a:avLst>
              <a:gd name="adj" fmla="val 21429"/>
            </a:avLst>
          </a:prstGeom>
          <a:solidFill>
            <a:srgbClr val="E6115E"/>
          </a:solidFill>
          <a:ln w="12700">
            <a:solidFill>
              <a:srgbClr val="E6115E"/>
            </a:solidFill>
            <a:prstDash val="solid"/>
          </a:ln>
        </p:spPr>
      </p:sp>
      <p:sp>
        <p:nvSpPr>
          <p:cNvPr id="12" name="Text 7"/>
          <p:cNvSpPr txBox="1"/>
          <p:nvPr/>
        </p:nvSpPr>
        <p:spPr>
          <a:xfrm>
            <a:off x="8961120" y="4114800"/>
            <a:ext cx="25420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¿Ordena bien?</a:t>
            </a:r>
            <a:endParaRPr lang="en-US" sz="1400" dirty="0"/>
          </a:p>
        </p:txBody>
      </p:sp>
      <p:sp>
        <p:nvSpPr>
          <p:cNvPr id="13" name="Text 8"/>
          <p:cNvSpPr txBox="1"/>
          <p:nvPr/>
        </p:nvSpPr>
        <p:spPr>
          <a:xfrm>
            <a:off x="8732520" y="4480560"/>
            <a:ext cx="2743200" cy="169164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El primer decil del OOT contrata el 76.7 % y el último el 20.9 %. Aunque las probabilidades estén mal, llamando primero a los de arriba cada llamada rinde más.</a:t>
            </a:r>
            <a:endParaRPr lang="en-US" sz="1150" dirty="0"/>
          </a:p>
        </p:txBody>
      </p:sp>
      <p:sp>
        <p:nvSpPr>
          <p:cNvPr id="14" name="Text 9"/>
          <p:cNvSpPr txBox="1"/>
          <p:nvPr/>
        </p:nvSpPr>
        <p:spPr>
          <a:xfrm>
            <a:off x="4983480" y="5669280"/>
            <a:ext cx="3291840" cy="548640"/>
          </a:xfrm>
          <a:prstGeom prst="rect">
            <a:avLst/>
          </a:prstGeom>
          <a:noFill/>
          <a:ln/>
        </p:spPr>
        <p:txBody>
          <a:bodyPr wrap="square" lIns="0" tIns="0" rIns="0" bIns="0" rtlCol="0" anchor="t"/>
          <a:lstStyle/>
          <a:p>
            <a:pPr marL="0" indent="0">
              <a:spcAft>
                <a:spcPts val="400"/>
              </a:spcAft>
              <a:buNone/>
            </a:pPr>
            <a:r>
              <a:rPr lang="en-US" sz="1050" i="1" dirty="0">
                <a:solidFill>
                  <a:srgbClr val="5B6B87"/>
                </a:solidFill>
                <a:latin typeface="Calibri" pitchFamily="34" charset="0"/>
                <a:ea typeface="Calibri" pitchFamily="34" charset="-122"/>
                <a:cs typeface="Calibri" pitchFamily="34" charset="-120"/>
              </a:rPr>
              <a:t>Para una campaña, ordenar bien importa más que acertar la probabilidad; para provisionar o fijar precios, no.</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6 · ADELANTO</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 mundo cambia: drift y PSI</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PSI mide cuánto cambió la distribución de una variable entre el entrenamiento y hoy.</a:t>
            </a:r>
            <a:endParaRPr lang="en-US" sz="1400" dirty="0"/>
          </a:p>
        </p:txBody>
      </p:sp>
      <p:sp>
        <p:nvSpPr>
          <p:cNvPr id="6" name="Shape 4"/>
          <p:cNvSpPr/>
          <p:nvPr/>
        </p:nvSpPr>
        <p:spPr>
          <a:xfrm>
            <a:off x="502920" y="2103120"/>
            <a:ext cx="5486400" cy="1234440"/>
          </a:xfrm>
          <a:prstGeom prst="roundRect">
            <a:avLst>
              <a:gd name="adj" fmla="val 4444"/>
            </a:avLst>
          </a:prstGeom>
          <a:solidFill>
            <a:srgbClr val="0A2559"/>
          </a:solidFill>
          <a:ln w="9525">
            <a:solidFill>
              <a:srgbClr val="0A2559"/>
            </a:solidFill>
            <a:prstDash val="solid"/>
          </a:ln>
        </p:spPr>
      </p:sp>
      <p:sp>
        <p:nvSpPr>
          <p:cNvPr id="7" name="Text 5"/>
          <p:cNvSpPr txBox="1"/>
          <p:nvPr/>
        </p:nvSpPr>
        <p:spPr>
          <a:xfrm>
            <a:off x="502920" y="2103120"/>
            <a:ext cx="5486400" cy="12344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PSI = Σ (%actual − %esperado) · ln(%actual / %esperado)</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3566160"/>
          <a:ext cx="5486400" cy="1609344"/>
        </p:xfrm>
        <a:graphic>
          <a:graphicData uri="http://schemas.openxmlformats.org/drawingml/2006/table">
            <a:tbl>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PSI</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Lectura habitual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menos de 0.10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2B886"/>
                          </a:solidFill>
                          <a:latin typeface="Calibri" pitchFamily="34" charset="0"/>
                          <a:ea typeface="Calibri" pitchFamily="34" charset="-122"/>
                          <a:cs typeface="Calibri" pitchFamily="34" charset="-120"/>
                        </a:rPr>
                        <a:t>estable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0.10 a 0.25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cambio moderado: vigilar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más de 0.25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cambio fuerte: revisar el modelo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6"/>
          <p:cNvSpPr txBox="1"/>
          <p:nvPr/>
        </p:nvSpPr>
        <p:spPr>
          <a:xfrm>
            <a:off x="502920" y="5303520"/>
            <a:ext cx="5486400" cy="822960"/>
          </a:xfrm>
          <a:prstGeom prst="rect">
            <a:avLst/>
          </a:prstGeom>
          <a:noFill/>
          <a:ln/>
        </p:spPr>
        <p:txBody>
          <a:bodyPr wrap="square" lIns="0" tIns="0" rIns="0" bIns="0" rtlCol="0" anchor="t"/>
          <a:lstStyle/>
          <a:p>
            <a:pPr marL="0" indent="0">
              <a:spcAft>
                <a:spcPts val="400"/>
              </a:spcAft>
              <a:buNone/>
            </a:pPr>
            <a:r>
              <a:rPr lang="en-US" sz="1150" i="1" dirty="0">
                <a:solidFill>
                  <a:srgbClr val="5B6B87"/>
                </a:solidFill>
                <a:latin typeface="Calibri" pitchFamily="34" charset="0"/>
                <a:ea typeface="Calibri" pitchFamily="34" charset="-122"/>
                <a:cs typeface="Calibri" pitchFamily="34" charset="-120"/>
              </a:rPr>
              <a:t>Los tramos son los deciles del entrenamiento (o las categorías). Los cortes de 0.10 y 0.25 son una convención de la industria, no una ley.</a:t>
            </a:r>
            <a:endParaRPr lang="en-US" sz="1150" dirty="0"/>
          </a:p>
        </p:txBody>
      </p:sp>
      <p:sp>
        <p:nvSpPr>
          <p:cNvPr id="10" name="Shape 7"/>
          <p:cNvSpPr/>
          <p:nvPr/>
        </p:nvSpPr>
        <p:spPr>
          <a:xfrm>
            <a:off x="6263640" y="2103120"/>
            <a:ext cx="5422392" cy="4114800"/>
          </a:xfrm>
          <a:prstGeom prst="roundRect">
            <a:avLst>
              <a:gd name="adj" fmla="val 1333"/>
            </a:avLst>
          </a:prstGeom>
          <a:solidFill>
            <a:srgbClr val="FFFFFF"/>
          </a:solidFill>
          <a:ln w="9525">
            <a:solidFill>
              <a:srgbClr val="D2DBEC"/>
            </a:solidFill>
            <a:prstDash val="solid"/>
          </a:ln>
        </p:spPr>
      </p:sp>
      <p:sp>
        <p:nvSpPr>
          <p:cNvPr id="11" name="Shape 8"/>
          <p:cNvSpPr/>
          <p:nvPr/>
        </p:nvSpPr>
        <p:spPr>
          <a:xfrm>
            <a:off x="6492240" y="2350008"/>
            <a:ext cx="128016" cy="128016"/>
          </a:xfrm>
          <a:prstGeom prst="roundRect">
            <a:avLst>
              <a:gd name="adj" fmla="val 21429"/>
            </a:avLst>
          </a:prstGeom>
          <a:solidFill>
            <a:srgbClr val="E6115E"/>
          </a:solidFill>
          <a:ln w="12700">
            <a:solidFill>
              <a:srgbClr val="E6115E"/>
            </a:solidFill>
            <a:prstDash val="solid"/>
          </a:ln>
        </p:spPr>
      </p:sp>
      <p:sp>
        <p:nvSpPr>
          <p:cNvPr id="12" name="Text 9"/>
          <p:cNvSpPr txBox="1"/>
          <p:nvPr/>
        </p:nvSpPr>
        <p:spPr>
          <a:xfrm>
            <a:off x="6720840" y="2240280"/>
            <a:ext cx="478231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PSI entre el entrenamiento y 2010</a:t>
            </a:r>
            <a:endParaRPr lang="en-US" sz="1400" dirty="0"/>
          </a:p>
        </p:txBody>
      </p:sp>
      <p:sp>
        <p:nvSpPr>
          <p:cNvPr id="13" name="Text 10"/>
          <p:cNvSpPr txBox="1"/>
          <p:nvPr/>
        </p:nvSpPr>
        <p:spPr>
          <a:xfrm>
            <a:off x="6492240" y="2697480"/>
            <a:ext cx="1600200" cy="365760"/>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hipoteca</a:t>
            </a:r>
            <a:endParaRPr lang="en-US" sz="1150" dirty="0"/>
          </a:p>
        </p:txBody>
      </p:sp>
      <p:sp>
        <p:nvSpPr>
          <p:cNvPr id="14" name="Shape 11"/>
          <p:cNvSpPr/>
          <p:nvPr/>
        </p:nvSpPr>
        <p:spPr>
          <a:xfrm>
            <a:off x="8138160" y="2779776"/>
            <a:ext cx="27432" cy="219456"/>
          </a:xfrm>
          <a:prstGeom prst="rect">
            <a:avLst/>
          </a:prstGeom>
          <a:solidFill>
            <a:srgbClr val="12B886"/>
          </a:solidFill>
          <a:ln/>
        </p:spPr>
      </p:sp>
      <p:sp>
        <p:nvSpPr>
          <p:cNvPr id="15" name="Text 12"/>
          <p:cNvSpPr txBox="1"/>
          <p:nvPr/>
        </p:nvSpPr>
        <p:spPr>
          <a:xfrm>
            <a:off x="8217782" y="2697480"/>
            <a:ext cx="822960" cy="365760"/>
          </a:xfrm>
          <a:prstGeom prst="rect">
            <a:avLst/>
          </a:prstGeom>
          <a:noFill/>
          <a:ln/>
        </p:spPr>
        <p:txBody>
          <a:bodyPr wrap="square" lIns="0" tIns="0" rIns="0" bIns="0" rtlCol="0" anchor="ctr"/>
          <a:lstStyle/>
          <a:p>
            <a:pPr marL="0" indent="0">
              <a:buNone/>
            </a:pPr>
            <a:r>
              <a:rPr lang="en-US" sz="1150" b="1" dirty="0">
                <a:solidFill>
                  <a:srgbClr val="12B886"/>
                </a:solidFill>
                <a:latin typeface="Calibri" pitchFamily="34" charset="0"/>
                <a:ea typeface="Calibri" pitchFamily="34" charset="-122"/>
                <a:cs typeface="Calibri" pitchFamily="34" charset="-120"/>
              </a:rPr>
              <a:t>0.00</a:t>
            </a:r>
            <a:endParaRPr lang="en-US" sz="1150" dirty="0"/>
          </a:p>
        </p:txBody>
      </p:sp>
      <p:sp>
        <p:nvSpPr>
          <p:cNvPr id="8" name="Text 13"/>
          <p:cNvSpPr txBox="1"/>
          <p:nvPr/>
        </p:nvSpPr>
        <p:spPr>
          <a:xfrm>
            <a:off x="6492240" y="3118104"/>
            <a:ext cx="1600200" cy="365760"/>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canal</a:t>
            </a:r>
            <a:endParaRPr lang="en-US" sz="1150" dirty="0"/>
          </a:p>
        </p:txBody>
      </p:sp>
      <p:sp>
        <p:nvSpPr>
          <p:cNvPr id="17" name="Shape 14"/>
          <p:cNvSpPr/>
          <p:nvPr/>
        </p:nvSpPr>
        <p:spPr>
          <a:xfrm>
            <a:off x="8138160" y="3200400"/>
            <a:ext cx="323216" cy="219456"/>
          </a:xfrm>
          <a:prstGeom prst="rect">
            <a:avLst/>
          </a:prstGeom>
          <a:solidFill>
            <a:srgbClr val="1A56E8"/>
          </a:solidFill>
          <a:ln/>
        </p:spPr>
      </p:sp>
      <p:sp>
        <p:nvSpPr>
          <p:cNvPr id="18" name="Text 15"/>
          <p:cNvSpPr txBox="1"/>
          <p:nvPr/>
        </p:nvSpPr>
        <p:spPr>
          <a:xfrm>
            <a:off x="8534528" y="3118104"/>
            <a:ext cx="822960" cy="365760"/>
          </a:xfrm>
          <a:prstGeom prst="rect">
            <a:avLst/>
          </a:prstGeom>
          <a:noFill/>
          <a:ln/>
        </p:spPr>
        <p:txBody>
          <a:bodyPr wrap="square" lIns="0" tIns="0" rIns="0" bIns="0" rtlCol="0" anchor="ctr"/>
          <a:lstStyle/>
          <a:p>
            <a:pPr marL="0" indent="0">
              <a:buNone/>
            </a:pPr>
            <a:r>
              <a:rPr lang="en-US" sz="1150" b="1" dirty="0">
                <a:solidFill>
                  <a:srgbClr val="1A56E8"/>
                </a:solidFill>
                <a:latin typeface="Calibri" pitchFamily="34" charset="0"/>
                <a:ea typeface="Calibri" pitchFamily="34" charset="-122"/>
                <a:cs typeface="Calibri" pitchFamily="34" charset="-120"/>
              </a:rPr>
              <a:t>0.20</a:t>
            </a:r>
            <a:endParaRPr lang="en-US" sz="1150" dirty="0"/>
          </a:p>
        </p:txBody>
      </p:sp>
      <p:sp>
        <p:nvSpPr>
          <p:cNvPr id="19" name="Text 16"/>
          <p:cNvSpPr txBox="1"/>
          <p:nvPr/>
        </p:nvSpPr>
        <p:spPr>
          <a:xfrm>
            <a:off x="6492240" y="3538728"/>
            <a:ext cx="1600200" cy="365760"/>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edad</a:t>
            </a:r>
            <a:endParaRPr lang="en-US" sz="1150" dirty="0"/>
          </a:p>
        </p:txBody>
      </p:sp>
      <p:sp>
        <p:nvSpPr>
          <p:cNvPr id="20" name="Shape 17"/>
          <p:cNvSpPr/>
          <p:nvPr/>
        </p:nvSpPr>
        <p:spPr>
          <a:xfrm>
            <a:off x="8138160" y="3621024"/>
            <a:ext cx="569131" cy="219456"/>
          </a:xfrm>
          <a:prstGeom prst="rect">
            <a:avLst/>
          </a:prstGeom>
          <a:solidFill>
            <a:srgbClr val="E6115E"/>
          </a:solidFill>
          <a:ln/>
        </p:spPr>
      </p:sp>
      <p:sp>
        <p:nvSpPr>
          <p:cNvPr id="21" name="Text 18"/>
          <p:cNvSpPr txBox="1"/>
          <p:nvPr/>
        </p:nvSpPr>
        <p:spPr>
          <a:xfrm>
            <a:off x="8780443" y="3538728"/>
            <a:ext cx="822960" cy="36576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0.36</a:t>
            </a:r>
            <a:endParaRPr lang="en-US" sz="1150" dirty="0"/>
          </a:p>
        </p:txBody>
      </p:sp>
      <p:sp>
        <p:nvSpPr>
          <p:cNvPr id="22" name="Text 19"/>
          <p:cNvSpPr txBox="1"/>
          <p:nvPr/>
        </p:nvSpPr>
        <p:spPr>
          <a:xfrm>
            <a:off x="6492240" y="3959352"/>
            <a:ext cx="1600200" cy="365760"/>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ocupación</a:t>
            </a:r>
            <a:endParaRPr lang="en-US" sz="1150" dirty="0"/>
          </a:p>
        </p:txBody>
      </p:sp>
      <p:sp>
        <p:nvSpPr>
          <p:cNvPr id="23" name="Shape 20"/>
          <p:cNvSpPr/>
          <p:nvPr/>
        </p:nvSpPr>
        <p:spPr>
          <a:xfrm>
            <a:off x="8138160" y="4041648"/>
            <a:ext cx="1044344" cy="219456"/>
          </a:xfrm>
          <a:prstGeom prst="rect">
            <a:avLst/>
          </a:prstGeom>
          <a:solidFill>
            <a:srgbClr val="E6115E"/>
          </a:solidFill>
          <a:ln/>
        </p:spPr>
      </p:sp>
      <p:sp>
        <p:nvSpPr>
          <p:cNvPr id="24" name="Text 21"/>
          <p:cNvSpPr txBox="1"/>
          <p:nvPr/>
        </p:nvSpPr>
        <p:spPr>
          <a:xfrm>
            <a:off x="9255656" y="3959352"/>
            <a:ext cx="822960" cy="36576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0.66</a:t>
            </a:r>
            <a:endParaRPr lang="en-US" sz="1150" dirty="0"/>
          </a:p>
        </p:txBody>
      </p:sp>
      <p:sp>
        <p:nvSpPr>
          <p:cNvPr id="25" name="Text 22"/>
          <p:cNvSpPr txBox="1"/>
          <p:nvPr/>
        </p:nvSpPr>
        <p:spPr>
          <a:xfrm>
            <a:off x="6492240" y="4379976"/>
            <a:ext cx="1600200" cy="365760"/>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contactado antes</a:t>
            </a:r>
            <a:endParaRPr lang="en-US" sz="1150" dirty="0"/>
          </a:p>
        </p:txBody>
      </p:sp>
      <p:sp>
        <p:nvSpPr>
          <p:cNvPr id="26" name="Shape 23"/>
          <p:cNvSpPr/>
          <p:nvPr/>
        </p:nvSpPr>
        <p:spPr>
          <a:xfrm>
            <a:off x="8138160" y="4462272"/>
            <a:ext cx="2209464" cy="219456"/>
          </a:xfrm>
          <a:prstGeom prst="rect">
            <a:avLst/>
          </a:prstGeom>
          <a:solidFill>
            <a:srgbClr val="E6115E"/>
          </a:solidFill>
          <a:ln/>
        </p:spPr>
      </p:sp>
      <p:sp>
        <p:nvSpPr>
          <p:cNvPr id="27" name="Text 24"/>
          <p:cNvSpPr txBox="1"/>
          <p:nvPr/>
        </p:nvSpPr>
        <p:spPr>
          <a:xfrm>
            <a:off x="10420776" y="4379976"/>
            <a:ext cx="822960" cy="36576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1.39</a:t>
            </a:r>
            <a:endParaRPr lang="en-US" sz="1150" dirty="0"/>
          </a:p>
        </p:txBody>
      </p:sp>
      <p:sp>
        <p:nvSpPr>
          <p:cNvPr id="28" name="Text 25"/>
          <p:cNvSpPr txBox="1"/>
          <p:nvPr/>
        </p:nvSpPr>
        <p:spPr>
          <a:xfrm>
            <a:off x="6492240" y="4800600"/>
            <a:ext cx="1600200" cy="365760"/>
          </a:xfrm>
          <a:prstGeom prst="rect">
            <a:avLst/>
          </a:prstGeom>
          <a:noFill/>
          <a:ln/>
        </p:spPr>
        <p:txBody>
          <a:bodyPr wrap="square" lIns="0" tIns="0" rIns="0" bIns="0" rtlCol="0" anchor="ctr"/>
          <a:lstStyle/>
          <a:p>
            <a:pPr marL="0" indent="0">
              <a:buNone/>
            </a:pPr>
            <a:r>
              <a:rPr lang="en-US" sz="1150" dirty="0">
                <a:solidFill>
                  <a:srgbClr val="2C3A55"/>
                </a:solidFill>
                <a:latin typeface="Calibri" pitchFamily="34" charset="0"/>
                <a:ea typeface="Calibri" pitchFamily="34" charset="-122"/>
                <a:cs typeface="Calibri" pitchFamily="34" charset="-120"/>
              </a:rPr>
              <a:t>euribor 3m</a:t>
            </a:r>
            <a:endParaRPr lang="en-US" sz="1150" dirty="0"/>
          </a:p>
        </p:txBody>
      </p:sp>
      <p:sp>
        <p:nvSpPr>
          <p:cNvPr id="29" name="Shape 26"/>
          <p:cNvSpPr/>
          <p:nvPr/>
        </p:nvSpPr>
        <p:spPr>
          <a:xfrm>
            <a:off x="8138160" y="4882896"/>
            <a:ext cx="2377440" cy="219456"/>
          </a:xfrm>
          <a:prstGeom prst="rect">
            <a:avLst/>
          </a:prstGeom>
          <a:solidFill>
            <a:srgbClr val="E6115E"/>
          </a:solidFill>
          <a:ln/>
        </p:spPr>
      </p:sp>
      <p:sp>
        <p:nvSpPr>
          <p:cNvPr id="30" name="Text 27"/>
          <p:cNvSpPr txBox="1"/>
          <p:nvPr/>
        </p:nvSpPr>
        <p:spPr>
          <a:xfrm>
            <a:off x="10588752" y="4800600"/>
            <a:ext cx="822960" cy="36576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14.5 ⟶</a:t>
            </a:r>
            <a:endParaRPr lang="en-US" sz="1150" dirty="0"/>
          </a:p>
        </p:txBody>
      </p:sp>
      <p:sp>
        <p:nvSpPr>
          <p:cNvPr id="31" name="Text 28"/>
          <p:cNvSpPr txBox="1"/>
          <p:nvPr/>
        </p:nvSpPr>
        <p:spPr>
          <a:xfrm>
            <a:off x="6492240" y="5221224"/>
            <a:ext cx="1600200" cy="365760"/>
          </a:xfrm>
          <a:prstGeom prst="rect">
            <a:avLst/>
          </a:prstGeom>
          <a:noFill/>
          <a:ln/>
        </p:spPr>
        <p:txBody>
          <a:bodyPr wrap="square" lIns="0" tIns="0" rIns="0" bIns="0" rtlCol="0" anchor="ctr"/>
          <a:lstStyle/>
          <a:p>
            <a:pPr marL="0" indent="0">
              <a:buNone/>
            </a:pPr>
            <a:r>
              <a:rPr lang="en-US" sz="1150" b="1" dirty="0">
                <a:solidFill>
                  <a:srgbClr val="2C3A55"/>
                </a:solidFill>
                <a:latin typeface="Calibri" pitchFamily="34" charset="0"/>
                <a:ea typeface="Calibri" pitchFamily="34" charset="-122"/>
                <a:cs typeface="Calibri" pitchFamily="34" charset="-120"/>
              </a:rPr>
              <a:t>SCORE del modelo</a:t>
            </a:r>
            <a:endParaRPr lang="en-US" sz="1150" dirty="0"/>
          </a:p>
        </p:txBody>
      </p:sp>
      <p:sp>
        <p:nvSpPr>
          <p:cNvPr id="32" name="Shape 29"/>
          <p:cNvSpPr/>
          <p:nvPr/>
        </p:nvSpPr>
        <p:spPr>
          <a:xfrm>
            <a:off x="8138160" y="5303520"/>
            <a:ext cx="1975245" cy="219456"/>
          </a:xfrm>
          <a:prstGeom prst="rect">
            <a:avLst/>
          </a:prstGeom>
          <a:solidFill>
            <a:srgbClr val="E6115E"/>
          </a:solidFill>
          <a:ln/>
        </p:spPr>
      </p:sp>
      <p:sp>
        <p:nvSpPr>
          <p:cNvPr id="33" name="Text 30"/>
          <p:cNvSpPr txBox="1"/>
          <p:nvPr/>
        </p:nvSpPr>
        <p:spPr>
          <a:xfrm>
            <a:off x="10186557" y="5221224"/>
            <a:ext cx="822960" cy="36576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1.25</a:t>
            </a:r>
            <a:endParaRPr lang="en-US" sz="1150" dirty="0"/>
          </a:p>
        </p:txBody>
      </p:sp>
      <p:sp>
        <p:nvSpPr>
          <p:cNvPr id="34" name="Text 31"/>
          <p:cNvSpPr txBox="1"/>
          <p:nvPr/>
        </p:nvSpPr>
        <p:spPr>
          <a:xfrm>
            <a:off x="6492240" y="5760720"/>
            <a:ext cx="5029200" cy="411480"/>
          </a:xfrm>
          <a:prstGeom prst="rect">
            <a:avLst/>
          </a:prstGeom>
          <a:noFill/>
          <a:ln/>
        </p:spPr>
        <p:txBody>
          <a:bodyPr wrap="square" lIns="0" tIns="0" rIns="0" bIns="0" rtlCol="0" anchor="t"/>
          <a:lstStyle/>
          <a:p>
            <a:pPr marL="0" indent="0">
              <a:spcAft>
                <a:spcPts val="400"/>
              </a:spcAft>
              <a:buNone/>
            </a:pPr>
            <a:r>
              <a:rPr lang="en-US" sz="1100" i="1" dirty="0">
                <a:solidFill>
                  <a:srgbClr val="5B6B87"/>
                </a:solidFill>
                <a:latin typeface="Calibri" pitchFamily="34" charset="0"/>
                <a:ea typeface="Calibri" pitchFamily="34" charset="-122"/>
                <a:cs typeface="Calibri" pitchFamily="34" charset="-120"/>
              </a:rPr>
              <a:t>El PSI avisa que algo cambió; no dice si el modelo dejó de funcionar. Para eso hacen falta las respuestas. Clase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LABORATORIO · 60 MIN</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 que vas a hacer en Colab</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Sube fuentes_banco.zip al panel de archivos de Colab. Semilla 42: tus números coinciden con estas slides.</a:t>
            </a:r>
            <a:endParaRPr lang="en-US" sz="1400" dirty="0"/>
          </a:p>
        </p:txBody>
      </p:sp>
      <p:sp>
        <p:nvSpPr>
          <p:cNvPr id="6" name="Shape 4"/>
          <p:cNvSpPr/>
          <p:nvPr/>
        </p:nvSpPr>
        <p:spPr>
          <a:xfrm>
            <a:off x="502920" y="2103120"/>
            <a:ext cx="11183112" cy="621792"/>
          </a:xfrm>
          <a:prstGeom prst="roundRect">
            <a:avLst>
              <a:gd name="adj" fmla="val 8824"/>
            </a:avLst>
          </a:prstGeom>
          <a:solidFill>
            <a:srgbClr val="FFFFFF"/>
          </a:solidFill>
          <a:ln w="9525">
            <a:solidFill>
              <a:srgbClr val="D2DBEC"/>
            </a:solidFill>
            <a:prstDash val="solid"/>
          </a:ln>
        </p:spPr>
      </p:sp>
      <p:sp>
        <p:nvSpPr>
          <p:cNvPr id="7" name="Shape 5"/>
          <p:cNvSpPr/>
          <p:nvPr/>
        </p:nvSpPr>
        <p:spPr>
          <a:xfrm>
            <a:off x="685800" y="2221992"/>
            <a:ext cx="384048" cy="384048"/>
          </a:xfrm>
          <a:prstGeom prst="ellipse">
            <a:avLst/>
          </a:prstGeom>
          <a:solidFill>
            <a:srgbClr val="0A2559"/>
          </a:solidFill>
          <a:ln w="12700">
            <a:solidFill>
              <a:srgbClr val="0A2559"/>
            </a:solidFill>
            <a:prstDash val="solid"/>
          </a:ln>
        </p:spPr>
      </p:sp>
      <p:sp>
        <p:nvSpPr>
          <p:cNvPr id="8" name="Text 6"/>
          <p:cNvSpPr txBox="1"/>
          <p:nvPr/>
        </p:nvSpPr>
        <p:spPr>
          <a:xfrm>
            <a:off x="685800" y="22219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234440" y="210312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La escalera</a:t>
            </a:r>
            <a:endParaRPr lang="en-US" sz="1350" dirty="0"/>
          </a:p>
        </p:txBody>
      </p:sp>
      <p:sp>
        <p:nvSpPr>
          <p:cNvPr id="10" name="Text 8"/>
          <p:cNvSpPr txBox="1"/>
          <p:nvPr/>
        </p:nvSpPr>
        <p:spPr>
          <a:xfrm>
            <a:off x="4754880" y="210312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14 min</a:t>
            </a:r>
            <a:endParaRPr lang="en-US" sz="1250" dirty="0"/>
          </a:p>
        </p:txBody>
      </p:sp>
      <p:sp>
        <p:nvSpPr>
          <p:cNvPr id="11" name="Text 9"/>
          <p:cNvSpPr txBox="1"/>
          <p:nvPr/>
        </p:nvSpPr>
        <p:spPr>
          <a:xfrm>
            <a:off x="5760720" y="210312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ID como texto, historial, maestro con repetidos y huérfanos, macro con rezago, respuestas.</a:t>
            </a:r>
            <a:endParaRPr lang="en-US" sz="1200" dirty="0"/>
          </a:p>
        </p:txBody>
      </p:sp>
      <p:sp>
        <p:nvSpPr>
          <p:cNvPr id="12" name="Shape 10"/>
          <p:cNvSpPr/>
          <p:nvPr/>
        </p:nvSpPr>
        <p:spPr>
          <a:xfrm>
            <a:off x="502920" y="2834640"/>
            <a:ext cx="11183112" cy="621792"/>
          </a:xfrm>
          <a:prstGeom prst="roundRect">
            <a:avLst>
              <a:gd name="adj" fmla="val 8824"/>
            </a:avLst>
          </a:prstGeom>
          <a:solidFill>
            <a:srgbClr val="FFFFFF"/>
          </a:solidFill>
          <a:ln w="9525">
            <a:solidFill>
              <a:srgbClr val="D2DBEC"/>
            </a:solidFill>
            <a:prstDash val="solid"/>
          </a:ln>
        </p:spPr>
      </p:sp>
      <p:sp>
        <p:nvSpPr>
          <p:cNvPr id="13" name="Shape 11"/>
          <p:cNvSpPr/>
          <p:nvPr/>
        </p:nvSpPr>
        <p:spPr>
          <a:xfrm>
            <a:off x="685800" y="2953512"/>
            <a:ext cx="384048" cy="384048"/>
          </a:xfrm>
          <a:prstGeom prst="ellipse">
            <a:avLst/>
          </a:prstGeom>
          <a:solidFill>
            <a:srgbClr val="0A2559"/>
          </a:solidFill>
          <a:ln w="12700">
            <a:solidFill>
              <a:srgbClr val="0A2559"/>
            </a:solidFill>
            <a:prstDash val="solid"/>
          </a:ln>
        </p:spPr>
      </p:sp>
      <p:sp>
        <p:nvSpPr>
          <p:cNvPr id="14" name="Text 12"/>
          <p:cNvSpPr txBox="1"/>
          <p:nvPr/>
        </p:nvSpPr>
        <p:spPr>
          <a:xfrm>
            <a:off x="685800" y="29535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234440" y="283464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Explorar y cazar fugas</a:t>
            </a:r>
            <a:endParaRPr lang="en-US" sz="1350" dirty="0"/>
          </a:p>
        </p:txBody>
      </p:sp>
      <p:sp>
        <p:nvSpPr>
          <p:cNvPr id="16" name="Text 14"/>
          <p:cNvSpPr txBox="1"/>
          <p:nvPr/>
        </p:nvSpPr>
        <p:spPr>
          <a:xfrm>
            <a:off x="4754880" y="283464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9 min</a:t>
            </a:r>
            <a:endParaRPr lang="en-US" sz="1250" dirty="0"/>
          </a:p>
        </p:txBody>
      </p:sp>
      <p:sp>
        <p:nvSpPr>
          <p:cNvPr id="17" name="Text 15"/>
          <p:cNvSpPr txBox="1"/>
          <p:nvPr/>
        </p:nvSpPr>
        <p:spPr>
          <a:xfrm>
            <a:off x="5760720" y="283464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Volumen y tasa por mes; el AUC de una sola variable como detector.</a:t>
            </a:r>
            <a:endParaRPr lang="en-US" sz="1200" dirty="0"/>
          </a:p>
        </p:txBody>
      </p:sp>
      <p:sp>
        <p:nvSpPr>
          <p:cNvPr id="18" name="Shape 16"/>
          <p:cNvSpPr/>
          <p:nvPr/>
        </p:nvSpPr>
        <p:spPr>
          <a:xfrm>
            <a:off x="502920" y="3566160"/>
            <a:ext cx="11183112" cy="621792"/>
          </a:xfrm>
          <a:prstGeom prst="roundRect">
            <a:avLst>
              <a:gd name="adj" fmla="val 8824"/>
            </a:avLst>
          </a:prstGeom>
          <a:solidFill>
            <a:srgbClr val="0A2559"/>
          </a:solidFill>
          <a:ln w="9525">
            <a:solidFill>
              <a:srgbClr val="0A2559"/>
            </a:solidFill>
            <a:prstDash val="solid"/>
          </a:ln>
        </p:spPr>
      </p:sp>
      <p:sp>
        <p:nvSpPr>
          <p:cNvPr id="19" name="Shape 17"/>
          <p:cNvSpPr/>
          <p:nvPr/>
        </p:nvSpPr>
        <p:spPr>
          <a:xfrm>
            <a:off x="685800" y="3685032"/>
            <a:ext cx="384048" cy="384048"/>
          </a:xfrm>
          <a:prstGeom prst="ellipse">
            <a:avLst/>
          </a:prstGeom>
          <a:solidFill>
            <a:srgbClr val="E6115E"/>
          </a:solidFill>
          <a:ln w="12700">
            <a:solidFill>
              <a:srgbClr val="E6115E"/>
            </a:solidFill>
            <a:prstDash val="solid"/>
          </a:ln>
        </p:spPr>
      </p:sp>
      <p:sp>
        <p:nvSpPr>
          <p:cNvPr id="20" name="Text 18"/>
          <p:cNvSpPr txBox="1"/>
          <p:nvPr/>
        </p:nvSpPr>
        <p:spPr>
          <a:xfrm>
            <a:off x="685800" y="36850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234440" y="3566160"/>
            <a:ext cx="356616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Split y logística</a:t>
            </a:r>
            <a:endParaRPr lang="en-US" sz="1350" dirty="0"/>
          </a:p>
        </p:txBody>
      </p:sp>
      <p:sp>
        <p:nvSpPr>
          <p:cNvPr id="22" name="Text 20"/>
          <p:cNvSpPr txBox="1"/>
          <p:nvPr/>
        </p:nvSpPr>
        <p:spPr>
          <a:xfrm>
            <a:off x="4754880" y="356616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13 min</a:t>
            </a:r>
            <a:endParaRPr lang="en-US" sz="1250" dirty="0"/>
          </a:p>
        </p:txBody>
      </p:sp>
      <p:sp>
        <p:nvSpPr>
          <p:cNvPr id="23" name="Text 21"/>
          <p:cNvSpPr txBox="1"/>
          <p:nvPr/>
        </p:nvSpPr>
        <p:spPr>
          <a:xfrm>
            <a:off x="5760720" y="3566160"/>
            <a:ext cx="5760720" cy="621792"/>
          </a:xfrm>
          <a:prstGeom prst="rect">
            <a:avLst/>
          </a:prstGeom>
          <a:noFill/>
          <a:ln/>
        </p:spPr>
        <p:txBody>
          <a:bodyPr wrap="square" lIns="0" tIns="0" rIns="0" bIns="0" rtlCol="0" anchor="ctr"/>
          <a:lstStyle/>
          <a:p>
            <a:pPr marL="0" indent="0">
              <a:buNone/>
            </a:pPr>
            <a:r>
              <a:rPr lang="en-US" sz="1200" dirty="0">
                <a:solidFill>
                  <a:srgbClr val="C9D4EA"/>
                </a:solidFill>
                <a:latin typeface="Calibri" pitchFamily="34" charset="0"/>
                <a:ea typeface="Calibri" pitchFamily="34" charset="-122"/>
                <a:cs typeface="Calibri" pitchFamily="34" charset="-120"/>
              </a:rPr>
              <a:t>El corte temporal, el modelo, la tabla aleatorio contra temporal y los odds ratios.</a:t>
            </a:r>
            <a:endParaRPr lang="en-US" sz="1200" dirty="0"/>
          </a:p>
        </p:txBody>
      </p:sp>
      <p:sp>
        <p:nvSpPr>
          <p:cNvPr id="24" name="Shape 22"/>
          <p:cNvSpPr/>
          <p:nvPr/>
        </p:nvSpPr>
        <p:spPr>
          <a:xfrm>
            <a:off x="502920" y="4297680"/>
            <a:ext cx="11183112" cy="621792"/>
          </a:xfrm>
          <a:prstGeom prst="roundRect">
            <a:avLst>
              <a:gd name="adj" fmla="val 8824"/>
            </a:avLst>
          </a:prstGeom>
          <a:solidFill>
            <a:srgbClr val="FFFFFF"/>
          </a:solidFill>
          <a:ln w="9525">
            <a:solidFill>
              <a:srgbClr val="D2DBEC"/>
            </a:solidFill>
            <a:prstDash val="solid"/>
          </a:ln>
        </p:spPr>
      </p:sp>
      <p:sp>
        <p:nvSpPr>
          <p:cNvPr id="25" name="Shape 23"/>
          <p:cNvSpPr/>
          <p:nvPr/>
        </p:nvSpPr>
        <p:spPr>
          <a:xfrm>
            <a:off x="685800" y="4416552"/>
            <a:ext cx="384048" cy="384048"/>
          </a:xfrm>
          <a:prstGeom prst="ellipse">
            <a:avLst/>
          </a:prstGeom>
          <a:solidFill>
            <a:srgbClr val="0A2559"/>
          </a:solidFill>
          <a:ln w="12700">
            <a:solidFill>
              <a:srgbClr val="0A2559"/>
            </a:solidFill>
            <a:prstDash val="solid"/>
          </a:ln>
        </p:spPr>
      </p:sp>
      <p:sp>
        <p:nvSpPr>
          <p:cNvPr id="26" name="Text 24"/>
          <p:cNvSpPr txBox="1"/>
          <p:nvPr/>
        </p:nvSpPr>
        <p:spPr>
          <a:xfrm>
            <a:off x="685800" y="44165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234440" y="429768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Métricas</a:t>
            </a:r>
            <a:endParaRPr lang="en-US" sz="1350" dirty="0"/>
          </a:p>
        </p:txBody>
      </p:sp>
      <p:sp>
        <p:nvSpPr>
          <p:cNvPr id="28" name="Text 26"/>
          <p:cNvSpPr txBox="1"/>
          <p:nvPr/>
        </p:nvSpPr>
        <p:spPr>
          <a:xfrm>
            <a:off x="4754880" y="429768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14 min</a:t>
            </a:r>
            <a:endParaRPr lang="en-US" sz="1250" dirty="0"/>
          </a:p>
        </p:txBody>
      </p:sp>
      <p:sp>
        <p:nvSpPr>
          <p:cNvPr id="29" name="Text 27"/>
          <p:cNvSpPr txBox="1"/>
          <p:nvPr/>
        </p:nvSpPr>
        <p:spPr>
          <a:xfrm>
            <a:off x="5760720" y="429768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La matriz con 0.5, AUC, KS y Gini por tramo, la curva ROC y los deciles.</a:t>
            </a:r>
            <a:endParaRPr lang="en-US" sz="1200" dirty="0"/>
          </a:p>
        </p:txBody>
      </p:sp>
      <p:sp>
        <p:nvSpPr>
          <p:cNvPr id="30" name="Shape 28"/>
          <p:cNvSpPr/>
          <p:nvPr/>
        </p:nvSpPr>
        <p:spPr>
          <a:xfrm>
            <a:off x="502920" y="5029200"/>
            <a:ext cx="11183112" cy="621792"/>
          </a:xfrm>
          <a:prstGeom prst="roundRect">
            <a:avLst>
              <a:gd name="adj" fmla="val 8824"/>
            </a:avLst>
          </a:prstGeom>
          <a:solidFill>
            <a:srgbClr val="FFFFFF"/>
          </a:solidFill>
          <a:ln w="9525">
            <a:solidFill>
              <a:srgbClr val="D2DBEC"/>
            </a:solidFill>
            <a:prstDash val="solid"/>
          </a:ln>
        </p:spPr>
      </p:sp>
      <p:sp>
        <p:nvSpPr>
          <p:cNvPr id="31" name="Shape 29"/>
          <p:cNvSpPr/>
          <p:nvPr/>
        </p:nvSpPr>
        <p:spPr>
          <a:xfrm>
            <a:off x="685800" y="5148072"/>
            <a:ext cx="384048" cy="384048"/>
          </a:xfrm>
          <a:prstGeom prst="ellipse">
            <a:avLst/>
          </a:prstGeom>
          <a:solidFill>
            <a:srgbClr val="0A2559"/>
          </a:solidFill>
          <a:ln w="12700">
            <a:solidFill>
              <a:srgbClr val="0A2559"/>
            </a:solidFill>
            <a:prstDash val="solid"/>
          </a:ln>
        </p:spPr>
      </p:sp>
      <p:sp>
        <p:nvSpPr>
          <p:cNvPr id="32" name="Text 30"/>
          <p:cNvSpPr txBox="1"/>
          <p:nvPr/>
        </p:nvSpPr>
        <p:spPr>
          <a:xfrm>
            <a:off x="685800" y="51480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1234440" y="502920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PSI</a:t>
            </a:r>
            <a:endParaRPr lang="en-US" sz="1350" dirty="0"/>
          </a:p>
        </p:txBody>
      </p:sp>
      <p:sp>
        <p:nvSpPr>
          <p:cNvPr id="34" name="Text 32"/>
          <p:cNvSpPr txBox="1"/>
          <p:nvPr/>
        </p:nvSpPr>
        <p:spPr>
          <a:xfrm>
            <a:off x="4754880" y="502920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6 min</a:t>
            </a:r>
            <a:endParaRPr lang="en-US" sz="1250" dirty="0"/>
          </a:p>
        </p:txBody>
      </p:sp>
      <p:sp>
        <p:nvSpPr>
          <p:cNvPr id="35" name="Text 33"/>
          <p:cNvSpPr txBox="1"/>
          <p:nvPr/>
        </p:nvSpPr>
        <p:spPr>
          <a:xfrm>
            <a:off x="5760720" y="502920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La función PSI y la tabla de estabilidad de 2010.</a:t>
            </a:r>
            <a:endParaRPr lang="en-US" sz="1200" dirty="0"/>
          </a:p>
        </p:txBody>
      </p:sp>
      <p:sp>
        <p:nvSpPr>
          <p:cNvPr id="36" name="Shape 34"/>
          <p:cNvSpPr/>
          <p:nvPr/>
        </p:nvSpPr>
        <p:spPr>
          <a:xfrm>
            <a:off x="502920" y="5852160"/>
            <a:ext cx="11183112" cy="457200"/>
          </a:xfrm>
          <a:prstGeom prst="roundRect">
            <a:avLst>
              <a:gd name="adj" fmla="val 12000"/>
            </a:avLst>
          </a:prstGeom>
          <a:solidFill>
            <a:srgbClr val="E9EEF8"/>
          </a:solidFill>
          <a:ln w="9525">
            <a:solidFill>
              <a:srgbClr val="D2DBEC"/>
            </a:solidFill>
            <a:prstDash val="solid"/>
          </a:ln>
        </p:spPr>
      </p:sp>
      <p:sp>
        <p:nvSpPr>
          <p:cNvPr id="37" name="Text 35"/>
          <p:cNvSpPr txBox="1"/>
          <p:nvPr/>
        </p:nvSpPr>
        <p:spPr>
          <a:xfrm>
            <a:off x="731520" y="5852160"/>
            <a:ext cx="10789920" cy="457200"/>
          </a:xfrm>
          <a:prstGeom prst="rect">
            <a:avLst/>
          </a:prstGeom>
          <a:noFill/>
          <a:ln/>
        </p:spPr>
        <p:txBody>
          <a:bodyPr wrap="square" lIns="0" tIns="0" rIns="0" bIns="0" rtlCol="0" anchor="ctr"/>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Reto para quien termine antes: </a:t>
            </a:r>
            <a:r>
              <a:rPr lang="en-US" sz="1200" dirty="0">
                <a:solidFill>
                  <a:srgbClr val="2C3A55"/>
                </a:solidFill>
                <a:latin typeface="Calibri" pitchFamily="34" charset="0"/>
                <a:ea typeface="Calibri" pitchFamily="34" charset="-122"/>
                <a:cs typeface="Calibri" pitchFamily="34" charset="-120"/>
              </a:rPr>
              <a:t>vuelve a pegar la macro del MISMO mes (sin rezago) y mide cuánto cambia el AUC aleatorio y el OOT.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411480"/>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411480"/>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CIERRE · 10 MIN</a:t>
            </a:r>
            <a:endParaRPr lang="en-US" sz="1100" dirty="0"/>
          </a:p>
        </p:txBody>
      </p:sp>
      <p:sp>
        <p:nvSpPr>
          <p:cNvPr id="4" name="Text 2"/>
          <p:cNvSpPr txBox="1"/>
          <p:nvPr/>
        </p:nvSpPr>
        <p:spPr>
          <a:xfrm>
            <a:off x="502920" y="914400"/>
            <a:ext cx="109728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Si te llevas una sola cosa</a:t>
            </a:r>
            <a:endParaRPr lang="en-US" sz="3200" dirty="0"/>
          </a:p>
        </p:txBody>
      </p:sp>
      <p:sp>
        <p:nvSpPr>
          <p:cNvPr id="5" name="Text 3"/>
          <p:cNvSpPr txBox="1"/>
          <p:nvPr/>
        </p:nvSpPr>
        <p:spPr>
          <a:xfrm>
            <a:off x="502920" y="1554480"/>
            <a:ext cx="11155680" cy="411480"/>
          </a:xfrm>
          <a:prstGeom prst="rect">
            <a:avLst/>
          </a:prstGeom>
          <a:noFill/>
          <a:ln/>
        </p:spPr>
        <p:txBody>
          <a:bodyPr wrap="square" lIns="0" tIns="0" rIns="0" bIns="0" rtlCol="0" anchor="ctr"/>
          <a:lstStyle/>
          <a:p>
            <a:pPr marL="0" indent="0">
              <a:buNone/>
            </a:pPr>
            <a:r>
              <a:rPr lang="en-US" sz="1450" i="1" dirty="0">
                <a:solidFill>
                  <a:srgbClr val="C9D4EA"/>
                </a:solidFill>
                <a:latin typeface="Calibri" pitchFamily="34" charset="0"/>
                <a:ea typeface="Calibri" pitchFamily="34" charset="-122"/>
                <a:cs typeface="Calibri" pitchFamily="34" charset="-120"/>
              </a:rPr>
              <a:t>Un AUC sin saber cómo se cortaron los datos y cuándo se conoce cada variable no significa nada.</a:t>
            </a:r>
            <a:endParaRPr lang="en-US" sz="1450" dirty="0"/>
          </a:p>
        </p:txBody>
      </p:sp>
      <p:sp>
        <p:nvSpPr>
          <p:cNvPr id="6" name="Shape 4"/>
          <p:cNvSpPr/>
          <p:nvPr/>
        </p:nvSpPr>
        <p:spPr>
          <a:xfrm>
            <a:off x="502920" y="2240280"/>
            <a:ext cx="6035040" cy="3611880"/>
          </a:xfrm>
          <a:prstGeom prst="roundRect">
            <a:avLst>
              <a:gd name="adj" fmla="val 1519"/>
            </a:avLst>
          </a:prstGeom>
          <a:solidFill>
            <a:srgbClr val="0F2F6B"/>
          </a:solidFill>
          <a:ln w="9525">
            <a:solidFill>
              <a:srgbClr val="1E3F7F"/>
            </a:solidFill>
            <a:prstDash val="solid"/>
          </a:ln>
        </p:spPr>
      </p:sp>
      <p:sp>
        <p:nvSpPr>
          <p:cNvPr id="7" name="Shape 5"/>
          <p:cNvSpPr/>
          <p:nvPr/>
        </p:nvSpPr>
        <p:spPr>
          <a:xfrm>
            <a:off x="731520" y="2487168"/>
            <a:ext cx="128016" cy="128016"/>
          </a:xfrm>
          <a:prstGeom prst="roundRect">
            <a:avLst>
              <a:gd name="adj" fmla="val 21429"/>
            </a:avLst>
          </a:prstGeom>
          <a:solidFill>
            <a:srgbClr val="E6115E"/>
          </a:solidFill>
          <a:ln w="12700">
            <a:solidFill>
              <a:srgbClr val="E6115E"/>
            </a:solidFill>
            <a:prstDash val="solid"/>
          </a:ln>
        </p:spPr>
      </p:sp>
      <p:sp>
        <p:nvSpPr>
          <p:cNvPr id="8" name="Text 6"/>
          <p:cNvSpPr txBox="1"/>
          <p:nvPr/>
        </p:nvSpPr>
        <p:spPr>
          <a:xfrm>
            <a:off x="960120" y="2377440"/>
            <a:ext cx="539496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Los números del día</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2743200"/>
          <a:ext cx="5577840" cy="2752344"/>
        </p:xfrm>
        <a:graphic>
          <a:graphicData uri="http://schemas.openxmlformats.org/drawingml/2006/table">
            <a:tbl>
              <a:tblPr/>
              <a:tblGrid>
                <a:gridCol w="3108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93192">
                <a:tc>
                  <a:txBody>
                    <a:bodyPr/>
                    <a:lstStyle/>
                    <a:p>
                      <a:pPr marL="0" indent="0" algn="l">
                        <a:buNone/>
                      </a:pP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b="1" dirty="0">
                          <a:solidFill>
                            <a:srgbClr val="A9B7D4"/>
                          </a:solidFill>
                          <a:latin typeface="Calibri" pitchFamily="34" charset="0"/>
                          <a:ea typeface="Calibri" pitchFamily="34" charset="-122"/>
                          <a:cs typeface="Calibri" pitchFamily="34" charset="-120"/>
                        </a:rPr>
                        <a:t>AUC</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b="1" dirty="0">
                          <a:solidFill>
                            <a:srgbClr val="A9B7D4"/>
                          </a:solidFill>
                          <a:latin typeface="Calibri" pitchFamily="34" charset="0"/>
                          <a:ea typeface="Calibri" pitchFamily="34" charset="-122"/>
                          <a:cs typeface="Calibri" pitchFamily="34" charset="-120"/>
                        </a:rPr>
                        <a:t>KS</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b="1" dirty="0">
                          <a:solidFill>
                            <a:srgbClr val="A9B7D4"/>
                          </a:solidFill>
                          <a:latin typeface="Calibri" pitchFamily="34" charset="0"/>
                          <a:ea typeface="Calibri" pitchFamily="34" charset="-122"/>
                          <a:cs typeface="Calibri" pitchFamily="34" charset="-120"/>
                        </a:rPr>
                        <a:t>Gini</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0"/>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Aleatorio, con la fuga de duración</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8595B5"/>
                          </a:solidFill>
                          <a:latin typeface="Calibri" pitchFamily="34" charset="0"/>
                          <a:ea typeface="Calibri" pitchFamily="34" charset="-122"/>
                          <a:cs typeface="Calibri" pitchFamily="34" charset="-120"/>
                        </a:rPr>
                        <a:t>0.891</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1"/>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Aleatorio, con macro</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8595B5"/>
                          </a:solidFill>
                          <a:latin typeface="Calibri" pitchFamily="34" charset="0"/>
                          <a:ea typeface="Calibri" pitchFamily="34" charset="-122"/>
                          <a:cs typeface="Calibri" pitchFamily="34" charset="-120"/>
                        </a:rPr>
                        <a:t>0.786</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2"/>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Aleatorio, sin macro</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0.727</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3"/>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Temporal · validación 2009</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0.619</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0.211</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0.239</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4"/>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Temporal · OOT 2010</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6B9A"/>
                          </a:solidFill>
                          <a:latin typeface="Calibri" pitchFamily="34" charset="0"/>
                          <a:ea typeface="Calibri" pitchFamily="34" charset="-122"/>
                          <a:cs typeface="Calibri" pitchFamily="34" charset="-120"/>
                        </a:rPr>
                        <a:t>0.704</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6B9A"/>
                          </a:solidFill>
                          <a:latin typeface="Calibri" pitchFamily="34" charset="0"/>
                          <a:ea typeface="Calibri" pitchFamily="34" charset="-122"/>
                          <a:cs typeface="Calibri" pitchFamily="34" charset="-120"/>
                        </a:rPr>
                        <a:t>0.319</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6B9A"/>
                          </a:solidFill>
                          <a:latin typeface="Calibri" pitchFamily="34" charset="0"/>
                          <a:ea typeface="Calibri" pitchFamily="34" charset="-122"/>
                          <a:cs typeface="Calibri" pitchFamily="34" charset="-120"/>
                        </a:rPr>
                        <a:t>0.408</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5"/>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PSI del score en 2010</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6"/>
                  </a:ext>
                </a:extLst>
              </a:tr>
            </a:tbl>
          </a:graphicData>
        </a:graphic>
      </p:graphicFrame>
      <p:sp>
        <p:nvSpPr>
          <p:cNvPr id="10" name="Shape 7"/>
          <p:cNvSpPr/>
          <p:nvPr/>
        </p:nvSpPr>
        <p:spPr>
          <a:xfrm>
            <a:off x="6812280" y="2240280"/>
            <a:ext cx="4873752" cy="1737360"/>
          </a:xfrm>
          <a:prstGeom prst="roundRect">
            <a:avLst>
              <a:gd name="adj" fmla="val 3158"/>
            </a:avLst>
          </a:prstGeom>
          <a:solidFill>
            <a:srgbClr val="FFFFFF"/>
          </a:solidFill>
          <a:ln w="9525">
            <a:solidFill>
              <a:srgbClr val="FFFFFF"/>
            </a:solidFill>
            <a:prstDash val="solid"/>
          </a:ln>
        </p:spPr>
      </p:sp>
      <p:sp>
        <p:nvSpPr>
          <p:cNvPr id="11" name="Shape 8"/>
          <p:cNvSpPr/>
          <p:nvPr/>
        </p:nvSpPr>
        <p:spPr>
          <a:xfrm>
            <a:off x="7040880" y="2487168"/>
            <a:ext cx="128016" cy="128016"/>
          </a:xfrm>
          <a:prstGeom prst="roundRect">
            <a:avLst>
              <a:gd name="adj" fmla="val 21429"/>
            </a:avLst>
          </a:prstGeom>
          <a:solidFill>
            <a:srgbClr val="E6115E"/>
          </a:solidFill>
          <a:ln w="12700">
            <a:solidFill>
              <a:srgbClr val="E6115E"/>
            </a:solidFill>
            <a:prstDash val="solid"/>
          </a:ln>
        </p:spPr>
      </p:sp>
      <p:sp>
        <p:nvSpPr>
          <p:cNvPr id="12" name="Text 9"/>
          <p:cNvSpPr txBox="1"/>
          <p:nvPr/>
        </p:nvSpPr>
        <p:spPr>
          <a:xfrm>
            <a:off x="7269480" y="2377440"/>
            <a:ext cx="423367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Próxima clase · miércoles 14/10</a:t>
            </a:r>
            <a:endParaRPr lang="en-US" sz="1400" dirty="0"/>
          </a:p>
        </p:txBody>
      </p:sp>
      <p:sp>
        <p:nvSpPr>
          <p:cNvPr id="13" name="Text 10"/>
          <p:cNvSpPr txBox="1"/>
          <p:nvPr/>
        </p:nvSpPr>
        <p:spPr>
          <a:xfrm>
            <a:off x="7040880" y="2743200"/>
            <a:ext cx="4434840" cy="1188720"/>
          </a:xfrm>
          <a:prstGeom prst="rect">
            <a:avLst/>
          </a:prstGeom>
          <a:noFill/>
          <a:ln/>
        </p:spPr>
        <p:txBody>
          <a:bodyPr wrap="square" lIns="0" tIns="0" rIns="0" bIns="0" rtlCol="0" anchor="t"/>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Clase 7 · Árboles de clasificación, KNN, SVC y el umbral</a:t>
            </a:r>
            <a:endParaRPr lang="en-US" sz="1200" dirty="0"/>
          </a:p>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Mismo caso: ¿un modelo no lineal ordena mejor? ¿Y dónde corto la lista si cada llamada cuesta?</a:t>
            </a:r>
            <a:endParaRPr lang="en-US" sz="1200" dirty="0"/>
          </a:p>
        </p:txBody>
      </p:sp>
      <p:sp>
        <p:nvSpPr>
          <p:cNvPr id="14" name="Shape 11"/>
          <p:cNvSpPr/>
          <p:nvPr/>
        </p:nvSpPr>
        <p:spPr>
          <a:xfrm>
            <a:off x="6812280" y="4160520"/>
            <a:ext cx="4873752" cy="1691640"/>
          </a:xfrm>
          <a:prstGeom prst="roundRect">
            <a:avLst>
              <a:gd name="adj" fmla="val 3243"/>
            </a:avLst>
          </a:prstGeom>
          <a:solidFill>
            <a:srgbClr val="0F2F6B"/>
          </a:solidFill>
          <a:ln w="9525">
            <a:solidFill>
              <a:srgbClr val="1E3F7F"/>
            </a:solidFill>
            <a:prstDash val="solid"/>
          </a:ln>
        </p:spPr>
      </p:sp>
      <p:sp>
        <p:nvSpPr>
          <p:cNvPr id="15" name="Shape 12"/>
          <p:cNvSpPr/>
          <p:nvPr/>
        </p:nvSpPr>
        <p:spPr>
          <a:xfrm>
            <a:off x="7040880" y="4407408"/>
            <a:ext cx="128016" cy="128016"/>
          </a:xfrm>
          <a:prstGeom prst="roundRect">
            <a:avLst>
              <a:gd name="adj" fmla="val 21429"/>
            </a:avLst>
          </a:prstGeom>
          <a:solidFill>
            <a:srgbClr val="4A82FF"/>
          </a:solidFill>
          <a:ln w="12700">
            <a:solidFill>
              <a:srgbClr val="4A82FF"/>
            </a:solidFill>
            <a:prstDash val="solid"/>
          </a:ln>
        </p:spPr>
      </p:sp>
      <p:sp>
        <p:nvSpPr>
          <p:cNvPr id="16" name="Text 13"/>
          <p:cNvSpPr txBox="1"/>
          <p:nvPr/>
        </p:nvSpPr>
        <p:spPr>
          <a:xfrm>
            <a:off x="7269480" y="4297680"/>
            <a:ext cx="423367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Checklist de salida</a:t>
            </a:r>
            <a:endParaRPr lang="en-US" sz="1400" dirty="0"/>
          </a:p>
        </p:txBody>
      </p:sp>
      <p:sp>
        <p:nvSpPr>
          <p:cNvPr id="17" name="Text 14"/>
          <p:cNvSpPr txBox="1"/>
          <p:nvPr/>
        </p:nvSpPr>
        <p:spPr>
          <a:xfrm>
            <a:off x="7040880" y="4617720"/>
            <a:ext cx="4480560" cy="11887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Pego con validate y cuento filas</a:t>
            </a:r>
            <a:endParaRPr lang="en-US" sz="1150" dirty="0"/>
          </a:p>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Pregunto cuándo se conoce cada variable</a:t>
            </a:r>
            <a:endParaRPr lang="en-US" sz="1150" dirty="0"/>
          </a:p>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Con tiempo, corto por tiempo</a:t>
            </a:r>
            <a:endParaRPr lang="en-US" sz="1150" dirty="0"/>
          </a:p>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Leo odds ratios y elijo la métrica con el negocio</a:t>
            </a:r>
            <a:endParaRPr lang="en-US" sz="1150" dirty="0"/>
          </a:p>
        </p:txBody>
      </p:sp>
      <p:sp>
        <p:nvSpPr>
          <p:cNvPr id="9" name="Text 15"/>
          <p:cNvSpPr txBox="1"/>
          <p:nvPr/>
        </p:nvSpPr>
        <p:spPr>
          <a:xfrm>
            <a:off x="502920" y="6217920"/>
            <a:ext cx="109728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Curso 7 · Clase 6 de 15 · Docente: Josef Renato Rodriguez</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3462</Words>
  <Application>Microsoft Macintosh PowerPoint</Application>
  <PresentationFormat>Widescreen</PresentationFormat>
  <Paragraphs>470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6 · Regresión logística y la campaña del banco</dc:title>
  <dc:subject>PptxGenJS Presentation</dc:subject>
  <dc:creator>Josef Renato Rodriguez</dc:creator>
  <cp:lastModifiedBy>Josef Rodriguez</cp:lastModifiedBy>
  <cp:revision>2</cp:revision>
  <dcterms:created xsi:type="dcterms:W3CDTF">2026-10-12T15:41:46Z</dcterms:created>
  <dcterms:modified xsi:type="dcterms:W3CDTF">2026-10-13T00:52:39Z</dcterms:modified>
</cp:coreProperties>
</file>