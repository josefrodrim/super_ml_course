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clase de hoy no presenta un modelo nuevo: junta todo lo del Módulo 1 en un proyecto completo. La columna de la derecha es la receta de 8 pasos que van a repetir en la tarea con otro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apertura: ¿cuánto tiempo de un proyecto real creen que se va en entrenar el modelo? La mayoría de los equipos dice que poco: lo largo es entender el problema, conseguir y limpiar los datos y dejar el modelo usable. Hoy recorremos todo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vas retrasado, el caso de Zillow del Paso 8 se cuenta en un minuto. Los pasos 6 y 7 no se recortan. Deja los últimos 10 minutos para explicar la tarea con calma.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conviene dejar proyectada durante el laboratorio. Los pasos 1 a 5 corresponden a entender el negocio, entender y preparar los datos en CRISP-DM; el 6 y el 7 a modelar; el 8 a evaluar y desplegar.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Paso 1 del notebook, que es solo texto. Insiste en que se escribe antes de abrir los datos: si eliges la métrica después de ver los resultados, te vas a quedar con la que mejor te deja.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2.1 y la demostración 2.2. La asimetría de 1.74 indica una cola larga de casas caras; en logaritmo queda en casi cero. Eso justifica entrenar con log(precio) en el Paso 6. De Cock armó este dataset justamente para cursos como este, como reemplazo del viejo dataset de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3.1. La diferencia con las Clases 2 a 4: allí estratificábamos por ocean_proximity, una categoría. Aquí el objetivo es numérico y asimétrico, así que lo convertimos en 5 grupos de precio solo para estratificar. Pregunta al grupo: ¿por qué no cortar después de limpiar? Porque las decisiones de limpieza se toman mirando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4.1 y las demostraciones 4.2 y 4.3. Todo se calcula con X_train y y_train. Las casas de más de 4 000 pies² no son errores de captura: son casos fuera de lo común. Lo que se decide con ellas es el alcance del modelo, en el paso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5.1: completan edad, area_total, banos y garage_type. Pregunta clave: ¿por qué la mediana para rellenar lot_frontage NO va aquí? Porque se calcula con los datos; si la calculas con todo el entrenamiento antes de la validación cruzada, cada partición de validación ya influyó en el relleno. Va en el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6.1 y la función armar(). Recorre el diagrama de izquierda a derecha con una casa concreta. El logaritmo va en TransformedTargetRegressor: el modelo aprende log(precio) y la predicción se devuelve en dólares, así las métricas salen en USD sin hacer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7.1. Tarda unos 20 segundos; el Random Forest es el más lento. La barra fina muestra la variabilidad entre las 5 particiones: si dos modelos se superponen, no hay evidencia de que uno sea mejor. Esa es la razón de usar validación cruzada y no un solo corte de validación.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demostración 7.2 y la discusión de la tabla. El 39 % y el 7 % comparan MAE en prueba en California y en validación cruzada en Ames; la idea es el orden de magnitud. En un comité, Ridge con 1 000 USD más de error y coeficientes legibles puede ganarle a XGBoost.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8.1 y la demostración 8.2. Ridge empata con XGBoost en R² y RMSE en la prueba, y pierde por unos 1 000 USD de MAE: otro argumento para discutir qué modelo llevar. El error por segmento es lo que pide un comité: para qué casas confiar y para cuáles pedir una tasación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8.3. Zillow es un caso útil porque tenía una de las mejores bases de datos de viviendas de EE. UU. El problema no fue un modelo mal entrenado, sino usarlo para comprar a gran escala en un mercado que cambió más rápido de lo que el modelo podía seguir. En el Módulo 4 (Clase 16) vemos despliegue y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primeros son formas de fuga de información o de sobreoptimismo. El quinto es de comunicación. El sexto es técnico pero muy común: en la tarea, el color de los diamantes va de J (peor) a D (mejor), al revés del alfabeto.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Avisa que el Paso 7 tarda unos 20 segundos. Si alguien no puede descargar los datos, que suba ames_housing.csv con el botón de archivos de Colab. Si el grupo va lento, las demostraciones 4.2, 4.3 y 8.2 se pueden solo ejecutar y mirar.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plantilla trae el enunciado, las reglas, la rúbrica y la celda de carga lista. La fecha de entrega queda en blanco en el notebook para que la completes. Pistas que vale la pena decir en voz alta: el precio es asimétrico como en Ames; hay diamantes con medidas en cero; y en color, D es el mejor. Random Forest con 43 000 filas tarda, y SVR no es viable con todas: que usen una muestra si lo quieren probar.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Módulo 1. Recuerda la fecha de entrega de la tarea. Pregunta de salida: ¿cuál de los 8 pasos creen que les va a costar más con los diamantes? Casi siempre es el 5: decidir qué hacer con los datos raros.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960120"/>
            <a:ext cx="301752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301752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CLASE 5 · PROYECTO COMPLETO</a:t>
            </a:r>
            <a:endParaRPr lang="en-US" sz="1100" dirty="0"/>
          </a:p>
        </p:txBody>
      </p:sp>
      <p:sp>
        <p:nvSpPr>
          <p:cNvPr id="4" name="Text 2"/>
          <p:cNvSpPr txBox="1"/>
          <p:nvPr/>
        </p:nvSpPr>
        <p:spPr>
          <a:xfrm>
            <a:off x="502920" y="1508760"/>
            <a:ext cx="6400800" cy="146304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De los datos</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al modelo</a:t>
            </a:r>
            <a:endParaRPr lang="en-US" sz="4000" dirty="0"/>
          </a:p>
        </p:txBody>
      </p:sp>
      <p:sp>
        <p:nvSpPr>
          <p:cNvPr id="5" name="Text 3"/>
          <p:cNvSpPr txBox="1"/>
          <p:nvPr/>
        </p:nvSpPr>
        <p:spPr>
          <a:xfrm>
            <a:off x="530352" y="3246120"/>
            <a:ext cx="6217920" cy="731520"/>
          </a:xfrm>
          <a:prstGeom prst="rect">
            <a:avLst/>
          </a:prstGeom>
          <a:noFill/>
          <a:ln/>
        </p:spPr>
        <p:txBody>
          <a:bodyPr wrap="square" lIns="0" tIns="0" rIns="0" bIns="0" rtlCol="0" anchor="t"/>
          <a:lstStyle/>
          <a:p>
            <a:pPr indent="0" marL="0">
              <a:buNone/>
            </a:pPr>
            <a:r>
              <a:rPr lang="en-US" sz="1500" dirty="0">
                <a:solidFill>
                  <a:srgbClr val="C9D4EA"/>
                </a:solidFill>
                <a:latin typeface="Calibri" pitchFamily="34" charset="0"/>
                <a:ea typeface="Calibri" pitchFamily="34" charset="-122"/>
                <a:cs typeface="Calibri" pitchFamily="34" charset="-120"/>
              </a:rPr>
              <a:t>Un proyecto de machine learning de punta a punta,</a:t>
            </a:r>
            <a:endParaRPr lang="en-US" sz="1500" dirty="0"/>
          </a:p>
          <a:p>
            <a:pPr indent="0" marL="0">
              <a:buNone/>
            </a:pPr>
            <a:r>
              <a:rPr lang="en-US" sz="1500" dirty="0">
                <a:solidFill>
                  <a:srgbClr val="C9D4EA"/>
                </a:solidFill>
                <a:latin typeface="Calibri" pitchFamily="34" charset="0"/>
                <a:ea typeface="Calibri" pitchFamily="34" charset="-122"/>
                <a:cs typeface="Calibri" pitchFamily="34" charset="-120"/>
              </a:rPr>
              <a:t>con ventas reales de viviendas. Y la tarea para repetirlo.</a:t>
            </a:r>
            <a:endParaRPr lang="en-US" sz="1500" dirty="0"/>
          </a:p>
        </p:txBody>
      </p:sp>
      <p:sp>
        <p:nvSpPr>
          <p:cNvPr id="6" name="Text 4"/>
          <p:cNvSpPr txBox="1"/>
          <p:nvPr/>
        </p:nvSpPr>
        <p:spPr>
          <a:xfrm>
            <a:off x="53035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8 pasos</a:t>
            </a:r>
            <a:endParaRPr lang="en-US" sz="1800" dirty="0"/>
          </a:p>
        </p:txBody>
      </p:sp>
      <p:sp>
        <p:nvSpPr>
          <p:cNvPr id="7" name="Text 5"/>
          <p:cNvSpPr txBox="1"/>
          <p:nvPr/>
        </p:nvSpPr>
        <p:spPr>
          <a:xfrm>
            <a:off x="53035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de la pregunta al modelo guardado</a:t>
            </a:r>
            <a:endParaRPr lang="en-US" sz="1150" dirty="0"/>
          </a:p>
        </p:txBody>
      </p:sp>
      <p:sp>
        <p:nvSpPr>
          <p:cNvPr id="8" name="Text 6"/>
          <p:cNvSpPr txBox="1"/>
          <p:nvPr/>
        </p:nvSpPr>
        <p:spPr>
          <a:xfrm>
            <a:off x="263347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2 930 casas</a:t>
            </a:r>
            <a:endParaRPr lang="en-US" sz="1800" dirty="0"/>
          </a:p>
        </p:txBody>
      </p:sp>
      <p:sp>
        <p:nvSpPr>
          <p:cNvPr id="9" name="Text 7"/>
          <p:cNvSpPr txBox="1"/>
          <p:nvPr/>
        </p:nvSpPr>
        <p:spPr>
          <a:xfrm>
            <a:off x="263347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ventas reales en Ames, Iowa</a:t>
            </a:r>
            <a:endParaRPr lang="en-US" sz="1150" dirty="0"/>
          </a:p>
        </p:txBody>
      </p:sp>
      <p:sp>
        <p:nvSpPr>
          <p:cNvPr id="10" name="Text 8"/>
          <p:cNvSpPr txBox="1"/>
          <p:nvPr/>
        </p:nvSpPr>
        <p:spPr>
          <a:xfrm>
            <a:off x="473659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MAPE 8.0 %</a:t>
            </a:r>
            <a:endParaRPr lang="en-US" sz="1800" dirty="0"/>
          </a:p>
        </p:txBody>
      </p:sp>
      <p:sp>
        <p:nvSpPr>
          <p:cNvPr id="11" name="Text 9"/>
          <p:cNvSpPr txBox="1"/>
          <p:nvPr/>
        </p:nvSpPr>
        <p:spPr>
          <a:xfrm>
            <a:off x="473659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error típico en prueba</a:t>
            </a:r>
            <a:endParaRPr lang="en-US" sz="1150" dirty="0"/>
          </a:p>
        </p:txBody>
      </p:sp>
      <p:sp>
        <p:nvSpPr>
          <p:cNvPr id="12" name="Text 10"/>
          <p:cNvSpPr txBox="1"/>
          <p:nvPr/>
        </p:nvSpPr>
        <p:spPr>
          <a:xfrm>
            <a:off x="530352" y="5440680"/>
            <a:ext cx="5943600" cy="320040"/>
          </a:xfrm>
          <a:prstGeom prst="rect">
            <a:avLst/>
          </a:prstGeom>
          <a:noFill/>
          <a:ln/>
        </p:spPr>
        <p:txBody>
          <a:bodyPr wrap="square" lIns="0" tIns="0" rIns="0" bIns="0" rtlCol="0" anchor="ctr"/>
          <a:lstStyle/>
          <a:p>
            <a:pPr indent="0" marL="0">
              <a:buNone/>
            </a:pPr>
            <a:r>
              <a:rPr lang="en-US" sz="1400" dirty="0">
                <a:solidFill>
                  <a:srgbClr val="A9B7D4"/>
                </a:solidFill>
                <a:latin typeface="Calibri" pitchFamily="34" charset="0"/>
                <a:ea typeface="Calibri" pitchFamily="34" charset="-122"/>
                <a:cs typeface="Calibri" pitchFamily="34" charset="-120"/>
              </a:rPr>
              <a:t>Docente  </a:t>
            </a:r>
            <a:pPr indent="0" marL="0">
              <a:buNone/>
            </a:pPr>
            <a:r>
              <a:rPr lang="en-US" sz="1400" b="1" dirty="0">
                <a:solidFill>
                  <a:srgbClr val="FFFFFF"/>
                </a:solidFill>
                <a:latin typeface="Calibri" pitchFamily="34" charset="0"/>
                <a:ea typeface="Calibri" pitchFamily="34" charset="-122"/>
                <a:cs typeface="Calibri" pitchFamily="34" charset="-120"/>
              </a:rPr>
              <a:t>Josef Renato Rodriguez</a:t>
            </a:r>
            <a:endParaRPr lang="en-US" sz="14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Programa de Especialización Data Scientist · Sesión 5 de 16</a:t>
            </a:r>
            <a:endParaRPr lang="en-US" sz="1050" dirty="0"/>
          </a:p>
        </p:txBody>
      </p:sp>
      <p:sp>
        <p:nvSpPr>
          <p:cNvPr id="14" name="Shape 12"/>
          <p:cNvSpPr/>
          <p:nvPr/>
        </p:nvSpPr>
        <p:spPr>
          <a:xfrm>
            <a:off x="7589520" y="1097280"/>
            <a:ext cx="420624" cy="420624"/>
          </a:xfrm>
          <a:prstGeom prst="ellipse">
            <a:avLst/>
          </a:prstGeom>
          <a:solidFill>
            <a:srgbClr val="1E3F7F"/>
          </a:solidFill>
          <a:ln/>
        </p:spPr>
      </p:sp>
      <p:sp>
        <p:nvSpPr>
          <p:cNvPr id="15" name="Text 13"/>
          <p:cNvSpPr txBox="1"/>
          <p:nvPr/>
        </p:nvSpPr>
        <p:spPr>
          <a:xfrm>
            <a:off x="7589520" y="1097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Shape 14"/>
          <p:cNvSpPr/>
          <p:nvPr/>
        </p:nvSpPr>
        <p:spPr>
          <a:xfrm>
            <a:off x="7799832" y="1517904"/>
            <a:ext cx="0" cy="182880"/>
          </a:xfrm>
          <a:prstGeom prst="line">
            <a:avLst/>
          </a:prstGeom>
          <a:noFill/>
          <a:ln w="15875">
            <a:solidFill>
              <a:srgbClr val="2F4B85"/>
            </a:solidFill>
            <a:prstDash val="solid"/>
          </a:ln>
        </p:spPr>
      </p:sp>
      <p:sp>
        <p:nvSpPr>
          <p:cNvPr id="17" name="Text 15"/>
          <p:cNvSpPr txBox="1"/>
          <p:nvPr/>
        </p:nvSpPr>
        <p:spPr>
          <a:xfrm>
            <a:off x="8183880" y="1069848"/>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Problema</a:t>
            </a:r>
            <a:endParaRPr lang="en-US" sz="1300" dirty="0"/>
          </a:p>
        </p:txBody>
      </p:sp>
      <p:sp>
        <p:nvSpPr>
          <p:cNvPr id="18" name="Text 16"/>
          <p:cNvSpPr txBox="1"/>
          <p:nvPr/>
        </p:nvSpPr>
        <p:spPr>
          <a:xfrm>
            <a:off x="8183880" y="1316736"/>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decisión, métrica, vara y alcance</a:t>
            </a:r>
            <a:endParaRPr lang="en-US" sz="1050" dirty="0"/>
          </a:p>
        </p:txBody>
      </p:sp>
      <p:sp>
        <p:nvSpPr>
          <p:cNvPr id="19" name="Shape 17"/>
          <p:cNvSpPr/>
          <p:nvPr/>
        </p:nvSpPr>
        <p:spPr>
          <a:xfrm>
            <a:off x="7589520" y="1700784"/>
            <a:ext cx="420624" cy="420624"/>
          </a:xfrm>
          <a:prstGeom prst="ellipse">
            <a:avLst/>
          </a:prstGeom>
          <a:solidFill>
            <a:srgbClr val="1E3F7F"/>
          </a:solidFill>
          <a:ln/>
        </p:spPr>
      </p:sp>
      <p:sp>
        <p:nvSpPr>
          <p:cNvPr id="20" name="Text 18"/>
          <p:cNvSpPr txBox="1"/>
          <p:nvPr/>
        </p:nvSpPr>
        <p:spPr>
          <a:xfrm>
            <a:off x="7589520"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Shape 19"/>
          <p:cNvSpPr/>
          <p:nvPr/>
        </p:nvSpPr>
        <p:spPr>
          <a:xfrm>
            <a:off x="7799832" y="2121408"/>
            <a:ext cx="0" cy="182880"/>
          </a:xfrm>
          <a:prstGeom prst="line">
            <a:avLst/>
          </a:prstGeom>
          <a:noFill/>
          <a:ln w="15875">
            <a:solidFill>
              <a:srgbClr val="2F4B85"/>
            </a:solidFill>
            <a:prstDash val="solid"/>
          </a:ln>
        </p:spPr>
      </p:sp>
      <p:sp>
        <p:nvSpPr>
          <p:cNvPr id="22" name="Text 20"/>
          <p:cNvSpPr txBox="1"/>
          <p:nvPr/>
        </p:nvSpPr>
        <p:spPr>
          <a:xfrm>
            <a:off x="8183880" y="1673352"/>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Datos</a:t>
            </a:r>
            <a:endParaRPr lang="en-US" sz="1300" dirty="0"/>
          </a:p>
        </p:txBody>
      </p:sp>
      <p:sp>
        <p:nvSpPr>
          <p:cNvPr id="23" name="Text 21"/>
          <p:cNvSpPr txBox="1"/>
          <p:nvPr/>
        </p:nvSpPr>
        <p:spPr>
          <a:xfrm>
            <a:off x="8183880" y="1920240"/>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tamaño, duplicados, faltantes, objetivo</a:t>
            </a:r>
            <a:endParaRPr lang="en-US" sz="1050" dirty="0"/>
          </a:p>
        </p:txBody>
      </p:sp>
      <p:sp>
        <p:nvSpPr>
          <p:cNvPr id="24" name="Shape 22"/>
          <p:cNvSpPr/>
          <p:nvPr/>
        </p:nvSpPr>
        <p:spPr>
          <a:xfrm>
            <a:off x="7589520" y="2304288"/>
            <a:ext cx="420624" cy="420624"/>
          </a:xfrm>
          <a:prstGeom prst="ellipse">
            <a:avLst/>
          </a:prstGeom>
          <a:solidFill>
            <a:srgbClr val="1E3F7F"/>
          </a:solidFill>
          <a:ln/>
        </p:spPr>
      </p:sp>
      <p:sp>
        <p:nvSpPr>
          <p:cNvPr id="25" name="Text 23"/>
          <p:cNvSpPr txBox="1"/>
          <p:nvPr/>
        </p:nvSpPr>
        <p:spPr>
          <a:xfrm>
            <a:off x="7589520" y="23042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6" name="Shape 24"/>
          <p:cNvSpPr/>
          <p:nvPr/>
        </p:nvSpPr>
        <p:spPr>
          <a:xfrm>
            <a:off x="7799832" y="2724912"/>
            <a:ext cx="0" cy="182880"/>
          </a:xfrm>
          <a:prstGeom prst="line">
            <a:avLst/>
          </a:prstGeom>
          <a:noFill/>
          <a:ln w="15875">
            <a:solidFill>
              <a:srgbClr val="2F4B85"/>
            </a:solidFill>
            <a:prstDash val="solid"/>
          </a:ln>
        </p:spPr>
      </p:sp>
      <p:sp>
        <p:nvSpPr>
          <p:cNvPr id="27" name="Text 25"/>
          <p:cNvSpPr txBox="1"/>
          <p:nvPr/>
        </p:nvSpPr>
        <p:spPr>
          <a:xfrm>
            <a:off x="8183880" y="2276856"/>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Separar</a:t>
            </a:r>
            <a:endParaRPr lang="en-US" sz="1300" dirty="0"/>
          </a:p>
        </p:txBody>
      </p:sp>
      <p:sp>
        <p:nvSpPr>
          <p:cNvPr id="28" name="Text 26"/>
          <p:cNvSpPr txBox="1"/>
          <p:nvPr/>
        </p:nvSpPr>
        <p:spPr>
          <a:xfrm>
            <a:off x="8183880" y="2523744"/>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la prueba, antes de mirar</a:t>
            </a:r>
            <a:endParaRPr lang="en-US" sz="1050" dirty="0"/>
          </a:p>
        </p:txBody>
      </p:sp>
      <p:sp>
        <p:nvSpPr>
          <p:cNvPr id="29" name="Shape 27"/>
          <p:cNvSpPr/>
          <p:nvPr/>
        </p:nvSpPr>
        <p:spPr>
          <a:xfrm>
            <a:off x="7589520" y="2907792"/>
            <a:ext cx="420624" cy="420624"/>
          </a:xfrm>
          <a:prstGeom prst="ellipse">
            <a:avLst/>
          </a:prstGeom>
          <a:solidFill>
            <a:srgbClr val="1E3F7F"/>
          </a:solidFill>
          <a:ln/>
        </p:spPr>
      </p:sp>
      <p:sp>
        <p:nvSpPr>
          <p:cNvPr id="30" name="Text 28"/>
          <p:cNvSpPr txBox="1"/>
          <p:nvPr/>
        </p:nvSpPr>
        <p:spPr>
          <a:xfrm>
            <a:off x="7589520" y="29077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1" name="Shape 29"/>
          <p:cNvSpPr/>
          <p:nvPr/>
        </p:nvSpPr>
        <p:spPr>
          <a:xfrm>
            <a:off x="7799832" y="3328416"/>
            <a:ext cx="0" cy="182880"/>
          </a:xfrm>
          <a:prstGeom prst="line">
            <a:avLst/>
          </a:prstGeom>
          <a:noFill/>
          <a:ln w="15875">
            <a:solidFill>
              <a:srgbClr val="2F4B85"/>
            </a:solidFill>
            <a:prstDash val="solid"/>
          </a:ln>
        </p:spPr>
      </p:sp>
      <p:sp>
        <p:nvSpPr>
          <p:cNvPr id="32" name="Text 30"/>
          <p:cNvSpPr txBox="1"/>
          <p:nvPr/>
        </p:nvSpPr>
        <p:spPr>
          <a:xfrm>
            <a:off x="8183880" y="2880360"/>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Explorar</a:t>
            </a:r>
            <a:endParaRPr lang="en-US" sz="1300" dirty="0"/>
          </a:p>
        </p:txBody>
      </p:sp>
      <p:sp>
        <p:nvSpPr>
          <p:cNvPr id="33" name="Text 31"/>
          <p:cNvSpPr txBox="1"/>
          <p:nvPr/>
        </p:nvSpPr>
        <p:spPr>
          <a:xfrm>
            <a:off x="8183880" y="3127248"/>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solo con entrenamiento</a:t>
            </a:r>
            <a:endParaRPr lang="en-US" sz="1050" dirty="0"/>
          </a:p>
        </p:txBody>
      </p:sp>
      <p:sp>
        <p:nvSpPr>
          <p:cNvPr id="34" name="Shape 32"/>
          <p:cNvSpPr/>
          <p:nvPr/>
        </p:nvSpPr>
        <p:spPr>
          <a:xfrm>
            <a:off x="7589520" y="3511296"/>
            <a:ext cx="420624" cy="420624"/>
          </a:xfrm>
          <a:prstGeom prst="ellipse">
            <a:avLst/>
          </a:prstGeom>
          <a:solidFill>
            <a:srgbClr val="1E3F7F"/>
          </a:solidFill>
          <a:ln/>
        </p:spPr>
      </p:sp>
      <p:sp>
        <p:nvSpPr>
          <p:cNvPr id="35" name="Text 33"/>
          <p:cNvSpPr txBox="1"/>
          <p:nvPr/>
        </p:nvSpPr>
        <p:spPr>
          <a:xfrm>
            <a:off x="7589520" y="35112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6" name="Shape 34"/>
          <p:cNvSpPr/>
          <p:nvPr/>
        </p:nvSpPr>
        <p:spPr>
          <a:xfrm>
            <a:off x="7799832" y="3931920"/>
            <a:ext cx="0" cy="182880"/>
          </a:xfrm>
          <a:prstGeom prst="line">
            <a:avLst/>
          </a:prstGeom>
          <a:noFill/>
          <a:ln w="15875">
            <a:solidFill>
              <a:srgbClr val="2F4B85"/>
            </a:solidFill>
            <a:prstDash val="solid"/>
          </a:ln>
        </p:spPr>
      </p:sp>
      <p:sp>
        <p:nvSpPr>
          <p:cNvPr id="37" name="Text 35"/>
          <p:cNvSpPr txBox="1"/>
          <p:nvPr/>
        </p:nvSpPr>
        <p:spPr>
          <a:xfrm>
            <a:off x="8183880" y="3483864"/>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Limpiar y crear</a:t>
            </a:r>
            <a:endParaRPr lang="en-US" sz="1300" dirty="0"/>
          </a:p>
        </p:txBody>
      </p:sp>
      <p:sp>
        <p:nvSpPr>
          <p:cNvPr id="38" name="Text 36"/>
          <p:cNvSpPr txBox="1"/>
          <p:nvPr/>
        </p:nvSpPr>
        <p:spPr>
          <a:xfrm>
            <a:off x="8183880" y="3730752"/>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una función que no aprende</a:t>
            </a:r>
            <a:endParaRPr lang="en-US" sz="1050" dirty="0"/>
          </a:p>
        </p:txBody>
      </p:sp>
      <p:sp>
        <p:nvSpPr>
          <p:cNvPr id="39" name="Shape 37"/>
          <p:cNvSpPr/>
          <p:nvPr/>
        </p:nvSpPr>
        <p:spPr>
          <a:xfrm>
            <a:off x="7589520" y="4114800"/>
            <a:ext cx="420624" cy="420624"/>
          </a:xfrm>
          <a:prstGeom prst="ellipse">
            <a:avLst/>
          </a:prstGeom>
          <a:solidFill>
            <a:srgbClr val="1E3F7F"/>
          </a:solidFill>
          <a:ln/>
        </p:spPr>
      </p:sp>
      <p:sp>
        <p:nvSpPr>
          <p:cNvPr id="40" name="Text 38"/>
          <p:cNvSpPr txBox="1"/>
          <p:nvPr/>
        </p:nvSpPr>
        <p:spPr>
          <a:xfrm>
            <a:off x="7589520" y="4114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1" name="Shape 39"/>
          <p:cNvSpPr/>
          <p:nvPr/>
        </p:nvSpPr>
        <p:spPr>
          <a:xfrm>
            <a:off x="7799832" y="4535424"/>
            <a:ext cx="0" cy="182880"/>
          </a:xfrm>
          <a:prstGeom prst="line">
            <a:avLst/>
          </a:prstGeom>
          <a:noFill/>
          <a:ln w="15875">
            <a:solidFill>
              <a:srgbClr val="2F4B85"/>
            </a:solidFill>
            <a:prstDash val="solid"/>
          </a:ln>
        </p:spPr>
      </p:sp>
      <p:sp>
        <p:nvSpPr>
          <p:cNvPr id="42" name="Text 40"/>
          <p:cNvSpPr txBox="1"/>
          <p:nvPr/>
        </p:nvSpPr>
        <p:spPr>
          <a:xfrm>
            <a:off x="8183880" y="4087368"/>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Pipeline</a:t>
            </a:r>
            <a:endParaRPr lang="en-US" sz="1300" dirty="0"/>
          </a:p>
        </p:txBody>
      </p:sp>
      <p:sp>
        <p:nvSpPr>
          <p:cNvPr id="43" name="Text 41"/>
          <p:cNvSpPr txBox="1"/>
          <p:nvPr/>
        </p:nvSpPr>
        <p:spPr>
          <a:xfrm>
            <a:off x="8183880" y="4334256"/>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lo que se aprende, adentro</a:t>
            </a:r>
            <a:endParaRPr lang="en-US" sz="1050" dirty="0"/>
          </a:p>
        </p:txBody>
      </p:sp>
      <p:sp>
        <p:nvSpPr>
          <p:cNvPr id="44" name="Shape 42"/>
          <p:cNvSpPr/>
          <p:nvPr/>
        </p:nvSpPr>
        <p:spPr>
          <a:xfrm>
            <a:off x="7589520" y="4718304"/>
            <a:ext cx="420624" cy="420624"/>
          </a:xfrm>
          <a:prstGeom prst="ellipse">
            <a:avLst/>
          </a:prstGeom>
          <a:solidFill>
            <a:srgbClr val="E6115E"/>
          </a:solidFill>
          <a:ln/>
        </p:spPr>
      </p:sp>
      <p:sp>
        <p:nvSpPr>
          <p:cNvPr id="45" name="Text 43"/>
          <p:cNvSpPr txBox="1"/>
          <p:nvPr/>
        </p:nvSpPr>
        <p:spPr>
          <a:xfrm>
            <a:off x="7589520" y="47183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6" name="Shape 44"/>
          <p:cNvSpPr/>
          <p:nvPr/>
        </p:nvSpPr>
        <p:spPr>
          <a:xfrm>
            <a:off x="7799832" y="5138928"/>
            <a:ext cx="0" cy="182880"/>
          </a:xfrm>
          <a:prstGeom prst="line">
            <a:avLst/>
          </a:prstGeom>
          <a:noFill/>
          <a:ln w="15875">
            <a:solidFill>
              <a:srgbClr val="2F4B85"/>
            </a:solidFill>
            <a:prstDash val="solid"/>
          </a:ln>
        </p:spPr>
      </p:sp>
      <p:sp>
        <p:nvSpPr>
          <p:cNvPr id="47" name="Text 45"/>
          <p:cNvSpPr txBox="1"/>
          <p:nvPr/>
        </p:nvSpPr>
        <p:spPr>
          <a:xfrm>
            <a:off x="8183880" y="4690872"/>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Comparar</a:t>
            </a:r>
            <a:endParaRPr lang="en-US" sz="1300" dirty="0"/>
          </a:p>
        </p:txBody>
      </p:sp>
      <p:sp>
        <p:nvSpPr>
          <p:cNvPr id="48" name="Text 46"/>
          <p:cNvSpPr txBox="1"/>
          <p:nvPr/>
        </p:nvSpPr>
        <p:spPr>
          <a:xfrm>
            <a:off x="8183880" y="4937760"/>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validación cruzada y la vara</a:t>
            </a:r>
            <a:endParaRPr lang="en-US" sz="1050" dirty="0"/>
          </a:p>
        </p:txBody>
      </p:sp>
      <p:sp>
        <p:nvSpPr>
          <p:cNvPr id="49" name="Shape 47"/>
          <p:cNvSpPr/>
          <p:nvPr/>
        </p:nvSpPr>
        <p:spPr>
          <a:xfrm>
            <a:off x="7589520" y="5321808"/>
            <a:ext cx="420624" cy="420624"/>
          </a:xfrm>
          <a:prstGeom prst="ellipse">
            <a:avLst/>
          </a:prstGeom>
          <a:solidFill>
            <a:srgbClr val="E6115E"/>
          </a:solidFill>
          <a:ln/>
        </p:spPr>
      </p:sp>
      <p:sp>
        <p:nvSpPr>
          <p:cNvPr id="50" name="Text 48"/>
          <p:cNvSpPr txBox="1"/>
          <p:nvPr/>
        </p:nvSpPr>
        <p:spPr>
          <a:xfrm>
            <a:off x="7589520" y="5321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51" name="Text 49"/>
          <p:cNvSpPr txBox="1"/>
          <p:nvPr/>
        </p:nvSpPr>
        <p:spPr>
          <a:xfrm>
            <a:off x="8183880" y="5294376"/>
            <a:ext cx="34747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Evaluar y usar</a:t>
            </a:r>
            <a:endParaRPr lang="en-US" sz="1300" dirty="0"/>
          </a:p>
        </p:txBody>
      </p:sp>
      <p:sp>
        <p:nvSpPr>
          <p:cNvPr id="52" name="Text 50"/>
          <p:cNvSpPr txBox="1"/>
          <p:nvPr/>
        </p:nvSpPr>
        <p:spPr>
          <a:xfrm>
            <a:off x="8183880" y="5541264"/>
            <a:ext cx="347472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una vez en prueba; guardar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POR QUÉ ESTA CLASE</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modelo es la parte corta del proyecto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En las Clases 2 a 4 los datos llegaban listos. En un proyecto real, casi todo el trabajo está antes y después del fit.</a:t>
            </a:r>
            <a:endParaRPr lang="en-US" sz="1400" dirty="0"/>
          </a:p>
        </p:txBody>
      </p:sp>
      <p:sp>
        <p:nvSpPr>
          <p:cNvPr id="6" name="Shape 4"/>
          <p:cNvSpPr/>
          <p:nvPr/>
        </p:nvSpPr>
        <p:spPr>
          <a:xfrm>
            <a:off x="502920" y="2103120"/>
            <a:ext cx="5486400" cy="2514600"/>
          </a:xfrm>
          <a:prstGeom prst="roundRect">
            <a:avLst>
              <a:gd name="adj" fmla="val 2182"/>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8A97AD"/>
          </a:solidFill>
          <a:ln w="12700">
            <a:solidFill>
              <a:srgbClr val="8A97AD"/>
            </a:solidFill>
            <a:prstDash val="solid"/>
          </a:ln>
        </p:spPr>
      </p:sp>
      <p:sp>
        <p:nvSpPr>
          <p:cNvPr id="8" name="Text 6"/>
          <p:cNvSpPr txBox="1"/>
          <p:nvPr/>
        </p:nvSpPr>
        <p:spPr>
          <a:xfrm>
            <a:off x="960120"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Hasta ahora</a:t>
            </a:r>
            <a:endParaRPr lang="en-US" sz="1400" dirty="0"/>
          </a:p>
        </p:txBody>
      </p:sp>
      <p:sp>
        <p:nvSpPr>
          <p:cNvPr id="9" name="Text 7"/>
          <p:cNvSpPr txBox="1"/>
          <p:nvPr/>
        </p:nvSpPr>
        <p:spPr>
          <a:xfrm>
            <a:off x="731520" y="2651760"/>
            <a:ext cx="5029200" cy="182880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2C3A55"/>
                </a:solidFill>
                <a:latin typeface="Calibri" pitchFamily="34" charset="0"/>
                <a:ea typeface="Calibri" pitchFamily="34" charset="-122"/>
                <a:cs typeface="Calibri" pitchFamily="34" charset="-120"/>
              </a:rPr>
              <a:t>Un dataset conocido, ya preparado</a:t>
            </a:r>
            <a:endParaRPr lang="en-US" sz="1450" dirty="0"/>
          </a:p>
          <a:p>
            <a:pPr marL="342900" indent="-342900">
              <a:spcAft>
                <a:spcPts val="800"/>
              </a:spcAft>
              <a:buSzPct val="100000"/>
              <a:buChar char="•"/>
            </a:pPr>
            <a:r>
              <a:rPr lang="en-US" sz="1450" dirty="0">
                <a:solidFill>
                  <a:srgbClr val="2C3A55"/>
                </a:solidFill>
                <a:latin typeface="Calibri" pitchFamily="34" charset="0"/>
                <a:ea typeface="Calibri" pitchFamily="34" charset="-122"/>
                <a:cs typeface="Calibri" pitchFamily="34" charset="-120"/>
              </a:rPr>
              <a:t>La misma preparación en cada clase</a:t>
            </a:r>
            <a:endParaRPr lang="en-US" sz="1450" dirty="0"/>
          </a:p>
          <a:p>
            <a:pPr marL="342900" indent="-342900">
              <a:spcAft>
                <a:spcPts val="800"/>
              </a:spcAft>
              <a:buSzPct val="100000"/>
              <a:buChar char="•"/>
            </a:pPr>
            <a:r>
              <a:rPr lang="en-US" sz="1450" dirty="0">
                <a:solidFill>
                  <a:srgbClr val="2C3A55"/>
                </a:solidFill>
                <a:latin typeface="Calibri" pitchFamily="34" charset="0"/>
                <a:ea typeface="Calibri" pitchFamily="34" charset="-122"/>
                <a:cs typeface="Calibri" pitchFamily="34" charset="-120"/>
              </a:rPr>
              <a:t>Un modelo nuevo por clase</a:t>
            </a:r>
            <a:endParaRPr lang="en-US" sz="1450" dirty="0"/>
          </a:p>
          <a:p>
            <a:pPr marL="342900" indent="-342900">
              <a:spcAft>
                <a:spcPts val="800"/>
              </a:spcAft>
              <a:buSzPct val="100000"/>
              <a:buChar char="•"/>
            </a:pPr>
            <a:r>
              <a:rPr lang="en-US" sz="1450" dirty="0">
                <a:solidFill>
                  <a:srgbClr val="2C3A55"/>
                </a:solidFill>
                <a:latin typeface="Calibri" pitchFamily="34" charset="0"/>
                <a:ea typeface="Calibri" pitchFamily="34" charset="-122"/>
                <a:cs typeface="Calibri" pitchFamily="34" charset="-120"/>
              </a:rPr>
              <a:t>La métrica: R² y MAE</a:t>
            </a:r>
            <a:endParaRPr lang="en-US" sz="1450" dirty="0"/>
          </a:p>
        </p:txBody>
      </p:sp>
      <p:sp>
        <p:nvSpPr>
          <p:cNvPr id="10" name="Shape 8"/>
          <p:cNvSpPr/>
          <p:nvPr/>
        </p:nvSpPr>
        <p:spPr>
          <a:xfrm>
            <a:off x="6199632" y="2103120"/>
            <a:ext cx="5486400" cy="2514600"/>
          </a:xfrm>
          <a:prstGeom prst="roundRect">
            <a:avLst>
              <a:gd name="adj" fmla="val 2182"/>
            </a:avLst>
          </a:prstGeom>
          <a:solidFill>
            <a:srgbClr val="0A2559"/>
          </a:solidFill>
          <a:ln w="9525">
            <a:solidFill>
              <a:srgbClr val="0A2559"/>
            </a:solidFill>
            <a:prstDash val="solid"/>
          </a:ln>
        </p:spPr>
      </p:sp>
      <p:sp>
        <p:nvSpPr>
          <p:cNvPr id="11" name="Shape 9"/>
          <p:cNvSpPr/>
          <p:nvPr/>
        </p:nvSpPr>
        <p:spPr>
          <a:xfrm>
            <a:off x="6428232" y="2350008"/>
            <a:ext cx="128016" cy="128016"/>
          </a:xfrm>
          <a:prstGeom prst="roundRect">
            <a:avLst>
              <a:gd name="adj" fmla="val 21429"/>
            </a:avLst>
          </a:prstGeom>
          <a:solidFill>
            <a:srgbClr val="E6115E"/>
          </a:solidFill>
          <a:ln w="12700">
            <a:solidFill>
              <a:srgbClr val="E6115E"/>
            </a:solidFill>
            <a:prstDash val="solid"/>
          </a:ln>
        </p:spPr>
      </p:sp>
      <p:sp>
        <p:nvSpPr>
          <p:cNvPr id="12" name="Text 10"/>
          <p:cNvSpPr txBox="1"/>
          <p:nvPr/>
        </p:nvSpPr>
        <p:spPr>
          <a:xfrm>
            <a:off x="6656832" y="2240280"/>
            <a:ext cx="484632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Hoy</a:t>
            </a:r>
            <a:endParaRPr lang="en-US" sz="1400" dirty="0"/>
          </a:p>
        </p:txBody>
      </p:sp>
      <p:sp>
        <p:nvSpPr>
          <p:cNvPr id="13" name="Text 11"/>
          <p:cNvSpPr txBox="1"/>
          <p:nvPr/>
        </p:nvSpPr>
        <p:spPr>
          <a:xfrm>
            <a:off x="6428232" y="2651760"/>
            <a:ext cx="5029200" cy="182880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C9D4EA"/>
                </a:solidFill>
                <a:latin typeface="Calibri" pitchFamily="34" charset="0"/>
                <a:ea typeface="Calibri" pitchFamily="34" charset="-122"/>
                <a:cs typeface="Calibri" pitchFamily="34" charset="-120"/>
              </a:rPr>
              <a:t>Datos que no conoces, con faltantes y casos raros</a:t>
            </a:r>
            <a:endParaRPr lang="en-US" sz="1450" dirty="0"/>
          </a:p>
          <a:p>
            <a:pPr marL="342900" indent="-342900">
              <a:spcAft>
                <a:spcPts val="800"/>
              </a:spcAft>
              <a:buSzPct val="100000"/>
              <a:buChar char="•"/>
            </a:pPr>
            <a:r>
              <a:rPr lang="en-US" sz="1450" dirty="0">
                <a:solidFill>
                  <a:srgbClr val="C9D4EA"/>
                </a:solidFill>
                <a:latin typeface="Calibri" pitchFamily="34" charset="0"/>
                <a:ea typeface="Calibri" pitchFamily="34" charset="-122"/>
                <a:cs typeface="Calibri" pitchFamily="34" charset="-120"/>
              </a:rPr>
              <a:t>Tú decides qué limpiar y qué variables crear</a:t>
            </a:r>
            <a:endParaRPr lang="en-US" sz="1450" dirty="0"/>
          </a:p>
          <a:p>
            <a:pPr marL="342900" indent="-342900">
              <a:spcAft>
                <a:spcPts val="800"/>
              </a:spcAft>
              <a:buSzPct val="100000"/>
              <a:buChar char="•"/>
            </a:pPr>
            <a:r>
              <a:rPr lang="en-US" sz="1450" dirty="0">
                <a:solidFill>
                  <a:srgbClr val="C9D4EA"/>
                </a:solidFill>
                <a:latin typeface="Calibri" pitchFamily="34" charset="0"/>
                <a:ea typeface="Calibri" pitchFamily="34" charset="-122"/>
                <a:cs typeface="Calibri" pitchFamily="34" charset="-120"/>
              </a:rPr>
              <a:t>Todos los modelos del módulo, comparados con rigor</a:t>
            </a:r>
            <a:endParaRPr lang="en-US" sz="1450" dirty="0"/>
          </a:p>
          <a:p>
            <a:pPr marL="342900" indent="-342900">
              <a:spcAft>
                <a:spcPts val="800"/>
              </a:spcAft>
              <a:buSzPct val="100000"/>
              <a:buChar char="•"/>
            </a:pPr>
            <a:r>
              <a:rPr lang="en-US" sz="1450" dirty="0">
                <a:solidFill>
                  <a:srgbClr val="C9D4EA"/>
                </a:solidFill>
                <a:latin typeface="Calibri" pitchFamily="34" charset="0"/>
                <a:ea typeface="Calibri" pitchFamily="34" charset="-122"/>
                <a:cs typeface="Calibri" pitchFamily="34" charset="-120"/>
              </a:rPr>
              <a:t>Métricas de negocio, error por segmento y un modelo guardado</a:t>
            </a:r>
            <a:endParaRPr lang="en-US" sz="1450" dirty="0"/>
          </a:p>
        </p:txBody>
      </p:sp>
      <p:sp>
        <p:nvSpPr>
          <p:cNvPr id="14" name="Shape 12"/>
          <p:cNvSpPr/>
          <p:nvPr/>
        </p:nvSpPr>
        <p:spPr>
          <a:xfrm>
            <a:off x="502920" y="4846320"/>
            <a:ext cx="11183112" cy="1371600"/>
          </a:xfrm>
          <a:prstGeom prst="roundRect">
            <a:avLst>
              <a:gd name="adj" fmla="val 4000"/>
            </a:avLst>
          </a:prstGeom>
          <a:solidFill>
            <a:srgbClr val="E9EEF8"/>
          </a:solidFill>
          <a:ln w="9525">
            <a:solidFill>
              <a:srgbClr val="D2DBEC"/>
            </a:solidFill>
            <a:prstDash val="solid"/>
          </a:ln>
        </p:spPr>
      </p:sp>
      <p:sp>
        <p:nvSpPr>
          <p:cNvPr id="15" name="Shape 13"/>
          <p:cNvSpPr/>
          <p:nvPr/>
        </p:nvSpPr>
        <p:spPr>
          <a:xfrm>
            <a:off x="731520" y="5093208"/>
            <a:ext cx="128016" cy="128016"/>
          </a:xfrm>
          <a:prstGeom prst="roundRect">
            <a:avLst>
              <a:gd name="adj" fmla="val 21429"/>
            </a:avLst>
          </a:prstGeom>
          <a:solidFill>
            <a:srgbClr val="1A56E8"/>
          </a:solidFill>
          <a:ln w="12700">
            <a:solidFill>
              <a:srgbClr val="1A56E8"/>
            </a:solidFill>
            <a:prstDash val="solid"/>
          </a:ln>
        </p:spPr>
      </p:sp>
      <p:sp>
        <p:nvSpPr>
          <p:cNvPr id="16" name="Text 14"/>
          <p:cNvSpPr txBox="1"/>
          <p:nvPr/>
        </p:nvSpPr>
        <p:spPr>
          <a:xfrm>
            <a:off x="960120" y="4983480"/>
            <a:ext cx="105430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 caso: tasación de viviendas en Ames, Iowa</a:t>
            </a:r>
            <a:endParaRPr lang="en-US" sz="1400" dirty="0"/>
          </a:p>
        </p:txBody>
      </p:sp>
      <p:sp>
        <p:nvSpPr>
          <p:cNvPr id="17" name="Text 15"/>
          <p:cNvSpPr txBox="1"/>
          <p:nvPr/>
        </p:nvSpPr>
        <p:spPr>
          <a:xfrm>
            <a:off x="731520" y="5349240"/>
            <a:ext cx="10789920" cy="82296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2 930 ventas reales registradas por la oficina de tasación de la ciudad entre 2006 y 2010. Es el mismo problema de tasación de garantías de las Clases 2 a 4, pero ahora casa por casa, con 22 variables por vivienda.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Cómo repartimos los 120 minutos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Primero los 8 pasos con sus decisiones. Después los haces tú en Colab. Al final, la tarea.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914400"/>
        </p:xfrm>
        <a:graphic>
          <a:graphicData uri="http://schemas.openxmlformats.org/drawingml/2006/table">
            <a:tbl>
              <a:tblPr/>
              <a:tblGrid>
                <a:gridCol w="822960"/>
                <a:gridCol w="5212080"/>
                <a:gridCol w="731520"/>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Bloque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Min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Por qué esta clase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Pasos 1 a 3: problema, datos y separación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Pasos 4 y 5: explorar, limpiar y crear variables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Pasos 6 y 7: pipeline y validación cruzada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Paso 8: evaluar, guardar y vigilar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Laboratorio en Colab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tarea y el cierre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7589520" y="2103120"/>
            <a:ext cx="4096512" cy="2148840"/>
          </a:xfrm>
          <a:prstGeom prst="roundRect">
            <a:avLst>
              <a:gd name="adj" fmla="val 2553"/>
            </a:avLst>
          </a:prstGeom>
          <a:solidFill>
            <a:srgbClr val="E9EEF8"/>
          </a:solidFill>
          <a:ln w="9525">
            <a:solidFill>
              <a:srgbClr val="D2DBEC"/>
            </a:solidFill>
            <a:prstDash val="solid"/>
          </a:ln>
        </p:spPr>
      </p:sp>
      <p:sp>
        <p:nvSpPr>
          <p:cNvPr id="8" name="Shape 5"/>
          <p:cNvSpPr/>
          <p:nvPr/>
        </p:nvSpPr>
        <p:spPr>
          <a:xfrm>
            <a:off x="781812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046720" y="2240280"/>
            <a:ext cx="34564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Qué te llevas hoy</a:t>
            </a:r>
            <a:endParaRPr lang="en-US" sz="1400" dirty="0"/>
          </a:p>
        </p:txBody>
      </p:sp>
      <p:sp>
        <p:nvSpPr>
          <p:cNvPr id="10" name="Text 7"/>
          <p:cNvSpPr txBox="1"/>
          <p:nvPr/>
        </p:nvSpPr>
        <p:spPr>
          <a:xfrm>
            <a:off x="7818120" y="2606040"/>
            <a:ext cx="3657600"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Una receta de 8 pasos reutilizable</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Cómo evitar la fuga de información</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Un pipeline que va de casa cruda a precio</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Comparar modelos con validación cruzada</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Reportar en términos de negocio</a:t>
            </a:r>
            <a:endParaRPr lang="en-US" sz="1250" dirty="0"/>
          </a:p>
        </p:txBody>
      </p:sp>
      <p:sp>
        <p:nvSpPr>
          <p:cNvPr id="11" name="Shape 8"/>
          <p:cNvSpPr/>
          <p:nvPr/>
        </p:nvSpPr>
        <p:spPr>
          <a:xfrm>
            <a:off x="7589520" y="4434840"/>
            <a:ext cx="4096512" cy="1783080"/>
          </a:xfrm>
          <a:prstGeom prst="roundRect">
            <a:avLst>
              <a:gd name="adj" fmla="val 3077"/>
            </a:avLst>
          </a:prstGeom>
          <a:solidFill>
            <a:srgbClr val="0A2559"/>
          </a:solidFill>
          <a:ln w="9525">
            <a:solidFill>
              <a:srgbClr val="0A2559"/>
            </a:solidFill>
            <a:prstDash val="solid"/>
          </a:ln>
        </p:spPr>
      </p:sp>
      <p:sp>
        <p:nvSpPr>
          <p:cNvPr id="12" name="Shape 9"/>
          <p:cNvSpPr/>
          <p:nvPr/>
        </p:nvSpPr>
        <p:spPr>
          <a:xfrm>
            <a:off x="7818120" y="46817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046720" y="4572000"/>
            <a:ext cx="34564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bloque 3 es el importante</a:t>
            </a:r>
            <a:endParaRPr lang="en-US" sz="1400" dirty="0"/>
          </a:p>
        </p:txBody>
      </p:sp>
      <p:sp>
        <p:nvSpPr>
          <p:cNvPr id="14" name="Text 11"/>
          <p:cNvSpPr txBox="1"/>
          <p:nvPr/>
        </p:nvSpPr>
        <p:spPr>
          <a:xfrm>
            <a:off x="7818120" y="4937760"/>
            <a:ext cx="3657600" cy="11887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El pipeline es lo que separa un notebook de clase de un modelo que se puede usar y auditar.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LA RECETA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Ocho pasos, y una regla en cada uno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Es el ciclo CRISP-DM de la Clase 1, llevado al código. La tarea sigue exactamente esta lista.</a:t>
            </a:r>
            <a:endParaRPr lang="en-US" sz="1400" dirty="0"/>
          </a:p>
        </p:txBody>
      </p:sp>
      <p:sp>
        <p:nvSpPr>
          <p:cNvPr id="6" name="Shape 4"/>
          <p:cNvSpPr/>
          <p:nvPr/>
        </p:nvSpPr>
        <p:spPr>
          <a:xfrm>
            <a:off x="502920" y="2103120"/>
            <a:ext cx="5486400" cy="914400"/>
          </a:xfrm>
          <a:prstGeom prst="roundRect">
            <a:avLst>
              <a:gd name="adj" fmla="val 6000"/>
            </a:avLst>
          </a:prstGeom>
          <a:solidFill>
            <a:srgbClr val="FFFFFF"/>
          </a:solidFill>
          <a:ln w="9525">
            <a:solidFill>
              <a:srgbClr val="D2DBEC"/>
            </a:solidFill>
            <a:prstDash val="solid"/>
          </a:ln>
        </p:spPr>
      </p:sp>
      <p:sp>
        <p:nvSpPr>
          <p:cNvPr id="7" name="Shape 5"/>
          <p:cNvSpPr/>
          <p:nvPr/>
        </p:nvSpPr>
        <p:spPr>
          <a:xfrm>
            <a:off x="685800" y="2368296"/>
            <a:ext cx="384048" cy="384048"/>
          </a:xfrm>
          <a:prstGeom prst="ellipse">
            <a:avLst/>
          </a:prstGeom>
          <a:solidFill>
            <a:srgbClr val="1A56E8"/>
          </a:solidFill>
          <a:ln w="12700">
            <a:solidFill>
              <a:srgbClr val="1A56E8"/>
            </a:solidFill>
            <a:prstDash val="solid"/>
          </a:ln>
        </p:spPr>
      </p:sp>
      <p:sp>
        <p:nvSpPr>
          <p:cNvPr id="8" name="Text 6"/>
          <p:cNvSpPr txBox="1"/>
          <p:nvPr/>
        </p:nvSpPr>
        <p:spPr>
          <a:xfrm>
            <a:off x="685800" y="2368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234440" y="2194560"/>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Problema</a:t>
            </a:r>
            <a:endParaRPr lang="en-US" sz="1400" dirty="0"/>
          </a:p>
        </p:txBody>
      </p:sp>
      <p:sp>
        <p:nvSpPr>
          <p:cNvPr id="10" name="Text 8"/>
          <p:cNvSpPr txBox="1"/>
          <p:nvPr/>
        </p:nvSpPr>
        <p:spPr>
          <a:xfrm>
            <a:off x="1234440" y="2532888"/>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Decisión, objetivo, métrica de negocio, vara y alcance, antes de abrir los datos</a:t>
            </a:r>
            <a:endParaRPr lang="en-US" sz="1150" dirty="0"/>
          </a:p>
        </p:txBody>
      </p:sp>
      <p:sp>
        <p:nvSpPr>
          <p:cNvPr id="11" name="Shape 9"/>
          <p:cNvSpPr/>
          <p:nvPr/>
        </p:nvSpPr>
        <p:spPr>
          <a:xfrm>
            <a:off x="6199632" y="2103120"/>
            <a:ext cx="5486400" cy="914400"/>
          </a:xfrm>
          <a:prstGeom prst="roundRect">
            <a:avLst>
              <a:gd name="adj" fmla="val 6000"/>
            </a:avLst>
          </a:prstGeom>
          <a:solidFill>
            <a:srgbClr val="FFFFFF"/>
          </a:solidFill>
          <a:ln w="9525">
            <a:solidFill>
              <a:srgbClr val="D2DBEC"/>
            </a:solidFill>
            <a:prstDash val="solid"/>
          </a:ln>
        </p:spPr>
      </p:sp>
      <p:sp>
        <p:nvSpPr>
          <p:cNvPr id="12" name="Shape 10"/>
          <p:cNvSpPr/>
          <p:nvPr/>
        </p:nvSpPr>
        <p:spPr>
          <a:xfrm>
            <a:off x="6382512" y="2368296"/>
            <a:ext cx="384048" cy="384048"/>
          </a:xfrm>
          <a:prstGeom prst="ellipse">
            <a:avLst/>
          </a:prstGeom>
          <a:solidFill>
            <a:srgbClr val="1A56E8"/>
          </a:solidFill>
          <a:ln w="12700">
            <a:solidFill>
              <a:srgbClr val="1A56E8"/>
            </a:solidFill>
            <a:prstDash val="solid"/>
          </a:ln>
        </p:spPr>
      </p:sp>
      <p:sp>
        <p:nvSpPr>
          <p:cNvPr id="13" name="Text 11"/>
          <p:cNvSpPr txBox="1"/>
          <p:nvPr/>
        </p:nvSpPr>
        <p:spPr>
          <a:xfrm>
            <a:off x="6382512" y="2368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931152" y="2194560"/>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Datos</a:t>
            </a:r>
            <a:endParaRPr lang="en-US" sz="1400" dirty="0"/>
          </a:p>
        </p:txBody>
      </p:sp>
      <p:sp>
        <p:nvSpPr>
          <p:cNvPr id="15" name="Text 13"/>
          <p:cNvSpPr txBox="1"/>
          <p:nvPr/>
        </p:nvSpPr>
        <p:spPr>
          <a:xfrm>
            <a:off x="6931152" y="2532888"/>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Tamaño, duplicados, faltantes y la forma del objetivo. Leer el diccionario</a:t>
            </a:r>
            <a:endParaRPr lang="en-US" sz="1150" dirty="0"/>
          </a:p>
        </p:txBody>
      </p:sp>
      <p:sp>
        <p:nvSpPr>
          <p:cNvPr id="16" name="Shape 14"/>
          <p:cNvSpPr/>
          <p:nvPr/>
        </p:nvSpPr>
        <p:spPr>
          <a:xfrm>
            <a:off x="502920" y="3136392"/>
            <a:ext cx="5486400" cy="914400"/>
          </a:xfrm>
          <a:prstGeom prst="roundRect">
            <a:avLst>
              <a:gd name="adj" fmla="val 6000"/>
            </a:avLst>
          </a:prstGeom>
          <a:solidFill>
            <a:srgbClr val="0A2559"/>
          </a:solidFill>
          <a:ln w="9525">
            <a:solidFill>
              <a:srgbClr val="0A2559"/>
            </a:solidFill>
            <a:prstDash val="solid"/>
          </a:ln>
        </p:spPr>
      </p:sp>
      <p:sp>
        <p:nvSpPr>
          <p:cNvPr id="17" name="Shape 15"/>
          <p:cNvSpPr/>
          <p:nvPr/>
        </p:nvSpPr>
        <p:spPr>
          <a:xfrm>
            <a:off x="685800" y="3401568"/>
            <a:ext cx="384048" cy="384048"/>
          </a:xfrm>
          <a:prstGeom prst="ellipse">
            <a:avLst/>
          </a:prstGeom>
          <a:solidFill>
            <a:srgbClr val="E6115E"/>
          </a:solidFill>
          <a:ln w="12700">
            <a:solidFill>
              <a:srgbClr val="E6115E"/>
            </a:solidFill>
            <a:prstDash val="solid"/>
          </a:ln>
        </p:spPr>
      </p:sp>
      <p:sp>
        <p:nvSpPr>
          <p:cNvPr id="18" name="Text 16"/>
          <p:cNvSpPr txBox="1"/>
          <p:nvPr/>
        </p:nvSpPr>
        <p:spPr>
          <a:xfrm>
            <a:off x="685800" y="34015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234440" y="3227832"/>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Separar</a:t>
            </a:r>
            <a:endParaRPr lang="en-US" sz="1400" dirty="0"/>
          </a:p>
        </p:txBody>
      </p:sp>
      <p:sp>
        <p:nvSpPr>
          <p:cNvPr id="20" name="Text 18"/>
          <p:cNvSpPr txBox="1"/>
          <p:nvPr/>
        </p:nvSpPr>
        <p:spPr>
          <a:xfrm>
            <a:off x="1234440" y="3566160"/>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La prueba se aparta antes de explorar, estratificada si el objetivo es asimétrico</a:t>
            </a:r>
            <a:endParaRPr lang="en-US" sz="1150" dirty="0"/>
          </a:p>
        </p:txBody>
      </p:sp>
      <p:sp>
        <p:nvSpPr>
          <p:cNvPr id="21" name="Shape 19"/>
          <p:cNvSpPr/>
          <p:nvPr/>
        </p:nvSpPr>
        <p:spPr>
          <a:xfrm>
            <a:off x="6199632" y="3136392"/>
            <a:ext cx="5486400" cy="914400"/>
          </a:xfrm>
          <a:prstGeom prst="roundRect">
            <a:avLst>
              <a:gd name="adj" fmla="val 6000"/>
            </a:avLst>
          </a:prstGeom>
          <a:solidFill>
            <a:srgbClr val="FFFFFF"/>
          </a:solidFill>
          <a:ln w="9525">
            <a:solidFill>
              <a:srgbClr val="D2DBEC"/>
            </a:solidFill>
            <a:prstDash val="solid"/>
          </a:ln>
        </p:spPr>
      </p:sp>
      <p:sp>
        <p:nvSpPr>
          <p:cNvPr id="22" name="Shape 20"/>
          <p:cNvSpPr/>
          <p:nvPr/>
        </p:nvSpPr>
        <p:spPr>
          <a:xfrm>
            <a:off x="6382512" y="3401568"/>
            <a:ext cx="384048" cy="384048"/>
          </a:xfrm>
          <a:prstGeom prst="ellipse">
            <a:avLst/>
          </a:prstGeom>
          <a:solidFill>
            <a:srgbClr val="1A56E8"/>
          </a:solidFill>
          <a:ln w="12700">
            <a:solidFill>
              <a:srgbClr val="1A56E8"/>
            </a:solidFill>
            <a:prstDash val="solid"/>
          </a:ln>
        </p:spPr>
      </p:sp>
      <p:sp>
        <p:nvSpPr>
          <p:cNvPr id="23" name="Text 21"/>
          <p:cNvSpPr txBox="1"/>
          <p:nvPr/>
        </p:nvSpPr>
        <p:spPr>
          <a:xfrm>
            <a:off x="6382512" y="34015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931152" y="3227832"/>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Explorar</a:t>
            </a:r>
            <a:endParaRPr lang="en-US" sz="1400" dirty="0"/>
          </a:p>
        </p:txBody>
      </p:sp>
      <p:sp>
        <p:nvSpPr>
          <p:cNvPr id="25" name="Text 23"/>
          <p:cNvSpPr txBox="1"/>
          <p:nvPr/>
        </p:nvSpPr>
        <p:spPr>
          <a:xfrm>
            <a:off x="6931152" y="3566160"/>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Solo con entrenamiento: correlaciones, casos raros, categorías</a:t>
            </a:r>
            <a:endParaRPr lang="en-US" sz="1150" dirty="0"/>
          </a:p>
        </p:txBody>
      </p:sp>
      <p:sp>
        <p:nvSpPr>
          <p:cNvPr id="26" name="Shape 24"/>
          <p:cNvSpPr/>
          <p:nvPr/>
        </p:nvSpPr>
        <p:spPr>
          <a:xfrm>
            <a:off x="502920" y="4169664"/>
            <a:ext cx="5486400" cy="914400"/>
          </a:xfrm>
          <a:prstGeom prst="roundRect">
            <a:avLst>
              <a:gd name="adj" fmla="val 6000"/>
            </a:avLst>
          </a:prstGeom>
          <a:solidFill>
            <a:srgbClr val="FFFFFF"/>
          </a:solidFill>
          <a:ln w="9525">
            <a:solidFill>
              <a:srgbClr val="D2DBEC"/>
            </a:solidFill>
            <a:prstDash val="solid"/>
          </a:ln>
        </p:spPr>
      </p:sp>
      <p:sp>
        <p:nvSpPr>
          <p:cNvPr id="27" name="Shape 25"/>
          <p:cNvSpPr/>
          <p:nvPr/>
        </p:nvSpPr>
        <p:spPr>
          <a:xfrm>
            <a:off x="685800" y="4434840"/>
            <a:ext cx="384048" cy="384048"/>
          </a:xfrm>
          <a:prstGeom prst="ellipse">
            <a:avLst/>
          </a:prstGeom>
          <a:solidFill>
            <a:srgbClr val="1A56E8"/>
          </a:solidFill>
          <a:ln w="12700">
            <a:solidFill>
              <a:srgbClr val="1A56E8"/>
            </a:solidFill>
            <a:prstDash val="solid"/>
          </a:ln>
        </p:spPr>
      </p:sp>
      <p:sp>
        <p:nvSpPr>
          <p:cNvPr id="28" name="Text 26"/>
          <p:cNvSpPr txBox="1"/>
          <p:nvPr/>
        </p:nvSpPr>
        <p:spPr>
          <a:xfrm>
            <a:off x="685800" y="4434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234440" y="4261104"/>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Limpiar y crear</a:t>
            </a:r>
            <a:endParaRPr lang="en-US" sz="1400" dirty="0"/>
          </a:p>
        </p:txBody>
      </p:sp>
      <p:sp>
        <p:nvSpPr>
          <p:cNvPr id="30" name="Text 28"/>
          <p:cNvSpPr txBox="1"/>
          <p:nvPr/>
        </p:nvSpPr>
        <p:spPr>
          <a:xfrm>
            <a:off x="1234440" y="4599432"/>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Una función que no aprende de los datos; el alcance como regla explícita</a:t>
            </a:r>
            <a:endParaRPr lang="en-US" sz="1150" dirty="0"/>
          </a:p>
        </p:txBody>
      </p:sp>
      <p:sp>
        <p:nvSpPr>
          <p:cNvPr id="31" name="Shape 29"/>
          <p:cNvSpPr/>
          <p:nvPr/>
        </p:nvSpPr>
        <p:spPr>
          <a:xfrm>
            <a:off x="6199632" y="4169664"/>
            <a:ext cx="5486400" cy="914400"/>
          </a:xfrm>
          <a:prstGeom prst="roundRect">
            <a:avLst>
              <a:gd name="adj" fmla="val 6000"/>
            </a:avLst>
          </a:prstGeom>
          <a:solidFill>
            <a:srgbClr val="0A2559"/>
          </a:solidFill>
          <a:ln w="9525">
            <a:solidFill>
              <a:srgbClr val="0A2559"/>
            </a:solidFill>
            <a:prstDash val="solid"/>
          </a:ln>
        </p:spPr>
      </p:sp>
      <p:sp>
        <p:nvSpPr>
          <p:cNvPr id="32" name="Shape 30"/>
          <p:cNvSpPr/>
          <p:nvPr/>
        </p:nvSpPr>
        <p:spPr>
          <a:xfrm>
            <a:off x="6382512" y="4434840"/>
            <a:ext cx="384048" cy="384048"/>
          </a:xfrm>
          <a:prstGeom prst="ellipse">
            <a:avLst/>
          </a:prstGeom>
          <a:solidFill>
            <a:srgbClr val="E6115E"/>
          </a:solidFill>
          <a:ln w="12700">
            <a:solidFill>
              <a:srgbClr val="E6115E"/>
            </a:solidFill>
            <a:prstDash val="solid"/>
          </a:ln>
        </p:spPr>
      </p:sp>
      <p:sp>
        <p:nvSpPr>
          <p:cNvPr id="33" name="Text 31"/>
          <p:cNvSpPr txBox="1"/>
          <p:nvPr/>
        </p:nvSpPr>
        <p:spPr>
          <a:xfrm>
            <a:off x="6382512" y="4434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6931152" y="4261104"/>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Pipeline</a:t>
            </a:r>
            <a:endParaRPr lang="en-US" sz="1400" dirty="0"/>
          </a:p>
        </p:txBody>
      </p:sp>
      <p:sp>
        <p:nvSpPr>
          <p:cNvPr id="35" name="Text 33"/>
          <p:cNvSpPr txBox="1"/>
          <p:nvPr/>
        </p:nvSpPr>
        <p:spPr>
          <a:xfrm>
            <a:off x="6931152" y="4599432"/>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Lo que se aprende (medianas, escalas, one-hot) va dentro del pipeline</a:t>
            </a:r>
            <a:endParaRPr lang="en-US" sz="1150" dirty="0"/>
          </a:p>
        </p:txBody>
      </p:sp>
      <p:sp>
        <p:nvSpPr>
          <p:cNvPr id="36" name="Shape 34"/>
          <p:cNvSpPr/>
          <p:nvPr/>
        </p:nvSpPr>
        <p:spPr>
          <a:xfrm>
            <a:off x="502920" y="5202936"/>
            <a:ext cx="5486400" cy="914400"/>
          </a:xfrm>
          <a:prstGeom prst="roundRect">
            <a:avLst>
              <a:gd name="adj" fmla="val 6000"/>
            </a:avLst>
          </a:prstGeom>
          <a:solidFill>
            <a:srgbClr val="FFFFFF"/>
          </a:solidFill>
          <a:ln w="9525">
            <a:solidFill>
              <a:srgbClr val="D2DBEC"/>
            </a:solidFill>
            <a:prstDash val="solid"/>
          </a:ln>
        </p:spPr>
      </p:sp>
      <p:sp>
        <p:nvSpPr>
          <p:cNvPr id="37" name="Shape 35"/>
          <p:cNvSpPr/>
          <p:nvPr/>
        </p:nvSpPr>
        <p:spPr>
          <a:xfrm>
            <a:off x="685800" y="5468112"/>
            <a:ext cx="384048" cy="384048"/>
          </a:xfrm>
          <a:prstGeom prst="ellipse">
            <a:avLst/>
          </a:prstGeom>
          <a:solidFill>
            <a:srgbClr val="1A56E8"/>
          </a:solidFill>
          <a:ln w="12700">
            <a:solidFill>
              <a:srgbClr val="1A56E8"/>
            </a:solidFill>
            <a:prstDash val="solid"/>
          </a:ln>
        </p:spPr>
      </p:sp>
      <p:sp>
        <p:nvSpPr>
          <p:cNvPr id="38" name="Text 36"/>
          <p:cNvSpPr txBox="1"/>
          <p:nvPr/>
        </p:nvSpPr>
        <p:spPr>
          <a:xfrm>
            <a:off x="685800" y="54681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234440" y="5294376"/>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Comparar</a:t>
            </a:r>
            <a:endParaRPr lang="en-US" sz="1400" dirty="0"/>
          </a:p>
        </p:txBody>
      </p:sp>
      <p:sp>
        <p:nvSpPr>
          <p:cNvPr id="40" name="Text 38"/>
          <p:cNvSpPr txBox="1"/>
          <p:nvPr/>
        </p:nvSpPr>
        <p:spPr>
          <a:xfrm>
            <a:off x="1234440" y="5632704"/>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Varios modelos y la vara, con validación cruzada. La prueba sigue guardada</a:t>
            </a:r>
            <a:endParaRPr lang="en-US" sz="1150" dirty="0"/>
          </a:p>
        </p:txBody>
      </p:sp>
      <p:sp>
        <p:nvSpPr>
          <p:cNvPr id="41" name="Shape 39"/>
          <p:cNvSpPr/>
          <p:nvPr/>
        </p:nvSpPr>
        <p:spPr>
          <a:xfrm>
            <a:off x="6199632" y="5202936"/>
            <a:ext cx="5486400" cy="914400"/>
          </a:xfrm>
          <a:prstGeom prst="roundRect">
            <a:avLst>
              <a:gd name="adj" fmla="val 6000"/>
            </a:avLst>
          </a:prstGeom>
          <a:solidFill>
            <a:srgbClr val="FFFFFF"/>
          </a:solidFill>
          <a:ln w="9525">
            <a:solidFill>
              <a:srgbClr val="D2DBEC"/>
            </a:solidFill>
            <a:prstDash val="solid"/>
          </a:ln>
        </p:spPr>
      </p:sp>
      <p:sp>
        <p:nvSpPr>
          <p:cNvPr id="42" name="Shape 40"/>
          <p:cNvSpPr/>
          <p:nvPr/>
        </p:nvSpPr>
        <p:spPr>
          <a:xfrm>
            <a:off x="6382512" y="5468112"/>
            <a:ext cx="384048" cy="384048"/>
          </a:xfrm>
          <a:prstGeom prst="ellipse">
            <a:avLst/>
          </a:prstGeom>
          <a:solidFill>
            <a:srgbClr val="1A56E8"/>
          </a:solidFill>
          <a:ln w="12700">
            <a:solidFill>
              <a:srgbClr val="1A56E8"/>
            </a:solidFill>
            <a:prstDash val="solid"/>
          </a:ln>
        </p:spPr>
      </p:sp>
      <p:sp>
        <p:nvSpPr>
          <p:cNvPr id="43" name="Text 41"/>
          <p:cNvSpPr txBox="1"/>
          <p:nvPr/>
        </p:nvSpPr>
        <p:spPr>
          <a:xfrm>
            <a:off x="6382512" y="54681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4" name="Text 42"/>
          <p:cNvSpPr txBox="1"/>
          <p:nvPr/>
        </p:nvSpPr>
        <p:spPr>
          <a:xfrm>
            <a:off x="6931152" y="5294376"/>
            <a:ext cx="4572000" cy="32004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Evaluar y usar</a:t>
            </a:r>
            <a:endParaRPr lang="en-US" sz="1400" dirty="0"/>
          </a:p>
        </p:txBody>
      </p:sp>
      <p:sp>
        <p:nvSpPr>
          <p:cNvPr id="45" name="Text 43"/>
          <p:cNvSpPr txBox="1"/>
          <p:nvPr/>
        </p:nvSpPr>
        <p:spPr>
          <a:xfrm>
            <a:off x="6931152" y="5632704"/>
            <a:ext cx="4617720" cy="45720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Una vez en prueba, métricas de negocio, error por segmento, guardar el pipeline</a:t>
            </a:r>
            <a:endParaRPr lang="en-US" sz="1150" dirty="0"/>
          </a:p>
        </p:txBody>
      </p:sp>
      <p:sp>
        <p:nvSpPr>
          <p:cNvPr id="46" name="Text 44"/>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Los pasos 3 y 6 (en oscuro) son los que evitan la fuga de información: que el modelo aprenda, sin que te des cuenta, algo de los datos con que lo vas a evaluar.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Definir el problema antes de abrir los datos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Si no puedes responder estas preguntas, todavía no tienes un proyecto: tienes un dataset.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949440" cy="914400"/>
        </p:xfrm>
        <a:graphic>
          <a:graphicData uri="http://schemas.openxmlformats.org/drawingml/2006/table">
            <a:tbl>
              <a:tblPr/>
              <a:tblGrid>
                <a:gridCol w="2926080"/>
                <a:gridCol w="402336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Pregunta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Respuesta para hoy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¿Qué decisión apoya el modelo?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Tasar una vivienda antes de aceptarla como garantía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¿Qué se predice, y para qué unidad?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sale_price: el precio de una venta, en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¿Con qué se mide?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MAE en dólares y MAPE en %: los tasadores hablan de «me equivoqué un 8 %»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¿Contra qué se compara?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Un modelo que siempre predice el precio mediano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¿Para qué casos NO aplica?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Se define en el Paso 4, mirando los datos de entrenamiento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7726680" y="2103120"/>
            <a:ext cx="3959352" cy="1920240"/>
          </a:xfrm>
          <a:prstGeom prst="roundRect">
            <a:avLst>
              <a:gd name="adj" fmla="val 2857"/>
            </a:avLst>
          </a:prstGeom>
          <a:solidFill>
            <a:srgbClr val="FFFFFF"/>
          </a:solidFill>
          <a:ln w="9525">
            <a:solidFill>
              <a:srgbClr val="D2DBEC"/>
            </a:solidFill>
            <a:prstDash val="solid"/>
          </a:ln>
        </p:spPr>
      </p:sp>
      <p:sp>
        <p:nvSpPr>
          <p:cNvPr id="8" name="Shape 5"/>
          <p:cNvSpPr/>
          <p:nvPr/>
        </p:nvSpPr>
        <p:spPr>
          <a:xfrm>
            <a:off x="7955280" y="2350008"/>
            <a:ext cx="128016" cy="128016"/>
          </a:xfrm>
          <a:prstGeom prst="roundRect">
            <a:avLst>
              <a:gd name="adj" fmla="val 21429"/>
            </a:avLst>
          </a:prstGeom>
          <a:solidFill>
            <a:srgbClr val="1A56E8"/>
          </a:solidFill>
          <a:ln w="12700">
            <a:solidFill>
              <a:srgbClr val="1A56E8"/>
            </a:solidFill>
            <a:prstDash val="solid"/>
          </a:ln>
        </p:spPr>
      </p:sp>
      <p:sp>
        <p:nvSpPr>
          <p:cNvPr id="9" name="Text 6"/>
          <p:cNvSpPr txBox="1"/>
          <p:nvPr/>
        </p:nvSpPr>
        <p:spPr>
          <a:xfrm>
            <a:off x="8183880" y="2240280"/>
            <a:ext cx="33192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MAE y MAPE, juntos</a:t>
            </a:r>
            <a:endParaRPr lang="en-US" sz="1400" dirty="0"/>
          </a:p>
        </p:txBody>
      </p:sp>
      <p:sp>
        <p:nvSpPr>
          <p:cNvPr id="10" name="Text 7"/>
          <p:cNvSpPr txBox="1"/>
          <p:nvPr/>
        </p:nvSpPr>
        <p:spPr>
          <a:xfrm>
            <a:off x="7955280" y="2606040"/>
            <a:ext cx="3566160" cy="13716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 MAE dice cuánto dinero se pierde por casa. El MAPE dice si el error es razonable para el tamaño de la casa: 20 mil es mucho en una de 100 mil y poco en una de 500 mil.</a:t>
            </a:r>
            <a:endParaRPr lang="en-US" sz="1200" dirty="0"/>
          </a:p>
        </p:txBody>
      </p:sp>
      <p:sp>
        <p:nvSpPr>
          <p:cNvPr id="11" name="Shape 8"/>
          <p:cNvSpPr/>
          <p:nvPr/>
        </p:nvSpPr>
        <p:spPr>
          <a:xfrm>
            <a:off x="7726680" y="4206240"/>
            <a:ext cx="3959352" cy="2011680"/>
          </a:xfrm>
          <a:prstGeom prst="roundRect">
            <a:avLst>
              <a:gd name="adj" fmla="val 2727"/>
            </a:avLst>
          </a:prstGeom>
          <a:solidFill>
            <a:srgbClr val="0A2559"/>
          </a:solidFill>
          <a:ln w="9525">
            <a:solidFill>
              <a:srgbClr val="0A2559"/>
            </a:solidFill>
            <a:prstDash val="solid"/>
          </a:ln>
        </p:spPr>
      </p:sp>
      <p:sp>
        <p:nvSpPr>
          <p:cNvPr id="12" name="Shape 9"/>
          <p:cNvSpPr/>
          <p:nvPr/>
        </p:nvSpPr>
        <p:spPr>
          <a:xfrm>
            <a:off x="7955280" y="44531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183880" y="4343400"/>
            <a:ext cx="33192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 vara, siempre</a:t>
            </a:r>
            <a:endParaRPr lang="en-US" sz="1400" dirty="0"/>
          </a:p>
        </p:txBody>
      </p:sp>
      <p:sp>
        <p:nvSpPr>
          <p:cNvPr id="14" name="Text 11"/>
          <p:cNvSpPr txBox="1"/>
          <p:nvPr/>
        </p:nvSpPr>
        <p:spPr>
          <a:xfrm>
            <a:off x="7955280" y="4709160"/>
            <a:ext cx="3566160" cy="14173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Predecir siempre la mediana da un MAE de 55 211 USD y un MAPE de 32.3 %. Cualquier modelo que no le gane por mucho no sirve.</a:t>
            </a:r>
            <a:endParaRPr lang="en-US" sz="1250" dirty="0"/>
          </a:p>
        </p:txBody>
      </p:sp>
      <p:sp>
        <p:nvSpPr>
          <p:cNvPr id="15" name="Shape 12"/>
          <p:cNvSpPr/>
          <p:nvPr/>
        </p:nvSpPr>
        <p:spPr>
          <a:xfrm>
            <a:off x="502920" y="5349240"/>
            <a:ext cx="6949440" cy="868680"/>
          </a:xfrm>
          <a:prstGeom prst="roundRect">
            <a:avLst>
              <a:gd name="adj" fmla="val 6316"/>
            </a:avLst>
          </a:prstGeom>
          <a:solidFill>
            <a:srgbClr val="E9EEF8"/>
          </a:solidFill>
          <a:ln w="9525">
            <a:solidFill>
              <a:srgbClr val="D2DBEC"/>
            </a:solidFill>
            <a:prstDash val="solid"/>
          </a:ln>
        </p:spPr>
      </p:sp>
      <p:sp>
        <p:nvSpPr>
          <p:cNvPr id="16" name="Text 13"/>
          <p:cNvSpPr txBox="1"/>
          <p:nvPr/>
        </p:nvSpPr>
        <p:spPr>
          <a:xfrm>
            <a:off x="731520" y="5349240"/>
            <a:ext cx="6492240" cy="86868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El alcance es la pregunta que más se olvida.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Un modelo que dice para qué casos no sirve es más confiable que uno que lo intenta con todo.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Revisar los datos: no todos los faltantes son iguales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2 930 ventas y 82 columnas en el original. Nos quedamos con 22 variables, el identificador y el precio.</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7223760" cy="914400"/>
        </p:xfrm>
        <a:graphic>
          <a:graphicData uri="http://schemas.openxmlformats.org/drawingml/2006/table">
            <a:tbl>
              <a:tblPr/>
              <a:tblGrid>
                <a:gridCol w="2377440"/>
                <a:gridCol w="1097280"/>
                <a:gridCol w="1737360"/>
                <a:gridCol w="201168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Columna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Faltantes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significa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hacemos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garage_type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no tiene garaje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categoría «Sin garaje»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bsmt_qual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no tiene sótano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calidad 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lot_frontage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no se registró</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mediana, dentro del pipeline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mas_vnr_area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no se registró</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mediana, dentro del pipeline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total_bsmt_sf, garage_cars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 y 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no se registró</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mediana, dentro del pipeline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5074920"/>
            <a:ext cx="7223760" cy="1143000"/>
          </a:xfrm>
          <a:prstGeom prst="roundRect">
            <a:avLst>
              <a:gd name="adj" fmla="val 4800"/>
            </a:avLst>
          </a:prstGeom>
          <a:solidFill>
            <a:srgbClr val="0A2559"/>
          </a:solidFill>
          <a:ln w="9525">
            <a:solidFill>
              <a:srgbClr val="0A2559"/>
            </a:solidFill>
            <a:prstDash val="solid"/>
          </a:ln>
        </p:spPr>
      </p:sp>
      <p:sp>
        <p:nvSpPr>
          <p:cNvPr id="8" name="Text 5"/>
          <p:cNvSpPr txBox="1"/>
          <p:nvPr/>
        </p:nvSpPr>
        <p:spPr>
          <a:xfrm>
            <a:off x="731520" y="5074920"/>
            <a:ext cx="6766560" cy="114300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Un NaN que significa «no tiene» es información.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Rellenarlo con la mediana sería inventarle un garaje a 157 casas. Lo dice el diccionario de datos: leerlo es parte del paso.</a:t>
            </a:r>
            <a:endParaRPr lang="en-US" sz="1250" dirty="0"/>
          </a:p>
        </p:txBody>
      </p:sp>
      <p:sp>
        <p:nvSpPr>
          <p:cNvPr id="9" name="Shape 6"/>
          <p:cNvSpPr/>
          <p:nvPr/>
        </p:nvSpPr>
        <p:spPr>
          <a:xfrm>
            <a:off x="8001000" y="2103120"/>
            <a:ext cx="3685032" cy="4114800"/>
          </a:xfrm>
          <a:prstGeom prst="roundRect">
            <a:avLst>
              <a:gd name="adj" fmla="val 1489"/>
            </a:avLst>
          </a:prstGeom>
          <a:solidFill>
            <a:srgbClr val="FFFFFF"/>
          </a:solidFill>
          <a:ln w="9525">
            <a:solidFill>
              <a:srgbClr val="D2DBEC"/>
            </a:solidFill>
            <a:prstDash val="solid"/>
          </a:ln>
        </p:spPr>
      </p:sp>
      <p:sp>
        <p:nvSpPr>
          <p:cNvPr id="10" name="Shape 7"/>
          <p:cNvSpPr/>
          <p:nvPr/>
        </p:nvSpPr>
        <p:spPr>
          <a:xfrm>
            <a:off x="8229600" y="2350008"/>
            <a:ext cx="128016" cy="128016"/>
          </a:xfrm>
          <a:prstGeom prst="roundRect">
            <a:avLst>
              <a:gd name="adj" fmla="val 21429"/>
            </a:avLst>
          </a:prstGeom>
          <a:solidFill>
            <a:srgbClr val="1A56E8"/>
          </a:solidFill>
          <a:ln w="12700">
            <a:solidFill>
              <a:srgbClr val="1A56E8"/>
            </a:solidFill>
            <a:prstDash val="solid"/>
          </a:ln>
        </p:spPr>
      </p:sp>
      <p:sp>
        <p:nvSpPr>
          <p:cNvPr id="11" name="Text 8"/>
          <p:cNvSpPr txBox="1"/>
          <p:nvPr/>
        </p:nvSpPr>
        <p:spPr>
          <a:xfrm>
            <a:off x="8458200" y="2240280"/>
            <a:ext cx="304495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La revisión de siempre</a:t>
            </a:r>
            <a:endParaRPr lang="en-US" sz="1400" dirty="0"/>
          </a:p>
        </p:txBody>
      </p:sp>
      <p:sp>
        <p:nvSpPr>
          <p:cNvPr id="12" name="Text 9"/>
          <p:cNvSpPr txBox="1"/>
          <p:nvPr/>
        </p:nvSpPr>
        <p:spPr>
          <a:xfrm>
            <a:off x="8229600" y="2697480"/>
            <a:ext cx="3291840" cy="256032"/>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Tamaño</a:t>
            </a:r>
            <a:endParaRPr lang="en-US" sz="1100" dirty="0"/>
          </a:p>
        </p:txBody>
      </p:sp>
      <p:sp>
        <p:nvSpPr>
          <p:cNvPr id="13" name="Text 10"/>
          <p:cNvSpPr txBox="1"/>
          <p:nvPr/>
        </p:nvSpPr>
        <p:spPr>
          <a:xfrm>
            <a:off x="8229600" y="2935224"/>
            <a:ext cx="3291840" cy="310896"/>
          </a:xfrm>
          <a:prstGeom prst="rect">
            <a:avLst/>
          </a:prstGeom>
          <a:noFill/>
          <a:ln/>
        </p:spPr>
        <p:txBody>
          <a:bodyPr wrap="square" lIns="0" tIns="0" rIns="0" bIns="0" rtlCol="0" anchor="ctr"/>
          <a:lstStyle/>
          <a:p>
            <a:pPr indent="0" marL="0">
              <a:buNone/>
            </a:pPr>
            <a:r>
              <a:rPr lang="en-US" sz="1500" b="1" dirty="0">
                <a:solidFill>
                  <a:srgbClr val="0A2559"/>
                </a:solidFill>
                <a:latin typeface="Calibri" pitchFamily="34" charset="0"/>
                <a:ea typeface="Calibri" pitchFamily="34" charset="-122"/>
                <a:cs typeface="Calibri" pitchFamily="34" charset="-120"/>
              </a:rPr>
              <a:t>2 930 × 24</a:t>
            </a:r>
            <a:endParaRPr lang="en-US" sz="1500" dirty="0"/>
          </a:p>
        </p:txBody>
      </p:sp>
      <p:sp>
        <p:nvSpPr>
          <p:cNvPr id="14" name="Text 11"/>
          <p:cNvSpPr txBox="1"/>
          <p:nvPr/>
        </p:nvSpPr>
        <p:spPr>
          <a:xfrm>
            <a:off x="8229600" y="3337560"/>
            <a:ext cx="3291840" cy="256032"/>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Duplicados</a:t>
            </a:r>
            <a:endParaRPr lang="en-US" sz="1100" dirty="0"/>
          </a:p>
        </p:txBody>
      </p:sp>
      <p:sp>
        <p:nvSpPr>
          <p:cNvPr id="15" name="Text 12"/>
          <p:cNvSpPr txBox="1"/>
          <p:nvPr/>
        </p:nvSpPr>
        <p:spPr>
          <a:xfrm>
            <a:off x="8229600" y="3575304"/>
            <a:ext cx="3291840" cy="310896"/>
          </a:xfrm>
          <a:prstGeom prst="rect">
            <a:avLst/>
          </a:prstGeom>
          <a:noFill/>
          <a:ln/>
        </p:spPr>
        <p:txBody>
          <a:bodyPr wrap="square" lIns="0" tIns="0" rIns="0" bIns="0" rtlCol="0" anchor="ctr"/>
          <a:lstStyle/>
          <a:p>
            <a:pPr indent="0" marL="0">
              <a:buNone/>
            </a:pPr>
            <a:r>
              <a:rPr lang="en-US" sz="1500" b="1" dirty="0">
                <a:solidFill>
                  <a:srgbClr val="0A2559"/>
                </a:solidFill>
                <a:latin typeface="Calibri" pitchFamily="34" charset="0"/>
                <a:ea typeface="Calibri" pitchFamily="34" charset="-122"/>
                <a:cs typeface="Calibri" pitchFamily="34" charset="-120"/>
              </a:rPr>
              <a:t>ninguno (pid único)</a:t>
            </a:r>
            <a:endParaRPr lang="en-US" sz="1500" dirty="0"/>
          </a:p>
        </p:txBody>
      </p:sp>
      <p:sp>
        <p:nvSpPr>
          <p:cNvPr id="16" name="Text 13"/>
          <p:cNvSpPr txBox="1"/>
          <p:nvPr/>
        </p:nvSpPr>
        <p:spPr>
          <a:xfrm>
            <a:off x="8229600" y="3977640"/>
            <a:ext cx="3291840" cy="256032"/>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Faltantes</a:t>
            </a:r>
            <a:endParaRPr lang="en-US" sz="1100" dirty="0"/>
          </a:p>
        </p:txBody>
      </p:sp>
      <p:sp>
        <p:nvSpPr>
          <p:cNvPr id="17" name="Text 14"/>
          <p:cNvSpPr txBox="1"/>
          <p:nvPr/>
        </p:nvSpPr>
        <p:spPr>
          <a:xfrm>
            <a:off x="8229600" y="4215384"/>
            <a:ext cx="3291840" cy="310896"/>
          </a:xfrm>
          <a:prstGeom prst="rect">
            <a:avLst/>
          </a:prstGeom>
          <a:noFill/>
          <a:ln/>
        </p:spPr>
        <p:txBody>
          <a:bodyPr wrap="square" lIns="0" tIns="0" rIns="0" bIns="0" rtlCol="0" anchor="ctr"/>
          <a:lstStyle/>
          <a:p>
            <a:pPr indent="0" marL="0">
              <a:buNone/>
            </a:pPr>
            <a:r>
              <a:rPr lang="en-US" sz="1500" b="1" dirty="0">
                <a:solidFill>
                  <a:srgbClr val="0A2559"/>
                </a:solidFill>
                <a:latin typeface="Calibri" pitchFamily="34" charset="0"/>
                <a:ea typeface="Calibri" pitchFamily="34" charset="-122"/>
                <a:cs typeface="Calibri" pitchFamily="34" charset="-120"/>
              </a:rPr>
              <a:t>6 columnas</a:t>
            </a:r>
            <a:endParaRPr lang="en-US" sz="1500" dirty="0"/>
          </a:p>
        </p:txBody>
      </p:sp>
      <p:sp>
        <p:nvSpPr>
          <p:cNvPr id="18" name="Text 15"/>
          <p:cNvSpPr txBox="1"/>
          <p:nvPr/>
        </p:nvSpPr>
        <p:spPr>
          <a:xfrm>
            <a:off x="8229600" y="4617720"/>
            <a:ext cx="3291840" cy="256032"/>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Precio mediano</a:t>
            </a:r>
            <a:endParaRPr lang="en-US" sz="1100" dirty="0"/>
          </a:p>
        </p:txBody>
      </p:sp>
      <p:sp>
        <p:nvSpPr>
          <p:cNvPr id="19" name="Text 16"/>
          <p:cNvSpPr txBox="1"/>
          <p:nvPr/>
        </p:nvSpPr>
        <p:spPr>
          <a:xfrm>
            <a:off x="8229600" y="4855464"/>
            <a:ext cx="3291840" cy="310896"/>
          </a:xfrm>
          <a:prstGeom prst="rect">
            <a:avLst/>
          </a:prstGeom>
          <a:noFill/>
          <a:ln/>
        </p:spPr>
        <p:txBody>
          <a:bodyPr wrap="square" lIns="0" tIns="0" rIns="0" bIns="0" rtlCol="0" anchor="ctr"/>
          <a:lstStyle/>
          <a:p>
            <a:pPr indent="0" marL="0">
              <a:buNone/>
            </a:pPr>
            <a:r>
              <a:rPr lang="en-US" sz="1500" b="1" dirty="0">
                <a:solidFill>
                  <a:srgbClr val="0A2559"/>
                </a:solidFill>
                <a:latin typeface="Calibri" pitchFamily="34" charset="0"/>
                <a:ea typeface="Calibri" pitchFamily="34" charset="-122"/>
                <a:cs typeface="Calibri" pitchFamily="34" charset="-120"/>
              </a:rPr>
              <a:t>160 000 USD</a:t>
            </a:r>
            <a:endParaRPr lang="en-US" sz="1500" dirty="0"/>
          </a:p>
        </p:txBody>
      </p:sp>
      <p:sp>
        <p:nvSpPr>
          <p:cNvPr id="20" name="Text 17"/>
          <p:cNvSpPr txBox="1"/>
          <p:nvPr/>
        </p:nvSpPr>
        <p:spPr>
          <a:xfrm>
            <a:off x="8229600" y="5257800"/>
            <a:ext cx="3291840" cy="256032"/>
          </a:xfrm>
          <a:prstGeom prst="rect">
            <a:avLst/>
          </a:prstGeom>
          <a:noFill/>
          <a:ln/>
        </p:spPr>
        <p:txBody>
          <a:bodyPr wrap="square" lIns="0" tIns="0" rIns="0" bIns="0" rtlCol="0" anchor="ctr"/>
          <a:lstStyle/>
          <a:p>
            <a:pPr indent="0" marL="0">
              <a:buNone/>
            </a:pPr>
            <a:r>
              <a:rPr lang="en-US" sz="1100" dirty="0">
                <a:solidFill>
                  <a:srgbClr val="5B6B87"/>
                </a:solidFill>
                <a:latin typeface="Calibri" pitchFamily="34" charset="0"/>
                <a:ea typeface="Calibri" pitchFamily="34" charset="-122"/>
                <a:cs typeface="Calibri" pitchFamily="34" charset="-120"/>
              </a:rPr>
              <a:t>Asimetría</a:t>
            </a:r>
            <a:endParaRPr lang="en-US" sz="1100" dirty="0"/>
          </a:p>
        </p:txBody>
      </p:sp>
      <p:sp>
        <p:nvSpPr>
          <p:cNvPr id="21" name="Text 18"/>
          <p:cNvSpPr txBox="1"/>
          <p:nvPr/>
        </p:nvSpPr>
        <p:spPr>
          <a:xfrm>
            <a:off x="8229600" y="5495544"/>
            <a:ext cx="3291840" cy="310896"/>
          </a:xfrm>
          <a:prstGeom prst="rect">
            <a:avLst/>
          </a:prstGeom>
          <a:noFill/>
          <a:ln/>
        </p:spPr>
        <p:txBody>
          <a:bodyPr wrap="square" lIns="0" tIns="0" rIns="0" bIns="0" rtlCol="0" anchor="ctr"/>
          <a:lstStyle/>
          <a:p>
            <a:pPr indent="0" marL="0">
              <a:buNone/>
            </a:pPr>
            <a:r>
              <a:rPr lang="en-US" sz="1500" b="1" dirty="0">
                <a:solidFill>
                  <a:srgbClr val="E6115E"/>
                </a:solidFill>
                <a:latin typeface="Calibri" pitchFamily="34" charset="0"/>
                <a:ea typeface="Calibri" pitchFamily="34" charset="-122"/>
                <a:cs typeface="Calibri" pitchFamily="34" charset="-120"/>
              </a:rPr>
              <a:t>1.74 → -0.01 en log</a:t>
            </a:r>
            <a:endParaRPr lang="en-US" sz="1500" dirty="0"/>
          </a:p>
        </p:txBody>
      </p:sp>
      <p:sp>
        <p:nvSpPr>
          <p:cNvPr id="22" name="Text 19"/>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De Cock, D. (2011). Ames, Iowa: Alternative to the Boston Housing Data as an End of Semester Regression Project. Journal of Statistics Education, 19(3).</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Separar la prueba antes de mirar</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Todo lo que decides mirando los datos es una forma de aprender de ellos. Si miras la prueba, deja de ser nueva.</a:t>
            </a:r>
            <a:endParaRPr lang="en-US" sz="1400" dirty="0"/>
          </a:p>
        </p:txBody>
      </p:sp>
      <p:sp>
        <p:nvSpPr>
          <p:cNvPr id="6" name="Shape 4"/>
          <p:cNvSpPr/>
          <p:nvPr/>
        </p:nvSpPr>
        <p:spPr>
          <a:xfrm>
            <a:off x="502920" y="2103120"/>
            <a:ext cx="8891626" cy="914400"/>
          </a:xfrm>
          <a:prstGeom prst="roundRect">
            <a:avLst>
              <a:gd name="adj" fmla="val 6000"/>
            </a:avLst>
          </a:prstGeom>
          <a:solidFill>
            <a:srgbClr val="0A2559"/>
          </a:solidFill>
          <a:ln/>
        </p:spPr>
      </p:sp>
      <p:sp>
        <p:nvSpPr>
          <p:cNvPr id="7" name="Text 5"/>
          <p:cNvSpPr txBox="1"/>
          <p:nvPr/>
        </p:nvSpPr>
        <p:spPr>
          <a:xfrm>
            <a:off x="502920" y="2157984"/>
            <a:ext cx="8891626" cy="41148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ENTRENAMIENTO · 80 %</a:t>
            </a:r>
            <a:endParaRPr lang="en-US" sz="1400" dirty="0"/>
          </a:p>
        </p:txBody>
      </p:sp>
      <p:sp>
        <p:nvSpPr>
          <p:cNvPr id="8" name="Text 6"/>
          <p:cNvSpPr txBox="1"/>
          <p:nvPr/>
        </p:nvSpPr>
        <p:spPr>
          <a:xfrm>
            <a:off x="502920" y="2542032"/>
            <a:ext cx="8891626" cy="365760"/>
          </a:xfrm>
          <a:prstGeom prst="rect">
            <a:avLst/>
          </a:prstGeom>
          <a:noFill/>
          <a:ln/>
        </p:spPr>
        <p:txBody>
          <a:bodyPr wrap="square" lIns="0" tIns="0" rIns="0" bIns="0" rtlCol="0" anchor="ctr"/>
          <a:lstStyle/>
          <a:p>
            <a:pPr algn="ctr" indent="0" marL="0">
              <a:buNone/>
            </a:pPr>
            <a:r>
              <a:rPr lang="en-US" sz="1150" i="1" dirty="0">
                <a:solidFill>
                  <a:srgbClr val="DCE4F5"/>
                </a:solidFill>
                <a:latin typeface="Calibri" pitchFamily="34" charset="0"/>
                <a:ea typeface="Calibri" pitchFamily="34" charset="-122"/>
                <a:cs typeface="Calibri" pitchFamily="34" charset="-120"/>
              </a:rPr>
              <a:t>2 344 casas · se explora, se limpia, se valida</a:t>
            </a:r>
            <a:endParaRPr lang="en-US" sz="1150" dirty="0"/>
          </a:p>
        </p:txBody>
      </p:sp>
      <p:sp>
        <p:nvSpPr>
          <p:cNvPr id="9" name="Shape 7"/>
          <p:cNvSpPr/>
          <p:nvPr/>
        </p:nvSpPr>
        <p:spPr>
          <a:xfrm>
            <a:off x="9449410" y="2103120"/>
            <a:ext cx="2181758" cy="914400"/>
          </a:xfrm>
          <a:prstGeom prst="roundRect">
            <a:avLst>
              <a:gd name="adj" fmla="val 6000"/>
            </a:avLst>
          </a:prstGeom>
          <a:solidFill>
            <a:srgbClr val="E6115E"/>
          </a:solidFill>
          <a:ln/>
        </p:spPr>
      </p:sp>
      <p:sp>
        <p:nvSpPr>
          <p:cNvPr id="10" name="Text 8"/>
          <p:cNvSpPr txBox="1"/>
          <p:nvPr/>
        </p:nvSpPr>
        <p:spPr>
          <a:xfrm>
            <a:off x="9449410" y="2157984"/>
            <a:ext cx="2181758" cy="41148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PRUEBA · 20 %</a:t>
            </a:r>
            <a:endParaRPr lang="en-US" sz="1400" dirty="0"/>
          </a:p>
        </p:txBody>
      </p:sp>
      <p:sp>
        <p:nvSpPr>
          <p:cNvPr id="11" name="Text 9"/>
          <p:cNvSpPr txBox="1"/>
          <p:nvPr/>
        </p:nvSpPr>
        <p:spPr>
          <a:xfrm>
            <a:off x="9449410" y="2542032"/>
            <a:ext cx="2181758" cy="365760"/>
          </a:xfrm>
          <a:prstGeom prst="rect">
            <a:avLst/>
          </a:prstGeom>
          <a:noFill/>
          <a:ln/>
        </p:spPr>
        <p:txBody>
          <a:bodyPr wrap="square" lIns="0" tIns="0" rIns="0" bIns="0" rtlCol="0" anchor="ctr"/>
          <a:lstStyle/>
          <a:p>
            <a:pPr algn="ctr" indent="0" marL="0">
              <a:buNone/>
            </a:pPr>
            <a:r>
              <a:rPr lang="en-US" sz="1150" i="1" dirty="0">
                <a:solidFill>
                  <a:srgbClr val="DCE4F5"/>
                </a:solidFill>
                <a:latin typeface="Calibri" pitchFamily="34" charset="0"/>
                <a:ea typeface="Calibri" pitchFamily="34" charset="-122"/>
                <a:cs typeface="Calibri" pitchFamily="34" charset="-120"/>
              </a:rPr>
              <a:t>586 casas · hasta el Paso 8</a:t>
            </a:r>
            <a:endParaRPr lang="en-US" sz="1150" dirty="0"/>
          </a:p>
        </p:txBody>
      </p:sp>
      <p:sp>
        <p:nvSpPr>
          <p:cNvPr id="12" name="Shape 10"/>
          <p:cNvSpPr/>
          <p:nvPr/>
        </p:nvSpPr>
        <p:spPr>
          <a:xfrm>
            <a:off x="502920" y="3291840"/>
            <a:ext cx="3630168" cy="2103120"/>
          </a:xfrm>
          <a:prstGeom prst="roundRect">
            <a:avLst>
              <a:gd name="adj" fmla="val 2609"/>
            </a:avLst>
          </a:prstGeom>
          <a:solidFill>
            <a:srgbClr val="FFFFFF"/>
          </a:solidFill>
          <a:ln w="9525">
            <a:solidFill>
              <a:srgbClr val="D2DBEC"/>
            </a:solidFill>
            <a:prstDash val="solid"/>
          </a:ln>
        </p:spPr>
      </p:sp>
      <p:sp>
        <p:nvSpPr>
          <p:cNvPr id="13" name="Shape 11"/>
          <p:cNvSpPr/>
          <p:nvPr/>
        </p:nvSpPr>
        <p:spPr>
          <a:xfrm>
            <a:off x="731520" y="3538728"/>
            <a:ext cx="128016" cy="128016"/>
          </a:xfrm>
          <a:prstGeom prst="roundRect">
            <a:avLst>
              <a:gd name="adj" fmla="val 21429"/>
            </a:avLst>
          </a:prstGeom>
          <a:solidFill>
            <a:srgbClr val="E6115E"/>
          </a:solidFill>
          <a:ln w="12700">
            <a:solidFill>
              <a:srgbClr val="E6115E"/>
            </a:solidFill>
            <a:prstDash val="solid"/>
          </a:ln>
        </p:spPr>
      </p:sp>
      <p:sp>
        <p:nvSpPr>
          <p:cNvPr id="14" name="Text 12"/>
          <p:cNvSpPr txBox="1"/>
          <p:nvPr/>
        </p:nvSpPr>
        <p:spPr>
          <a:xfrm>
            <a:off x="960120" y="342900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Qué es la fuga</a:t>
            </a:r>
            <a:endParaRPr lang="en-US" sz="1400" dirty="0"/>
          </a:p>
        </p:txBody>
      </p:sp>
      <p:sp>
        <p:nvSpPr>
          <p:cNvPr id="15" name="Text 13"/>
          <p:cNvSpPr txBox="1"/>
          <p:nvPr/>
        </p:nvSpPr>
        <p:spPr>
          <a:xfrm>
            <a:off x="731520" y="3794760"/>
            <a:ext cx="3200400" cy="1508760"/>
          </a:xfrm>
          <a:prstGeom prst="rect">
            <a:avLst/>
          </a:prstGeom>
          <a:noFill/>
          <a:ln/>
        </p:spPr>
        <p:txBody>
          <a:bodyPr wrap="square" lIns="0" tIns="0" rIns="0" bIns="0" rtlCol="0" anchor="t"/>
          <a:lstStyle/>
          <a:p>
            <a:pPr indent="0" marL="0">
              <a:spcAft>
                <a:spcPts val="400"/>
              </a:spcAft>
              <a:buNone/>
            </a:pPr>
            <a:r>
              <a:rPr lang="en-US" sz="1350" dirty="0">
                <a:solidFill>
                  <a:srgbClr val="2C3A55"/>
                </a:solidFill>
                <a:latin typeface="Calibri" pitchFamily="34" charset="0"/>
                <a:ea typeface="Calibri" pitchFamily="34" charset="-122"/>
                <a:cs typeface="Calibri" pitchFamily="34" charset="-120"/>
              </a:rPr>
              <a:t>Que el modelo aprenda, sin que lo notes, algo de los datos con los que lo vas a evaluar. El resultado sale mejor de lo que será en la realidad.</a:t>
            </a:r>
            <a:endParaRPr lang="en-US" sz="1350" dirty="0"/>
          </a:p>
        </p:txBody>
      </p:sp>
      <p:sp>
        <p:nvSpPr>
          <p:cNvPr id="16" name="Shape 14"/>
          <p:cNvSpPr/>
          <p:nvPr/>
        </p:nvSpPr>
        <p:spPr>
          <a:xfrm>
            <a:off x="4279392" y="3291840"/>
            <a:ext cx="3630168" cy="2103120"/>
          </a:xfrm>
          <a:prstGeom prst="roundRect">
            <a:avLst>
              <a:gd name="adj" fmla="val 2609"/>
            </a:avLst>
          </a:prstGeom>
          <a:solidFill>
            <a:srgbClr val="FFFFFF"/>
          </a:solidFill>
          <a:ln w="9525">
            <a:solidFill>
              <a:srgbClr val="D2DBEC"/>
            </a:solidFill>
            <a:prstDash val="solid"/>
          </a:ln>
        </p:spPr>
      </p:sp>
      <p:sp>
        <p:nvSpPr>
          <p:cNvPr id="17" name="Shape 15"/>
          <p:cNvSpPr/>
          <p:nvPr/>
        </p:nvSpPr>
        <p:spPr>
          <a:xfrm>
            <a:off x="4507992" y="3538728"/>
            <a:ext cx="128016" cy="128016"/>
          </a:xfrm>
          <a:prstGeom prst="roundRect">
            <a:avLst>
              <a:gd name="adj" fmla="val 21429"/>
            </a:avLst>
          </a:prstGeom>
          <a:solidFill>
            <a:srgbClr val="1A56E8"/>
          </a:solidFill>
          <a:ln w="12700">
            <a:solidFill>
              <a:srgbClr val="1A56E8"/>
            </a:solidFill>
            <a:prstDash val="solid"/>
          </a:ln>
        </p:spPr>
      </p:sp>
      <p:sp>
        <p:nvSpPr>
          <p:cNvPr id="18" name="Text 16"/>
          <p:cNvSpPr txBox="1"/>
          <p:nvPr/>
        </p:nvSpPr>
        <p:spPr>
          <a:xfrm>
            <a:off x="4736592" y="342900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Ejemplos típicos</a:t>
            </a:r>
            <a:endParaRPr lang="en-US" sz="1400" dirty="0"/>
          </a:p>
        </p:txBody>
      </p:sp>
      <p:sp>
        <p:nvSpPr>
          <p:cNvPr id="19" name="Text 17"/>
          <p:cNvSpPr txBox="1"/>
          <p:nvPr/>
        </p:nvSpPr>
        <p:spPr>
          <a:xfrm>
            <a:off x="4507992" y="3794760"/>
            <a:ext cx="3200400" cy="1508760"/>
          </a:xfrm>
          <a:prstGeom prst="rect">
            <a:avLst/>
          </a:prstGeom>
          <a:noFill/>
          <a:ln/>
        </p:spPr>
        <p:txBody>
          <a:bodyPr wrap="square" lIns="0" tIns="0" rIns="0" bIns="0" rtlCol="0" anchor="t"/>
          <a:lstStyle/>
          <a:p>
            <a:pPr indent="0" marL="0">
              <a:spcAft>
                <a:spcPts val="400"/>
              </a:spcAft>
              <a:buNone/>
            </a:pPr>
            <a:r>
              <a:rPr lang="en-US" sz="1350" dirty="0">
                <a:solidFill>
                  <a:srgbClr val="2C3A55"/>
                </a:solidFill>
                <a:latin typeface="Calibri" pitchFamily="34" charset="0"/>
                <a:ea typeface="Calibri" pitchFamily="34" charset="-122"/>
                <a:cs typeface="Calibri" pitchFamily="34" charset="-120"/>
              </a:rPr>
              <a:t>Calcular la mediana para rellenar con todos los datos. Escalar antes de cortar. Elegir variables mirando la correlación en todo el dataset.</a:t>
            </a:r>
            <a:endParaRPr lang="en-US" sz="1350" dirty="0"/>
          </a:p>
        </p:txBody>
      </p:sp>
      <p:sp>
        <p:nvSpPr>
          <p:cNvPr id="20" name="Shape 18"/>
          <p:cNvSpPr/>
          <p:nvPr/>
        </p:nvSpPr>
        <p:spPr>
          <a:xfrm>
            <a:off x="8055864" y="3291840"/>
            <a:ext cx="3630168" cy="2103120"/>
          </a:xfrm>
          <a:prstGeom prst="roundRect">
            <a:avLst>
              <a:gd name="adj" fmla="val 2609"/>
            </a:avLst>
          </a:prstGeom>
          <a:solidFill>
            <a:srgbClr val="FFFFFF"/>
          </a:solidFill>
          <a:ln w="9525">
            <a:solidFill>
              <a:srgbClr val="D2DBEC"/>
            </a:solidFill>
            <a:prstDash val="solid"/>
          </a:ln>
        </p:spPr>
      </p:sp>
      <p:sp>
        <p:nvSpPr>
          <p:cNvPr id="21" name="Shape 19"/>
          <p:cNvSpPr/>
          <p:nvPr/>
        </p:nvSpPr>
        <p:spPr>
          <a:xfrm>
            <a:off x="8284464" y="3538728"/>
            <a:ext cx="128016" cy="128016"/>
          </a:xfrm>
          <a:prstGeom prst="roundRect">
            <a:avLst>
              <a:gd name="adj" fmla="val 21429"/>
            </a:avLst>
          </a:prstGeom>
          <a:solidFill>
            <a:srgbClr val="12B886"/>
          </a:solidFill>
          <a:ln w="12700">
            <a:solidFill>
              <a:srgbClr val="12B886"/>
            </a:solidFill>
            <a:prstDash val="solid"/>
          </a:ln>
        </p:spPr>
      </p:sp>
      <p:sp>
        <p:nvSpPr>
          <p:cNvPr id="22" name="Text 20"/>
          <p:cNvSpPr txBox="1"/>
          <p:nvPr/>
        </p:nvSpPr>
        <p:spPr>
          <a:xfrm>
            <a:off x="8513064" y="3429000"/>
            <a:ext cx="2990088"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Estratificar el precio</a:t>
            </a:r>
            <a:endParaRPr lang="en-US" sz="1400" dirty="0"/>
          </a:p>
        </p:txBody>
      </p:sp>
      <p:sp>
        <p:nvSpPr>
          <p:cNvPr id="23" name="Text 21"/>
          <p:cNvSpPr txBox="1"/>
          <p:nvPr/>
        </p:nvSpPr>
        <p:spPr>
          <a:xfrm>
            <a:off x="8284464" y="3794760"/>
            <a:ext cx="3200400" cy="1508760"/>
          </a:xfrm>
          <a:prstGeom prst="rect">
            <a:avLst/>
          </a:prstGeom>
          <a:noFill/>
          <a:ln/>
        </p:spPr>
        <p:txBody>
          <a:bodyPr wrap="square" lIns="0" tIns="0" rIns="0" bIns="0" rtlCol="0" anchor="t"/>
          <a:lstStyle/>
          <a:p>
            <a:pPr indent="0" marL="0">
              <a:spcAft>
                <a:spcPts val="400"/>
              </a:spcAft>
              <a:buNone/>
            </a:pPr>
            <a:r>
              <a:rPr lang="en-US" sz="1350" dirty="0">
                <a:solidFill>
                  <a:srgbClr val="2C3A55"/>
                </a:solidFill>
                <a:latin typeface="Calibri" pitchFamily="34" charset="0"/>
                <a:ea typeface="Calibri" pitchFamily="34" charset="-122"/>
                <a:cs typeface="Calibri" pitchFamily="34" charset="-120"/>
              </a:rPr>
              <a:t>Con un objetivo asimétrico, el corte al azar puede dejar las casas caras de un lado. pd.qcut(y, 5) arma 5 grupos de precio y el corte los respeta.</a:t>
            </a:r>
            <a:endParaRPr lang="en-US" sz="1350" dirty="0"/>
          </a:p>
        </p:txBody>
      </p:sp>
      <p:sp>
        <p:nvSpPr>
          <p:cNvPr id="24" name="Shape 22"/>
          <p:cNvSpPr/>
          <p:nvPr/>
        </p:nvSpPr>
        <p:spPr>
          <a:xfrm>
            <a:off x="502920" y="5577840"/>
            <a:ext cx="11183112" cy="658368"/>
          </a:xfrm>
          <a:prstGeom prst="roundRect">
            <a:avLst>
              <a:gd name="adj" fmla="val 8333"/>
            </a:avLst>
          </a:prstGeom>
          <a:solidFill>
            <a:srgbClr val="0A2559"/>
          </a:solidFill>
          <a:ln w="9525">
            <a:solidFill>
              <a:srgbClr val="0A2559"/>
            </a:solidFill>
            <a:prstDash val="solid"/>
          </a:ln>
        </p:spPr>
      </p:sp>
      <p:sp>
        <p:nvSpPr>
          <p:cNvPr id="25" name="Text 23"/>
          <p:cNvSpPr txBox="1"/>
          <p:nvPr/>
        </p:nvSpPr>
        <p:spPr>
          <a:xfrm>
            <a:off x="731520" y="5577840"/>
            <a:ext cx="10789920" cy="658368"/>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Mediana del precio: 160 000 en entrenamiento y 161 875 en prueba.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La estratificación hizo su trabajo.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Explorar, solo con entrenamiento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Tres preguntas: ¿qué se relaciona con el precio?, ¿hay casos raros?, ¿importan las categorías?</a:t>
            </a:r>
            <a:endParaRPr lang="en-US" sz="1400" dirty="0"/>
          </a:p>
        </p:txBody>
      </p:sp>
      <p:sp>
        <p:nvSpPr>
          <p:cNvPr id="6" name="Shape 4"/>
          <p:cNvSpPr/>
          <p:nvPr/>
        </p:nvSpPr>
        <p:spPr>
          <a:xfrm>
            <a:off x="502920" y="2103120"/>
            <a:ext cx="548640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Correlación con el precio</a:t>
            </a:r>
            <a:endParaRPr lang="en-US" sz="1400" dirty="0"/>
          </a:p>
        </p:txBody>
      </p:sp>
      <p:sp>
        <p:nvSpPr>
          <p:cNvPr id="9" name="Text 7"/>
          <p:cNvSpPr txBox="1"/>
          <p:nvPr/>
        </p:nvSpPr>
        <p:spPr>
          <a:xfrm>
            <a:off x="731520" y="2697480"/>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calidad general</a:t>
            </a:r>
            <a:endParaRPr lang="en-US" sz="1200" dirty="0"/>
          </a:p>
        </p:txBody>
      </p:sp>
      <p:sp>
        <p:nvSpPr>
          <p:cNvPr id="10" name="Shape 8"/>
          <p:cNvSpPr/>
          <p:nvPr/>
        </p:nvSpPr>
        <p:spPr>
          <a:xfrm>
            <a:off x="2606040" y="2770632"/>
            <a:ext cx="2404613" cy="237744"/>
          </a:xfrm>
          <a:prstGeom prst="rect">
            <a:avLst/>
          </a:prstGeom>
          <a:solidFill>
            <a:srgbClr val="E6115E"/>
          </a:solidFill>
          <a:ln/>
        </p:spPr>
      </p:sp>
      <p:sp>
        <p:nvSpPr>
          <p:cNvPr id="11" name="Text 9"/>
          <p:cNvSpPr txBox="1"/>
          <p:nvPr/>
        </p:nvSpPr>
        <p:spPr>
          <a:xfrm>
            <a:off x="5074661" y="2697480"/>
            <a:ext cx="548640" cy="365760"/>
          </a:xfrm>
          <a:prstGeom prst="rect">
            <a:avLst/>
          </a:prstGeom>
          <a:noFill/>
          <a:ln/>
        </p:spPr>
        <p:txBody>
          <a:bodyPr wrap="square" lIns="0" tIns="0" rIns="0" bIns="0" rtlCol="0" anchor="ctr"/>
          <a:lstStyle/>
          <a:p>
            <a:pPr indent="0" marL="0">
              <a:buNone/>
            </a:pPr>
            <a:r>
              <a:rPr lang="en-US" sz="1200" b="1" dirty="0">
                <a:solidFill>
                  <a:srgbClr val="E6115E"/>
                </a:solidFill>
                <a:latin typeface="Calibri" pitchFamily="34" charset="0"/>
                <a:ea typeface="Calibri" pitchFamily="34" charset="-122"/>
                <a:cs typeface="Calibri" pitchFamily="34" charset="-120"/>
              </a:rPr>
              <a:t>0.80</a:t>
            </a:r>
            <a:endParaRPr lang="en-US" sz="1200" dirty="0"/>
          </a:p>
        </p:txBody>
      </p:sp>
      <p:sp>
        <p:nvSpPr>
          <p:cNvPr id="12" name="Text 10"/>
          <p:cNvSpPr txBox="1"/>
          <p:nvPr/>
        </p:nvSpPr>
        <p:spPr>
          <a:xfrm>
            <a:off x="731520" y="3127248"/>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superficie habitable</a:t>
            </a:r>
            <a:endParaRPr lang="en-US" sz="1200" dirty="0"/>
          </a:p>
        </p:txBody>
      </p:sp>
      <p:sp>
        <p:nvSpPr>
          <p:cNvPr id="13" name="Shape 11"/>
          <p:cNvSpPr/>
          <p:nvPr/>
        </p:nvSpPr>
        <p:spPr>
          <a:xfrm>
            <a:off x="2606040" y="3200400"/>
            <a:ext cx="2132118" cy="237744"/>
          </a:xfrm>
          <a:prstGeom prst="rect">
            <a:avLst/>
          </a:prstGeom>
          <a:solidFill>
            <a:srgbClr val="1A56E8"/>
          </a:solidFill>
          <a:ln/>
        </p:spPr>
      </p:sp>
      <p:sp>
        <p:nvSpPr>
          <p:cNvPr id="14" name="Text 12"/>
          <p:cNvSpPr txBox="1"/>
          <p:nvPr/>
        </p:nvSpPr>
        <p:spPr>
          <a:xfrm>
            <a:off x="4802166" y="3127248"/>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0.71</a:t>
            </a:r>
            <a:endParaRPr lang="en-US" sz="1200" dirty="0"/>
          </a:p>
        </p:txBody>
      </p:sp>
      <p:sp>
        <p:nvSpPr>
          <p:cNvPr id="15" name="Text 13"/>
          <p:cNvSpPr txBox="1"/>
          <p:nvPr/>
        </p:nvSpPr>
        <p:spPr>
          <a:xfrm>
            <a:off x="731520" y="3557016"/>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capacidad del garaje</a:t>
            </a:r>
            <a:endParaRPr lang="en-US" sz="1200" dirty="0"/>
          </a:p>
        </p:txBody>
      </p:sp>
      <p:sp>
        <p:nvSpPr>
          <p:cNvPr id="16" name="Shape 14"/>
          <p:cNvSpPr/>
          <p:nvPr/>
        </p:nvSpPr>
        <p:spPr>
          <a:xfrm>
            <a:off x="2606040" y="3630168"/>
            <a:ext cx="1950588" cy="237744"/>
          </a:xfrm>
          <a:prstGeom prst="rect">
            <a:avLst/>
          </a:prstGeom>
          <a:solidFill>
            <a:srgbClr val="1A56E8"/>
          </a:solidFill>
          <a:ln/>
        </p:spPr>
      </p:sp>
      <p:sp>
        <p:nvSpPr>
          <p:cNvPr id="17" name="Text 15"/>
          <p:cNvSpPr txBox="1"/>
          <p:nvPr/>
        </p:nvSpPr>
        <p:spPr>
          <a:xfrm>
            <a:off x="4620636" y="3557016"/>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0.65</a:t>
            </a:r>
            <a:endParaRPr lang="en-US" sz="1200" dirty="0"/>
          </a:p>
        </p:txBody>
      </p:sp>
      <p:sp>
        <p:nvSpPr>
          <p:cNvPr id="18" name="Text 16"/>
          <p:cNvSpPr txBox="1"/>
          <p:nvPr/>
        </p:nvSpPr>
        <p:spPr>
          <a:xfrm>
            <a:off x="731520" y="3986784"/>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superficie del sótano</a:t>
            </a:r>
            <a:endParaRPr lang="en-US" sz="1200" dirty="0"/>
          </a:p>
        </p:txBody>
      </p:sp>
      <p:sp>
        <p:nvSpPr>
          <p:cNvPr id="19" name="Shape 17"/>
          <p:cNvSpPr/>
          <p:nvPr/>
        </p:nvSpPr>
        <p:spPr>
          <a:xfrm>
            <a:off x="2606040" y="4059936"/>
            <a:ext cx="1941791" cy="237744"/>
          </a:xfrm>
          <a:prstGeom prst="rect">
            <a:avLst/>
          </a:prstGeom>
          <a:solidFill>
            <a:srgbClr val="1A56E8"/>
          </a:solidFill>
          <a:ln/>
        </p:spPr>
      </p:sp>
      <p:sp>
        <p:nvSpPr>
          <p:cNvPr id="20" name="Text 18"/>
          <p:cNvSpPr txBox="1"/>
          <p:nvPr/>
        </p:nvSpPr>
        <p:spPr>
          <a:xfrm>
            <a:off x="4611839" y="3986784"/>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0.64</a:t>
            </a:r>
            <a:endParaRPr lang="en-US" sz="1200" dirty="0"/>
          </a:p>
        </p:txBody>
      </p:sp>
      <p:sp>
        <p:nvSpPr>
          <p:cNvPr id="21" name="Text 19"/>
          <p:cNvSpPr txBox="1"/>
          <p:nvPr/>
        </p:nvSpPr>
        <p:spPr>
          <a:xfrm>
            <a:off x="731520" y="4416552"/>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año de construcción</a:t>
            </a:r>
            <a:endParaRPr lang="en-US" sz="1200" dirty="0"/>
          </a:p>
        </p:txBody>
      </p:sp>
      <p:sp>
        <p:nvSpPr>
          <p:cNvPr id="22" name="Shape 20"/>
          <p:cNvSpPr/>
          <p:nvPr/>
        </p:nvSpPr>
        <p:spPr>
          <a:xfrm>
            <a:off x="2606040" y="4489704"/>
            <a:ext cx="1692963" cy="237744"/>
          </a:xfrm>
          <a:prstGeom prst="rect">
            <a:avLst/>
          </a:prstGeom>
          <a:solidFill>
            <a:srgbClr val="1A56E8"/>
          </a:solidFill>
          <a:ln/>
        </p:spPr>
      </p:sp>
      <p:sp>
        <p:nvSpPr>
          <p:cNvPr id="23" name="Text 21"/>
          <p:cNvSpPr txBox="1"/>
          <p:nvPr/>
        </p:nvSpPr>
        <p:spPr>
          <a:xfrm>
            <a:off x="4363011" y="4416552"/>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0.56</a:t>
            </a:r>
            <a:endParaRPr lang="en-US" sz="1200" dirty="0"/>
          </a:p>
        </p:txBody>
      </p:sp>
      <p:sp>
        <p:nvSpPr>
          <p:cNvPr id="24" name="Text 22"/>
          <p:cNvSpPr txBox="1"/>
          <p:nvPr/>
        </p:nvSpPr>
        <p:spPr>
          <a:xfrm>
            <a:off x="731520" y="4846320"/>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año de remodelación</a:t>
            </a:r>
            <a:endParaRPr lang="en-US" sz="1200" dirty="0"/>
          </a:p>
        </p:txBody>
      </p:sp>
      <p:sp>
        <p:nvSpPr>
          <p:cNvPr id="25" name="Shape 23"/>
          <p:cNvSpPr/>
          <p:nvPr/>
        </p:nvSpPr>
        <p:spPr>
          <a:xfrm>
            <a:off x="2606040" y="4919472"/>
            <a:ext cx="1626436" cy="237744"/>
          </a:xfrm>
          <a:prstGeom prst="rect">
            <a:avLst/>
          </a:prstGeom>
          <a:solidFill>
            <a:srgbClr val="1A56E8"/>
          </a:solidFill>
          <a:ln/>
        </p:spPr>
      </p:sp>
      <p:sp>
        <p:nvSpPr>
          <p:cNvPr id="26" name="Text 24"/>
          <p:cNvSpPr txBox="1"/>
          <p:nvPr/>
        </p:nvSpPr>
        <p:spPr>
          <a:xfrm>
            <a:off x="4296484" y="4846320"/>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0.54</a:t>
            </a:r>
            <a:endParaRPr lang="en-US" sz="1200" dirty="0"/>
          </a:p>
        </p:txBody>
      </p:sp>
      <p:sp>
        <p:nvSpPr>
          <p:cNvPr id="27" name="Text 25"/>
          <p:cNvSpPr txBox="1"/>
          <p:nvPr/>
        </p:nvSpPr>
        <p:spPr>
          <a:xfrm>
            <a:off x="731520" y="5276088"/>
            <a:ext cx="1828800" cy="36576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baños completos</a:t>
            </a:r>
            <a:endParaRPr lang="en-US" sz="1200" dirty="0"/>
          </a:p>
        </p:txBody>
      </p:sp>
      <p:sp>
        <p:nvSpPr>
          <p:cNvPr id="28" name="Shape 26"/>
          <p:cNvSpPr/>
          <p:nvPr/>
        </p:nvSpPr>
        <p:spPr>
          <a:xfrm>
            <a:off x="2606040" y="5349240"/>
            <a:ext cx="1625195" cy="237744"/>
          </a:xfrm>
          <a:prstGeom prst="rect">
            <a:avLst/>
          </a:prstGeom>
          <a:solidFill>
            <a:srgbClr val="1A56E8"/>
          </a:solidFill>
          <a:ln/>
        </p:spPr>
      </p:sp>
      <p:sp>
        <p:nvSpPr>
          <p:cNvPr id="29" name="Text 27"/>
          <p:cNvSpPr txBox="1"/>
          <p:nvPr/>
        </p:nvSpPr>
        <p:spPr>
          <a:xfrm>
            <a:off x="4295243" y="5276088"/>
            <a:ext cx="548640" cy="36576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0.54</a:t>
            </a:r>
            <a:endParaRPr lang="en-US" sz="1200" dirty="0"/>
          </a:p>
        </p:txBody>
      </p:sp>
      <p:sp>
        <p:nvSpPr>
          <p:cNvPr id="30" name="Text 28"/>
          <p:cNvSpPr txBox="1"/>
          <p:nvPr/>
        </p:nvSpPr>
        <p:spPr>
          <a:xfrm>
            <a:off x="731520" y="5760720"/>
            <a:ext cx="5029200" cy="41148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La calidad que asigna el tasador le gana a la superficie: el juicio experto ya está en los datos.</a:t>
            </a:r>
            <a:endParaRPr lang="en-US" sz="1100" dirty="0"/>
          </a:p>
        </p:txBody>
      </p:sp>
      <p:sp>
        <p:nvSpPr>
          <p:cNvPr id="31" name="Shape 29"/>
          <p:cNvSpPr/>
          <p:nvPr/>
        </p:nvSpPr>
        <p:spPr>
          <a:xfrm>
            <a:off x="6263640" y="2103120"/>
            <a:ext cx="5422392" cy="2331720"/>
          </a:xfrm>
          <a:prstGeom prst="roundRect">
            <a:avLst>
              <a:gd name="adj" fmla="val 2353"/>
            </a:avLst>
          </a:prstGeom>
          <a:solidFill>
            <a:srgbClr val="0A2559"/>
          </a:solidFill>
          <a:ln w="9525">
            <a:solidFill>
              <a:srgbClr val="0A2559"/>
            </a:solidFill>
            <a:prstDash val="solid"/>
          </a:ln>
        </p:spPr>
      </p:sp>
      <p:sp>
        <p:nvSpPr>
          <p:cNvPr id="32" name="Shape 30"/>
          <p:cNvSpPr/>
          <p:nvPr/>
        </p:nvSpPr>
        <p:spPr>
          <a:xfrm>
            <a:off x="6492240" y="2350008"/>
            <a:ext cx="128016" cy="128016"/>
          </a:xfrm>
          <a:prstGeom prst="roundRect">
            <a:avLst>
              <a:gd name="adj" fmla="val 21429"/>
            </a:avLst>
          </a:prstGeom>
          <a:solidFill>
            <a:srgbClr val="E6115E"/>
          </a:solidFill>
          <a:ln w="12700">
            <a:solidFill>
              <a:srgbClr val="E6115E"/>
            </a:solidFill>
            <a:prstDash val="solid"/>
          </a:ln>
        </p:spPr>
      </p:sp>
      <p:sp>
        <p:nvSpPr>
          <p:cNvPr id="33" name="Text 31"/>
          <p:cNvSpPr txBox="1"/>
          <p:nvPr/>
        </p:nvSpPr>
        <p:spPr>
          <a:xfrm>
            <a:off x="6720840" y="2240280"/>
            <a:ext cx="478231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casas de más de 4 000 pies²</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2606040"/>
          <a:ext cx="4983480" cy="914400"/>
        </p:xfrm>
        <a:graphic>
          <a:graphicData uri="http://schemas.openxmlformats.org/drawingml/2006/table">
            <a:tbl>
              <a:tblPr/>
              <a:tblGrid>
                <a:gridCol w="1371600"/>
                <a:gridCol w="1691640"/>
                <a:gridCol w="1920240"/>
              </a:tblGrid>
              <a:tr h="274320">
                <a:tc>
                  <a:txBody>
                    <a:bodyPr/>
                    <a:lstStyle/>
                    <a:p>
                      <a:pPr indent="0" marL="0">
                        <a:buNone/>
                      </a:pPr>
                      <a:r>
                        <a:rPr lang="en-US" sz="1050" b="1" dirty="0">
                          <a:solidFill>
                            <a:srgbClr val="A9B7D4"/>
                          </a:solidFill>
                          <a:latin typeface="Calibri" pitchFamily="34" charset="0"/>
                          <a:ea typeface="Calibri" pitchFamily="34" charset="-122"/>
                          <a:cs typeface="Calibri" pitchFamily="34" charset="-120"/>
                        </a:rPr>
                        <a:t>pies²</a:t>
                      </a:r>
                      <a:endParaRPr lang="en-US" sz="10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algn="r" indent="0" marL="0">
                        <a:buNone/>
                      </a:pPr>
                      <a:r>
                        <a:rPr lang="en-US" sz="1050" b="1" dirty="0">
                          <a:solidFill>
                            <a:srgbClr val="A9B7D4"/>
                          </a:solidFill>
                          <a:latin typeface="Calibri" pitchFamily="34" charset="0"/>
                          <a:ea typeface="Calibri" pitchFamily="34" charset="-122"/>
                          <a:cs typeface="Calibri" pitchFamily="34" charset="-120"/>
                        </a:rPr>
                        <a:t>precio</a:t>
                      </a:r>
                      <a:endParaRPr lang="en-US" sz="10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indent="0" marL="0">
                        <a:buNone/>
                      </a:pPr>
                      <a:r>
                        <a:rPr lang="en-US" sz="1050" b="1" dirty="0">
                          <a:solidFill>
                            <a:srgbClr val="A9B7D4"/>
                          </a:solidFill>
                          <a:latin typeface="Calibri" pitchFamily="34" charset="0"/>
                          <a:ea typeface="Calibri" pitchFamily="34" charset="-122"/>
                          <a:cs typeface="Calibri" pitchFamily="34" charset="-120"/>
                        </a:rPr>
                        <a:t>venta</a:t>
                      </a:r>
                      <a:endParaRPr lang="en-US" sz="10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r>
              <a:tr h="274320">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5 095</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algn="r" indent="0" marL="0">
                        <a:buNone/>
                      </a:pPr>
                      <a:r>
                        <a:rPr lang="en-US" sz="1150" b="1" dirty="0">
                          <a:solidFill>
                            <a:srgbClr val="FF6B9A"/>
                          </a:solidFill>
                          <a:latin typeface="Calibri" pitchFamily="34" charset="0"/>
                          <a:ea typeface="Calibri" pitchFamily="34" charset="-122"/>
                          <a:cs typeface="Calibri" pitchFamily="34" charset="-120"/>
                        </a:rPr>
                        <a:t>183 850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Partial</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r>
              <a:tr h="274320">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4 316</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755 000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Normal</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r>
              <a:tr h="274320">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4 476</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745 000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Abnorml</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r>
              <a:tr h="274320">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4 676</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algn="r" indent="0" marL="0">
                        <a:buNone/>
                      </a:pPr>
                      <a:r>
                        <a:rPr lang="en-US" sz="1150" b="1" dirty="0">
                          <a:solidFill>
                            <a:srgbClr val="FF6B9A"/>
                          </a:solidFill>
                          <a:latin typeface="Calibri" pitchFamily="34" charset="0"/>
                          <a:ea typeface="Calibri" pitchFamily="34" charset="-122"/>
                          <a:cs typeface="Calibri" pitchFamily="34" charset="-120"/>
                        </a:rPr>
                        <a:t>184 750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Partial</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A2559"/>
                    </a:solidFill>
                  </a:tcPr>
                </a:tc>
              </a:tr>
            </a:tbl>
          </a:graphicData>
        </a:graphic>
      </p:graphicFrame>
      <p:sp>
        <p:nvSpPr>
          <p:cNvPr id="35" name="Text 32"/>
          <p:cNvSpPr txBox="1"/>
          <p:nvPr/>
        </p:nvSpPr>
        <p:spPr>
          <a:xfrm>
            <a:off x="6492240" y="4023360"/>
            <a:ext cx="4983480" cy="365760"/>
          </a:xfrm>
          <a:prstGeom prst="rect">
            <a:avLst/>
          </a:prstGeom>
          <a:noFill/>
          <a:ln/>
        </p:spPr>
        <p:txBody>
          <a:bodyPr wrap="square" lIns="0" tIns="0" rIns="0" bIns="0" rtlCol="0" anchor="t"/>
          <a:lstStyle/>
          <a:p>
            <a:pPr indent="0" marL="0">
              <a:spcAft>
                <a:spcPts val="400"/>
              </a:spcAft>
              <a:buNone/>
            </a:pPr>
            <a:r>
              <a:rPr lang="en-US" sz="1100" i="1" dirty="0">
                <a:solidFill>
                  <a:srgbClr val="A9B7D4"/>
                </a:solidFill>
                <a:latin typeface="Calibri" pitchFamily="34" charset="0"/>
                <a:ea typeface="Calibri" pitchFamily="34" charset="-122"/>
                <a:cs typeface="Calibri" pitchFamily="34" charset="-120"/>
              </a:rPr>
              <a:t>Dos mansiones caras y dos ventas Partial (casas nuevas sin terminar) muy baratas.</a:t>
            </a:r>
            <a:endParaRPr lang="en-US" sz="1100" dirty="0"/>
          </a:p>
        </p:txBody>
      </p:sp>
      <p:sp>
        <p:nvSpPr>
          <p:cNvPr id="36" name="Shape 33"/>
          <p:cNvSpPr/>
          <p:nvPr/>
        </p:nvSpPr>
        <p:spPr>
          <a:xfrm>
            <a:off x="6263640" y="4617720"/>
            <a:ext cx="5422392" cy="1600200"/>
          </a:xfrm>
          <a:prstGeom prst="roundRect">
            <a:avLst>
              <a:gd name="adj" fmla="val 3429"/>
            </a:avLst>
          </a:prstGeom>
          <a:solidFill>
            <a:srgbClr val="FFFFFF"/>
          </a:solidFill>
          <a:ln w="9525">
            <a:solidFill>
              <a:srgbClr val="D2DBEC"/>
            </a:solidFill>
            <a:prstDash val="solid"/>
          </a:ln>
        </p:spPr>
      </p:sp>
      <p:sp>
        <p:nvSpPr>
          <p:cNvPr id="37" name="Shape 34"/>
          <p:cNvSpPr/>
          <p:nvPr/>
        </p:nvSpPr>
        <p:spPr>
          <a:xfrm>
            <a:off x="6492240" y="4864608"/>
            <a:ext cx="128016" cy="128016"/>
          </a:xfrm>
          <a:prstGeom prst="roundRect">
            <a:avLst>
              <a:gd name="adj" fmla="val 21429"/>
            </a:avLst>
          </a:prstGeom>
          <a:solidFill>
            <a:srgbClr val="12B886"/>
          </a:solidFill>
          <a:ln w="12700">
            <a:solidFill>
              <a:srgbClr val="12B886"/>
            </a:solidFill>
            <a:prstDash val="solid"/>
          </a:ln>
        </p:spPr>
      </p:sp>
      <p:sp>
        <p:nvSpPr>
          <p:cNvPr id="38" name="Text 35"/>
          <p:cNvSpPr txBox="1"/>
          <p:nvPr/>
        </p:nvSpPr>
        <p:spPr>
          <a:xfrm>
            <a:off x="6720840" y="4754880"/>
            <a:ext cx="478231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Las categorías importan</a:t>
            </a:r>
            <a:endParaRPr lang="en-US" sz="1400" dirty="0"/>
          </a:p>
        </p:txBody>
      </p:sp>
      <p:sp>
        <p:nvSpPr>
          <p:cNvPr id="39" name="Text 36"/>
          <p:cNvSpPr txBox="1"/>
          <p:nvPr/>
        </p:nvSpPr>
        <p:spPr>
          <a:xfrm>
            <a:off x="6492240" y="5120640"/>
            <a:ext cx="4983480" cy="105156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 barrio más caro (StoneBr) tiene una mediana 3.6 veces la del más barato (MeadowV). Las ventas Partial: 263 784 de mediana, frente a 159 500 de las normales.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5</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Limpiar y crear variables con una función</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Todo lo que transforma va en preparar(df), para aplicarlo igual a entrenamiento, a prueba y a cada casa nueva.</a:t>
            </a:r>
            <a:endParaRPr lang="en-US" sz="1400" dirty="0"/>
          </a:p>
        </p:txBody>
      </p:sp>
      <p:sp>
        <p:nvSpPr>
          <p:cNvPr id="6" name="Shape 4"/>
          <p:cNvSpPr/>
          <p:nvPr/>
        </p:nvSpPr>
        <p:spPr>
          <a:xfrm>
            <a:off x="502920" y="2103120"/>
            <a:ext cx="4206240" cy="1874520"/>
          </a:xfrm>
          <a:prstGeom prst="roundRect">
            <a:avLst>
              <a:gd name="adj" fmla="val 2927"/>
            </a:avLst>
          </a:prstGeom>
          <a:solidFill>
            <a:srgbClr val="0A2559"/>
          </a:solidFill>
          <a:ln w="9525">
            <a:solidFill>
              <a:srgbClr val="0A2559"/>
            </a:solidFill>
            <a:prstDash val="solid"/>
          </a:ln>
        </p:spPr>
      </p:sp>
      <p:sp>
        <p:nvSpPr>
          <p:cNvPr id="7" name="Shape 5"/>
          <p:cNvSpPr/>
          <p:nvPr/>
        </p:nvSpPr>
        <p:spPr>
          <a:xfrm>
            <a:off x="731520" y="235000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240280"/>
            <a:ext cx="35661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alcance, como regla</a:t>
            </a:r>
            <a:endParaRPr lang="en-US" sz="1400" dirty="0"/>
          </a:p>
        </p:txBody>
      </p:sp>
      <p:sp>
        <p:nvSpPr>
          <p:cNvPr id="9" name="Text 7"/>
          <p:cNvSpPr txBox="1"/>
          <p:nvPr/>
        </p:nvSpPr>
        <p:spPr>
          <a:xfrm>
            <a:off x="731520" y="2606040"/>
            <a:ext cx="3749040" cy="1325880"/>
          </a:xfrm>
          <a:prstGeom prst="rect">
            <a:avLst/>
          </a:prstGeom>
          <a:noFill/>
          <a:ln/>
        </p:spPr>
        <p:txBody>
          <a:bodyPr wrap="square" lIns="0" tIns="0" rIns="0" bIns="0" rtlCol="0" anchor="t"/>
          <a:lstStyle/>
          <a:p>
            <a:pPr indent="0" marL="0">
              <a:spcAft>
                <a:spcPts val="400"/>
              </a:spcAft>
              <a:buNone/>
            </a:pPr>
            <a:r>
              <a:rPr lang="en-US" sz="1200" dirty="0">
                <a:solidFill>
                  <a:srgbClr val="C9D4EA"/>
                </a:solidFill>
                <a:latin typeface="Calibri" pitchFamily="34" charset="0"/>
                <a:ea typeface="Calibri" pitchFamily="34" charset="-122"/>
                <a:cs typeface="Calibri" pitchFamily="34" charset="-120"/>
              </a:rPr>
              <a:t>El modelo tasa viviendas de hasta 4 000 pies² (unos 370 m²). Las más grandes van a un tasador. Lo recomienda el propio De Cock, y se aplica en entrenamiento, prueba y producción.</a:t>
            </a:r>
            <a:endParaRPr lang="en-US" sz="1200" dirty="0"/>
          </a:p>
        </p:txBody>
      </p:sp>
      <p:sp>
        <p:nvSpPr>
          <p:cNvPr id="10" name="Shape 8"/>
          <p:cNvSpPr/>
          <p:nvPr/>
        </p:nvSpPr>
        <p:spPr>
          <a:xfrm>
            <a:off x="502920" y="4160520"/>
            <a:ext cx="4206240" cy="2057400"/>
          </a:xfrm>
          <a:prstGeom prst="roundRect">
            <a:avLst>
              <a:gd name="adj" fmla="val 2667"/>
            </a:avLst>
          </a:prstGeom>
          <a:solidFill>
            <a:srgbClr val="FFFFFF"/>
          </a:solidFill>
          <a:ln w="9525">
            <a:solidFill>
              <a:srgbClr val="D2DBEC"/>
            </a:solidFill>
            <a:prstDash val="solid"/>
          </a:ln>
        </p:spPr>
      </p:sp>
      <p:sp>
        <p:nvSpPr>
          <p:cNvPr id="11" name="Shape 9"/>
          <p:cNvSpPr/>
          <p:nvPr/>
        </p:nvSpPr>
        <p:spPr>
          <a:xfrm>
            <a:off x="731520" y="4407408"/>
            <a:ext cx="128016" cy="128016"/>
          </a:xfrm>
          <a:prstGeom prst="roundRect">
            <a:avLst>
              <a:gd name="adj" fmla="val 21429"/>
            </a:avLst>
          </a:prstGeom>
          <a:solidFill>
            <a:srgbClr val="1A56E8"/>
          </a:solidFill>
          <a:ln w="12700">
            <a:solidFill>
              <a:srgbClr val="1A56E8"/>
            </a:solidFill>
            <a:prstDash val="solid"/>
          </a:ln>
        </p:spPr>
      </p:sp>
      <p:sp>
        <p:nvSpPr>
          <p:cNvPr id="12" name="Text 10"/>
          <p:cNvSpPr txBox="1"/>
          <p:nvPr/>
        </p:nvSpPr>
        <p:spPr>
          <a:xfrm>
            <a:off x="960120" y="4297680"/>
            <a:ext cx="356616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Dos reglas de oro</a:t>
            </a:r>
            <a:endParaRPr lang="en-US" sz="1400" dirty="0"/>
          </a:p>
        </p:txBody>
      </p:sp>
      <p:sp>
        <p:nvSpPr>
          <p:cNvPr id="13" name="Text 11"/>
          <p:cNvSpPr txBox="1"/>
          <p:nvPr/>
        </p:nvSpPr>
        <p:spPr>
          <a:xfrm>
            <a:off x="731520" y="4663440"/>
            <a:ext cx="3749040" cy="1463040"/>
          </a:xfrm>
          <a:prstGeom prst="rect">
            <a:avLst/>
          </a:prstGeom>
          <a:noFill/>
          <a:ln/>
        </p:spPr>
        <p:txBody>
          <a:bodyPr wrap="square" lIns="0" tIns="0" rIns="0" bIns="0" rtlCol="0" anchor="t"/>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1.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Todo en una función, aplicada igual en todas partes.</a:t>
            </a:r>
            <a:endParaRPr lang="en-US" sz="1200" dirty="0"/>
          </a:p>
          <a:p>
            <a:pPr indent="0" marL="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00" dirty="0"/>
          </a:p>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2.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La función no aprende nada de los datos: restar años no usa promedios. Lo que se aprende va al Paso 6.</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983480" y="2103120"/>
          <a:ext cx="6702552" cy="914400"/>
        </p:xfrm>
        <a:graphic>
          <a:graphicData uri="http://schemas.openxmlformats.org/drawingml/2006/table">
            <a:tbl>
              <a:tblPr/>
              <a:tblGrid>
                <a:gridCol w="1600200"/>
                <a:gridCol w="2606040"/>
                <a:gridCol w="2496312"/>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Variable nueva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Cómo se calcula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Por qué</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edad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yr_sold − year_built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importa la edad al vender, no el año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anios_remodel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yr_sold − year_remod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años desde la última remodelación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area_total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gr_liv_area + total_bsmt_sf</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habitable más sótano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banos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full_bath + 0.5 · half_bath</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un medio baño vale medio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calidad_cocina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Po=1, Fa=2, TA=3, Gd=4, Ex=5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categoría con orden → número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calidad_sotano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igual, y 0 si no tiene sótano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faltante significa «no tiene»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garage_type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NaN → «Sin garaje»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faltante significa «no tiene»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4983480" y="5852160"/>
            <a:ext cx="6702552"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Las categorías sin orden (barrio, tipo de garaje) van con one-hot en el Paso 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6</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pipeline: de casa cruda a precio en un solo objeto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Lo que se aprende de los datos va adentro, para que la validación cruzada lo aprenda solo con su parte de entrenamiento.</a:t>
            </a:r>
            <a:endParaRPr lang="en-US" sz="1400" dirty="0"/>
          </a:p>
        </p:txBody>
      </p:sp>
      <p:sp>
        <p:nvSpPr>
          <p:cNvPr id="6" name="Shape 4"/>
          <p:cNvSpPr/>
          <p:nvPr/>
        </p:nvSpPr>
        <p:spPr>
          <a:xfrm>
            <a:off x="502920" y="2651760"/>
            <a:ext cx="1371600" cy="822960"/>
          </a:xfrm>
          <a:prstGeom prst="roundRect">
            <a:avLst>
              <a:gd name="adj" fmla="val 6667"/>
            </a:avLst>
          </a:prstGeom>
          <a:solidFill>
            <a:srgbClr val="E9EEF8"/>
          </a:solidFill>
          <a:ln w="9525">
            <a:solidFill>
              <a:srgbClr val="E9EEF8"/>
            </a:solidFill>
            <a:prstDash val="solid"/>
          </a:ln>
        </p:spPr>
      </p:sp>
      <p:sp>
        <p:nvSpPr>
          <p:cNvPr id="7" name="Text 5"/>
          <p:cNvSpPr txBox="1"/>
          <p:nvPr/>
        </p:nvSpPr>
        <p:spPr>
          <a:xfrm>
            <a:off x="502920" y="2651760"/>
            <a:ext cx="1371600" cy="822960"/>
          </a:xfrm>
          <a:prstGeom prst="rect">
            <a:avLst/>
          </a:prstGeom>
          <a:noFill/>
          <a:ln/>
        </p:spPr>
        <p:txBody>
          <a:bodyPr wrap="square" lIns="0" tIns="0" rIns="0" bIns="0" rtlCol="0" anchor="ctr"/>
          <a:lstStyle/>
          <a:p>
            <a:pPr algn="ctr" indent="0" marL="0">
              <a:buNone/>
            </a:pPr>
            <a:r>
              <a:rPr lang="en-US" sz="1200" b="1" dirty="0">
                <a:solidFill>
                  <a:srgbClr val="0A2559"/>
                </a:solidFill>
                <a:latin typeface="Calibri" pitchFamily="34" charset="0"/>
                <a:ea typeface="Calibri" pitchFamily="34" charset="-122"/>
                <a:cs typeface="Calibri" pitchFamily="34" charset="-120"/>
              </a:rPr>
              <a:t>casa</a:t>
            </a:r>
            <a:endParaRPr lang="en-US" sz="1200" dirty="0"/>
          </a:p>
          <a:p>
            <a:pPr algn="ctr" indent="0" marL="0">
              <a:buNone/>
            </a:pPr>
            <a:r>
              <a:rPr lang="en-US" sz="1200" b="1" dirty="0">
                <a:solidFill>
                  <a:srgbClr val="0A2559"/>
                </a:solidFill>
                <a:latin typeface="Calibri" pitchFamily="34" charset="0"/>
                <a:ea typeface="Calibri" pitchFamily="34" charset="-122"/>
                <a:cs typeface="Calibri" pitchFamily="34" charset="-120"/>
              </a:rPr>
              <a:t>cruda</a:t>
            </a:r>
            <a:endParaRPr lang="en-US" sz="1200" dirty="0"/>
          </a:p>
        </p:txBody>
      </p:sp>
      <p:sp>
        <p:nvSpPr>
          <p:cNvPr id="8" name="Shape 6"/>
          <p:cNvSpPr/>
          <p:nvPr/>
        </p:nvSpPr>
        <p:spPr>
          <a:xfrm>
            <a:off x="1920240" y="3063240"/>
            <a:ext cx="320040" cy="0"/>
          </a:xfrm>
          <a:prstGeom prst="line">
            <a:avLst/>
          </a:prstGeom>
          <a:noFill/>
          <a:ln w="19050">
            <a:solidFill>
              <a:srgbClr val="5B6B87"/>
            </a:solidFill>
            <a:prstDash val="solid"/>
            <a:tailEnd type="triangle"/>
          </a:ln>
        </p:spPr>
      </p:sp>
      <p:sp>
        <p:nvSpPr>
          <p:cNvPr id="9" name="Shape 7"/>
          <p:cNvSpPr/>
          <p:nvPr/>
        </p:nvSpPr>
        <p:spPr>
          <a:xfrm>
            <a:off x="2286000" y="2651760"/>
            <a:ext cx="1463040" cy="822960"/>
          </a:xfrm>
          <a:prstGeom prst="roundRect">
            <a:avLst>
              <a:gd name="adj" fmla="val 6667"/>
            </a:avLst>
          </a:prstGeom>
          <a:solidFill>
            <a:srgbClr val="1A56E8"/>
          </a:solidFill>
          <a:ln w="9525">
            <a:solidFill>
              <a:srgbClr val="1A56E8"/>
            </a:solidFill>
            <a:prstDash val="solid"/>
          </a:ln>
        </p:spPr>
      </p:sp>
      <p:sp>
        <p:nvSpPr>
          <p:cNvPr id="10" name="Text 8"/>
          <p:cNvSpPr txBox="1"/>
          <p:nvPr/>
        </p:nvSpPr>
        <p:spPr>
          <a:xfrm>
            <a:off x="2286000" y="2651760"/>
            <a:ext cx="146304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preparar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(Paso 5)</a:t>
            </a:r>
            <a:endParaRPr lang="en-US" sz="1200" dirty="0"/>
          </a:p>
        </p:txBody>
      </p:sp>
      <p:sp>
        <p:nvSpPr>
          <p:cNvPr id="11" name="Shape 9"/>
          <p:cNvSpPr/>
          <p:nvPr/>
        </p:nvSpPr>
        <p:spPr>
          <a:xfrm>
            <a:off x="3794760" y="3063240"/>
            <a:ext cx="320040" cy="0"/>
          </a:xfrm>
          <a:prstGeom prst="line">
            <a:avLst/>
          </a:prstGeom>
          <a:noFill/>
          <a:ln w="19050">
            <a:solidFill>
              <a:srgbClr val="5B6B87"/>
            </a:solidFill>
            <a:prstDash val="solid"/>
            <a:tailEnd type="triangle"/>
          </a:ln>
        </p:spPr>
      </p:sp>
      <p:sp>
        <p:nvSpPr>
          <p:cNvPr id="12" name="Shape 10"/>
          <p:cNvSpPr/>
          <p:nvPr/>
        </p:nvSpPr>
        <p:spPr>
          <a:xfrm>
            <a:off x="4160520" y="2103120"/>
            <a:ext cx="3291840" cy="777240"/>
          </a:xfrm>
          <a:prstGeom prst="roundRect">
            <a:avLst>
              <a:gd name="adj" fmla="val 7059"/>
            </a:avLst>
          </a:prstGeom>
          <a:solidFill>
            <a:srgbClr val="FFFFFF"/>
          </a:solidFill>
          <a:ln w="9525">
            <a:solidFill>
              <a:srgbClr val="D2DBEC"/>
            </a:solidFill>
            <a:prstDash val="solid"/>
          </a:ln>
        </p:spPr>
      </p:sp>
      <p:sp>
        <p:nvSpPr>
          <p:cNvPr id="13" name="Text 11"/>
          <p:cNvSpPr txBox="1"/>
          <p:nvPr/>
        </p:nvSpPr>
        <p:spPr>
          <a:xfrm>
            <a:off x="4160520" y="2103120"/>
            <a:ext cx="3291840" cy="777240"/>
          </a:xfrm>
          <a:prstGeom prst="rect">
            <a:avLst/>
          </a:prstGeom>
          <a:noFill/>
          <a:ln/>
        </p:spPr>
        <p:txBody>
          <a:bodyPr wrap="square" lIns="0" tIns="0" rIns="0" bIns="0" rtlCol="0" anchor="ctr"/>
          <a:lstStyle/>
          <a:p>
            <a:pPr algn="ctr" indent="0" marL="0">
              <a:buNone/>
            </a:pPr>
            <a:r>
              <a:rPr lang="en-US" sz="1150" b="1" dirty="0">
                <a:solidFill>
                  <a:srgbClr val="0A2559"/>
                </a:solidFill>
                <a:latin typeface="Calibri" pitchFamily="34" charset="0"/>
                <a:ea typeface="Calibri" pitchFamily="34" charset="-122"/>
                <a:cs typeface="Calibri" pitchFamily="34" charset="-120"/>
              </a:rPr>
              <a:t>numéricas: mediana → escala</a:t>
            </a:r>
            <a:endParaRPr lang="en-US" sz="1150" dirty="0"/>
          </a:p>
        </p:txBody>
      </p:sp>
      <p:sp>
        <p:nvSpPr>
          <p:cNvPr id="14" name="Shape 12"/>
          <p:cNvSpPr/>
          <p:nvPr/>
        </p:nvSpPr>
        <p:spPr>
          <a:xfrm>
            <a:off x="4160520" y="3246120"/>
            <a:ext cx="3291840" cy="777240"/>
          </a:xfrm>
          <a:prstGeom prst="roundRect">
            <a:avLst>
              <a:gd name="adj" fmla="val 7059"/>
            </a:avLst>
          </a:prstGeom>
          <a:solidFill>
            <a:srgbClr val="FFFFFF"/>
          </a:solidFill>
          <a:ln w="9525">
            <a:solidFill>
              <a:srgbClr val="D2DBEC"/>
            </a:solidFill>
            <a:prstDash val="solid"/>
          </a:ln>
        </p:spPr>
      </p:sp>
      <p:sp>
        <p:nvSpPr>
          <p:cNvPr id="15" name="Text 13"/>
          <p:cNvSpPr txBox="1"/>
          <p:nvPr/>
        </p:nvSpPr>
        <p:spPr>
          <a:xfrm>
            <a:off x="4160520" y="3246120"/>
            <a:ext cx="3291840" cy="777240"/>
          </a:xfrm>
          <a:prstGeom prst="rect">
            <a:avLst/>
          </a:prstGeom>
          <a:noFill/>
          <a:ln/>
        </p:spPr>
        <p:txBody>
          <a:bodyPr wrap="square" lIns="0" tIns="0" rIns="0" bIns="0" rtlCol="0" anchor="ctr"/>
          <a:lstStyle/>
          <a:p>
            <a:pPr algn="ctr" indent="0" marL="0">
              <a:buNone/>
            </a:pPr>
            <a:r>
              <a:rPr lang="en-US" sz="1150" b="1" dirty="0">
                <a:solidFill>
                  <a:srgbClr val="0A2559"/>
                </a:solidFill>
                <a:latin typeface="Calibri" pitchFamily="34" charset="0"/>
                <a:ea typeface="Calibri" pitchFamily="34" charset="-122"/>
                <a:cs typeface="Calibri" pitchFamily="34" charset="-120"/>
              </a:rPr>
              <a:t>categóricas: más común → one-hot</a:t>
            </a:r>
            <a:endParaRPr lang="en-US" sz="1150" dirty="0"/>
          </a:p>
        </p:txBody>
      </p:sp>
      <p:sp>
        <p:nvSpPr>
          <p:cNvPr id="16" name="Text 14"/>
          <p:cNvSpPr txBox="1"/>
          <p:nvPr/>
        </p:nvSpPr>
        <p:spPr>
          <a:xfrm>
            <a:off x="4160520" y="4069080"/>
            <a:ext cx="3291840" cy="274320"/>
          </a:xfrm>
          <a:prstGeom prst="rect">
            <a:avLst/>
          </a:prstGeom>
          <a:noFill/>
          <a:ln/>
        </p:spPr>
        <p:txBody>
          <a:bodyPr wrap="square" lIns="0" tIns="0" rIns="0" bIns="0" rtlCol="0" anchor="ctr"/>
          <a:lstStyle/>
          <a:p>
            <a:pPr algn="ctr" indent="0" marL="0">
              <a:buNone/>
            </a:pPr>
            <a:r>
              <a:rPr lang="en-US" sz="1050" i="1" dirty="0">
                <a:solidFill>
                  <a:srgbClr val="5B6B87"/>
                </a:solidFill>
                <a:latin typeface="Calibri" pitchFamily="34" charset="0"/>
                <a:ea typeface="Calibri" pitchFamily="34" charset="-122"/>
                <a:cs typeface="Calibri" pitchFamily="34" charset="-120"/>
              </a:rPr>
              <a:t>ColumnTransformer</a:t>
            </a:r>
            <a:endParaRPr lang="en-US" sz="1050" dirty="0"/>
          </a:p>
        </p:txBody>
      </p:sp>
      <p:sp>
        <p:nvSpPr>
          <p:cNvPr id="17" name="Shape 15"/>
          <p:cNvSpPr/>
          <p:nvPr/>
        </p:nvSpPr>
        <p:spPr>
          <a:xfrm>
            <a:off x="7498080" y="3063240"/>
            <a:ext cx="320040" cy="0"/>
          </a:xfrm>
          <a:prstGeom prst="line">
            <a:avLst/>
          </a:prstGeom>
          <a:noFill/>
          <a:ln w="19050">
            <a:solidFill>
              <a:srgbClr val="5B6B87"/>
            </a:solidFill>
            <a:prstDash val="solid"/>
            <a:tailEnd type="triangle"/>
          </a:ln>
        </p:spPr>
      </p:sp>
      <p:sp>
        <p:nvSpPr>
          <p:cNvPr id="18" name="Shape 16"/>
          <p:cNvSpPr/>
          <p:nvPr/>
        </p:nvSpPr>
        <p:spPr>
          <a:xfrm>
            <a:off x="7863840" y="2651760"/>
            <a:ext cx="1371600" cy="822960"/>
          </a:xfrm>
          <a:prstGeom prst="roundRect">
            <a:avLst>
              <a:gd name="adj" fmla="val 6667"/>
            </a:avLst>
          </a:prstGeom>
          <a:solidFill>
            <a:srgbClr val="E6115E"/>
          </a:solidFill>
          <a:ln w="9525">
            <a:solidFill>
              <a:srgbClr val="E6115E"/>
            </a:solidFill>
            <a:prstDash val="solid"/>
          </a:ln>
        </p:spPr>
      </p:sp>
      <p:sp>
        <p:nvSpPr>
          <p:cNvPr id="19" name="Text 17"/>
          <p:cNvSpPr txBox="1"/>
          <p:nvPr/>
        </p:nvSpPr>
        <p:spPr>
          <a:xfrm>
            <a:off x="7863840" y="2651760"/>
            <a:ext cx="1371600" cy="8229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modelo</a:t>
            </a:r>
            <a:endParaRPr lang="en-US" sz="1400" dirty="0"/>
          </a:p>
        </p:txBody>
      </p:sp>
      <p:sp>
        <p:nvSpPr>
          <p:cNvPr id="20" name="Shape 18"/>
          <p:cNvSpPr/>
          <p:nvPr/>
        </p:nvSpPr>
        <p:spPr>
          <a:xfrm>
            <a:off x="9281160" y="3063240"/>
            <a:ext cx="320040" cy="0"/>
          </a:xfrm>
          <a:prstGeom prst="line">
            <a:avLst/>
          </a:prstGeom>
          <a:noFill/>
          <a:ln w="19050">
            <a:solidFill>
              <a:srgbClr val="5B6B87"/>
            </a:solidFill>
            <a:prstDash val="solid"/>
            <a:tailEnd type="triangle"/>
          </a:ln>
        </p:spPr>
      </p:sp>
      <p:sp>
        <p:nvSpPr>
          <p:cNvPr id="21" name="Shape 19"/>
          <p:cNvSpPr/>
          <p:nvPr/>
        </p:nvSpPr>
        <p:spPr>
          <a:xfrm>
            <a:off x="9646920" y="2651760"/>
            <a:ext cx="2039112" cy="822960"/>
          </a:xfrm>
          <a:prstGeom prst="roundRect">
            <a:avLst>
              <a:gd name="adj" fmla="val 6667"/>
            </a:avLst>
          </a:prstGeom>
          <a:solidFill>
            <a:srgbClr val="0A2559"/>
          </a:solidFill>
          <a:ln w="9525">
            <a:solidFill>
              <a:srgbClr val="0A2559"/>
            </a:solidFill>
            <a:prstDash val="solid"/>
          </a:ln>
        </p:spPr>
      </p:sp>
      <p:sp>
        <p:nvSpPr>
          <p:cNvPr id="22" name="Text 20"/>
          <p:cNvSpPr txBox="1"/>
          <p:nvPr/>
        </p:nvSpPr>
        <p:spPr>
          <a:xfrm>
            <a:off x="9646920" y="2651760"/>
            <a:ext cx="2039112"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log(precio)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 exp → USD</a:t>
            </a:r>
            <a:endParaRPr lang="en-US" sz="1200" dirty="0"/>
          </a:p>
        </p:txBody>
      </p:sp>
      <p:sp>
        <p:nvSpPr>
          <p:cNvPr id="23" name="Text 21"/>
          <p:cNvSpPr txBox="1"/>
          <p:nvPr/>
        </p:nvSpPr>
        <p:spPr>
          <a:xfrm>
            <a:off x="502920" y="4434840"/>
            <a:ext cx="11183112" cy="274320"/>
          </a:xfrm>
          <a:prstGeom prst="rect">
            <a:avLst/>
          </a:prstGeom>
          <a:noFill/>
          <a:ln/>
        </p:spPr>
        <p:txBody>
          <a:bodyPr wrap="square" lIns="0" tIns="0" rIns="0" bIns="0" rtlCol="0" anchor="ctr"/>
          <a:lstStyle/>
          <a:p>
            <a:pPr algn="ctr" indent="0" marL="0">
              <a:buNone/>
            </a:pPr>
            <a:r>
              <a:rPr lang="en-US" sz="1150" i="1" dirty="0">
                <a:solidFill>
                  <a:srgbClr val="5B6B87"/>
                </a:solidFill>
                <a:latin typeface="Calibri" pitchFamily="34" charset="0"/>
                <a:ea typeface="Calibri" pitchFamily="34" charset="-122"/>
                <a:cs typeface="Calibri" pitchFamily="34" charset="-120"/>
              </a:rPr>
              <a:t>17 numéricas + 49 columnas one-hot = 66 columnas para el modelo</a:t>
            </a:r>
            <a:endParaRPr lang="en-US" sz="1150" dirty="0"/>
          </a:p>
        </p:txBody>
      </p:sp>
      <p:sp>
        <p:nvSpPr>
          <p:cNvPr id="24" name="Shape 22"/>
          <p:cNvSpPr/>
          <p:nvPr/>
        </p:nvSpPr>
        <p:spPr>
          <a:xfrm>
            <a:off x="502920" y="4892040"/>
            <a:ext cx="5486400" cy="1325880"/>
          </a:xfrm>
          <a:prstGeom prst="roundRect">
            <a:avLst>
              <a:gd name="adj" fmla="val 4138"/>
            </a:avLst>
          </a:prstGeom>
          <a:solidFill>
            <a:srgbClr val="061834"/>
          </a:solidFill>
          <a:ln w="9525">
            <a:solidFill>
              <a:srgbClr val="061834"/>
            </a:solidFill>
            <a:prstDash val="solid"/>
          </a:ln>
        </p:spPr>
      </p:sp>
      <p:sp>
        <p:nvSpPr>
          <p:cNvPr id="25" name="Text 23"/>
          <p:cNvSpPr txBox="1"/>
          <p:nvPr/>
        </p:nvSpPr>
        <p:spPr>
          <a:xfrm>
            <a:off x="731520" y="5029200"/>
            <a:ext cx="5120640" cy="1097280"/>
          </a:xfrm>
          <a:prstGeom prst="rect">
            <a:avLst/>
          </a:prstGeom>
          <a:noFill/>
          <a:ln/>
        </p:spPr>
        <p:txBody>
          <a:bodyPr wrap="square" lIns="0" tIns="0" rIns="0" bIns="0" rtlCol="0" anchor="t"/>
          <a:lstStyle/>
          <a:p>
            <a:pPr indent="0" marL="0">
              <a:buNone/>
            </a:pPr>
            <a:r>
              <a:rPr lang="en-US" sz="1200" dirty="0">
                <a:solidFill>
                  <a:srgbClr val="C9D4EA"/>
                </a:solidFill>
                <a:latin typeface="Courier New" pitchFamily="34" charset="0"/>
                <a:ea typeface="Courier New" pitchFamily="34" charset="-122"/>
                <a:cs typeface="Courier New" pitchFamily="34" charset="-120"/>
              </a:rPr>
              <a:t>TransformedTargetRegressor(</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    Pipeline([preparar, preprocesar, modelo]),</a:t>
            </a:r>
            <a:endParaRPr lang="en-US" sz="1200" dirty="0"/>
          </a:p>
          <a:p>
            <a:pPr indent="0" marL="0">
              <a:buNone/>
            </a:pPr>
            <a:r>
              <a:rPr lang="en-US" sz="1200" dirty="0">
                <a:solidFill>
                  <a:srgbClr val="C9D4EA"/>
                </a:solidFill>
                <a:latin typeface="Courier New" pitchFamily="34" charset="0"/>
                <a:ea typeface="Courier New" pitchFamily="34" charset="-122"/>
                <a:cs typeface="Courier New" pitchFamily="34" charset="-120"/>
              </a:rPr>
              <a:t>    func=np.log, inverse_func=np.exp)</a:t>
            </a:r>
            <a:endParaRPr lang="en-US" sz="1200" dirty="0"/>
          </a:p>
        </p:txBody>
      </p:sp>
      <p:sp>
        <p:nvSpPr>
          <p:cNvPr id="26" name="Shape 24"/>
          <p:cNvSpPr/>
          <p:nvPr/>
        </p:nvSpPr>
        <p:spPr>
          <a:xfrm>
            <a:off x="6199632" y="4892040"/>
            <a:ext cx="5486400" cy="1325880"/>
          </a:xfrm>
          <a:prstGeom prst="roundRect">
            <a:avLst>
              <a:gd name="adj" fmla="val 4138"/>
            </a:avLst>
          </a:prstGeom>
          <a:solidFill>
            <a:srgbClr val="FFFFFF"/>
          </a:solidFill>
          <a:ln w="9525">
            <a:solidFill>
              <a:srgbClr val="D2DBEC"/>
            </a:solidFill>
            <a:prstDash val="solid"/>
          </a:ln>
        </p:spPr>
      </p:sp>
      <p:sp>
        <p:nvSpPr>
          <p:cNvPr id="27" name="Text 25"/>
          <p:cNvSpPr txBox="1"/>
          <p:nvPr/>
        </p:nvSpPr>
        <p:spPr>
          <a:xfrm>
            <a:off x="6428232" y="4892040"/>
            <a:ext cx="5029200" cy="132588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Tres ventajas: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no hay fuga en la validación cruzada; el objeto guardado recibe la casa tal como llega, con faltantes; y handle_unknown="ignore" evita que un barrio nuevo rompa el modelo.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7</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Los ocho modelos del módulo, con validación cruzada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5 particiones sobre el entrenamiento. Cada vuelta reentrena el pipeline completo. La prueba sigue guardada.</a:t>
            </a:r>
            <a:endParaRPr lang="en-US" sz="1400" dirty="0"/>
          </a:p>
        </p:txBody>
      </p:sp>
      <p:sp>
        <p:nvSpPr>
          <p:cNvPr id="6" name="Shape 4"/>
          <p:cNvSpPr/>
          <p:nvPr/>
        </p:nvSpPr>
        <p:spPr>
          <a:xfrm>
            <a:off x="502920" y="2103120"/>
            <a:ext cx="722376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658368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MAE de validación cruzada (USD) · la barra fina es ± una desviación</a:t>
            </a:r>
            <a:endParaRPr lang="en-US" sz="1400" dirty="0"/>
          </a:p>
        </p:txBody>
      </p:sp>
      <p:sp>
        <p:nvSpPr>
          <p:cNvPr id="9" name="Text 7"/>
          <p:cNvSpPr txBox="1"/>
          <p:nvPr/>
        </p:nvSpPr>
        <p:spPr>
          <a:xfrm>
            <a:off x="731520" y="2697480"/>
            <a:ext cx="1920240" cy="347472"/>
          </a:xfrm>
          <a:prstGeom prst="rect">
            <a:avLst/>
          </a:prstGeom>
          <a:noFill/>
          <a:ln/>
        </p:spPr>
        <p:txBody>
          <a:bodyPr wrap="square" lIns="0" tIns="0" rIns="0" bIns="0" rtlCol="0" anchor="ctr"/>
          <a:lstStyle/>
          <a:p>
            <a:pPr indent="0" marL="0">
              <a:buNone/>
            </a:pPr>
            <a:r>
              <a:rPr lang="en-US" sz="1150" b="1" dirty="0">
                <a:solidFill>
                  <a:srgbClr val="0A2559"/>
                </a:solidFill>
                <a:latin typeface="Calibri" pitchFamily="34" charset="0"/>
                <a:ea typeface="Calibri" pitchFamily="34" charset="-122"/>
                <a:cs typeface="Calibri" pitchFamily="34" charset="-120"/>
              </a:rPr>
              <a:t>XGBoost</a:t>
            </a:r>
            <a:endParaRPr lang="en-US" sz="1150" dirty="0"/>
          </a:p>
        </p:txBody>
      </p:sp>
      <p:sp>
        <p:nvSpPr>
          <p:cNvPr id="10" name="Shape 8"/>
          <p:cNvSpPr/>
          <p:nvPr/>
        </p:nvSpPr>
        <p:spPr>
          <a:xfrm>
            <a:off x="2697480" y="2770632"/>
            <a:ext cx="890091" cy="219456"/>
          </a:xfrm>
          <a:prstGeom prst="rect">
            <a:avLst/>
          </a:prstGeom>
          <a:solidFill>
            <a:srgbClr val="E6115E"/>
          </a:solidFill>
          <a:ln/>
        </p:spPr>
      </p:sp>
      <p:sp>
        <p:nvSpPr>
          <p:cNvPr id="11" name="Shape 9"/>
          <p:cNvSpPr/>
          <p:nvPr/>
        </p:nvSpPr>
        <p:spPr>
          <a:xfrm>
            <a:off x="3542023" y="2880360"/>
            <a:ext cx="91097" cy="0"/>
          </a:xfrm>
          <a:prstGeom prst="line">
            <a:avLst/>
          </a:prstGeom>
          <a:noFill/>
          <a:ln w="19050">
            <a:solidFill>
              <a:srgbClr val="0A2559"/>
            </a:solidFill>
            <a:prstDash val="solid"/>
          </a:ln>
        </p:spPr>
      </p:sp>
      <p:sp>
        <p:nvSpPr>
          <p:cNvPr id="12" name="Text 10"/>
          <p:cNvSpPr txBox="1"/>
          <p:nvPr/>
        </p:nvSpPr>
        <p:spPr>
          <a:xfrm>
            <a:off x="3724560" y="2697480"/>
            <a:ext cx="1463040" cy="347472"/>
          </a:xfrm>
          <a:prstGeom prst="rect">
            <a:avLst/>
          </a:prstGeom>
          <a:noFill/>
          <a:ln/>
        </p:spPr>
        <p:txBody>
          <a:bodyPr wrap="square" lIns="0" tIns="0" rIns="0" bIns="0" rtlCol="0" anchor="ctr"/>
          <a:lstStyle/>
          <a:p>
            <a:pPr indent="0" marL="0">
              <a:buNone/>
            </a:pPr>
            <a:r>
              <a:rPr lang="en-US" sz="1100" b="1" dirty="0">
                <a:solidFill>
                  <a:srgbClr val="E6115E"/>
                </a:solidFill>
                <a:latin typeface="Calibri" pitchFamily="34" charset="0"/>
                <a:ea typeface="Calibri" pitchFamily="34" charset="-122"/>
                <a:cs typeface="Calibri" pitchFamily="34" charset="-120"/>
              </a:rPr>
              <a:t>14 345 · 8.6 %</a:t>
            </a:r>
            <a:endParaRPr lang="en-US" sz="1100" dirty="0"/>
          </a:p>
        </p:txBody>
      </p:sp>
      <p:sp>
        <p:nvSpPr>
          <p:cNvPr id="13" name="Text 11"/>
          <p:cNvSpPr txBox="1"/>
          <p:nvPr/>
        </p:nvSpPr>
        <p:spPr>
          <a:xfrm>
            <a:off x="731520" y="3127248"/>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Ridge</a:t>
            </a:r>
            <a:endParaRPr lang="en-US" sz="1150" dirty="0"/>
          </a:p>
        </p:txBody>
      </p:sp>
      <p:sp>
        <p:nvSpPr>
          <p:cNvPr id="14" name="Shape 12"/>
          <p:cNvSpPr/>
          <p:nvPr/>
        </p:nvSpPr>
        <p:spPr>
          <a:xfrm>
            <a:off x="2697480" y="3200400"/>
            <a:ext cx="954519" cy="219456"/>
          </a:xfrm>
          <a:prstGeom prst="rect">
            <a:avLst/>
          </a:prstGeom>
          <a:solidFill>
            <a:srgbClr val="1A56E8"/>
          </a:solidFill>
          <a:ln/>
        </p:spPr>
      </p:sp>
      <p:sp>
        <p:nvSpPr>
          <p:cNvPr id="15" name="Shape 13"/>
          <p:cNvSpPr/>
          <p:nvPr/>
        </p:nvSpPr>
        <p:spPr>
          <a:xfrm>
            <a:off x="3605286" y="3310128"/>
            <a:ext cx="93427" cy="0"/>
          </a:xfrm>
          <a:prstGeom prst="line">
            <a:avLst/>
          </a:prstGeom>
          <a:noFill/>
          <a:ln w="19050">
            <a:solidFill>
              <a:srgbClr val="0A2559"/>
            </a:solidFill>
            <a:prstDash val="solid"/>
          </a:ln>
        </p:spPr>
      </p:sp>
      <p:sp>
        <p:nvSpPr>
          <p:cNvPr id="16" name="Text 14"/>
          <p:cNvSpPr txBox="1"/>
          <p:nvPr/>
        </p:nvSpPr>
        <p:spPr>
          <a:xfrm>
            <a:off x="3790152" y="3127248"/>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15 383 · 9.2 %</a:t>
            </a:r>
            <a:endParaRPr lang="en-US" sz="1100" dirty="0"/>
          </a:p>
        </p:txBody>
      </p:sp>
      <p:sp>
        <p:nvSpPr>
          <p:cNvPr id="17" name="Text 15"/>
          <p:cNvSpPr txBox="1"/>
          <p:nvPr/>
        </p:nvSpPr>
        <p:spPr>
          <a:xfrm>
            <a:off x="731520" y="3557016"/>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Regresión lineal</a:t>
            </a:r>
            <a:endParaRPr lang="en-US" sz="1150" dirty="0"/>
          </a:p>
        </p:txBody>
      </p:sp>
      <p:sp>
        <p:nvSpPr>
          <p:cNvPr id="18" name="Shape 16"/>
          <p:cNvSpPr/>
          <p:nvPr/>
        </p:nvSpPr>
        <p:spPr>
          <a:xfrm>
            <a:off x="2697480" y="3630168"/>
            <a:ext cx="955723" cy="219456"/>
          </a:xfrm>
          <a:prstGeom prst="rect">
            <a:avLst/>
          </a:prstGeom>
          <a:solidFill>
            <a:srgbClr val="1A56E8"/>
          </a:solidFill>
          <a:ln/>
        </p:spPr>
      </p:sp>
      <p:sp>
        <p:nvSpPr>
          <p:cNvPr id="19" name="Shape 17"/>
          <p:cNvSpPr/>
          <p:nvPr/>
        </p:nvSpPr>
        <p:spPr>
          <a:xfrm>
            <a:off x="3602687" y="3739896"/>
            <a:ext cx="101033" cy="0"/>
          </a:xfrm>
          <a:prstGeom prst="line">
            <a:avLst/>
          </a:prstGeom>
          <a:noFill/>
          <a:ln w="19050">
            <a:solidFill>
              <a:srgbClr val="0A2559"/>
            </a:solidFill>
            <a:prstDash val="solid"/>
          </a:ln>
        </p:spPr>
      </p:sp>
      <p:sp>
        <p:nvSpPr>
          <p:cNvPr id="20" name="Text 18"/>
          <p:cNvSpPr txBox="1"/>
          <p:nvPr/>
        </p:nvSpPr>
        <p:spPr>
          <a:xfrm>
            <a:off x="3795160" y="3557016"/>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15 403 · 9.2 %</a:t>
            </a:r>
            <a:endParaRPr lang="en-US" sz="1100" dirty="0"/>
          </a:p>
        </p:txBody>
      </p:sp>
      <p:sp>
        <p:nvSpPr>
          <p:cNvPr id="21" name="Text 19"/>
          <p:cNvSpPr txBox="1"/>
          <p:nvPr/>
        </p:nvSpPr>
        <p:spPr>
          <a:xfrm>
            <a:off x="731520" y="3986784"/>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Lasso</a:t>
            </a:r>
            <a:endParaRPr lang="en-US" sz="1150" dirty="0"/>
          </a:p>
        </p:txBody>
      </p:sp>
      <p:sp>
        <p:nvSpPr>
          <p:cNvPr id="22" name="Shape 20"/>
          <p:cNvSpPr/>
          <p:nvPr/>
        </p:nvSpPr>
        <p:spPr>
          <a:xfrm>
            <a:off x="2697480" y="4059936"/>
            <a:ext cx="957222" cy="219456"/>
          </a:xfrm>
          <a:prstGeom prst="rect">
            <a:avLst/>
          </a:prstGeom>
          <a:solidFill>
            <a:srgbClr val="1A56E8"/>
          </a:solidFill>
          <a:ln/>
        </p:spPr>
      </p:sp>
      <p:sp>
        <p:nvSpPr>
          <p:cNvPr id="23" name="Shape 21"/>
          <p:cNvSpPr/>
          <p:nvPr/>
        </p:nvSpPr>
        <p:spPr>
          <a:xfrm>
            <a:off x="3610057" y="4169664"/>
            <a:ext cx="89290" cy="0"/>
          </a:xfrm>
          <a:prstGeom prst="line">
            <a:avLst/>
          </a:prstGeom>
          <a:noFill/>
          <a:ln w="19050">
            <a:solidFill>
              <a:srgbClr val="0A2559"/>
            </a:solidFill>
            <a:prstDash val="solid"/>
          </a:ln>
        </p:spPr>
      </p:sp>
      <p:sp>
        <p:nvSpPr>
          <p:cNvPr id="24" name="Text 22"/>
          <p:cNvSpPr txBox="1"/>
          <p:nvPr/>
        </p:nvSpPr>
        <p:spPr>
          <a:xfrm>
            <a:off x="3790787" y="3986784"/>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15 427 · 9.2 %</a:t>
            </a:r>
            <a:endParaRPr lang="en-US" sz="1100" dirty="0"/>
          </a:p>
        </p:txBody>
      </p:sp>
      <p:sp>
        <p:nvSpPr>
          <p:cNvPr id="25" name="Text 23"/>
          <p:cNvSpPr txBox="1"/>
          <p:nvPr/>
        </p:nvSpPr>
        <p:spPr>
          <a:xfrm>
            <a:off x="731520" y="4416552"/>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SVR RBF</a:t>
            </a:r>
            <a:endParaRPr lang="en-US" sz="1150" dirty="0"/>
          </a:p>
        </p:txBody>
      </p:sp>
      <p:sp>
        <p:nvSpPr>
          <p:cNvPr id="26" name="Shape 24"/>
          <p:cNvSpPr/>
          <p:nvPr/>
        </p:nvSpPr>
        <p:spPr>
          <a:xfrm>
            <a:off x="2697480" y="4489704"/>
            <a:ext cx="958665" cy="219456"/>
          </a:xfrm>
          <a:prstGeom prst="rect">
            <a:avLst/>
          </a:prstGeom>
          <a:solidFill>
            <a:srgbClr val="1A56E8"/>
          </a:solidFill>
          <a:ln/>
        </p:spPr>
      </p:sp>
      <p:sp>
        <p:nvSpPr>
          <p:cNvPr id="27" name="Shape 25"/>
          <p:cNvSpPr/>
          <p:nvPr/>
        </p:nvSpPr>
        <p:spPr>
          <a:xfrm>
            <a:off x="3622904" y="4599432"/>
            <a:ext cx="66482" cy="0"/>
          </a:xfrm>
          <a:prstGeom prst="line">
            <a:avLst/>
          </a:prstGeom>
          <a:noFill/>
          <a:ln w="19050">
            <a:solidFill>
              <a:srgbClr val="0A2559"/>
            </a:solidFill>
            <a:prstDash val="solid"/>
          </a:ln>
        </p:spPr>
      </p:sp>
      <p:sp>
        <p:nvSpPr>
          <p:cNvPr id="28" name="Text 26"/>
          <p:cNvSpPr txBox="1"/>
          <p:nvPr/>
        </p:nvSpPr>
        <p:spPr>
          <a:xfrm>
            <a:off x="3780826" y="4416552"/>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15 450 · 9.2 %</a:t>
            </a:r>
            <a:endParaRPr lang="en-US" sz="1100" dirty="0"/>
          </a:p>
        </p:txBody>
      </p:sp>
      <p:sp>
        <p:nvSpPr>
          <p:cNvPr id="29" name="Text 27"/>
          <p:cNvSpPr txBox="1"/>
          <p:nvPr/>
        </p:nvSpPr>
        <p:spPr>
          <a:xfrm>
            <a:off x="731520" y="4846320"/>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Random Forest</a:t>
            </a:r>
            <a:endParaRPr lang="en-US" sz="1150" dirty="0"/>
          </a:p>
        </p:txBody>
      </p:sp>
      <p:sp>
        <p:nvSpPr>
          <p:cNvPr id="30" name="Shape 28"/>
          <p:cNvSpPr/>
          <p:nvPr/>
        </p:nvSpPr>
        <p:spPr>
          <a:xfrm>
            <a:off x="2697480" y="4919472"/>
            <a:ext cx="977014" cy="219456"/>
          </a:xfrm>
          <a:prstGeom prst="rect">
            <a:avLst/>
          </a:prstGeom>
          <a:solidFill>
            <a:srgbClr val="1A56E8"/>
          </a:solidFill>
          <a:ln/>
        </p:spPr>
      </p:sp>
      <p:sp>
        <p:nvSpPr>
          <p:cNvPr id="31" name="Shape 29"/>
          <p:cNvSpPr/>
          <p:nvPr/>
        </p:nvSpPr>
        <p:spPr>
          <a:xfrm>
            <a:off x="3624172" y="5029200"/>
            <a:ext cx="100645" cy="0"/>
          </a:xfrm>
          <a:prstGeom prst="line">
            <a:avLst/>
          </a:prstGeom>
          <a:noFill/>
          <a:ln w="19050">
            <a:solidFill>
              <a:srgbClr val="0A2559"/>
            </a:solidFill>
            <a:prstDash val="solid"/>
          </a:ln>
        </p:spPr>
      </p:sp>
      <p:sp>
        <p:nvSpPr>
          <p:cNvPr id="32" name="Text 30"/>
          <p:cNvSpPr txBox="1"/>
          <p:nvPr/>
        </p:nvSpPr>
        <p:spPr>
          <a:xfrm>
            <a:off x="3816257" y="4846320"/>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15 746 · 9.4 %</a:t>
            </a:r>
            <a:endParaRPr lang="en-US" sz="1100" dirty="0"/>
          </a:p>
        </p:txBody>
      </p:sp>
      <p:sp>
        <p:nvSpPr>
          <p:cNvPr id="33" name="Text 31"/>
          <p:cNvSpPr txBox="1"/>
          <p:nvPr/>
        </p:nvSpPr>
        <p:spPr>
          <a:xfrm>
            <a:off x="731520" y="5276088"/>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Árbol</a:t>
            </a:r>
            <a:endParaRPr lang="en-US" sz="1150" dirty="0"/>
          </a:p>
        </p:txBody>
      </p:sp>
      <p:sp>
        <p:nvSpPr>
          <p:cNvPr id="34" name="Shape 32"/>
          <p:cNvSpPr/>
          <p:nvPr/>
        </p:nvSpPr>
        <p:spPr>
          <a:xfrm>
            <a:off x="2697480" y="5349240"/>
            <a:ext cx="1288241" cy="219456"/>
          </a:xfrm>
          <a:prstGeom prst="rect">
            <a:avLst/>
          </a:prstGeom>
          <a:solidFill>
            <a:srgbClr val="8A97AD"/>
          </a:solidFill>
          <a:ln/>
        </p:spPr>
      </p:sp>
      <p:sp>
        <p:nvSpPr>
          <p:cNvPr id="35" name="Shape 33"/>
          <p:cNvSpPr/>
          <p:nvPr/>
        </p:nvSpPr>
        <p:spPr>
          <a:xfrm>
            <a:off x="3911299" y="5458968"/>
            <a:ext cx="148844" cy="0"/>
          </a:xfrm>
          <a:prstGeom prst="line">
            <a:avLst/>
          </a:prstGeom>
          <a:noFill/>
          <a:ln w="19050">
            <a:solidFill>
              <a:srgbClr val="0A2559"/>
            </a:solidFill>
            <a:prstDash val="solid"/>
          </a:ln>
        </p:spPr>
      </p:sp>
      <p:sp>
        <p:nvSpPr>
          <p:cNvPr id="36" name="Text 34"/>
          <p:cNvSpPr txBox="1"/>
          <p:nvPr/>
        </p:nvSpPr>
        <p:spPr>
          <a:xfrm>
            <a:off x="4151583" y="5276088"/>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20 762 · 12.6 %</a:t>
            </a:r>
            <a:endParaRPr lang="en-US" sz="1100" dirty="0"/>
          </a:p>
        </p:txBody>
      </p:sp>
      <p:sp>
        <p:nvSpPr>
          <p:cNvPr id="37" name="Text 35"/>
          <p:cNvSpPr txBox="1"/>
          <p:nvPr/>
        </p:nvSpPr>
        <p:spPr>
          <a:xfrm>
            <a:off x="731520" y="5705856"/>
            <a:ext cx="1920240" cy="347472"/>
          </a:xfrm>
          <a:prstGeom prst="rect">
            <a:avLst/>
          </a:prstGeom>
          <a:noFill/>
          <a:ln/>
        </p:spPr>
        <p:txBody>
          <a:bodyPr wrap="square" lIns="0" tIns="0" rIns="0" bIns="0" rtlCol="0" anchor="ctr"/>
          <a:lstStyle/>
          <a:p>
            <a:pPr indent="0" marL="0">
              <a:buNone/>
            </a:pPr>
            <a:r>
              <a:rPr lang="en-US" sz="1150" dirty="0">
                <a:solidFill>
                  <a:srgbClr val="0A2559"/>
                </a:solidFill>
                <a:latin typeface="Calibri" pitchFamily="34" charset="0"/>
                <a:ea typeface="Calibri" pitchFamily="34" charset="-122"/>
                <a:cs typeface="Calibri" pitchFamily="34" charset="-120"/>
              </a:rPr>
              <a:t>Siempre la mediana</a:t>
            </a:r>
            <a:endParaRPr lang="en-US" sz="1150" dirty="0"/>
          </a:p>
        </p:txBody>
      </p:sp>
      <p:sp>
        <p:nvSpPr>
          <p:cNvPr id="38" name="Shape 36"/>
          <p:cNvSpPr/>
          <p:nvPr/>
        </p:nvSpPr>
        <p:spPr>
          <a:xfrm>
            <a:off x="2697480" y="5779008"/>
            <a:ext cx="3425789" cy="219456"/>
          </a:xfrm>
          <a:prstGeom prst="rect">
            <a:avLst/>
          </a:prstGeom>
          <a:solidFill>
            <a:srgbClr val="8A97AD"/>
          </a:solidFill>
          <a:ln/>
        </p:spPr>
      </p:sp>
      <p:sp>
        <p:nvSpPr>
          <p:cNvPr id="39" name="Shape 37"/>
          <p:cNvSpPr/>
          <p:nvPr/>
        </p:nvSpPr>
        <p:spPr>
          <a:xfrm>
            <a:off x="5964862" y="5888736"/>
            <a:ext cx="316814" cy="0"/>
          </a:xfrm>
          <a:prstGeom prst="line">
            <a:avLst/>
          </a:prstGeom>
          <a:noFill/>
          <a:ln w="19050">
            <a:solidFill>
              <a:srgbClr val="0A2559"/>
            </a:solidFill>
            <a:prstDash val="solid"/>
          </a:ln>
        </p:spPr>
      </p:sp>
      <p:sp>
        <p:nvSpPr>
          <p:cNvPr id="40" name="Text 38"/>
          <p:cNvSpPr txBox="1"/>
          <p:nvPr/>
        </p:nvSpPr>
        <p:spPr>
          <a:xfrm>
            <a:off x="6373116" y="5705856"/>
            <a:ext cx="1463040" cy="347472"/>
          </a:xfrm>
          <a:prstGeom prst="rect">
            <a:avLst/>
          </a:prstGeom>
          <a:noFill/>
          <a:ln/>
        </p:spPr>
        <p:txBody>
          <a:bodyPr wrap="square" lIns="0" tIns="0" rIns="0" bIns="0" rtlCol="0" anchor="ctr"/>
          <a:lstStyle/>
          <a:p>
            <a:pPr indent="0" marL="0">
              <a:buNone/>
            </a:pPr>
            <a:r>
              <a:rPr lang="en-US" sz="1100" b="1" dirty="0">
                <a:solidFill>
                  <a:srgbClr val="2C3A55"/>
                </a:solidFill>
                <a:latin typeface="Calibri" pitchFamily="34" charset="0"/>
                <a:ea typeface="Calibri" pitchFamily="34" charset="-122"/>
                <a:cs typeface="Calibri" pitchFamily="34" charset="-120"/>
              </a:rPr>
              <a:t>55 211 · 32.3 %</a:t>
            </a:r>
            <a:endParaRPr lang="en-US" sz="1100" dirty="0"/>
          </a:p>
        </p:txBody>
      </p:sp>
      <p:sp>
        <p:nvSpPr>
          <p:cNvPr id="41" name="Shape 39"/>
          <p:cNvSpPr/>
          <p:nvPr/>
        </p:nvSpPr>
        <p:spPr>
          <a:xfrm>
            <a:off x="8001000" y="2103120"/>
            <a:ext cx="3685032" cy="1280160"/>
          </a:xfrm>
          <a:prstGeom prst="roundRect">
            <a:avLst>
              <a:gd name="adj" fmla="val 4286"/>
            </a:avLst>
          </a:prstGeom>
          <a:solidFill>
            <a:srgbClr val="FFFFFF"/>
          </a:solidFill>
          <a:ln w="9525">
            <a:solidFill>
              <a:srgbClr val="D2DBEC"/>
            </a:solidFill>
            <a:prstDash val="solid"/>
          </a:ln>
        </p:spPr>
      </p:sp>
      <p:sp>
        <p:nvSpPr>
          <p:cNvPr id="42" name="Text 40"/>
          <p:cNvSpPr txBox="1"/>
          <p:nvPr/>
        </p:nvSpPr>
        <p:spPr>
          <a:xfrm>
            <a:off x="8183880" y="2194560"/>
            <a:ext cx="3383280" cy="320040"/>
          </a:xfrm>
          <a:prstGeom prst="rect">
            <a:avLst/>
          </a:prstGeom>
          <a:noFill/>
          <a:ln/>
        </p:spPr>
        <p:txBody>
          <a:bodyPr wrap="square" lIns="0" tIns="0" rIns="0" bIns="0" rtlCol="0" anchor="ctr"/>
          <a:lstStyle/>
          <a:p>
            <a:pPr indent="0" marL="0">
              <a:buNone/>
            </a:pPr>
            <a:r>
              <a:rPr lang="en-US" sz="1350" b="1" dirty="0">
                <a:solidFill>
                  <a:srgbClr val="1A56E8"/>
                </a:solidFill>
                <a:latin typeface="Calibri" pitchFamily="34" charset="0"/>
                <a:ea typeface="Calibri" pitchFamily="34" charset="-122"/>
                <a:cs typeface="Calibri" pitchFamily="34" charset="-120"/>
              </a:rPr>
              <a:t>Todos le ganan a la vara</a:t>
            </a:r>
            <a:endParaRPr lang="en-US" sz="1350" dirty="0"/>
          </a:p>
        </p:txBody>
      </p:sp>
      <p:sp>
        <p:nvSpPr>
          <p:cNvPr id="43" name="Text 41"/>
          <p:cNvSpPr txBox="1"/>
          <p:nvPr/>
        </p:nvSpPr>
        <p:spPr>
          <a:xfrm>
            <a:off x="8183880" y="2560320"/>
            <a:ext cx="3383280" cy="77724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De 55 211 a unos 15 mil USD de error.</a:t>
            </a:r>
            <a:endParaRPr lang="en-US" sz="1150" dirty="0"/>
          </a:p>
        </p:txBody>
      </p:sp>
      <p:sp>
        <p:nvSpPr>
          <p:cNvPr id="44" name="Shape 42"/>
          <p:cNvSpPr/>
          <p:nvPr/>
        </p:nvSpPr>
        <p:spPr>
          <a:xfrm>
            <a:off x="8001000" y="3520440"/>
            <a:ext cx="3685032" cy="1280160"/>
          </a:xfrm>
          <a:prstGeom prst="roundRect">
            <a:avLst>
              <a:gd name="adj" fmla="val 4286"/>
            </a:avLst>
          </a:prstGeom>
          <a:solidFill>
            <a:srgbClr val="FFFFFF"/>
          </a:solidFill>
          <a:ln w="9525">
            <a:solidFill>
              <a:srgbClr val="D2DBEC"/>
            </a:solidFill>
            <a:prstDash val="solid"/>
          </a:ln>
        </p:spPr>
      </p:sp>
      <p:sp>
        <p:nvSpPr>
          <p:cNvPr id="45" name="Text 43"/>
          <p:cNvSpPr txBox="1"/>
          <p:nvPr/>
        </p:nvSpPr>
        <p:spPr>
          <a:xfrm>
            <a:off x="8183880" y="3611880"/>
            <a:ext cx="3383280" cy="320040"/>
          </a:xfrm>
          <a:prstGeom prst="rect">
            <a:avLst/>
          </a:prstGeom>
          <a:noFill/>
          <a:ln/>
        </p:spPr>
        <p:txBody>
          <a:bodyPr wrap="square" lIns="0" tIns="0" rIns="0" bIns="0" rtlCol="0" anchor="ctr"/>
          <a:lstStyle/>
          <a:p>
            <a:pPr indent="0" marL="0">
              <a:buNone/>
            </a:pPr>
            <a:r>
              <a:rPr lang="en-US" sz="1350" b="1" dirty="0">
                <a:solidFill>
                  <a:srgbClr val="12B886"/>
                </a:solidFill>
                <a:latin typeface="Calibri" pitchFamily="34" charset="0"/>
                <a:ea typeface="Calibri" pitchFamily="34" charset="-122"/>
                <a:cs typeface="Calibri" pitchFamily="34" charset="-120"/>
              </a:rPr>
              <a:t>Cinco modelos empatan</a:t>
            </a:r>
            <a:endParaRPr lang="en-US" sz="1350" dirty="0"/>
          </a:p>
        </p:txBody>
      </p:sp>
      <p:sp>
        <p:nvSpPr>
          <p:cNvPr id="46" name="Text 44"/>
          <p:cNvSpPr txBox="1"/>
          <p:nvPr/>
        </p:nvSpPr>
        <p:spPr>
          <a:xfrm>
            <a:off x="8183880" y="3977640"/>
            <a:ext cx="3383280" cy="77724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Lineal, Ridge, Lasso, SVR y Random Forest quedan en torno a 15 383. Diferencias menores que la desviación son un empate.</a:t>
            </a:r>
            <a:endParaRPr lang="en-US" sz="1150" dirty="0"/>
          </a:p>
        </p:txBody>
      </p:sp>
      <p:sp>
        <p:nvSpPr>
          <p:cNvPr id="47" name="Shape 45"/>
          <p:cNvSpPr/>
          <p:nvPr/>
        </p:nvSpPr>
        <p:spPr>
          <a:xfrm>
            <a:off x="8001000" y="4937760"/>
            <a:ext cx="3685032" cy="1280160"/>
          </a:xfrm>
          <a:prstGeom prst="roundRect">
            <a:avLst>
              <a:gd name="adj" fmla="val 4286"/>
            </a:avLst>
          </a:prstGeom>
          <a:solidFill>
            <a:srgbClr val="0A2559"/>
          </a:solidFill>
          <a:ln w="9525">
            <a:solidFill>
              <a:srgbClr val="0A2559"/>
            </a:solidFill>
            <a:prstDash val="solid"/>
          </a:ln>
        </p:spPr>
      </p:sp>
      <p:sp>
        <p:nvSpPr>
          <p:cNvPr id="48" name="Text 46"/>
          <p:cNvSpPr txBox="1"/>
          <p:nvPr/>
        </p:nvSpPr>
        <p:spPr>
          <a:xfrm>
            <a:off x="8183880" y="5029200"/>
            <a:ext cx="3383280" cy="320040"/>
          </a:xfrm>
          <a:prstGeom prst="rect">
            <a:avLst/>
          </a:prstGeom>
          <a:noFill/>
          <a:ln/>
        </p:spPr>
        <p:txBody>
          <a:bodyPr wrap="square" lIns="0" tIns="0" rIns="0" bIns="0" rtlCol="0" anchor="ctr"/>
          <a:lstStyle/>
          <a:p>
            <a:pPr indent="0" marL="0">
              <a:buNone/>
            </a:pPr>
            <a:r>
              <a:rPr lang="en-US" sz="1350" b="1" dirty="0">
                <a:solidFill>
                  <a:srgbClr val="FF6B9A"/>
                </a:solidFill>
                <a:latin typeface="Calibri" pitchFamily="34" charset="0"/>
                <a:ea typeface="Calibri" pitchFamily="34" charset="-122"/>
                <a:cs typeface="Calibri" pitchFamily="34" charset="-120"/>
              </a:rPr>
              <a:t>Gana XGBoost, por poco</a:t>
            </a:r>
            <a:endParaRPr lang="en-US" sz="1350" dirty="0"/>
          </a:p>
        </p:txBody>
      </p:sp>
      <p:sp>
        <p:nvSpPr>
          <p:cNvPr id="49" name="Text 47"/>
          <p:cNvSpPr txBox="1"/>
          <p:nvPr/>
        </p:nvSpPr>
        <p:spPr>
          <a:xfrm>
            <a:off x="8183880" y="5394960"/>
            <a:ext cx="3383280" cy="77724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1 038 USD menos que Ridge. El árbol solo vuelve a ser el más débil.</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7</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 que más movió el resultado no fue el modelo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Dos comparaciones para pensar antes de buscar un algoritmo más complejo.</a:t>
            </a:r>
            <a:endParaRPr lang="en-US" sz="1400" dirty="0"/>
          </a:p>
        </p:txBody>
      </p:sp>
      <p:sp>
        <p:nvSpPr>
          <p:cNvPr id="6" name="Shape 4"/>
          <p:cNvSpPr/>
          <p:nvPr/>
        </p:nvSpPr>
        <p:spPr>
          <a:xfrm>
            <a:off x="502920" y="2103120"/>
            <a:ext cx="5486400" cy="3017520"/>
          </a:xfrm>
          <a:prstGeom prst="roundRect">
            <a:avLst>
              <a:gd name="adj" fmla="val 1818"/>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 logaritmo, en la regresión lineal</a:t>
            </a:r>
            <a:endParaRPr lang="en-US" sz="1400" dirty="0"/>
          </a:p>
        </p:txBody>
      </p:sp>
      <p:sp>
        <p:nvSpPr>
          <p:cNvPr id="9" name="Text 7"/>
          <p:cNvSpPr txBox="1"/>
          <p:nvPr/>
        </p:nvSpPr>
        <p:spPr>
          <a:xfrm>
            <a:off x="731520" y="2743200"/>
            <a:ext cx="1554480" cy="457200"/>
          </a:xfrm>
          <a:prstGeom prst="rect">
            <a:avLst/>
          </a:prstGeom>
          <a:noFill/>
          <a:ln/>
        </p:spPr>
        <p:txBody>
          <a:bodyPr wrap="square" lIns="0" tIns="0" rIns="0" bIns="0" rtlCol="0" anchor="ctr"/>
          <a:lstStyle/>
          <a:p>
            <a:pPr indent="0" marL="0">
              <a:buNone/>
            </a:pPr>
            <a:r>
              <a:rPr lang="en-US" sz="1250" b="1" dirty="0">
                <a:solidFill>
                  <a:srgbClr val="0A2559"/>
                </a:solidFill>
                <a:latin typeface="Calibri" pitchFamily="34" charset="0"/>
                <a:ea typeface="Calibri" pitchFamily="34" charset="-122"/>
                <a:cs typeface="Calibri" pitchFamily="34" charset="-120"/>
              </a:rPr>
              <a:t>sin log(precio)</a:t>
            </a:r>
            <a:endParaRPr lang="en-US" sz="1250" dirty="0"/>
          </a:p>
        </p:txBody>
      </p:sp>
      <p:sp>
        <p:nvSpPr>
          <p:cNvPr id="10" name="Shape 8"/>
          <p:cNvSpPr/>
          <p:nvPr/>
        </p:nvSpPr>
        <p:spPr>
          <a:xfrm>
            <a:off x="2331720" y="2834640"/>
            <a:ext cx="2741065" cy="274320"/>
          </a:xfrm>
          <a:prstGeom prst="rect">
            <a:avLst/>
          </a:prstGeom>
          <a:solidFill>
            <a:srgbClr val="8A97AD"/>
          </a:solidFill>
          <a:ln/>
        </p:spPr>
      </p:sp>
      <p:sp>
        <p:nvSpPr>
          <p:cNvPr id="11" name="Text 9"/>
          <p:cNvSpPr txBox="1"/>
          <p:nvPr/>
        </p:nvSpPr>
        <p:spPr>
          <a:xfrm>
            <a:off x="5136793" y="2743200"/>
            <a:ext cx="1463040" cy="45720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18 735 · 11.4 %</a:t>
            </a:r>
            <a:endParaRPr lang="en-US" sz="1200" dirty="0"/>
          </a:p>
        </p:txBody>
      </p:sp>
      <p:sp>
        <p:nvSpPr>
          <p:cNvPr id="12" name="Text 10"/>
          <p:cNvSpPr txBox="1"/>
          <p:nvPr/>
        </p:nvSpPr>
        <p:spPr>
          <a:xfrm>
            <a:off x="731520" y="3566160"/>
            <a:ext cx="1554480" cy="457200"/>
          </a:xfrm>
          <a:prstGeom prst="rect">
            <a:avLst/>
          </a:prstGeom>
          <a:noFill/>
          <a:ln/>
        </p:spPr>
        <p:txBody>
          <a:bodyPr wrap="square" lIns="0" tIns="0" rIns="0" bIns="0" rtlCol="0" anchor="ctr"/>
          <a:lstStyle/>
          <a:p>
            <a:pPr indent="0" marL="0">
              <a:buNone/>
            </a:pPr>
            <a:r>
              <a:rPr lang="en-US" sz="1250" b="1" dirty="0">
                <a:solidFill>
                  <a:srgbClr val="0A2559"/>
                </a:solidFill>
                <a:latin typeface="Calibri" pitchFamily="34" charset="0"/>
                <a:ea typeface="Calibri" pitchFamily="34" charset="-122"/>
                <a:cs typeface="Calibri" pitchFamily="34" charset="-120"/>
              </a:rPr>
              <a:t>con log(precio)</a:t>
            </a:r>
            <a:endParaRPr lang="en-US" sz="1250" dirty="0"/>
          </a:p>
        </p:txBody>
      </p:sp>
      <p:sp>
        <p:nvSpPr>
          <p:cNvPr id="13" name="Shape 11"/>
          <p:cNvSpPr/>
          <p:nvPr/>
        </p:nvSpPr>
        <p:spPr>
          <a:xfrm>
            <a:off x="2331720" y="3657600"/>
            <a:ext cx="2253495" cy="274320"/>
          </a:xfrm>
          <a:prstGeom prst="rect">
            <a:avLst/>
          </a:prstGeom>
          <a:solidFill>
            <a:srgbClr val="1A56E8"/>
          </a:solidFill>
          <a:ln/>
        </p:spPr>
      </p:sp>
      <p:sp>
        <p:nvSpPr>
          <p:cNvPr id="14" name="Text 12"/>
          <p:cNvSpPr txBox="1"/>
          <p:nvPr/>
        </p:nvSpPr>
        <p:spPr>
          <a:xfrm>
            <a:off x="4649223" y="3566160"/>
            <a:ext cx="1463040" cy="45720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15 403 · 9.2 %</a:t>
            </a:r>
            <a:endParaRPr lang="en-US" sz="1200" dirty="0"/>
          </a:p>
        </p:txBody>
      </p:sp>
      <p:sp>
        <p:nvSpPr>
          <p:cNvPr id="15" name="Text 13"/>
          <p:cNvSpPr txBox="1"/>
          <p:nvPr/>
        </p:nvSpPr>
        <p:spPr>
          <a:xfrm>
            <a:off x="731520" y="4434840"/>
            <a:ext cx="5029200" cy="64008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Una línea de código, y el error baja casi 18 %. En log, cada coeficiente se lee como un porcentaje del precio.</a:t>
            </a:r>
            <a:endParaRPr lang="en-US" sz="1200" dirty="0"/>
          </a:p>
        </p:txBody>
      </p:sp>
      <p:sp>
        <p:nvSpPr>
          <p:cNvPr id="16" name="Shape 14"/>
          <p:cNvSpPr/>
          <p:nvPr/>
        </p:nvSpPr>
        <p:spPr>
          <a:xfrm>
            <a:off x="6199632" y="2103120"/>
            <a:ext cx="5486400" cy="3017520"/>
          </a:xfrm>
          <a:prstGeom prst="roundRect">
            <a:avLst>
              <a:gd name="adj" fmla="val 1818"/>
            </a:avLst>
          </a:prstGeom>
          <a:solidFill>
            <a:srgbClr val="FFFFFF"/>
          </a:solidFill>
          <a:ln w="9525">
            <a:solidFill>
              <a:srgbClr val="D2DBEC"/>
            </a:solidFill>
            <a:prstDash val="solid"/>
          </a:ln>
        </p:spPr>
      </p:sp>
      <p:sp>
        <p:nvSpPr>
          <p:cNvPr id="17" name="Shape 15"/>
          <p:cNvSpPr/>
          <p:nvPr/>
        </p:nvSpPr>
        <p:spPr>
          <a:xfrm>
            <a:off x="6428232" y="2350008"/>
            <a:ext cx="128016" cy="128016"/>
          </a:xfrm>
          <a:prstGeom prst="roundRect">
            <a:avLst>
              <a:gd name="adj" fmla="val 21429"/>
            </a:avLst>
          </a:prstGeom>
          <a:solidFill>
            <a:srgbClr val="E6115E"/>
          </a:solidFill>
          <a:ln w="12700">
            <a:solidFill>
              <a:srgbClr val="E6115E"/>
            </a:solidFill>
            <a:prstDash val="solid"/>
          </a:ln>
        </p:spPr>
      </p:sp>
      <p:sp>
        <p:nvSpPr>
          <p:cNvPr id="18" name="Text 16"/>
          <p:cNvSpPr txBox="1"/>
          <p:nvPr/>
        </p:nvSpPr>
        <p:spPr>
          <a:xfrm>
            <a:off x="6656832"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Cuánto le gana XGBoost a la recta</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28232" y="2697480"/>
          <a:ext cx="5029200" cy="914400"/>
        </p:xfrm>
        <a:graphic>
          <a:graphicData uri="http://schemas.openxmlformats.org/drawingml/2006/table">
            <a:tbl>
              <a:tblPr/>
              <a:tblGrid>
                <a:gridCol w="2011680"/>
                <a:gridCol w="960120"/>
                <a:gridCol w="1005840"/>
                <a:gridCol w="105156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Dataset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Lineal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XGBoost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Diferencia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California (Clase 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49 664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30 077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−39 %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Ames (hoy, val. cruzada)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15 403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14 345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56E8"/>
                          </a:solidFill>
                          <a:latin typeface="Calibri" pitchFamily="34" charset="0"/>
                          <a:ea typeface="Calibri" pitchFamily="34" charset="-122"/>
                          <a:cs typeface="Calibri" pitchFamily="34" charset="-120"/>
                        </a:rPr>
                        <a:t>−7 %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6428232" y="4206240"/>
            <a:ext cx="5029200" cy="86868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MAE en USD. En California la recta no veía la geografía ni las interacciones. En Ames las variables ya traen el juicio del tasador y las creamos con sentido.</a:t>
            </a:r>
            <a:endParaRPr lang="en-US" sz="1200" dirty="0"/>
          </a:p>
        </p:txBody>
      </p:sp>
      <p:sp>
        <p:nvSpPr>
          <p:cNvPr id="21" name="Shape 18"/>
          <p:cNvSpPr/>
          <p:nvPr/>
        </p:nvSpPr>
        <p:spPr>
          <a:xfrm>
            <a:off x="502920" y="5349240"/>
            <a:ext cx="11183112" cy="868680"/>
          </a:xfrm>
          <a:prstGeom prst="roundRect">
            <a:avLst>
              <a:gd name="adj" fmla="val 6316"/>
            </a:avLst>
          </a:prstGeom>
          <a:solidFill>
            <a:srgbClr val="0A2559"/>
          </a:solidFill>
          <a:ln w="9525">
            <a:solidFill>
              <a:srgbClr val="0A2559"/>
            </a:solidFill>
            <a:prstDash val="solid"/>
          </a:ln>
        </p:spPr>
      </p:sp>
      <p:sp>
        <p:nvSpPr>
          <p:cNvPr id="22" name="Text 19"/>
          <p:cNvSpPr txBox="1"/>
          <p:nvPr/>
        </p:nvSpPr>
        <p:spPr>
          <a:xfrm>
            <a:off x="731520" y="5349240"/>
            <a:ext cx="10789920" cy="86868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Con buenas variables, un modelo simple llega lejos.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Antes de buscar un algoritmo más complejo, revisa el objetivo y las variables. Y si la diferencia es chica, el modelo interpretable puede ser la mejor elección.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8</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prueba, una sola vez, y en términos de negocio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elegido se reentrena con todo el entrenamiento y se mide en las 585 casas guardadas desde el Paso 3.</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5852160" cy="914400"/>
        </p:xfrm>
        <a:graphic>
          <a:graphicData uri="http://schemas.openxmlformats.org/drawingml/2006/table">
            <a:tbl>
              <a:tblPr/>
              <a:tblGrid>
                <a:gridCol w="2011680"/>
                <a:gridCol w="960120"/>
                <a:gridCol w="960120"/>
                <a:gridCol w="960120"/>
                <a:gridCol w="960120"/>
              </a:tblGrid>
              <a:tr h="457200">
                <a:tc>
                  <a:txBody>
                    <a:bodyPr/>
                    <a:lstStyle/>
                    <a:p>
                      <a:pPr indent="0" marL="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Siempre la mediana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58 116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31.7 %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Ridge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15 183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22 892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0.924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8.8 %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XGBoost (elegido)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14 180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23 001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0.924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8.0 %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02920" y="4023360"/>
            <a:ext cx="5852160" cy="36576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La validación cruzada estimó 14 345; la prueba dio 14 180. La estimación fue honesta.</a:t>
            </a:r>
            <a:endParaRPr lang="en-US" sz="1150" dirty="0"/>
          </a:p>
        </p:txBody>
      </p:sp>
      <p:sp>
        <p:nvSpPr>
          <p:cNvPr id="8" name="Shape 5"/>
          <p:cNvSpPr/>
          <p:nvPr/>
        </p:nvSpPr>
        <p:spPr>
          <a:xfrm>
            <a:off x="502920" y="4526280"/>
            <a:ext cx="5852160" cy="1691640"/>
          </a:xfrm>
          <a:prstGeom prst="roundRect">
            <a:avLst>
              <a:gd name="adj" fmla="val 3243"/>
            </a:avLst>
          </a:prstGeom>
          <a:solidFill>
            <a:srgbClr val="0A2559"/>
          </a:solidFill>
          <a:ln w="9525">
            <a:solidFill>
              <a:srgbClr val="0A2559"/>
            </a:solidFill>
            <a:prstDash val="solid"/>
          </a:ln>
        </p:spPr>
      </p:sp>
      <p:sp>
        <p:nvSpPr>
          <p:cNvPr id="9" name="Text 6"/>
          <p:cNvSpPr txBox="1"/>
          <p:nvPr/>
        </p:nvSpPr>
        <p:spPr>
          <a:xfrm>
            <a:off x="731520" y="4617720"/>
            <a:ext cx="1828800" cy="822960"/>
          </a:xfrm>
          <a:prstGeom prst="rect">
            <a:avLst/>
          </a:prstGeom>
          <a:noFill/>
          <a:ln/>
        </p:spPr>
        <p:txBody>
          <a:bodyPr wrap="square" lIns="0" tIns="0" rIns="0" bIns="0" rtlCol="0" anchor="ctr"/>
          <a:lstStyle/>
          <a:p>
            <a:pPr indent="0" marL="0">
              <a:buNone/>
            </a:pPr>
            <a:r>
              <a:rPr lang="en-US" sz="3400" b="1" dirty="0">
                <a:solidFill>
                  <a:srgbClr val="FF6B9A"/>
                </a:solidFill>
                <a:latin typeface="Calibri" pitchFamily="34" charset="0"/>
                <a:ea typeface="Calibri" pitchFamily="34" charset="-122"/>
                <a:cs typeface="Calibri" pitchFamily="34" charset="-120"/>
              </a:rPr>
              <a:t>75.0 %</a:t>
            </a:r>
            <a:endParaRPr lang="en-US" sz="3400" dirty="0"/>
          </a:p>
        </p:txBody>
      </p:sp>
      <p:sp>
        <p:nvSpPr>
          <p:cNvPr id="10" name="Text 7"/>
          <p:cNvSpPr txBox="1"/>
          <p:nvPr/>
        </p:nvSpPr>
        <p:spPr>
          <a:xfrm>
            <a:off x="2606040" y="4617720"/>
            <a:ext cx="3566160" cy="82296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de las casas quedan tasadas con un error de hasta 10 %</a:t>
            </a:r>
            <a:endParaRPr lang="en-US" sz="1300" dirty="0"/>
          </a:p>
        </p:txBody>
      </p:sp>
      <p:sp>
        <p:nvSpPr>
          <p:cNvPr id="11" name="Text 8"/>
          <p:cNvSpPr txBox="1"/>
          <p:nvPr/>
        </p:nvSpPr>
        <p:spPr>
          <a:xfrm>
            <a:off x="731520" y="5440680"/>
            <a:ext cx="5394960" cy="685800"/>
          </a:xfrm>
          <a:prstGeom prst="rect">
            <a:avLst/>
          </a:prstGeom>
          <a:noFill/>
          <a:ln/>
        </p:spPr>
        <p:txBody>
          <a:bodyPr wrap="square" lIns="0" tIns="0" rIns="0" bIns="0" rtlCol="0" anchor="t"/>
          <a:lstStyle/>
          <a:p>
            <a:pPr indent="0" marL="0">
              <a:spcAft>
                <a:spcPts val="400"/>
              </a:spcAft>
              <a:buNone/>
            </a:pPr>
            <a:r>
              <a:rPr lang="en-US" sz="1200" dirty="0">
                <a:solidFill>
                  <a:srgbClr val="C9D4EA"/>
                </a:solidFill>
                <a:latin typeface="Calibri" pitchFamily="34" charset="0"/>
                <a:ea typeface="Calibri" pitchFamily="34" charset="-122"/>
                <a:cs typeface="Calibri" pitchFamily="34" charset="-120"/>
              </a:rPr>
              <a:t>93.2 % con hasta 20 %. Esto es lo que se reporta, no el R².</a:t>
            </a:r>
            <a:endParaRPr lang="en-US" sz="1200" dirty="0"/>
          </a:p>
        </p:txBody>
      </p:sp>
      <p:sp>
        <p:nvSpPr>
          <p:cNvPr id="12" name="Shape 9"/>
          <p:cNvSpPr/>
          <p:nvPr/>
        </p:nvSpPr>
        <p:spPr>
          <a:xfrm>
            <a:off x="6629400" y="2103120"/>
            <a:ext cx="5056632" cy="4114800"/>
          </a:xfrm>
          <a:prstGeom prst="roundRect">
            <a:avLst>
              <a:gd name="adj" fmla="val 1333"/>
            </a:avLst>
          </a:prstGeom>
          <a:solidFill>
            <a:srgbClr val="FFFFFF"/>
          </a:solidFill>
          <a:ln w="9525">
            <a:solidFill>
              <a:srgbClr val="D2DBEC"/>
            </a:solidFill>
            <a:prstDash val="solid"/>
          </a:ln>
        </p:spPr>
      </p:sp>
      <p:sp>
        <p:nvSpPr>
          <p:cNvPr id="13" name="Shape 10"/>
          <p:cNvSpPr/>
          <p:nvPr/>
        </p:nvSpPr>
        <p:spPr>
          <a:xfrm>
            <a:off x="6858000" y="2350008"/>
            <a:ext cx="128016" cy="128016"/>
          </a:xfrm>
          <a:prstGeom prst="roundRect">
            <a:avLst>
              <a:gd name="adj" fmla="val 21429"/>
            </a:avLst>
          </a:prstGeom>
          <a:solidFill>
            <a:srgbClr val="E6115E"/>
          </a:solidFill>
          <a:ln w="12700">
            <a:solidFill>
              <a:srgbClr val="E6115E"/>
            </a:solidFill>
            <a:prstDash val="solid"/>
          </a:ln>
        </p:spPr>
      </p:sp>
      <p:sp>
        <p:nvSpPr>
          <p:cNvPr id="14" name="Text 11"/>
          <p:cNvSpPr txBox="1"/>
          <p:nvPr/>
        </p:nvSpPr>
        <p:spPr>
          <a:xfrm>
            <a:off x="7086600" y="2240280"/>
            <a:ext cx="441655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MAPE por quintil de precio real (USD)</a:t>
            </a:r>
            <a:endParaRPr lang="en-US" sz="1400" dirty="0"/>
          </a:p>
        </p:txBody>
      </p:sp>
      <p:sp>
        <p:nvSpPr>
          <p:cNvPr id="15" name="Text 12"/>
          <p:cNvSpPr txBox="1"/>
          <p:nvPr/>
        </p:nvSpPr>
        <p:spPr>
          <a:xfrm>
            <a:off x="6858000" y="2697480"/>
            <a:ext cx="1737360" cy="411480"/>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55 000–124 000</a:t>
            </a:r>
            <a:endParaRPr lang="en-US" sz="1100" dirty="0"/>
          </a:p>
        </p:txBody>
      </p:sp>
      <p:sp>
        <p:nvSpPr>
          <p:cNvPr id="16" name="Shape 13"/>
          <p:cNvSpPr/>
          <p:nvPr/>
        </p:nvSpPr>
        <p:spPr>
          <a:xfrm>
            <a:off x="8641080" y="2779776"/>
            <a:ext cx="2035217" cy="246888"/>
          </a:xfrm>
          <a:prstGeom prst="rect">
            <a:avLst/>
          </a:prstGeom>
          <a:solidFill>
            <a:srgbClr val="E6115E"/>
          </a:solidFill>
          <a:ln/>
        </p:spPr>
      </p:sp>
      <p:sp>
        <p:nvSpPr>
          <p:cNvPr id="17" name="Text 14"/>
          <p:cNvSpPr txBox="1"/>
          <p:nvPr/>
        </p:nvSpPr>
        <p:spPr>
          <a:xfrm>
            <a:off x="10740305" y="2697480"/>
            <a:ext cx="822960" cy="411480"/>
          </a:xfrm>
          <a:prstGeom prst="rect">
            <a:avLst/>
          </a:prstGeom>
          <a:noFill/>
          <a:ln/>
        </p:spPr>
        <p:txBody>
          <a:bodyPr wrap="square" lIns="0" tIns="0" rIns="0" bIns="0" rtlCol="0" anchor="ctr"/>
          <a:lstStyle/>
          <a:p>
            <a:pPr indent="0" marL="0">
              <a:buNone/>
            </a:pPr>
            <a:r>
              <a:rPr lang="en-US" sz="1200" b="1" dirty="0">
                <a:solidFill>
                  <a:srgbClr val="E6115E"/>
                </a:solidFill>
                <a:latin typeface="Calibri" pitchFamily="34" charset="0"/>
                <a:ea typeface="Calibri" pitchFamily="34" charset="-122"/>
                <a:cs typeface="Calibri" pitchFamily="34" charset="-120"/>
              </a:rPr>
              <a:t>12.1 %</a:t>
            </a:r>
            <a:endParaRPr lang="en-US" sz="1200" dirty="0"/>
          </a:p>
        </p:txBody>
      </p:sp>
      <p:sp>
        <p:nvSpPr>
          <p:cNvPr id="18" name="Text 15"/>
          <p:cNvSpPr txBox="1"/>
          <p:nvPr/>
        </p:nvSpPr>
        <p:spPr>
          <a:xfrm>
            <a:off x="6858000" y="3264408"/>
            <a:ext cx="1737360" cy="411480"/>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124 000–146 000</a:t>
            </a:r>
            <a:endParaRPr lang="en-US" sz="1100" dirty="0"/>
          </a:p>
        </p:txBody>
      </p:sp>
      <p:sp>
        <p:nvSpPr>
          <p:cNvPr id="19" name="Shape 16"/>
          <p:cNvSpPr/>
          <p:nvPr/>
        </p:nvSpPr>
        <p:spPr>
          <a:xfrm>
            <a:off x="8641080" y="3346704"/>
            <a:ext cx="1055465" cy="246888"/>
          </a:xfrm>
          <a:prstGeom prst="rect">
            <a:avLst/>
          </a:prstGeom>
          <a:solidFill>
            <a:srgbClr val="1A56E8"/>
          </a:solidFill>
          <a:ln/>
        </p:spPr>
      </p:sp>
      <p:sp>
        <p:nvSpPr>
          <p:cNvPr id="20" name="Text 17"/>
          <p:cNvSpPr txBox="1"/>
          <p:nvPr/>
        </p:nvSpPr>
        <p:spPr>
          <a:xfrm>
            <a:off x="9760553" y="3264408"/>
            <a:ext cx="822960" cy="41148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6.3 %</a:t>
            </a:r>
            <a:endParaRPr lang="en-US" sz="1200" dirty="0"/>
          </a:p>
        </p:txBody>
      </p:sp>
      <p:sp>
        <p:nvSpPr>
          <p:cNvPr id="21" name="Text 18"/>
          <p:cNvSpPr txBox="1"/>
          <p:nvPr/>
        </p:nvSpPr>
        <p:spPr>
          <a:xfrm>
            <a:off x="6858000" y="3831336"/>
            <a:ext cx="1737360" cy="411480"/>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146 000–179 000</a:t>
            </a:r>
            <a:endParaRPr lang="en-US" sz="1100" dirty="0"/>
          </a:p>
        </p:txBody>
      </p:sp>
      <p:sp>
        <p:nvSpPr>
          <p:cNvPr id="22" name="Shape 19"/>
          <p:cNvSpPr/>
          <p:nvPr/>
        </p:nvSpPr>
        <p:spPr>
          <a:xfrm>
            <a:off x="8641080" y="3913632"/>
            <a:ext cx="1090695" cy="246888"/>
          </a:xfrm>
          <a:prstGeom prst="rect">
            <a:avLst/>
          </a:prstGeom>
          <a:solidFill>
            <a:srgbClr val="1A56E8"/>
          </a:solidFill>
          <a:ln/>
        </p:spPr>
      </p:sp>
      <p:sp>
        <p:nvSpPr>
          <p:cNvPr id="23" name="Text 20"/>
          <p:cNvSpPr txBox="1"/>
          <p:nvPr/>
        </p:nvSpPr>
        <p:spPr>
          <a:xfrm>
            <a:off x="9795783" y="3831336"/>
            <a:ext cx="822960" cy="41148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6.5 %</a:t>
            </a:r>
            <a:endParaRPr lang="en-US" sz="1200" dirty="0"/>
          </a:p>
        </p:txBody>
      </p:sp>
      <p:sp>
        <p:nvSpPr>
          <p:cNvPr id="24" name="Text 21"/>
          <p:cNvSpPr txBox="1"/>
          <p:nvPr/>
        </p:nvSpPr>
        <p:spPr>
          <a:xfrm>
            <a:off x="6858000" y="4398264"/>
            <a:ext cx="1737360" cy="411480"/>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179 000–230 000</a:t>
            </a:r>
            <a:endParaRPr lang="en-US" sz="1100" dirty="0"/>
          </a:p>
        </p:txBody>
      </p:sp>
      <p:sp>
        <p:nvSpPr>
          <p:cNvPr id="25" name="Shape 22"/>
          <p:cNvSpPr/>
          <p:nvPr/>
        </p:nvSpPr>
        <p:spPr>
          <a:xfrm>
            <a:off x="8641080" y="4480560"/>
            <a:ext cx="1155741" cy="246888"/>
          </a:xfrm>
          <a:prstGeom prst="rect">
            <a:avLst/>
          </a:prstGeom>
          <a:solidFill>
            <a:srgbClr val="1A56E8"/>
          </a:solidFill>
          <a:ln/>
        </p:spPr>
      </p:sp>
      <p:sp>
        <p:nvSpPr>
          <p:cNvPr id="26" name="Text 23"/>
          <p:cNvSpPr txBox="1"/>
          <p:nvPr/>
        </p:nvSpPr>
        <p:spPr>
          <a:xfrm>
            <a:off x="9860829" y="4398264"/>
            <a:ext cx="822960" cy="41148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6.8 %</a:t>
            </a:r>
            <a:endParaRPr lang="en-US" sz="1200" dirty="0"/>
          </a:p>
        </p:txBody>
      </p:sp>
      <p:sp>
        <p:nvSpPr>
          <p:cNvPr id="27" name="Text 24"/>
          <p:cNvSpPr txBox="1"/>
          <p:nvPr/>
        </p:nvSpPr>
        <p:spPr>
          <a:xfrm>
            <a:off x="6858000" y="4965192"/>
            <a:ext cx="1737360" cy="411480"/>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230 000–615 000</a:t>
            </a:r>
            <a:endParaRPr lang="en-US" sz="1100" dirty="0"/>
          </a:p>
        </p:txBody>
      </p:sp>
      <p:sp>
        <p:nvSpPr>
          <p:cNvPr id="28" name="Shape 25"/>
          <p:cNvSpPr/>
          <p:nvPr/>
        </p:nvSpPr>
        <p:spPr>
          <a:xfrm>
            <a:off x="8641080" y="5047488"/>
            <a:ext cx="1427308" cy="246888"/>
          </a:xfrm>
          <a:prstGeom prst="rect">
            <a:avLst/>
          </a:prstGeom>
          <a:solidFill>
            <a:srgbClr val="1A56E8"/>
          </a:solidFill>
          <a:ln/>
        </p:spPr>
      </p:sp>
      <p:sp>
        <p:nvSpPr>
          <p:cNvPr id="29" name="Text 26"/>
          <p:cNvSpPr txBox="1"/>
          <p:nvPr/>
        </p:nvSpPr>
        <p:spPr>
          <a:xfrm>
            <a:off x="10132396" y="4965192"/>
            <a:ext cx="822960" cy="411480"/>
          </a:xfrm>
          <a:prstGeom prst="rect">
            <a:avLst/>
          </a:prstGeom>
          <a:noFill/>
          <a:ln/>
        </p:spPr>
        <p:txBody>
          <a:bodyPr wrap="square" lIns="0" tIns="0" rIns="0" bIns="0" rtlCol="0" anchor="ctr"/>
          <a:lstStyle/>
          <a:p>
            <a:pPr indent="0" marL="0">
              <a:buNone/>
            </a:pPr>
            <a:r>
              <a:rPr lang="en-US" sz="1200" b="1" dirty="0">
                <a:solidFill>
                  <a:srgbClr val="2C3A55"/>
                </a:solidFill>
                <a:latin typeface="Calibri" pitchFamily="34" charset="0"/>
                <a:ea typeface="Calibri" pitchFamily="34" charset="-122"/>
                <a:cs typeface="Calibri" pitchFamily="34" charset="-120"/>
              </a:rPr>
              <a:t>8.5 %</a:t>
            </a:r>
            <a:endParaRPr lang="en-US" sz="1200" dirty="0"/>
          </a:p>
        </p:txBody>
      </p:sp>
      <p:sp>
        <p:nvSpPr>
          <p:cNvPr id="30" name="Text 27"/>
          <p:cNvSpPr txBox="1"/>
          <p:nvPr/>
        </p:nvSpPr>
        <p:spPr>
          <a:xfrm>
            <a:off x="6858000" y="5532120"/>
            <a:ext cx="4663440" cy="64008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En porcentaje, el modelo es menos confiable para las casas más baratas: ahí un error de 10 mil pesa mucho. En dólares, el error crece con el precio.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PASO 8 · CASO REAL</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Guardarlo, usarlo y vigilarlo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modelo guardado es el pipeline completo. Pero un modelo en uso puede fallar de formas que la prueba no muestra.</a:t>
            </a:r>
            <a:endParaRPr lang="en-US" sz="1400" dirty="0"/>
          </a:p>
        </p:txBody>
      </p:sp>
      <p:sp>
        <p:nvSpPr>
          <p:cNvPr id="6" name="Shape 4"/>
          <p:cNvSpPr/>
          <p:nvPr/>
        </p:nvSpPr>
        <p:spPr>
          <a:xfrm>
            <a:off x="502920" y="2103120"/>
            <a:ext cx="5486400" cy="2468880"/>
          </a:xfrm>
          <a:prstGeom prst="roundRect">
            <a:avLst>
              <a:gd name="adj" fmla="val 2222"/>
            </a:avLst>
          </a:prstGeom>
          <a:solidFill>
            <a:srgbClr val="061834"/>
          </a:solidFill>
          <a:ln w="9525">
            <a:solidFill>
              <a:srgbClr val="061834"/>
            </a:solidFill>
            <a:prstDash val="solid"/>
          </a:ln>
        </p:spPr>
      </p:sp>
      <p:sp>
        <p:nvSpPr>
          <p:cNvPr id="7" name="Text 5"/>
          <p:cNvSpPr txBox="1"/>
          <p:nvPr/>
        </p:nvSpPr>
        <p:spPr>
          <a:xfrm>
            <a:off x="731520" y="2286000"/>
            <a:ext cx="5120640" cy="2194560"/>
          </a:xfrm>
          <a:prstGeom prst="rect">
            <a:avLst/>
          </a:prstGeom>
          <a:noFill/>
          <a:ln/>
        </p:spPr>
        <p:txBody>
          <a:bodyPr wrap="square" lIns="0" tIns="0" rIns="0" bIns="0" rtlCol="0" anchor="t"/>
          <a:lstStyle/>
          <a:p>
            <a:pPr indent="0" marL="0">
              <a:buNone/>
            </a:pPr>
            <a:r>
              <a:rPr lang="en-US" sz="1200" b="1" dirty="0">
                <a:solidFill>
                  <a:srgbClr val="FFFFFF"/>
                </a:solidFill>
                <a:latin typeface="Courier New" pitchFamily="34" charset="0"/>
                <a:ea typeface="Courier New" pitchFamily="34" charset="-122"/>
                <a:cs typeface="Courier New" pitchFamily="34" charset="-120"/>
              </a:rPr>
              <a:t>joblib.dump(modelo_final, "modelo.joblib")</a:t>
            </a:r>
            <a:endParaRPr lang="en-US" sz="12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6F86B8"/>
                </a:solidFill>
                <a:latin typeface="Courier New" pitchFamily="34" charset="0"/>
                <a:ea typeface="Courier New" pitchFamily="34" charset="-122"/>
                <a:cs typeface="Courier New" pitchFamily="34" charset="-120"/>
              </a:rPr>
              <a:t># otro día, otro notebook:</a:t>
            </a:r>
            <a:endParaRPr lang="en-US" sz="1200" dirty="0"/>
          </a:p>
          <a:p>
            <a:pPr indent="0" marL="0">
              <a:buNone/>
            </a:pPr>
            <a:r>
              <a:rPr lang="en-US" sz="1200" dirty="0">
                <a:solidFill>
                  <a:srgbClr val="6F86B8"/>
                </a:solidFill>
                <a:latin typeface="Courier New" pitchFamily="34" charset="0"/>
                <a:ea typeface="Courier New" pitchFamily="34" charset="-122"/>
                <a:cs typeface="Courier New" pitchFamily="34" charset="-120"/>
              </a:rPr>
              <a:t># (antes, volver a definir preparar)</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modelo = joblib.load("modelo.joblib")</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modelo.predict(casa_nueva)</a:t>
            </a:r>
            <a:endParaRPr lang="en-US" sz="12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rgbClr val="FF6B9A"/>
                </a:solidFill>
                <a:latin typeface="Courier New" pitchFamily="34" charset="0"/>
                <a:ea typeface="Courier New" pitchFamily="34" charset="-122"/>
                <a:cs typeface="Courier New" pitchFamily="34" charset="-120"/>
              </a:rPr>
              <a:t># → 192 715 USD</a:t>
            </a:r>
            <a:endParaRPr lang="en-US" sz="1200" dirty="0"/>
          </a:p>
        </p:txBody>
      </p:sp>
      <p:sp>
        <p:nvSpPr>
          <p:cNvPr id="8" name="Shape 6"/>
          <p:cNvSpPr/>
          <p:nvPr/>
        </p:nvSpPr>
        <p:spPr>
          <a:xfrm>
            <a:off x="502920" y="4754880"/>
            <a:ext cx="5486400" cy="1463040"/>
          </a:xfrm>
          <a:prstGeom prst="roundRect">
            <a:avLst>
              <a:gd name="adj" fmla="val 3750"/>
            </a:avLst>
          </a:prstGeom>
          <a:solidFill>
            <a:srgbClr val="E9EEF8"/>
          </a:solidFill>
          <a:ln w="9525">
            <a:solidFill>
              <a:srgbClr val="D2DBEC"/>
            </a:solidFill>
            <a:prstDash val="solid"/>
          </a:ln>
        </p:spPr>
      </p:sp>
      <p:sp>
        <p:nvSpPr>
          <p:cNvPr id="9" name="Text 7"/>
          <p:cNvSpPr txBox="1"/>
          <p:nvPr/>
        </p:nvSpPr>
        <p:spPr>
          <a:xfrm>
            <a:off x="731520" y="4754880"/>
            <a:ext cx="5029200" cy="146304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La casa nueva llega cruda y con un dato faltante: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el pipeline la prepara, la rellena y la tasa. Con el MAPE de prueba, el rango razonable es de 177 238 a 208 192.</a:t>
            </a:r>
            <a:endParaRPr lang="en-US" sz="1200" dirty="0"/>
          </a:p>
        </p:txBody>
      </p:sp>
      <p:sp>
        <p:nvSpPr>
          <p:cNvPr id="10" name="Shape 8"/>
          <p:cNvSpPr/>
          <p:nvPr/>
        </p:nvSpPr>
        <p:spPr>
          <a:xfrm>
            <a:off x="6199632" y="2103120"/>
            <a:ext cx="5486400" cy="4114800"/>
          </a:xfrm>
          <a:prstGeom prst="roundRect">
            <a:avLst>
              <a:gd name="adj" fmla="val 1333"/>
            </a:avLst>
          </a:prstGeom>
          <a:solidFill>
            <a:srgbClr val="FFFFFF"/>
          </a:solidFill>
          <a:ln w="9525">
            <a:solidFill>
              <a:srgbClr val="D2DBEC"/>
            </a:solidFill>
            <a:prstDash val="solid"/>
          </a:ln>
        </p:spPr>
      </p:sp>
      <p:sp>
        <p:nvSpPr>
          <p:cNvPr id="11" name="Shape 9"/>
          <p:cNvSpPr/>
          <p:nvPr/>
        </p:nvSpPr>
        <p:spPr>
          <a:xfrm>
            <a:off x="6428232" y="2350008"/>
            <a:ext cx="128016" cy="128016"/>
          </a:xfrm>
          <a:prstGeom prst="roundRect">
            <a:avLst>
              <a:gd name="adj" fmla="val 21429"/>
            </a:avLst>
          </a:prstGeom>
          <a:solidFill>
            <a:srgbClr val="E6115E"/>
          </a:solidFill>
          <a:ln w="12700">
            <a:solidFill>
              <a:srgbClr val="E6115E"/>
            </a:solidFill>
            <a:prstDash val="solid"/>
          </a:ln>
        </p:spPr>
      </p:sp>
      <p:sp>
        <p:nvSpPr>
          <p:cNvPr id="12" name="Text 10"/>
          <p:cNvSpPr txBox="1"/>
          <p:nvPr/>
        </p:nvSpPr>
        <p:spPr>
          <a:xfrm>
            <a:off x="6656832" y="2240280"/>
            <a:ext cx="484632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Zillow Offers, 2021</a:t>
            </a:r>
            <a:endParaRPr lang="en-US" sz="1400" dirty="0"/>
          </a:p>
        </p:txBody>
      </p:sp>
      <p:sp>
        <p:nvSpPr>
          <p:cNvPr id="13" name="Text 11"/>
          <p:cNvSpPr txBox="1"/>
          <p:nvPr/>
        </p:nvSpPr>
        <p:spPr>
          <a:xfrm>
            <a:off x="6428232" y="2606040"/>
            <a:ext cx="5029200" cy="731520"/>
          </a:xfrm>
          <a:prstGeom prst="rect">
            <a:avLst/>
          </a:prstGeom>
          <a:noFill/>
          <a:ln/>
        </p:spPr>
        <p:txBody>
          <a:bodyPr wrap="square" lIns="0" tIns="0" rIns="0" bIns="0" rtlCol="0" anchor="ctr"/>
          <a:lstStyle/>
          <a:p>
            <a:pPr indent="0" marL="0">
              <a:buNone/>
            </a:pPr>
            <a:r>
              <a:rPr lang="en-US" sz="3600" b="1" dirty="0">
                <a:solidFill>
                  <a:srgbClr val="E6115E"/>
                </a:solidFill>
                <a:latin typeface="Calibri" pitchFamily="34" charset="0"/>
                <a:ea typeface="Calibri" pitchFamily="34" charset="-122"/>
                <a:cs typeface="Calibri" pitchFamily="34" charset="-120"/>
              </a:rPr>
              <a:t>304 millones</a:t>
            </a:r>
            <a:endParaRPr lang="en-US" sz="3600" dirty="0"/>
          </a:p>
        </p:txBody>
      </p:sp>
      <p:sp>
        <p:nvSpPr>
          <p:cNvPr id="14" name="Text 12"/>
          <p:cNvSpPr txBox="1"/>
          <p:nvPr/>
        </p:nvSpPr>
        <p:spPr>
          <a:xfrm>
            <a:off x="6428232" y="3383280"/>
            <a:ext cx="5029200" cy="18288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de USD de pérdida por desvalorización de inventario en un solo trimestre. Zillow compraba casas con precios estimados por sus modelos para revenderlas. En noviembre de 2021 cerró el negocio y anunció el recorte de cerca de un cuarto de su personal; la empresa atribuyó el cierre a lo difícil que resultó pronosticar precios de viviendas.</a:t>
            </a:r>
            <a:endParaRPr lang="en-US" sz="1200" dirty="0"/>
          </a:p>
        </p:txBody>
      </p:sp>
      <p:sp>
        <p:nvSpPr>
          <p:cNvPr id="15" name="Text 13"/>
          <p:cNvSpPr txBox="1"/>
          <p:nvPr/>
        </p:nvSpPr>
        <p:spPr>
          <a:xfrm>
            <a:off x="6428232" y="5257800"/>
            <a:ext cx="5029200" cy="868680"/>
          </a:xfrm>
          <a:prstGeom prst="rect">
            <a:avLst/>
          </a:prstGeom>
          <a:noFill/>
          <a:ln/>
        </p:spPr>
        <p:txBody>
          <a:bodyPr wrap="square" lIns="0" tIns="0" rIns="0" bIns="0" rtlCol="0" anchor="t"/>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La lección: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la prueba mide el pasado. En producción hay que vigilar el error todos los meses, y tener un alcance y un tasador humano para lo raro.</a:t>
            </a:r>
            <a:endParaRPr lang="en-US" sz="1200" dirty="0"/>
          </a:p>
        </p:txBody>
      </p:sp>
      <p:sp>
        <p:nvSpPr>
          <p:cNvPr id="16" name="Text 14"/>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Zillow Group (2021). Q3 2021 Shareholders' Letter, 2 de noviembre de 2021.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ANTES DEL LABORATORIO</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Los seis errores que más se cometen</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Todos producen un resultado que se ve mejor de lo que es. Revísalos en tu tarea antes de entregar.</a:t>
            </a:r>
            <a:endParaRPr lang="en-US" sz="1400" dirty="0"/>
          </a:p>
        </p:txBody>
      </p:sp>
      <p:sp>
        <p:nvSpPr>
          <p:cNvPr id="6" name="Shape 4"/>
          <p:cNvSpPr/>
          <p:nvPr/>
        </p:nvSpPr>
        <p:spPr>
          <a:xfrm>
            <a:off x="502920" y="2103120"/>
            <a:ext cx="3630168" cy="1828800"/>
          </a:xfrm>
          <a:prstGeom prst="roundRect">
            <a:avLst>
              <a:gd name="adj" fmla="val 3000"/>
            </a:avLst>
          </a:prstGeom>
          <a:solidFill>
            <a:srgbClr val="FFFFFF"/>
          </a:solidFill>
          <a:ln w="9525">
            <a:solidFill>
              <a:srgbClr val="D2DBEC"/>
            </a:solidFill>
            <a:prstDash val="solid"/>
          </a:ln>
        </p:spPr>
      </p:sp>
      <p:sp>
        <p:nvSpPr>
          <p:cNvPr id="7" name="Shape 5"/>
          <p:cNvSpPr/>
          <p:nvPr/>
        </p:nvSpPr>
        <p:spPr>
          <a:xfrm>
            <a:off x="731520" y="2304288"/>
            <a:ext cx="868680" cy="274320"/>
          </a:xfrm>
          <a:prstGeom prst="roundRect">
            <a:avLst>
              <a:gd name="adj" fmla="val 50000"/>
            </a:avLst>
          </a:prstGeom>
          <a:solidFill>
            <a:srgbClr val="E6115E"/>
          </a:solidFill>
          <a:ln/>
        </p:spPr>
      </p:sp>
      <p:sp>
        <p:nvSpPr>
          <p:cNvPr id="8" name="Text 6"/>
          <p:cNvSpPr txBox="1"/>
          <p:nvPr/>
        </p:nvSpPr>
        <p:spPr>
          <a:xfrm>
            <a:off x="731520" y="230428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3</a:t>
            </a:r>
            <a:endParaRPr lang="en-US" sz="950" dirty="0"/>
          </a:p>
        </p:txBody>
      </p:sp>
      <p:sp>
        <p:nvSpPr>
          <p:cNvPr id="9" name="Text 7"/>
          <p:cNvSpPr txBox="1"/>
          <p:nvPr/>
        </p:nvSpPr>
        <p:spPr>
          <a:xfrm>
            <a:off x="731520" y="267004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Mirar la prueba antes del final</a:t>
            </a:r>
            <a:endParaRPr lang="en-US" sz="1400" dirty="0"/>
          </a:p>
        </p:txBody>
      </p:sp>
      <p:sp>
        <p:nvSpPr>
          <p:cNvPr id="10" name="Text 8"/>
          <p:cNvSpPr txBox="1"/>
          <p:nvPr/>
        </p:nvSpPr>
        <p:spPr>
          <a:xfrm>
            <a:off x="731520" y="308152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Explorar o limpiar con todos los datos. La prueba deja de ser nueva.</a:t>
            </a:r>
            <a:endParaRPr lang="en-US" sz="1300" dirty="0"/>
          </a:p>
        </p:txBody>
      </p:sp>
      <p:sp>
        <p:nvSpPr>
          <p:cNvPr id="11" name="Shape 9"/>
          <p:cNvSpPr/>
          <p:nvPr/>
        </p:nvSpPr>
        <p:spPr>
          <a:xfrm>
            <a:off x="4279392" y="2103120"/>
            <a:ext cx="3630168" cy="1828800"/>
          </a:xfrm>
          <a:prstGeom prst="roundRect">
            <a:avLst>
              <a:gd name="adj" fmla="val 3000"/>
            </a:avLst>
          </a:prstGeom>
          <a:solidFill>
            <a:srgbClr val="FFFFFF"/>
          </a:solidFill>
          <a:ln w="9525">
            <a:solidFill>
              <a:srgbClr val="D2DBEC"/>
            </a:solidFill>
            <a:prstDash val="solid"/>
          </a:ln>
        </p:spPr>
      </p:sp>
      <p:sp>
        <p:nvSpPr>
          <p:cNvPr id="12" name="Shape 10"/>
          <p:cNvSpPr/>
          <p:nvPr/>
        </p:nvSpPr>
        <p:spPr>
          <a:xfrm>
            <a:off x="4507992" y="2304288"/>
            <a:ext cx="868680" cy="274320"/>
          </a:xfrm>
          <a:prstGeom prst="roundRect">
            <a:avLst>
              <a:gd name="adj" fmla="val 50000"/>
            </a:avLst>
          </a:prstGeom>
          <a:solidFill>
            <a:srgbClr val="E6115E"/>
          </a:solidFill>
          <a:ln/>
        </p:spPr>
      </p:sp>
      <p:sp>
        <p:nvSpPr>
          <p:cNvPr id="13" name="Text 11"/>
          <p:cNvSpPr txBox="1"/>
          <p:nvPr/>
        </p:nvSpPr>
        <p:spPr>
          <a:xfrm>
            <a:off x="4507992" y="230428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6</a:t>
            </a:r>
            <a:endParaRPr lang="en-US" sz="950" dirty="0"/>
          </a:p>
        </p:txBody>
      </p:sp>
      <p:sp>
        <p:nvSpPr>
          <p:cNvPr id="14" name="Text 12"/>
          <p:cNvSpPr txBox="1"/>
          <p:nvPr/>
        </p:nvSpPr>
        <p:spPr>
          <a:xfrm>
            <a:off x="4507992" y="267004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Aprender fuera del pipeline</a:t>
            </a:r>
            <a:endParaRPr lang="en-US" sz="1400" dirty="0"/>
          </a:p>
        </p:txBody>
      </p:sp>
      <p:sp>
        <p:nvSpPr>
          <p:cNvPr id="15" name="Text 13"/>
          <p:cNvSpPr txBox="1"/>
          <p:nvPr/>
        </p:nvSpPr>
        <p:spPr>
          <a:xfrm>
            <a:off x="4507992" y="308152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Rellenar con la mediana o escalar antes de cortar o de la validación cruzada.</a:t>
            </a:r>
            <a:endParaRPr lang="en-US" sz="1300" dirty="0"/>
          </a:p>
        </p:txBody>
      </p:sp>
      <p:sp>
        <p:nvSpPr>
          <p:cNvPr id="16" name="Shape 14"/>
          <p:cNvSpPr/>
          <p:nvPr/>
        </p:nvSpPr>
        <p:spPr>
          <a:xfrm>
            <a:off x="8055864" y="2103120"/>
            <a:ext cx="3630168" cy="1828800"/>
          </a:xfrm>
          <a:prstGeom prst="roundRect">
            <a:avLst>
              <a:gd name="adj" fmla="val 3000"/>
            </a:avLst>
          </a:prstGeom>
          <a:solidFill>
            <a:srgbClr val="FFFFFF"/>
          </a:solidFill>
          <a:ln w="9525">
            <a:solidFill>
              <a:srgbClr val="D2DBEC"/>
            </a:solidFill>
            <a:prstDash val="solid"/>
          </a:ln>
        </p:spPr>
      </p:sp>
      <p:sp>
        <p:nvSpPr>
          <p:cNvPr id="17" name="Shape 15"/>
          <p:cNvSpPr/>
          <p:nvPr/>
        </p:nvSpPr>
        <p:spPr>
          <a:xfrm>
            <a:off x="8284464" y="2304288"/>
            <a:ext cx="868680" cy="274320"/>
          </a:xfrm>
          <a:prstGeom prst="roundRect">
            <a:avLst>
              <a:gd name="adj" fmla="val 50000"/>
            </a:avLst>
          </a:prstGeom>
          <a:solidFill>
            <a:srgbClr val="E6115E"/>
          </a:solidFill>
          <a:ln/>
        </p:spPr>
      </p:sp>
      <p:sp>
        <p:nvSpPr>
          <p:cNvPr id="18" name="Text 16"/>
          <p:cNvSpPr txBox="1"/>
          <p:nvPr/>
        </p:nvSpPr>
        <p:spPr>
          <a:xfrm>
            <a:off x="8284464" y="230428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2</a:t>
            </a:r>
            <a:endParaRPr lang="en-US" sz="950" dirty="0"/>
          </a:p>
        </p:txBody>
      </p:sp>
      <p:sp>
        <p:nvSpPr>
          <p:cNvPr id="19" name="Text 17"/>
          <p:cNvSpPr txBox="1"/>
          <p:nvPr/>
        </p:nvSpPr>
        <p:spPr>
          <a:xfrm>
            <a:off x="8284464" y="267004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Rellenar un «no tiene»</a:t>
            </a:r>
            <a:endParaRPr lang="en-US" sz="1400" dirty="0"/>
          </a:p>
        </p:txBody>
      </p:sp>
      <p:sp>
        <p:nvSpPr>
          <p:cNvPr id="20" name="Text 18"/>
          <p:cNvSpPr txBox="1"/>
          <p:nvPr/>
        </p:nvSpPr>
        <p:spPr>
          <a:xfrm>
            <a:off x="8284464" y="308152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Tratar un faltante con significado como si fuera un dato perdido.</a:t>
            </a:r>
            <a:endParaRPr lang="en-US" sz="1300" dirty="0"/>
          </a:p>
        </p:txBody>
      </p:sp>
      <p:sp>
        <p:nvSpPr>
          <p:cNvPr id="21" name="Shape 19"/>
          <p:cNvSpPr/>
          <p:nvPr/>
        </p:nvSpPr>
        <p:spPr>
          <a:xfrm>
            <a:off x="502920" y="4114800"/>
            <a:ext cx="3630168" cy="1828800"/>
          </a:xfrm>
          <a:prstGeom prst="roundRect">
            <a:avLst>
              <a:gd name="adj" fmla="val 3000"/>
            </a:avLst>
          </a:prstGeom>
          <a:solidFill>
            <a:srgbClr val="E9EEF8"/>
          </a:solidFill>
          <a:ln w="9525">
            <a:solidFill>
              <a:srgbClr val="D2DBEC"/>
            </a:solidFill>
            <a:prstDash val="solid"/>
          </a:ln>
        </p:spPr>
      </p:sp>
      <p:sp>
        <p:nvSpPr>
          <p:cNvPr id="22" name="Shape 20"/>
          <p:cNvSpPr/>
          <p:nvPr/>
        </p:nvSpPr>
        <p:spPr>
          <a:xfrm>
            <a:off x="731520" y="4315968"/>
            <a:ext cx="868680" cy="274320"/>
          </a:xfrm>
          <a:prstGeom prst="roundRect">
            <a:avLst>
              <a:gd name="adj" fmla="val 50000"/>
            </a:avLst>
          </a:prstGeom>
          <a:solidFill>
            <a:srgbClr val="E6115E"/>
          </a:solidFill>
          <a:ln/>
        </p:spPr>
      </p:sp>
      <p:sp>
        <p:nvSpPr>
          <p:cNvPr id="23" name="Text 21"/>
          <p:cNvSpPr txBox="1"/>
          <p:nvPr/>
        </p:nvSpPr>
        <p:spPr>
          <a:xfrm>
            <a:off x="731520" y="431596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7</a:t>
            </a:r>
            <a:endParaRPr lang="en-US" sz="950" dirty="0"/>
          </a:p>
        </p:txBody>
      </p:sp>
      <p:sp>
        <p:nvSpPr>
          <p:cNvPr id="24" name="Text 22"/>
          <p:cNvSpPr txBox="1"/>
          <p:nvPr/>
        </p:nvSpPr>
        <p:spPr>
          <a:xfrm>
            <a:off x="731520" y="468172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Elegir con la prueba</a:t>
            </a:r>
            <a:endParaRPr lang="en-US" sz="1400" dirty="0"/>
          </a:p>
        </p:txBody>
      </p:sp>
      <p:sp>
        <p:nvSpPr>
          <p:cNvPr id="25" name="Text 23"/>
          <p:cNvSpPr txBox="1"/>
          <p:nvPr/>
        </p:nvSpPr>
        <p:spPr>
          <a:xfrm>
            <a:off x="731520" y="509320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Probar varios modelos en la prueba y quedarse con el mejor.</a:t>
            </a:r>
            <a:endParaRPr lang="en-US" sz="1300" dirty="0"/>
          </a:p>
        </p:txBody>
      </p:sp>
      <p:sp>
        <p:nvSpPr>
          <p:cNvPr id="26" name="Shape 24"/>
          <p:cNvSpPr/>
          <p:nvPr/>
        </p:nvSpPr>
        <p:spPr>
          <a:xfrm>
            <a:off x="4279392" y="4114800"/>
            <a:ext cx="3630168" cy="1828800"/>
          </a:xfrm>
          <a:prstGeom prst="roundRect">
            <a:avLst>
              <a:gd name="adj" fmla="val 3000"/>
            </a:avLst>
          </a:prstGeom>
          <a:solidFill>
            <a:srgbClr val="E9EEF8"/>
          </a:solidFill>
          <a:ln w="9525">
            <a:solidFill>
              <a:srgbClr val="D2DBEC"/>
            </a:solidFill>
            <a:prstDash val="solid"/>
          </a:ln>
        </p:spPr>
      </p:sp>
      <p:sp>
        <p:nvSpPr>
          <p:cNvPr id="27" name="Shape 25"/>
          <p:cNvSpPr/>
          <p:nvPr/>
        </p:nvSpPr>
        <p:spPr>
          <a:xfrm>
            <a:off x="4507992" y="4315968"/>
            <a:ext cx="868680" cy="274320"/>
          </a:xfrm>
          <a:prstGeom prst="roundRect">
            <a:avLst>
              <a:gd name="adj" fmla="val 50000"/>
            </a:avLst>
          </a:prstGeom>
          <a:solidFill>
            <a:srgbClr val="E6115E"/>
          </a:solidFill>
          <a:ln/>
        </p:spPr>
      </p:sp>
      <p:sp>
        <p:nvSpPr>
          <p:cNvPr id="28" name="Text 26"/>
          <p:cNvSpPr txBox="1"/>
          <p:nvPr/>
        </p:nvSpPr>
        <p:spPr>
          <a:xfrm>
            <a:off x="4507992" y="431596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8</a:t>
            </a:r>
            <a:endParaRPr lang="en-US" sz="950" dirty="0"/>
          </a:p>
        </p:txBody>
      </p:sp>
      <p:sp>
        <p:nvSpPr>
          <p:cNvPr id="29" name="Text 27"/>
          <p:cNvSpPr txBox="1"/>
          <p:nvPr/>
        </p:nvSpPr>
        <p:spPr>
          <a:xfrm>
            <a:off x="4507992" y="468172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Reportar solo el R²</a:t>
            </a:r>
            <a:endParaRPr lang="en-US" sz="1400" dirty="0"/>
          </a:p>
        </p:txBody>
      </p:sp>
      <p:sp>
        <p:nvSpPr>
          <p:cNvPr id="30" name="Text 28"/>
          <p:cNvSpPr txBox="1"/>
          <p:nvPr/>
        </p:nvSpPr>
        <p:spPr>
          <a:xfrm>
            <a:off x="4507992" y="509320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Sin métrica de negocio, sin vara y sin error por segmento.</a:t>
            </a:r>
            <a:endParaRPr lang="en-US" sz="1300" dirty="0"/>
          </a:p>
        </p:txBody>
      </p:sp>
      <p:sp>
        <p:nvSpPr>
          <p:cNvPr id="31" name="Shape 29"/>
          <p:cNvSpPr/>
          <p:nvPr/>
        </p:nvSpPr>
        <p:spPr>
          <a:xfrm>
            <a:off x="8055864" y="4114800"/>
            <a:ext cx="3630168" cy="1828800"/>
          </a:xfrm>
          <a:prstGeom prst="roundRect">
            <a:avLst>
              <a:gd name="adj" fmla="val 3000"/>
            </a:avLst>
          </a:prstGeom>
          <a:solidFill>
            <a:srgbClr val="E9EEF8"/>
          </a:solidFill>
          <a:ln w="9525">
            <a:solidFill>
              <a:srgbClr val="D2DBEC"/>
            </a:solidFill>
            <a:prstDash val="solid"/>
          </a:ln>
        </p:spPr>
      </p:sp>
      <p:sp>
        <p:nvSpPr>
          <p:cNvPr id="32" name="Shape 30"/>
          <p:cNvSpPr/>
          <p:nvPr/>
        </p:nvSpPr>
        <p:spPr>
          <a:xfrm>
            <a:off x="8284464" y="4315968"/>
            <a:ext cx="868680" cy="274320"/>
          </a:xfrm>
          <a:prstGeom prst="roundRect">
            <a:avLst>
              <a:gd name="adj" fmla="val 50000"/>
            </a:avLst>
          </a:prstGeom>
          <a:solidFill>
            <a:srgbClr val="E6115E"/>
          </a:solidFill>
          <a:ln/>
        </p:spPr>
      </p:sp>
      <p:sp>
        <p:nvSpPr>
          <p:cNvPr id="33" name="Text 31"/>
          <p:cNvSpPr txBox="1"/>
          <p:nvPr/>
        </p:nvSpPr>
        <p:spPr>
          <a:xfrm>
            <a:off x="8284464" y="4315968"/>
            <a:ext cx="8686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PASO 5</a:t>
            </a:r>
            <a:endParaRPr lang="en-US" sz="950" dirty="0"/>
          </a:p>
        </p:txBody>
      </p:sp>
      <p:sp>
        <p:nvSpPr>
          <p:cNvPr id="34" name="Text 32"/>
          <p:cNvSpPr txBox="1"/>
          <p:nvPr/>
        </p:nvSpPr>
        <p:spPr>
          <a:xfrm>
            <a:off x="8284464" y="4681728"/>
            <a:ext cx="3200400" cy="365760"/>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Codificar mal el orden</a:t>
            </a:r>
            <a:endParaRPr lang="en-US" sz="1400" dirty="0"/>
          </a:p>
        </p:txBody>
      </p:sp>
      <p:sp>
        <p:nvSpPr>
          <p:cNvPr id="35" name="Text 33"/>
          <p:cNvSpPr txBox="1"/>
          <p:nvPr/>
        </p:nvSpPr>
        <p:spPr>
          <a:xfrm>
            <a:off x="8284464" y="5093208"/>
            <a:ext cx="3200400" cy="777240"/>
          </a:xfrm>
          <a:prstGeom prst="rect">
            <a:avLst/>
          </a:prstGeom>
          <a:noFill/>
          <a:ln/>
        </p:spPr>
        <p:txBody>
          <a:bodyPr wrap="square" lIns="0" tIns="0" rIns="0" bIns="0" rtlCol="0" anchor="t"/>
          <a:lstStyle/>
          <a:p>
            <a:pPr indent="0" marL="0">
              <a:spcAft>
                <a:spcPts val="400"/>
              </a:spcAft>
              <a:buNone/>
            </a:pPr>
            <a:r>
              <a:rPr lang="en-US" sz="1300" dirty="0">
                <a:solidFill>
                  <a:srgbClr val="2C3A55"/>
                </a:solidFill>
                <a:latin typeface="Calibri" pitchFamily="34" charset="0"/>
                <a:ea typeface="Calibri" pitchFamily="34" charset="-122"/>
                <a:cs typeface="Calibri" pitchFamily="34" charset="-120"/>
              </a:rPr>
              <a:t>One-hot en categorías con orden, o el orden al revés.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LABORATORIO · 60 MIN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 que vas a hacer en Colab</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Los datos se descargan solos. Semilla 42: tus números coinciden con estas slides.</a:t>
            </a:r>
            <a:endParaRPr lang="en-US" sz="1400" dirty="0"/>
          </a:p>
        </p:txBody>
      </p:sp>
      <p:sp>
        <p:nvSpPr>
          <p:cNvPr id="6" name="Shape 4"/>
          <p:cNvSpPr/>
          <p:nvPr/>
        </p:nvSpPr>
        <p:spPr>
          <a:xfrm>
            <a:off x="502920" y="2103120"/>
            <a:ext cx="11183112" cy="548640"/>
          </a:xfrm>
          <a:prstGeom prst="roundRect">
            <a:avLst>
              <a:gd name="adj" fmla="val 10000"/>
            </a:avLst>
          </a:prstGeom>
          <a:solidFill>
            <a:srgbClr val="FFFFFF"/>
          </a:solidFill>
          <a:ln w="9525">
            <a:solidFill>
              <a:srgbClr val="D2DBEC"/>
            </a:solidFill>
            <a:prstDash val="solid"/>
          </a:ln>
        </p:spPr>
      </p:sp>
      <p:sp>
        <p:nvSpPr>
          <p:cNvPr id="7" name="Text 5"/>
          <p:cNvSpPr txBox="1"/>
          <p:nvPr/>
        </p:nvSpPr>
        <p:spPr>
          <a:xfrm>
            <a:off x="731520" y="2103120"/>
            <a:ext cx="1371600" cy="54864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Pasos 1 y 2</a:t>
            </a:r>
            <a:endParaRPr lang="en-US" sz="1150" dirty="0"/>
          </a:p>
        </p:txBody>
      </p:sp>
      <p:sp>
        <p:nvSpPr>
          <p:cNvPr id="8" name="Text 6"/>
          <p:cNvSpPr txBox="1"/>
          <p:nvPr/>
        </p:nvSpPr>
        <p:spPr>
          <a:xfrm>
            <a:off x="2148840" y="2103120"/>
            <a:ext cx="2743200" cy="548640"/>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Problema y datos</a:t>
            </a:r>
            <a:endParaRPr lang="en-US" sz="1350" dirty="0"/>
          </a:p>
        </p:txBody>
      </p:sp>
      <p:sp>
        <p:nvSpPr>
          <p:cNvPr id="9" name="Text 7"/>
          <p:cNvSpPr txBox="1"/>
          <p:nvPr/>
        </p:nvSpPr>
        <p:spPr>
          <a:xfrm>
            <a:off x="4892040" y="210312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9 min</a:t>
            </a:r>
            <a:endParaRPr lang="en-US" sz="1250" dirty="0"/>
          </a:p>
        </p:txBody>
      </p:sp>
      <p:sp>
        <p:nvSpPr>
          <p:cNvPr id="10" name="Text 8"/>
          <p:cNvSpPr txBox="1"/>
          <p:nvPr/>
        </p:nvSpPr>
        <p:spPr>
          <a:xfrm>
            <a:off x="5760720" y="2103120"/>
            <a:ext cx="5760720" cy="54864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Tamaño, duplicados, faltantes y la forma del precio.</a:t>
            </a:r>
            <a:endParaRPr lang="en-US" sz="1200" dirty="0"/>
          </a:p>
        </p:txBody>
      </p:sp>
      <p:sp>
        <p:nvSpPr>
          <p:cNvPr id="11" name="Shape 9"/>
          <p:cNvSpPr/>
          <p:nvPr/>
        </p:nvSpPr>
        <p:spPr>
          <a:xfrm>
            <a:off x="502920" y="2743200"/>
            <a:ext cx="11183112" cy="548640"/>
          </a:xfrm>
          <a:prstGeom prst="roundRect">
            <a:avLst>
              <a:gd name="adj" fmla="val 10000"/>
            </a:avLst>
          </a:prstGeom>
          <a:solidFill>
            <a:srgbClr val="FFFFFF"/>
          </a:solidFill>
          <a:ln w="9525">
            <a:solidFill>
              <a:srgbClr val="D2DBEC"/>
            </a:solidFill>
            <a:prstDash val="solid"/>
          </a:ln>
        </p:spPr>
      </p:sp>
      <p:sp>
        <p:nvSpPr>
          <p:cNvPr id="12" name="Text 10"/>
          <p:cNvSpPr txBox="1"/>
          <p:nvPr/>
        </p:nvSpPr>
        <p:spPr>
          <a:xfrm>
            <a:off x="731520" y="2743200"/>
            <a:ext cx="1371600" cy="54864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Pasos 3 y 4</a:t>
            </a:r>
            <a:endParaRPr lang="en-US" sz="1150" dirty="0"/>
          </a:p>
        </p:txBody>
      </p:sp>
      <p:sp>
        <p:nvSpPr>
          <p:cNvPr id="13" name="Text 11"/>
          <p:cNvSpPr txBox="1"/>
          <p:nvPr/>
        </p:nvSpPr>
        <p:spPr>
          <a:xfrm>
            <a:off x="2148840" y="2743200"/>
            <a:ext cx="2743200" cy="548640"/>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Separar y explorar</a:t>
            </a:r>
            <a:endParaRPr lang="en-US" sz="1350" dirty="0"/>
          </a:p>
        </p:txBody>
      </p:sp>
      <p:sp>
        <p:nvSpPr>
          <p:cNvPr id="14" name="Text 12"/>
          <p:cNvSpPr txBox="1"/>
          <p:nvPr/>
        </p:nvSpPr>
        <p:spPr>
          <a:xfrm>
            <a:off x="4892040" y="274320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11 min</a:t>
            </a:r>
            <a:endParaRPr lang="en-US" sz="1250" dirty="0"/>
          </a:p>
        </p:txBody>
      </p:sp>
      <p:sp>
        <p:nvSpPr>
          <p:cNvPr id="15" name="Text 13"/>
          <p:cNvSpPr txBox="1"/>
          <p:nvPr/>
        </p:nvSpPr>
        <p:spPr>
          <a:xfrm>
            <a:off x="5760720" y="2743200"/>
            <a:ext cx="5760720" cy="54864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El corte estratificado, las correlaciones y los casos raros.</a:t>
            </a:r>
            <a:endParaRPr lang="en-US" sz="1200" dirty="0"/>
          </a:p>
        </p:txBody>
      </p:sp>
      <p:sp>
        <p:nvSpPr>
          <p:cNvPr id="16" name="Shape 14"/>
          <p:cNvSpPr/>
          <p:nvPr/>
        </p:nvSpPr>
        <p:spPr>
          <a:xfrm>
            <a:off x="502920" y="3383280"/>
            <a:ext cx="11183112" cy="548640"/>
          </a:xfrm>
          <a:prstGeom prst="roundRect">
            <a:avLst>
              <a:gd name="adj" fmla="val 10000"/>
            </a:avLst>
          </a:prstGeom>
          <a:solidFill>
            <a:srgbClr val="FFFFFF"/>
          </a:solidFill>
          <a:ln w="9525">
            <a:solidFill>
              <a:srgbClr val="D2DBEC"/>
            </a:solidFill>
            <a:prstDash val="solid"/>
          </a:ln>
        </p:spPr>
      </p:sp>
      <p:sp>
        <p:nvSpPr>
          <p:cNvPr id="17" name="Text 15"/>
          <p:cNvSpPr txBox="1"/>
          <p:nvPr/>
        </p:nvSpPr>
        <p:spPr>
          <a:xfrm>
            <a:off x="731520" y="3383280"/>
            <a:ext cx="1371600" cy="54864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Paso 5</a:t>
            </a:r>
            <a:endParaRPr lang="en-US" sz="1150" dirty="0"/>
          </a:p>
        </p:txBody>
      </p:sp>
      <p:sp>
        <p:nvSpPr>
          <p:cNvPr id="18" name="Text 16"/>
          <p:cNvSpPr txBox="1"/>
          <p:nvPr/>
        </p:nvSpPr>
        <p:spPr>
          <a:xfrm>
            <a:off x="2148840" y="3383280"/>
            <a:ext cx="2743200" cy="548640"/>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Limpiar y crear variables</a:t>
            </a:r>
            <a:endParaRPr lang="en-US" sz="1350" dirty="0"/>
          </a:p>
        </p:txBody>
      </p:sp>
      <p:sp>
        <p:nvSpPr>
          <p:cNvPr id="19" name="Text 17"/>
          <p:cNvSpPr txBox="1"/>
          <p:nvPr/>
        </p:nvSpPr>
        <p:spPr>
          <a:xfrm>
            <a:off x="4892040" y="338328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8 min</a:t>
            </a:r>
            <a:endParaRPr lang="en-US" sz="1250" dirty="0"/>
          </a:p>
        </p:txBody>
      </p:sp>
      <p:sp>
        <p:nvSpPr>
          <p:cNvPr id="20" name="Text 18"/>
          <p:cNvSpPr txBox="1"/>
          <p:nvPr/>
        </p:nvSpPr>
        <p:spPr>
          <a:xfrm>
            <a:off x="5760720" y="3383280"/>
            <a:ext cx="5760720" cy="54864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El alcance y tu función preparar(df).</a:t>
            </a:r>
            <a:endParaRPr lang="en-US" sz="1200" dirty="0"/>
          </a:p>
        </p:txBody>
      </p:sp>
      <p:sp>
        <p:nvSpPr>
          <p:cNvPr id="21" name="Shape 19"/>
          <p:cNvSpPr/>
          <p:nvPr/>
        </p:nvSpPr>
        <p:spPr>
          <a:xfrm>
            <a:off x="502920" y="4023360"/>
            <a:ext cx="11183112" cy="548640"/>
          </a:xfrm>
          <a:prstGeom prst="roundRect">
            <a:avLst>
              <a:gd name="adj" fmla="val 10000"/>
            </a:avLst>
          </a:prstGeom>
          <a:solidFill>
            <a:srgbClr val="0A2559"/>
          </a:solidFill>
          <a:ln w="9525">
            <a:solidFill>
              <a:srgbClr val="0A2559"/>
            </a:solidFill>
            <a:prstDash val="solid"/>
          </a:ln>
        </p:spPr>
      </p:sp>
      <p:sp>
        <p:nvSpPr>
          <p:cNvPr id="22" name="Text 20"/>
          <p:cNvSpPr txBox="1"/>
          <p:nvPr/>
        </p:nvSpPr>
        <p:spPr>
          <a:xfrm>
            <a:off x="731520" y="4023360"/>
            <a:ext cx="1371600" cy="548640"/>
          </a:xfrm>
          <a:prstGeom prst="rect">
            <a:avLst/>
          </a:prstGeom>
          <a:noFill/>
          <a:ln/>
        </p:spPr>
        <p:txBody>
          <a:bodyPr wrap="square" lIns="0" tIns="0" rIns="0" bIns="0" rtlCol="0" anchor="ctr"/>
          <a:lstStyle/>
          <a:p>
            <a:pPr indent="0" marL="0">
              <a:buNone/>
            </a:pPr>
            <a:r>
              <a:rPr lang="en-US" sz="1150" b="1" dirty="0">
                <a:solidFill>
                  <a:srgbClr val="FF6B9A"/>
                </a:solidFill>
                <a:latin typeface="Calibri" pitchFamily="34" charset="0"/>
                <a:ea typeface="Calibri" pitchFamily="34" charset="-122"/>
                <a:cs typeface="Calibri" pitchFamily="34" charset="-120"/>
              </a:rPr>
              <a:t>Paso 6</a:t>
            </a:r>
            <a:endParaRPr lang="en-US" sz="1150" dirty="0"/>
          </a:p>
        </p:txBody>
      </p:sp>
      <p:sp>
        <p:nvSpPr>
          <p:cNvPr id="23" name="Text 21"/>
          <p:cNvSpPr txBox="1"/>
          <p:nvPr/>
        </p:nvSpPr>
        <p:spPr>
          <a:xfrm>
            <a:off x="2148840" y="4023360"/>
            <a:ext cx="274320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Pipeline</a:t>
            </a:r>
            <a:endParaRPr lang="en-US" sz="1350" dirty="0"/>
          </a:p>
        </p:txBody>
      </p:sp>
      <p:sp>
        <p:nvSpPr>
          <p:cNvPr id="24" name="Text 22"/>
          <p:cNvSpPr txBox="1"/>
          <p:nvPr/>
        </p:nvSpPr>
        <p:spPr>
          <a:xfrm>
            <a:off x="4892040" y="402336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7 min</a:t>
            </a:r>
            <a:endParaRPr lang="en-US" sz="1250" dirty="0"/>
          </a:p>
        </p:txBody>
      </p:sp>
      <p:sp>
        <p:nvSpPr>
          <p:cNvPr id="25" name="Text 23"/>
          <p:cNvSpPr txBox="1"/>
          <p:nvPr/>
        </p:nvSpPr>
        <p:spPr>
          <a:xfrm>
            <a:off x="5760720" y="4023360"/>
            <a:ext cx="5760720" cy="548640"/>
          </a:xfrm>
          <a:prstGeom prst="rect">
            <a:avLst/>
          </a:prstGeom>
          <a:noFill/>
          <a:ln/>
        </p:spPr>
        <p:txBody>
          <a:bodyPr wrap="square" lIns="0" tIns="0" rIns="0" bIns="0" rtlCol="0" anchor="ctr"/>
          <a:lstStyle/>
          <a:p>
            <a:pPr indent="0" marL="0">
              <a:buNone/>
            </a:pPr>
            <a:r>
              <a:rPr lang="en-US" sz="1200" dirty="0">
                <a:solidFill>
                  <a:srgbClr val="C9D4EA"/>
                </a:solidFill>
                <a:latin typeface="Calibri" pitchFamily="34" charset="0"/>
                <a:ea typeface="Calibri" pitchFamily="34" charset="-122"/>
                <a:cs typeface="Calibri" pitchFamily="34" charset="-120"/>
              </a:rPr>
              <a:t>El preprocesador y la función armar().</a:t>
            </a:r>
            <a:endParaRPr lang="en-US" sz="1200" dirty="0"/>
          </a:p>
        </p:txBody>
      </p:sp>
      <p:sp>
        <p:nvSpPr>
          <p:cNvPr id="26" name="Shape 24"/>
          <p:cNvSpPr/>
          <p:nvPr/>
        </p:nvSpPr>
        <p:spPr>
          <a:xfrm>
            <a:off x="502920" y="4663440"/>
            <a:ext cx="11183112" cy="548640"/>
          </a:xfrm>
          <a:prstGeom prst="roundRect">
            <a:avLst>
              <a:gd name="adj" fmla="val 10000"/>
            </a:avLst>
          </a:prstGeom>
          <a:solidFill>
            <a:srgbClr val="0A2559"/>
          </a:solidFill>
          <a:ln w="9525">
            <a:solidFill>
              <a:srgbClr val="0A2559"/>
            </a:solidFill>
            <a:prstDash val="solid"/>
          </a:ln>
        </p:spPr>
      </p:sp>
      <p:sp>
        <p:nvSpPr>
          <p:cNvPr id="27" name="Text 25"/>
          <p:cNvSpPr txBox="1"/>
          <p:nvPr/>
        </p:nvSpPr>
        <p:spPr>
          <a:xfrm>
            <a:off x="731520" y="4663440"/>
            <a:ext cx="1371600" cy="548640"/>
          </a:xfrm>
          <a:prstGeom prst="rect">
            <a:avLst/>
          </a:prstGeom>
          <a:noFill/>
          <a:ln/>
        </p:spPr>
        <p:txBody>
          <a:bodyPr wrap="square" lIns="0" tIns="0" rIns="0" bIns="0" rtlCol="0" anchor="ctr"/>
          <a:lstStyle/>
          <a:p>
            <a:pPr indent="0" marL="0">
              <a:buNone/>
            </a:pPr>
            <a:r>
              <a:rPr lang="en-US" sz="1150" b="1" dirty="0">
                <a:solidFill>
                  <a:srgbClr val="FF6B9A"/>
                </a:solidFill>
                <a:latin typeface="Calibri" pitchFamily="34" charset="0"/>
                <a:ea typeface="Calibri" pitchFamily="34" charset="-122"/>
                <a:cs typeface="Calibri" pitchFamily="34" charset="-120"/>
              </a:rPr>
              <a:t>Paso 7</a:t>
            </a:r>
            <a:endParaRPr lang="en-US" sz="1150" dirty="0"/>
          </a:p>
        </p:txBody>
      </p:sp>
      <p:sp>
        <p:nvSpPr>
          <p:cNvPr id="28" name="Text 26"/>
          <p:cNvSpPr txBox="1"/>
          <p:nvPr/>
        </p:nvSpPr>
        <p:spPr>
          <a:xfrm>
            <a:off x="2148840" y="4663440"/>
            <a:ext cx="274320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Validación cruzada</a:t>
            </a:r>
            <a:endParaRPr lang="en-US" sz="1350" dirty="0"/>
          </a:p>
        </p:txBody>
      </p:sp>
      <p:sp>
        <p:nvSpPr>
          <p:cNvPr id="29" name="Text 27"/>
          <p:cNvSpPr txBox="1"/>
          <p:nvPr/>
        </p:nvSpPr>
        <p:spPr>
          <a:xfrm>
            <a:off x="4892040" y="466344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12 min</a:t>
            </a:r>
            <a:endParaRPr lang="en-US" sz="1250" dirty="0"/>
          </a:p>
        </p:txBody>
      </p:sp>
      <p:sp>
        <p:nvSpPr>
          <p:cNvPr id="30" name="Text 28"/>
          <p:cNvSpPr txBox="1"/>
          <p:nvPr/>
        </p:nvSpPr>
        <p:spPr>
          <a:xfrm>
            <a:off x="5760720" y="4663440"/>
            <a:ext cx="5760720" cy="548640"/>
          </a:xfrm>
          <a:prstGeom prst="rect">
            <a:avLst/>
          </a:prstGeom>
          <a:noFill/>
          <a:ln/>
        </p:spPr>
        <p:txBody>
          <a:bodyPr wrap="square" lIns="0" tIns="0" rIns="0" bIns="0" rtlCol="0" anchor="ctr"/>
          <a:lstStyle/>
          <a:p>
            <a:pPr indent="0" marL="0">
              <a:buNone/>
            </a:pPr>
            <a:r>
              <a:rPr lang="en-US" sz="1200" dirty="0">
                <a:solidFill>
                  <a:srgbClr val="C9D4EA"/>
                </a:solidFill>
                <a:latin typeface="Calibri" pitchFamily="34" charset="0"/>
                <a:ea typeface="Calibri" pitchFamily="34" charset="-122"/>
                <a:cs typeface="Calibri" pitchFamily="34" charset="-120"/>
              </a:rPr>
              <a:t>Los ocho modelos y el efecto del logaritmo.</a:t>
            </a:r>
            <a:endParaRPr lang="en-US" sz="1200" dirty="0"/>
          </a:p>
        </p:txBody>
      </p:sp>
      <p:sp>
        <p:nvSpPr>
          <p:cNvPr id="31" name="Shape 29"/>
          <p:cNvSpPr/>
          <p:nvPr/>
        </p:nvSpPr>
        <p:spPr>
          <a:xfrm>
            <a:off x="502920" y="5303520"/>
            <a:ext cx="11183112" cy="548640"/>
          </a:xfrm>
          <a:prstGeom prst="roundRect">
            <a:avLst>
              <a:gd name="adj" fmla="val 10000"/>
            </a:avLst>
          </a:prstGeom>
          <a:solidFill>
            <a:srgbClr val="FFFFFF"/>
          </a:solidFill>
          <a:ln w="9525">
            <a:solidFill>
              <a:srgbClr val="D2DBEC"/>
            </a:solidFill>
            <a:prstDash val="solid"/>
          </a:ln>
        </p:spPr>
      </p:sp>
      <p:sp>
        <p:nvSpPr>
          <p:cNvPr id="32" name="Text 30"/>
          <p:cNvSpPr txBox="1"/>
          <p:nvPr/>
        </p:nvSpPr>
        <p:spPr>
          <a:xfrm>
            <a:off x="731520" y="5303520"/>
            <a:ext cx="1371600" cy="54864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Paso 8</a:t>
            </a:r>
            <a:endParaRPr lang="en-US" sz="1150" dirty="0"/>
          </a:p>
        </p:txBody>
      </p:sp>
      <p:sp>
        <p:nvSpPr>
          <p:cNvPr id="33" name="Text 31"/>
          <p:cNvSpPr txBox="1"/>
          <p:nvPr/>
        </p:nvSpPr>
        <p:spPr>
          <a:xfrm>
            <a:off x="2148840" y="5303520"/>
            <a:ext cx="2743200" cy="548640"/>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Prueba y uso</a:t>
            </a:r>
            <a:endParaRPr lang="en-US" sz="1350" dirty="0"/>
          </a:p>
        </p:txBody>
      </p:sp>
      <p:sp>
        <p:nvSpPr>
          <p:cNvPr id="34" name="Text 32"/>
          <p:cNvSpPr txBox="1"/>
          <p:nvPr/>
        </p:nvSpPr>
        <p:spPr>
          <a:xfrm>
            <a:off x="4892040" y="5303520"/>
            <a:ext cx="822960" cy="548640"/>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11 min</a:t>
            </a:r>
            <a:endParaRPr lang="en-US" sz="1250" dirty="0"/>
          </a:p>
        </p:txBody>
      </p:sp>
      <p:sp>
        <p:nvSpPr>
          <p:cNvPr id="35" name="Text 33"/>
          <p:cNvSpPr txBox="1"/>
          <p:nvPr/>
        </p:nvSpPr>
        <p:spPr>
          <a:xfrm>
            <a:off x="5760720" y="5303520"/>
            <a:ext cx="5760720" cy="548640"/>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Las métricas, el error por segmento y tasar una casa nueva.</a:t>
            </a:r>
            <a:endParaRPr lang="en-US" sz="1200" dirty="0"/>
          </a:p>
        </p:txBody>
      </p:sp>
      <p:sp>
        <p:nvSpPr>
          <p:cNvPr id="36" name="Shape 34"/>
          <p:cNvSpPr/>
          <p:nvPr/>
        </p:nvSpPr>
        <p:spPr>
          <a:xfrm>
            <a:off x="502920" y="6035040"/>
            <a:ext cx="11183112" cy="384048"/>
          </a:xfrm>
          <a:prstGeom prst="roundRect">
            <a:avLst>
              <a:gd name="adj" fmla="val 14286"/>
            </a:avLst>
          </a:prstGeom>
          <a:solidFill>
            <a:srgbClr val="E9EEF8"/>
          </a:solidFill>
          <a:ln w="9525">
            <a:solidFill>
              <a:srgbClr val="D2DBEC"/>
            </a:solidFill>
            <a:prstDash val="solid"/>
          </a:ln>
        </p:spPr>
      </p:sp>
      <p:sp>
        <p:nvSpPr>
          <p:cNvPr id="37" name="Text 35"/>
          <p:cNvSpPr txBox="1"/>
          <p:nvPr/>
        </p:nvSpPr>
        <p:spPr>
          <a:xfrm>
            <a:off x="731520" y="6035040"/>
            <a:ext cx="10789920" cy="384048"/>
          </a:xfrm>
          <a:prstGeom prst="rect">
            <a:avLst/>
          </a:prstGeom>
          <a:noFill/>
          <a:ln/>
        </p:spPr>
        <p:txBody>
          <a:bodyPr wrap="square" lIns="0" tIns="0" rIns="0" bIns="0" rtlCol="0" anchor="ctr"/>
          <a:lstStyle/>
          <a:p>
            <a:pPr indent="0" marL="0">
              <a:spcAft>
                <a:spcPts val="400"/>
              </a:spcAft>
              <a:buNone/>
            </a:pPr>
            <a:r>
              <a:rPr lang="en-US" sz="1150" b="1" dirty="0">
                <a:solidFill>
                  <a:srgbClr val="0A2559"/>
                </a:solidFill>
                <a:latin typeface="Calibri" pitchFamily="34" charset="0"/>
                <a:ea typeface="Calibri" pitchFamily="34" charset="-122"/>
                <a:cs typeface="Calibri" pitchFamily="34" charset="-120"/>
              </a:rPr>
              <a:t>Si te sobra tiempo: </a:t>
            </a:r>
            <a:pPr indent="0" marL="0">
              <a:spcAft>
                <a:spcPts val="400"/>
              </a:spcAft>
              <a:buNone/>
            </a:pPr>
            <a:r>
              <a:rPr lang="en-US" sz="1150" dirty="0">
                <a:solidFill>
                  <a:srgbClr val="2C3A55"/>
                </a:solidFill>
                <a:latin typeface="Calibri" pitchFamily="34" charset="0"/>
                <a:ea typeface="Calibri" pitchFamily="34" charset="-122"/>
                <a:cs typeface="Calibri" pitchFamily="34" charset="-120"/>
              </a:rPr>
              <a:t>agrega una variable nueva en preparar (por ejemplo, superficie por dormitorio) y mira si cambia la validación cruzada.</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TAREA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Ahora tú: los 8 pasos con diamantes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Una casa de empeño quiere tasar diamantes antes de aceptarlos como garantía. Casi 54 000 diamantes con precio, peso, talla, color, pureza y medidas.</a:t>
            </a:r>
            <a:endParaRPr lang="en-US" sz="1400" dirty="0"/>
          </a:p>
        </p:txBody>
      </p:sp>
      <p:sp>
        <p:nvSpPr>
          <p:cNvPr id="6" name="Shape 4"/>
          <p:cNvSpPr/>
          <p:nvPr/>
        </p:nvSpPr>
        <p:spPr>
          <a:xfrm>
            <a:off x="502920" y="2103120"/>
            <a:ext cx="493776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429768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Lo que se pide</a:t>
            </a:r>
            <a:endParaRPr lang="en-US" sz="1400" dirty="0"/>
          </a:p>
        </p:txBody>
      </p:sp>
      <p:sp>
        <p:nvSpPr>
          <p:cNvPr id="9" name="Text 7"/>
          <p:cNvSpPr txBox="1"/>
          <p:nvPr/>
        </p:nvSpPr>
        <p:spPr>
          <a:xfrm>
            <a:off x="731520" y="2651760"/>
            <a:ext cx="4526280" cy="34747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Los 8 pasos, cada uno con sus conclusiones escritas</a:t>
            </a:r>
            <a:endParaRPr lang="en-US" sz="1400" dirty="0"/>
          </a:p>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Al menos tres problemas de calidad detectados y resueltos</a:t>
            </a:r>
            <a:endParaRPr lang="en-US" sz="1400" dirty="0"/>
          </a:p>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cut, color y clarity codificadas con su orden</a:t>
            </a:r>
            <a:endParaRPr lang="en-US" sz="1400" dirty="0"/>
          </a:p>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La vara y al menos 3 modelos con validación cruzada: uno lineal y un ensemble como mínimo</a:t>
            </a:r>
            <a:endParaRPr lang="en-US" sz="1400" dirty="0"/>
          </a:p>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MAE, RMSE, R² y MAPE en prueba, error por quintil y una conclusión de negocio</a:t>
            </a:r>
            <a:endParaRPr lang="en-US" sz="1400" dirty="0"/>
          </a:p>
          <a:p>
            <a:pPr marL="342900" indent="-342900">
              <a:spcAft>
                <a:spcPts val="1000"/>
              </a:spcAft>
              <a:buSzPct val="100000"/>
              <a:buChar char="•"/>
            </a:pPr>
            <a:r>
              <a:rPr lang="en-US" sz="1400" dirty="0">
                <a:solidFill>
                  <a:srgbClr val="2C3A55"/>
                </a:solidFill>
                <a:latin typeface="Calibri" pitchFamily="34" charset="0"/>
                <a:ea typeface="Calibri" pitchFamily="34" charset="-122"/>
                <a:cs typeface="Calibri" pitchFamily="34" charset="-120"/>
              </a:rPr>
              <a:t>El notebook ejecutado de principio a fin</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715000" y="2103120"/>
          <a:ext cx="5971032" cy="914400"/>
        </p:xfrm>
        <a:graphic>
          <a:graphicData uri="http://schemas.openxmlformats.org/drawingml/2006/table">
            <a:tbl>
              <a:tblPr/>
              <a:tblGrid>
                <a:gridCol w="731520"/>
                <a:gridCol w="4416552"/>
                <a:gridCol w="822960"/>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se evalúa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Pts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Problema, métricas, vara y alcance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Revisión y problemas de calidad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Corte antes de explorar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Exploración solo con entrenamiento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Limpieza, variables y codificación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Pipeline sin fuga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Validación cruzada y elección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Prueba, segmentos y conclusión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65760">
                <a:tc>
                  <a:txBody>
                    <a:bodyPr/>
                    <a:lstStyle/>
                    <a:p>
                      <a:pPr indent="0" marL="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r>
            </a:tbl>
          </a:graphicData>
        </a:graphic>
      </p:graphicFrame>
      <p:sp>
        <p:nvSpPr>
          <p:cNvPr id="11" name="Text 8"/>
          <p:cNvSpPr txBox="1"/>
          <p:nvPr/>
        </p:nvSpPr>
        <p:spPr>
          <a:xfrm>
            <a:off x="5715000" y="5852160"/>
            <a:ext cx="5971032"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Archivos: Tarea_Clase05_EndToEnd.ipynb (enunciado y plantilla), diamonds.csv y su diccionario.</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411480"/>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411480"/>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CIERRE · 10 MIN</a:t>
            </a:r>
            <a:endParaRPr lang="en-US" sz="1100" dirty="0"/>
          </a:p>
        </p:txBody>
      </p:sp>
      <p:sp>
        <p:nvSpPr>
          <p:cNvPr id="4" name="Text 2"/>
          <p:cNvSpPr txBox="1"/>
          <p:nvPr/>
        </p:nvSpPr>
        <p:spPr>
          <a:xfrm>
            <a:off x="502920" y="91440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Si te llevas una sola cosa</a:t>
            </a:r>
            <a:endParaRPr lang="en-US" sz="3200" dirty="0"/>
          </a:p>
        </p:txBody>
      </p:sp>
      <p:sp>
        <p:nvSpPr>
          <p:cNvPr id="5" name="Text 3"/>
          <p:cNvSpPr txBox="1"/>
          <p:nvPr/>
        </p:nvSpPr>
        <p:spPr>
          <a:xfrm>
            <a:off x="502920" y="1554480"/>
            <a:ext cx="11155680" cy="411480"/>
          </a:xfrm>
          <a:prstGeom prst="rect">
            <a:avLst/>
          </a:prstGeom>
          <a:noFill/>
          <a:ln/>
        </p:spPr>
        <p:txBody>
          <a:bodyPr wrap="square" lIns="0" tIns="0" rIns="0" bIns="0" rtlCol="0" anchor="ctr"/>
          <a:lstStyle/>
          <a:p>
            <a:pPr indent="0" marL="0">
              <a:buNone/>
            </a:pPr>
            <a:r>
              <a:rPr lang="en-US" sz="1450" i="1" dirty="0">
                <a:solidFill>
                  <a:srgbClr val="C9D4EA"/>
                </a:solidFill>
                <a:latin typeface="Calibri" pitchFamily="34" charset="0"/>
                <a:ea typeface="Calibri" pitchFamily="34" charset="-122"/>
                <a:cs typeface="Calibri" pitchFamily="34" charset="-120"/>
              </a:rPr>
              <a:t>Un buen modelo empieza antes de abrir los datos y termina cuando alguien puede usarlo. El algoritmo es solo uno de los ocho pasos.</a:t>
            </a:r>
            <a:endParaRPr lang="en-US" sz="1450" dirty="0"/>
          </a:p>
        </p:txBody>
      </p:sp>
      <p:sp>
        <p:nvSpPr>
          <p:cNvPr id="6" name="Shape 4"/>
          <p:cNvSpPr/>
          <p:nvPr/>
        </p:nvSpPr>
        <p:spPr>
          <a:xfrm>
            <a:off x="502920" y="2240280"/>
            <a:ext cx="6035040" cy="3611880"/>
          </a:xfrm>
          <a:prstGeom prst="roundRect">
            <a:avLst>
              <a:gd name="adj" fmla="val 1519"/>
            </a:avLst>
          </a:prstGeom>
          <a:solidFill>
            <a:srgbClr val="0F2F6B"/>
          </a:solidFill>
          <a:ln w="9525">
            <a:solidFill>
              <a:srgbClr val="1E3F7F"/>
            </a:solidFill>
            <a:prstDash val="solid"/>
          </a:ln>
        </p:spPr>
      </p:sp>
      <p:sp>
        <p:nvSpPr>
          <p:cNvPr id="7" name="Shape 5"/>
          <p:cNvSpPr/>
          <p:nvPr/>
        </p:nvSpPr>
        <p:spPr>
          <a:xfrm>
            <a:off x="731520" y="248716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377440"/>
            <a:ext cx="53949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Los números del día</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31520" y="2743200"/>
          <a:ext cx="5577840" cy="914400"/>
        </p:xfrm>
        <a:graphic>
          <a:graphicData uri="http://schemas.openxmlformats.org/drawingml/2006/table">
            <a:tbl>
              <a:tblPr/>
              <a:tblGrid>
                <a:gridCol w="3383280"/>
                <a:gridCol w="1097280"/>
                <a:gridCol w="1097280"/>
              </a:tblGrid>
              <a:tr h="393192">
                <a:tc>
                  <a:txBody>
                    <a:bodyPr/>
                    <a:lstStyle/>
                    <a:p>
                      <a:pPr algn="l" indent="0" marL="0">
                        <a:buNone/>
                      </a:pP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MAE</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MAPE</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Siempre la mediana (prueba)</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58 116</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31.7 %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Regresión lineal sin log (val. cruzada)</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18 735</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11.4 %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Regresión lineal con log (val. cruzada)</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15 403</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9.2 %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Ridge (prueba)</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15 183</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8.8 %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XGBoost (prueba)</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14 180</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8.0 %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Casas con error ≤ 10 %</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75.0 %</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bl>
          </a:graphicData>
        </a:graphic>
      </p:graphicFrame>
      <p:sp>
        <p:nvSpPr>
          <p:cNvPr id="10" name="Shape 7"/>
          <p:cNvSpPr/>
          <p:nvPr/>
        </p:nvSpPr>
        <p:spPr>
          <a:xfrm>
            <a:off x="6812280" y="2240280"/>
            <a:ext cx="4873752" cy="1737360"/>
          </a:xfrm>
          <a:prstGeom prst="roundRect">
            <a:avLst>
              <a:gd name="adj" fmla="val 3158"/>
            </a:avLst>
          </a:prstGeom>
          <a:solidFill>
            <a:srgbClr val="FFFFFF"/>
          </a:solidFill>
          <a:ln w="9525">
            <a:solidFill>
              <a:srgbClr val="FFFFFF"/>
            </a:solidFill>
            <a:prstDash val="solid"/>
          </a:ln>
        </p:spPr>
      </p:sp>
      <p:sp>
        <p:nvSpPr>
          <p:cNvPr id="11" name="Shape 8"/>
          <p:cNvSpPr/>
          <p:nvPr/>
        </p:nvSpPr>
        <p:spPr>
          <a:xfrm>
            <a:off x="7040880" y="248716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7269480" y="2377440"/>
            <a:ext cx="42336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Próxima clase · lunes 12/10</a:t>
            </a:r>
            <a:endParaRPr lang="en-US" sz="1400" dirty="0"/>
          </a:p>
        </p:txBody>
      </p:sp>
      <p:sp>
        <p:nvSpPr>
          <p:cNvPr id="13" name="Text 10"/>
          <p:cNvSpPr txBox="1"/>
          <p:nvPr/>
        </p:nvSpPr>
        <p:spPr>
          <a:xfrm>
            <a:off x="7040880" y="2743200"/>
            <a:ext cx="4434840" cy="1188720"/>
          </a:xfrm>
          <a:prstGeom prst="rect">
            <a:avLst/>
          </a:prstGeom>
          <a:noFill/>
          <a:ln/>
        </p:spPr>
        <p:txBody>
          <a:bodyPr wrap="square" lIns="0" tIns="0" rIns="0" bIns="0" rtlCol="0" anchor="t"/>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Clase 6 · Métricas de clasificación y regresión logística</a:t>
            </a:r>
            <a:endParaRPr lang="en-US" sz="1200" dirty="0"/>
          </a:p>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Empieza el Módulo 2: dejamos de predecir dólares y pasamos a predecir sí o no.</a:t>
            </a:r>
            <a:endParaRPr lang="en-US" sz="1200" dirty="0"/>
          </a:p>
        </p:txBody>
      </p:sp>
      <p:sp>
        <p:nvSpPr>
          <p:cNvPr id="14" name="Shape 11"/>
          <p:cNvSpPr/>
          <p:nvPr/>
        </p:nvSpPr>
        <p:spPr>
          <a:xfrm>
            <a:off x="6812280" y="4160520"/>
            <a:ext cx="4873752" cy="1691640"/>
          </a:xfrm>
          <a:prstGeom prst="roundRect">
            <a:avLst>
              <a:gd name="adj" fmla="val 3243"/>
            </a:avLst>
          </a:prstGeom>
          <a:solidFill>
            <a:srgbClr val="0F2F6B"/>
          </a:solidFill>
          <a:ln w="9525">
            <a:solidFill>
              <a:srgbClr val="1E3F7F"/>
            </a:solidFill>
            <a:prstDash val="solid"/>
          </a:ln>
        </p:spPr>
      </p:sp>
      <p:sp>
        <p:nvSpPr>
          <p:cNvPr id="15" name="Shape 12"/>
          <p:cNvSpPr/>
          <p:nvPr/>
        </p:nvSpPr>
        <p:spPr>
          <a:xfrm>
            <a:off x="7040880" y="4407408"/>
            <a:ext cx="128016" cy="128016"/>
          </a:xfrm>
          <a:prstGeom prst="roundRect">
            <a:avLst>
              <a:gd name="adj" fmla="val 21429"/>
            </a:avLst>
          </a:prstGeom>
          <a:solidFill>
            <a:srgbClr val="4A82FF"/>
          </a:solidFill>
          <a:ln w="12700">
            <a:solidFill>
              <a:srgbClr val="4A82FF"/>
            </a:solidFill>
            <a:prstDash val="solid"/>
          </a:ln>
        </p:spPr>
      </p:sp>
      <p:sp>
        <p:nvSpPr>
          <p:cNvPr id="16" name="Text 13"/>
          <p:cNvSpPr txBox="1"/>
          <p:nvPr/>
        </p:nvSpPr>
        <p:spPr>
          <a:xfrm>
            <a:off x="7269480" y="4297680"/>
            <a:ext cx="42336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Checklist de salida</a:t>
            </a:r>
            <a:endParaRPr lang="en-US" sz="1400" dirty="0"/>
          </a:p>
        </p:txBody>
      </p:sp>
      <p:sp>
        <p:nvSpPr>
          <p:cNvPr id="17" name="Text 14"/>
          <p:cNvSpPr txBox="1"/>
          <p:nvPr/>
        </p:nvSpPr>
        <p:spPr>
          <a:xfrm>
            <a:off x="7040880" y="4617720"/>
            <a:ext cx="44805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Puedo recorrer los 8 pasos sin mirar</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Separo la prueba antes de explorar</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Lo que se aprende va en el pipeline</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Reporto con métricas de negocio y por segmento</a:t>
            </a:r>
            <a:endParaRPr lang="en-US" sz="1150" dirty="0"/>
          </a:p>
        </p:txBody>
      </p:sp>
      <p:sp>
        <p:nvSpPr>
          <p:cNvPr id="18" name="Text 15"/>
          <p:cNvSpPr txBox="1"/>
          <p:nvPr/>
        </p:nvSpPr>
        <p:spPr>
          <a:xfrm>
            <a:off x="502920" y="6217920"/>
            <a:ext cx="109728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Curso 7 · Clase 5 de 16 · Docente: Josef Renato Rodriguez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5 · Proyecto end-to-end</dc:title>
  <dc:subject>PptxGenJS Presentation</dc:subject>
  <dc:creator>Josef Renato Rodriguez</dc:creator>
  <cp:lastModifiedBy>Josef Renato Rodriguez</cp:lastModifiedBy>
  <cp:revision>1</cp:revision>
  <dcterms:created xsi:type="dcterms:W3CDTF">2026-10-09T23:55:22Z</dcterms:created>
  <dcterms:modified xsi:type="dcterms:W3CDTF">2026-10-09T23:55:22Z</dcterms:modified>
</cp:coreProperties>
</file>