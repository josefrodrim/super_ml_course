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7836448c-05aa-b42e-c3a2-52f8ce466aa9}">
          <p14:sldIdLst>
            <p14:sldId id="256"/>
            <p14:sldId id="257"/>
          </p14:sldIdLst>
        </p14:section>
        <p14:section name="Parte 1 · Datos y distancias" id="{bb453c9a-836f-714e-c7a6-79699e782aea}">
          <p14:sldIdLst>
            <p14:sldId id="258"/>
            <p14:sldId id="259"/>
            <p14:sldId id="260"/>
            <p14:sldId id="261"/>
            <p14:sldId id="262"/>
          </p14:sldIdLst>
        </p14:section>
        <p14:section name="Parte 1 · K-Means" id="{5c22e23b-07e2-df6c-9b89-10d291a9b46f}">
          <p14:sldIdLst>
            <p14:sldId id="263"/>
            <p14:sldId id="264"/>
            <p14:sldId id="265"/>
          </p14:sldIdLst>
        </p14:section>
        <p14:section name="Parte 1 · Perfilar" id="{0ded0f25-7a7c-400f-8b60-464500be9e67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Parte 2 · Jerárquico" id="{4fd9cdf3-84eb-9d24-0b0c-bc0c71debf9b}">
          <p14:sldIdLst>
            <p14:sldId id="272"/>
            <p14:sldId id="273"/>
            <p14:sldId id="274"/>
          </p14:sldIdLst>
        </p14:section>
        <p14:section name="Parte 2 · Densidad" id="{8449175f-a410-fab5-2312-315baa4ea963}">
          <p14:sldIdLst>
            <p14:sldId id="275"/>
            <p14:sldId id="276"/>
          </p14:sldIdLst>
        </p14:section>
        <p14:section name="Parte 2 · Modelos y otros" id="{98e54a19-eaa5-86d4-04b4-24b583448985}">
          <p14:sldIdLst>
            <p14:sldId id="277"/>
            <p14:sldId id="278"/>
          </p14:sldIdLst>
        </p14:section>
        <p14:section name="Parte 2 · Comparar y cerrar" id="{9aabd6ba-f606-2eda-220d-76ee66257aba}">
          <p14:sldIdLst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+mn-lt"/>
              </a:rPr>
              <a:t>Tasa de default a 3 meses por segmento · cartera 9.1 %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</c:v>
                </c:pt>
              </c:strCache>
            </c:strRef>
          </c:tx>
          <c:spPr>
            <a:solidFill>
              <a:srgbClr val="E6115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2DBE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11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F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048E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56E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6B8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2B88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Revolvente</c:v>
                  </c:pt>
                  <c:pt idx="1">
                    <c:v>Usuario de efectivo</c:v>
                  </c:pt>
                  <c:pt idx="2">
                    <c:v>Digital joven</c:v>
                  </c:pt>
                  <c:pt idx="3">
                    <c:v>Cotidiano</c:v>
                  </c:pt>
                  <c:pt idx="4">
                    <c:v>Dormido</c:v>
                  </c:pt>
                  <c:pt idx="5">
                    <c:v>Premium viajero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0.217</c:v>
                </c:pt>
                <c:pt idx="1">
                  <c:v>0.153</c:v>
                </c:pt>
                <c:pt idx="2">
                  <c:v>0.075</c:v>
                </c:pt>
                <c:pt idx="3">
                  <c:v>0.049</c:v>
                </c:pt>
                <c:pt idx="4">
                  <c:v>0.04</c:v>
                </c:pt>
                <c:pt idx="5">
                  <c:v>0.031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D2DBE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2DBE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7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3A5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C3A55"/>
                </a:solidFill>
                <a:latin typeface="+mn-lt"/>
              </a:rPr>
              <a:t>Sin escalar: gasto medio de cada grupo (S/) · etiqueta = clientes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gasto medio</c:v>
                </c:pt>
              </c:strCache>
            </c:strRef>
          </c:tx>
          <c:spPr>
            <a:solidFill>
              <a:srgbClr val="B8C2D6"/>
            </a:solidFill>
            <a:effectLst/>
          </c:spPr>
          <c:invertIfNegative val="0"/>
          <c:dLbls>
            <c:numFmt formatCode="&quot;S/ &quot;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3A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Grupo 1 · 3 738</c:v>
                  </c:pt>
                  <c:pt idx="1">
                    <c:v>Grupo 2 · 1 948</c:v>
                  </c:pt>
                  <c:pt idx="2">
                    <c:v>Grupo 3 · 607</c:v>
                  </c:pt>
                  <c:pt idx="3">
                    <c:v>Grupo 4 · 297</c:v>
                  </c:pt>
                  <c:pt idx="4">
                    <c:v>Grupo 5 · 62</c:v>
                  </c:pt>
                  <c:pt idx="5">
                    <c:v>Grupo 6 · 33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632</c:v>
                </c:pt>
                <c:pt idx="1">
                  <c:v>1827</c:v>
                </c:pt>
                <c:pt idx="2">
                  <c:v>4521</c:v>
                </c:pt>
                <c:pt idx="3">
                  <c:v>7591</c:v>
                </c:pt>
                <c:pt idx="4">
                  <c:v>12931</c:v>
                </c:pt>
                <c:pt idx="5">
                  <c:v>24441</c:v>
                </c:pt>
              </c:numCache>
            </c:numRef>
          </c:val>
        </c:ser>
        <c:dLbls>
          <c:numFmt formatCode="&quot;S/ &quot;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C3A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3A5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C3A55"/>
                </a:solidFill>
                <a:latin typeface="+mn-lt"/>
              </a:rPr>
              <a:t>Inercia (codo)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inercia</c:v>
                </c:pt>
              </c:strCache>
            </c:strRef>
          </c:tx>
          <c:spPr>
            <a:solidFill>
              <a:srgbClr val="0A2559"/>
            </a:solidFill>
            <a:ln w="38100" cap="flat">
              <a:solidFill>
                <a:srgbClr val="0A25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3A55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A2559"/>
              </a:solidFill>
              <a:ln w="9525" cap="flat">
                <a:solidFill>
                  <a:srgbClr val="0A25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61624</c:v>
                </c:pt>
                <c:pt idx="1">
                  <c:v>47356</c:v>
                </c:pt>
                <c:pt idx="2">
                  <c:v>36846</c:v>
                </c:pt>
                <c:pt idx="3">
                  <c:v>29957</c:v>
                </c:pt>
                <c:pt idx="4">
                  <c:v>25945</c:v>
                </c:pt>
                <c:pt idx="5">
                  <c:v>24839</c:v>
                </c:pt>
                <c:pt idx="6">
                  <c:v>23384</c:v>
                </c:pt>
                <c:pt idx="7">
                  <c:v>22599</c:v>
                </c:pt>
                <c:pt idx="8">
                  <c:v>21827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C3A55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3A5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C3A55"/>
                </a:solidFill>
                <a:latin typeface="+mn-lt"/>
              </a:rPr>
              <a:t>Silueta media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silueta</c:v>
                </c:pt>
              </c:strCache>
            </c:strRef>
          </c:tx>
          <c:spPr>
            <a:solidFill>
              <a:srgbClr val="E6115E"/>
            </a:solidFill>
            <a:ln w="38100" cap="flat">
              <a:solidFill>
                <a:srgbClr val="E6115E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C3A55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6115E"/>
              </a:solidFill>
              <a:ln w="9525" cap="flat">
                <a:solidFill>
                  <a:srgbClr val="E611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0.269</c:v>
                </c:pt>
                <c:pt idx="1">
                  <c:v>0.322</c:v>
                </c:pt>
                <c:pt idx="2">
                  <c:v>0.378</c:v>
                </c:pt>
                <c:pt idx="3">
                  <c:v>0.323</c:v>
                </c:pt>
                <c:pt idx="4">
                  <c:v>0.335</c:v>
                </c:pt>
                <c:pt idx="5">
                  <c:v>0.275</c:v>
                </c:pt>
                <c:pt idx="6">
                  <c:v>0.284</c:v>
                </c:pt>
                <c:pt idx="7">
                  <c:v>0.253</c:v>
                </c:pt>
                <c:pt idx="8">
                  <c:v>0.242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C3A55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.2"/>
        </c:scaling>
        <c:delete val="0"/>
        <c:axPos val="l"/>
        <c:majorGridlines>
          <c:spPr>
            <a:ln w="9525" cap="flat">
              <a:solidFill>
                <a:srgbClr val="E3E8F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3A55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C3A55"/>
                </a:solidFill>
                <a:latin typeface="+mn-lt"/>
              </a:rPr>
              <a:t>Tasa de default a 3 meses · cartera 9.1 %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</c:v>
                </c:pt>
              </c:strCache>
            </c:strRef>
          </c:tx>
          <c:spPr>
            <a:solidFill>
              <a:srgbClr val="E6115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3A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11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F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048E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56E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B6B8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2B88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Revolvente</c:v>
                  </c:pt>
                  <c:pt idx="1">
                    <c:v>Usuario de efectivo</c:v>
                  </c:pt>
                  <c:pt idx="2">
                    <c:v>Digital joven</c:v>
                  </c:pt>
                  <c:pt idx="3">
                    <c:v>Cotidiano</c:v>
                  </c:pt>
                  <c:pt idx="4">
                    <c:v>Dormido</c:v>
                  </c:pt>
                  <c:pt idx="5">
                    <c:v>Premium viajero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0.217</c:v>
                </c:pt>
                <c:pt idx="1">
                  <c:v>0.153</c:v>
                </c:pt>
                <c:pt idx="2">
                  <c:v>0.075</c:v>
                </c:pt>
                <c:pt idx="3">
                  <c:v>0.049</c:v>
                </c:pt>
                <c:pt idx="4">
                  <c:v>0.04</c:v>
                </c:pt>
                <c:pt idx="5">
                  <c:v>0.031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2C3A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solo deck para las dos partes del clustering. Hoy (parte 1) llegamos hasta la slide de los clusters en PCA. El gráfico es el remate de la parte 1: el algoritmo nunca vio el default y aun así los segmentos lo separan.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el deck está completo. Hoy hasta la slide 16. La parte 2 tiene su propio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no hay respuesta correcta que comparar. Eso cambia cómo se evalúa: por coherencia interna y por utilidad para el negocio. Los cuatro usos de la derecha son los que van a ver en un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los mismos id_cliente de cartera_tarjetas.csv. Edad, antigüedad y línea están en la base pero no se usan para agrupar: sirven para describir. El default lo traemos de la Clase 9 recién al final, para validar.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usa la euclidiana al cuadrado; por eso solo funciona con numéricas y es sensible a escalas. Gower es la salida para bases mixtas con categóricas, y se usa con K-Medoids o jerárquico, no con K-Means.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gasto tiene desviación de S/ 2 638 y los porcentajes de 0.1 a 0.3. En la suma de cuadrados, el gasto es todo. Regla: siempre escalar con distancias. Y el logaritmo a montos y conteos sesgados, para que pocos clientes extremos no tiren de los centros.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índice de todo el tema. Partición: centros. Jerárquico: fusiones sucesivas. Densidad: zonas con muchos vecinos. Modelos: distribuciones de probabilidad. Grafos y otros: conexiones entre vecinos.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Dibujar en la pizarra si hay tiempo. El paso 3 es el que le da el nombre: el centro es la media (mean) de sus clientes. Por eso K-Means es sensible a extremos: la media se mueve con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K-means++ elige centros iniciales separados. n_init repite y se queda con el mejor. Los supuestos son la razón de la parte 2: grupos alargados, de densidad distinta o con ruido piden otra familia.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Silueta: a es la distancia media a los de su grupo, b al grupo vecino más cercano. s = (b − a) / max(a, b). Entre 0.3 y 0.4 es normal en clientes. La silueta prefiere 4, pero la decisión la vemos en la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fila por fila: cada segmento se reconoce por una o dos celdas rojas. Dormido: meses sin uso +3.2. Premium: viajes +2.1. Efectivo: avances +1.9. Digital: online +2.0 y app +1.8. Revolvente: utilización +1.4 y pago −1.2. Cotidiano: supermercado +0.8 y el resto cerca de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de nombres está en el ejercicio C.3. Dar ejemplos de acción por segmento: Premium, millas y seguros de viaje; Digital, campañas en app; Dormido, reactivación; Revolvente y Efectivo, alertas tempranas y refinanciación.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momento de la clase. El algoritmo agrupó por forma de uso y esa forma de uso está ligada al riesgo. Pero no reemplaza al score: el score se entrenó para predecir default y lo hace mejor. El segmento dice quién es el cliente para decidir cómo hablarle.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respuesta a la slide del codo. El grupo grande de k = 4 tiene 11.6 % de default, pero adentro hay 4.9 %, 21.7 % y 15.3 %. Una sola estrategia para los tres sería un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K-Medoids: el centro es un cliente real; sirve con cualquier distancia (Gower) y aguanta extremos; es más lento (scikit-learn-extra o kmedoids). Mini-Batch: para millones de filas; en nuestro caso ARI 0.80 contra 0.92 de K-Means completo. K-Prototypes: paquete kmodes. Bisecting: en scikit-learn desde 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se encimen en el dibujo no significa que se encimen en 12 dimensiones. El aviso: en Digital joven la media del gasto es S/ 1 691 y la mediana S/ 663, con un máximo de S/ 29 766. Hay 45 clientes con patrones extremos que K-Means tuvo que meter en algún grupo. Esa es la puerta a la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la parte 2. Recordar en dos minutos: escalado, K-Means con k = 6, seis segmentos, Revolvente con 21.7 % de default. La etiqueta real (segmentos_reales.csv) se comparte recién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dendrograma deja ver todas las soluciones a la vez: cortar a cierta altura da k grupos. La altura de la fusión dice cuán distintos eran los grupos que se unieron. Costo: necesita todas las distancias entre pares, n² en memoria. Con 6 685 clientes va bien; con un millón,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encadena: une grupos por su par más cercano y termina con un grupo gigante y varios mínimos, ARI 0.09. Ward minimiza el aumento de la varianza, como K-Means, y es el mejor aquí: 0.96, incluso por encima de K-Means.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Núcleo: tiene al menos min_samples vecinos a menos de eps. Borde: está cerca de un núcleo pero no tiene suficientes vecinos. Ruido: ninguna de las dos. No pide k, encuentra formas arbitrarias y marca ruido. Para elegir eps: el gráfico de distancia al k-ésimo vecino, buscando el codo.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OPTICS ordena los puntos por accesibilidad y deja elegir después. HDBSCAN construye la jerarquía de densidad y se queda con los grupos más estables; solo pide min_cluster_size. Está en scikit-learn desde 1.3. En nuestro caso: con 12 variables los segmentos se tocan y HDBSCAN los fusiona en 2, pero aísla como ruido a los 45 clientes atípicos.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GMM se ajusta con el algoritmo EM. predict_proba da la pertenencia a cada grupo, útil para clientes de frontera. El tipo de covarianza lo cambia todo: full estima muchas covarianzas y se rompe con variables discretas como meses sin uso; tied comparte una forma y gana. Para elegir k: BIC, más bajo es mejor.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Shift: mueve cada punto hacia la zona más densa cercana; no pide k pero sí un ancho de banda; aquí encontró 5 grupos, ARI 0.48. Espectral: grafo de vecinos; bueno para formas raras; caro. BIRCH: resume los datos en un árbol de subgrupos; escala a millones; aquí 0.96. Affinity Propagation: los clientes votan por representantes; no pide k; costo n², no lo corrimos con 6 685.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Fila 1: grupos redondos, todos aciertan. Fila 2: medias lunas, solo la densidad las separa. Fila 3: un grupo denso, uno disperso y ruido: K-Means, Ward y GMM meten el ruido en algún grupo; DBSCAN con un solo eps rompe el disperso; HDBSCAN lo resuelve.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vida real no hay segmentos reales para calcular el ARI: aquí lo tenemos porque los datos son sintéticos. Ward y BIRCH ganan, K-Means muy cerca y mucho más simple de explicar y de aplicar a clientes nuevos. La densidad pierde como segmentador pero gana como detector de atípicos.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Silueta: más alto mejor. Davies-Bouldin: más bajo mejor, compara cada grupo con su vecino más parecido. Calinski-Harabasz: más alto mejor, varianza entre grupos sobre varianza dentro. Las tres favorecen grupos redondos: no sirven para comparar con DBSCAN. La estabilidad: volver a correr con otra muestra u otro mes y ver si los clientes caen en el mismo segmento.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la 5: un segmento que cambia cada mes no sirve para una campaña. Y en la 6: para asignar clientes nuevos, K-Means tiene predict; el jerárquico y DBSCAN no, y hay que entrenar un clasificador sobre las etiquetas.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preguntas 1 y 2 son de la parte 1; la 3, de la parte 2. Respuestas completas de la parte 1 al final del notebook Clase10_Clustering_Parte1.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0A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A25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566928"/>
            <a:ext cx="3387852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566928"/>
            <a:ext cx="33878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CLASES 10 Y 11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clientes sin target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0175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6 685 clientes de la cartera de tarjetas, 12 variables de cómo usan la tarjeta y ninguna etiqueta. K-Means en la parte 1; jerárquico, densidad y mezclas en la parte 2.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160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6 685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4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una fila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cliente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4160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4754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con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negocio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4160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21.7 %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4754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de Revolvente,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3.1 % en Premium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486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Josef Renato Rodriguez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Programa de Especialización Data Scientist · Sesiones 10 y 11 de 14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400800" y="822960"/>
          <a:ext cx="530352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tema, dos clases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Hoy, la idea y el algoritmo más usado. La próxima, las otras familias y cómo compararlas.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5513832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etiqueta-fondo"/>
          <p:cNvSpPr/>
          <p:nvPr/>
        </p:nvSpPr>
        <p:spPr>
          <a:xfrm>
            <a:off x="731520" y="2286000"/>
            <a:ext cx="1915668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9" name="etiqueta"/>
          <p:cNvSpPr txBox="1"/>
          <p:nvPr/>
        </p:nvSpPr>
        <p:spPr>
          <a:xfrm>
            <a:off x="731520" y="2286000"/>
            <a:ext cx="19156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HOY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y K-Means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38328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target: qué pregunta responde el clustering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Distancias y por qué hay que escalar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paso a paso; codo y silueta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Perfilar, nombrar y cruzar con el default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Variantes: K-Medoids, Mini-Batch, K-Prototypes</a:t>
            </a:r>
            <a:endParaRPr lang="en-US" sz="1500" dirty="0"/>
          </a:p>
        </p:txBody>
      </p:sp>
      <p:sp>
        <p:nvSpPr>
          <p:cNvPr id="12" name="tarjeta"/>
          <p:cNvSpPr/>
          <p:nvPr/>
        </p:nvSpPr>
        <p:spPr>
          <a:xfrm>
            <a:off x="6172200" y="2103120"/>
            <a:ext cx="5513832" cy="4251960"/>
          </a:xfrm>
          <a:prstGeom prst="roundRect">
            <a:avLst>
              <a:gd name="adj" fmla="val 172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etiqueta-fondo"/>
          <p:cNvSpPr/>
          <p:nvPr/>
        </p:nvSpPr>
        <p:spPr>
          <a:xfrm>
            <a:off x="6400800" y="2286000"/>
            <a:ext cx="2967228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etiqueta"/>
          <p:cNvSpPr txBox="1"/>
          <p:nvPr/>
        </p:nvSpPr>
        <p:spPr>
          <a:xfrm>
            <a:off x="6400800" y="2286000"/>
            <a:ext cx="29672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PRÓXIMA CLASE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K-Means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38328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Jerárquico: dendrograma y tipos de enlace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DBSCAN, OPTICS y HDBSCAN: densidad y ruido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Mezclas gaussianas: pertenencia con probabilidad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Shift, espectral, BIRCH, Affinity Propagation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algoritmos y métricas internas y externas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SIN TARGET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hay una columna que predecir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supervisado el dato trae la respuesta. En clustering hay que descubrir los grupos.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 (Clases 2 a 9)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51760"/>
            <a:ext cx="4572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→ 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 target (default_3m). Se evalúa con AUC, Gini, KS contra la respuesta real.</a:t>
            </a:r>
            <a:endParaRPr lang="en-US" sz="1400" dirty="0"/>
          </a:p>
        </p:txBody>
      </p:sp>
      <p:sp>
        <p:nvSpPr>
          <p:cNvPr id="10" name="tarjeta"/>
          <p:cNvSpPr/>
          <p:nvPr/>
        </p:nvSpPr>
        <p:spPr>
          <a:xfrm>
            <a:off x="502920" y="425196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supervisado (hoy)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800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→ grupos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respuesta. Se evalúa si los grupos son compactos, separados y útiles para decidir algo.</a:t>
            </a:r>
            <a:endParaRPr lang="en-US" sz="1400" dirty="0"/>
          </a:p>
        </p:txBody>
      </p:sp>
      <p:sp>
        <p:nvSpPr>
          <p:cNvPr id="13" name="tarjeta"/>
          <p:cNvSpPr/>
          <p:nvPr/>
        </p:nvSpPr>
        <p:spPr>
          <a:xfrm>
            <a:off x="5806440" y="2103120"/>
            <a:ext cx="58795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numero"/>
          <p:cNvSpPr/>
          <p:nvPr/>
        </p:nvSpPr>
        <p:spPr>
          <a:xfrm>
            <a:off x="6016752" y="2331720"/>
            <a:ext cx="502920" cy="502920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16752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22128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comercial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25786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y canales distintos por tipo de cliente.</a:t>
            </a:r>
            <a:endParaRPr lang="en-US" sz="1300" dirty="0"/>
          </a:p>
        </p:txBody>
      </p:sp>
      <p:sp>
        <p:nvSpPr>
          <p:cNvPr id="18" name="tarjeta"/>
          <p:cNvSpPr/>
          <p:nvPr/>
        </p:nvSpPr>
        <p:spPr>
          <a:xfrm>
            <a:off x="5806440" y="3182112"/>
            <a:ext cx="58795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numero"/>
          <p:cNvSpPr/>
          <p:nvPr/>
        </p:nvSpPr>
        <p:spPr>
          <a:xfrm>
            <a:off x="6016752" y="3410712"/>
            <a:ext cx="502920" cy="502920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16752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cobranza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67512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morosos que piden gestiones distintas.</a:t>
            </a:r>
            <a:endParaRPr lang="en-US" sz="1300" dirty="0"/>
          </a:p>
        </p:txBody>
      </p:sp>
      <p:sp>
        <p:nvSpPr>
          <p:cNvPr id="23" name="tarjeta"/>
          <p:cNvSpPr/>
          <p:nvPr/>
        </p:nvSpPr>
        <p:spPr>
          <a:xfrm>
            <a:off x="5806440" y="4261104"/>
            <a:ext cx="58795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4" name="numero"/>
          <p:cNvSpPr/>
          <p:nvPr/>
        </p:nvSpPr>
        <p:spPr>
          <a:xfrm>
            <a:off x="6016752" y="4489704"/>
            <a:ext cx="502920" cy="502920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016752" y="4489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4370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Anomalías y fraude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675120" y="47365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o transacciones que no se parecen a nadie.</a:t>
            </a:r>
            <a:endParaRPr lang="en-US" sz="1300" dirty="0"/>
          </a:p>
        </p:txBody>
      </p:sp>
      <p:sp>
        <p:nvSpPr>
          <p:cNvPr id="28" name="tarjeta"/>
          <p:cNvSpPr/>
          <p:nvPr/>
        </p:nvSpPr>
        <p:spPr>
          <a:xfrm>
            <a:off x="5806440" y="5340096"/>
            <a:ext cx="58795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9" name="numero"/>
          <p:cNvSpPr/>
          <p:nvPr/>
        </p:nvSpPr>
        <p:spPr>
          <a:xfrm>
            <a:off x="6016752" y="5568696"/>
            <a:ext cx="502920" cy="50292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016752" y="5568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6675120" y="54498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complejidad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675120" y="58155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productos, comercios o variables parecidas.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336292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336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EL CASO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de la Clase 9, vistos por cómo usan la tarjeta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segmentacion_tarjetas.csv · una fila por cliente · promedios de enero a junio de 2026 · datos sintéticos.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7406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669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(12 para agrupar)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gasto_mensual_prom · num_transacciones_mes · ticket_promedio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qué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pct_supermercado · pct_restaurantes · pct_viajes · pct_online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paga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utilizacion_prom · pct_pago_saldo · num_avances_6m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dónde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pct_operaciones_app · meses_sin_uso_6m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describen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 · antiguedad_meses · linea_credito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rjeta"/>
          <p:cNvSpPr/>
          <p:nvPr/>
        </p:nvSpPr>
        <p:spPr>
          <a:xfrm>
            <a:off x="502920" y="5715000"/>
            <a:ext cx="7406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" y="57150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target.  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default de la Clase 9 se une por id_cliente solo al final, para ver si los segmentos sirven.</a:t>
            </a:r>
            <a:endParaRPr lang="en-US" sz="1350" dirty="0"/>
          </a:p>
        </p:txBody>
      </p:sp>
      <p:sp>
        <p:nvSpPr>
          <p:cNvPr id="10" name="tarjeta"/>
          <p:cNvSpPr/>
          <p:nvPr/>
        </p:nvSpPr>
        <p:spPr>
          <a:xfrm>
            <a:off x="8183880" y="210312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1248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6 685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8412480" y="2880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foto en 2026 en la cartera de la Clase 9</a:t>
            </a:r>
            <a:endParaRPr lang="en-US" sz="1200" dirty="0"/>
          </a:p>
        </p:txBody>
      </p:sp>
      <p:sp>
        <p:nvSpPr>
          <p:cNvPr id="13" name="tarjeta"/>
          <p:cNvSpPr/>
          <p:nvPr/>
        </p:nvSpPr>
        <p:spPr>
          <a:xfrm>
            <a:off x="8183880" y="4297680"/>
            <a:ext cx="3502152" cy="2057400"/>
          </a:xfrm>
          <a:prstGeom prst="roundRect">
            <a:avLst>
              <a:gd name="adj" fmla="val 355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41248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del área comercial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412480" y="4846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tipos de clientes tenemos, según cómo usan la tarjeta, y qué hacemos con cada uno?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DISTANCIAS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algoritmo: ¿qué significa que dos clientes se parezcan?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clustering descansa en una medida de distancia. Cambiar la distancia cambia los grupos.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Euclidiana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3063240" y="2267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√Σ (aⱼ − bⱼ)²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8803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 K-Means. La línea recta. Penaliza mucho las diferencias grandes.</a:t>
            </a:r>
            <a:endParaRPr lang="en-US" sz="1600" dirty="0"/>
          </a:p>
        </p:txBody>
      </p:sp>
      <p:sp>
        <p:nvSpPr>
          <p:cNvPr id="11" name="tarjeta"/>
          <p:cNvSpPr/>
          <p:nvPr/>
        </p:nvSpPr>
        <p:spPr>
          <a:xfrm>
            <a:off x="6172200" y="2103120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732520" y="22677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|aⱼ − bⱼ|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28803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diferencias. Menos sensible a un valor extremo.</a:t>
            </a:r>
            <a:endParaRPr lang="en-US" sz="1600" dirty="0"/>
          </a:p>
        </p:txBody>
      </p:sp>
      <p:sp>
        <p:nvSpPr>
          <p:cNvPr id="15" name="tarjeta"/>
          <p:cNvSpPr/>
          <p:nvPr/>
        </p:nvSpPr>
        <p:spPr>
          <a:xfrm>
            <a:off x="502920" y="4279392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44439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Coseno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3063240" y="44439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1 − a·b / (‖a‖‖b‖)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la forma, no el tamaño: dos clientes con la misma mezcla de gasto, aunque uno gaste 10 veces más.</a:t>
            </a:r>
            <a:endParaRPr lang="en-US" sz="1600" dirty="0"/>
          </a:p>
        </p:txBody>
      </p:sp>
      <p:sp>
        <p:nvSpPr>
          <p:cNvPr id="19" name="tarjeta"/>
          <p:cNvSpPr/>
          <p:nvPr/>
        </p:nvSpPr>
        <p:spPr>
          <a:xfrm>
            <a:off x="6172200" y="4279392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44439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Gower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8732520" y="44439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de diferencias por variable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5056632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bases mixtas (numéricas y categóricas). Se usa con K-Medoids o jerárquico.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441448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ESCALADO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escalar, el gasto decide todo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con 6 grupos sobre los datos crudos: no encuentra tipos de cliente, corta rebanadas de gasto.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3291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6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99.9 %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varianza total viene del gasto mensual</a:t>
            </a:r>
            <a:endParaRPr lang="en-US" sz="1200" dirty="0"/>
          </a:p>
        </p:txBody>
      </p:sp>
      <p:sp>
        <p:nvSpPr>
          <p:cNvPr id="10" name="tarjeta"/>
          <p:cNvSpPr/>
          <p:nvPr/>
        </p:nvSpPr>
        <p:spPr>
          <a:xfrm>
            <a:off x="502920" y="4297680"/>
            <a:ext cx="3291840" cy="2057400"/>
          </a:xfrm>
          <a:prstGeom prst="roundRect">
            <a:avLst>
              <a:gd name="adj" fmla="val 355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receta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800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np.log1p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montos y conteos sesgados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StandardScaler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 12 variables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069080" y="2011680"/>
          <a:ext cx="76352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756916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7569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DE ALGORITMOS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familias de algoritmos de clustering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familia entiende «grupo» de otra manera. Hoy vemos la primera; la próxima clase, las otras cuatro.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2103120" cy="4251960"/>
          </a:xfrm>
          <a:prstGeom prst="roundRect">
            <a:avLst>
              <a:gd name="adj" fmla="val 3478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2304288"/>
            <a:ext cx="457200" cy="457200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4088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04088" y="33832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es un centro.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04088" y="43891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K-Medoids · Mini-Batch · K-Prototypes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04088" y="5897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spc="200" kern="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13" name="tarjeta"/>
          <p:cNvSpPr/>
          <p:nvPr/>
        </p:nvSpPr>
        <p:spPr>
          <a:xfrm>
            <a:off x="2761488" y="2103120"/>
            <a:ext cx="2103120" cy="42519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62656" y="2304288"/>
            <a:ext cx="457200" cy="45720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62656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Jerárquicos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2962656" y="33832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Fusiona grupos de a dos y deja un árbol.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962656" y="43891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Aglomerativo (Ward, completo, promedio, simple) · BIRCH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2962656" y="5897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spc="2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19" name="tarjeta"/>
          <p:cNvSpPr/>
          <p:nvPr/>
        </p:nvSpPr>
        <p:spPr>
          <a:xfrm>
            <a:off x="5020056" y="2103120"/>
            <a:ext cx="2103120" cy="42519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221224" y="2304288"/>
            <a:ext cx="457200" cy="457200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21224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221224" y="33832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grupo es una zona densa; lo demás es ruido.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221224" y="43891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· OPTICS · HDBSCAN · Mean Shift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5221224" y="5897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spc="2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25" name="tarjeta"/>
          <p:cNvSpPr/>
          <p:nvPr/>
        </p:nvSpPr>
        <p:spPr>
          <a:xfrm>
            <a:off x="7278624" y="2103120"/>
            <a:ext cx="2103120" cy="42519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79792" y="2304288"/>
            <a:ext cx="457200" cy="45720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79792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7479792" y="33832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es una distribución de probabilidad.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7479792" y="43891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Mezclas gaussianas (GMM)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7479792" y="5897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spc="2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31" name="tarjeta"/>
          <p:cNvSpPr/>
          <p:nvPr/>
        </p:nvSpPr>
        <p:spPr>
          <a:xfrm>
            <a:off x="9537192" y="2103120"/>
            <a:ext cx="2103120" cy="42519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738360" y="2304288"/>
            <a:ext cx="457200" cy="457200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738360" y="29260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Grafos y otros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9738360" y="33832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vecinos bien conectados.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9738360" y="43891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Espectral · Affinity Propagation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9738360" y="58978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spc="2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336292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336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K-MEANS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repite dos pasos: asignar y mover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que ningún cliente cambia de grupo. Lo que minimiza es la inercia.</a:t>
            </a:r>
            <a:endParaRPr lang="en-US" sz="1400" dirty="0"/>
          </a:p>
        </p:txBody>
      </p:sp>
      <p:pic>
        <p:nvPicPr>
          <p:cNvPr id="7" name="Image 0" descr="/home/claude/c10/img/kmeans_pa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11680"/>
            <a:ext cx="11155680" cy="2928000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502920" y="5166360"/>
            <a:ext cx="551383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Inercia = Σ ‖xᵢ − μ</a:t>
            </a:r>
            <a:pPr indent="0" marL="0">
              <a:spcAft>
                <a:spcPts val="400"/>
              </a:spcAft>
              <a:buNone/>
            </a:pPr>
            <a:r>
              <a:rPr lang="en-US" sz="1900" b="1" baseline="-40000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c(i)</a:t>
            </a:r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‖²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713232" y="57150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las distancias al cuadrado de cada cliente a su centro. Baja siempre al agregar grupos.</a:t>
            </a:r>
            <a:endParaRPr lang="en-US" sz="1300" dirty="0"/>
          </a:p>
        </p:txBody>
      </p:sp>
      <p:sp>
        <p:nvSpPr>
          <p:cNvPr id="11" name="tarjeta"/>
          <p:cNvSpPr/>
          <p:nvPr/>
        </p:nvSpPr>
        <p:spPr>
          <a:xfrm>
            <a:off x="6172200" y="5166360"/>
            <a:ext cx="5513832" cy="1188720"/>
          </a:xfrm>
          <a:prstGeom prst="roundRect">
            <a:avLst>
              <a:gd name="adj" fmla="val 615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82512" y="52578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KMeans(n_clusters=6, n_init=10, random_state=42)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lo eliges tú · 10 arranques, se queda con la menor inercia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336292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336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K-MEANS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K-Means supone, y cuándo falla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rápido y fácil de explicar. A cambio, tiene supuestos fuertes sobre la forma de los grupos.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3347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los centros iniciales lejos unos de otros. Converge más rápido y mejor que al azar.</a:t>
            </a:r>
            <a:endParaRPr lang="en-US" sz="1350" dirty="0"/>
          </a:p>
        </p:txBody>
      </p:sp>
      <p:sp>
        <p:nvSpPr>
          <p:cNvPr id="10" name="tarjeta"/>
          <p:cNvSpPr/>
          <p:nvPr/>
        </p:nvSpPr>
        <p:spPr>
          <a:xfrm>
            <a:off x="502920" y="3538728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6758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0690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depende del arranque y puede quedar en un mínimo local. Se corre varias veces.</a:t>
            </a:r>
            <a:endParaRPr lang="en-US" sz="1350" dirty="0"/>
          </a:p>
        </p:txBody>
      </p:sp>
      <p:sp>
        <p:nvSpPr>
          <p:cNvPr id="13" name="tarjeta"/>
          <p:cNvSpPr/>
          <p:nvPr/>
        </p:nvSpPr>
        <p:spPr>
          <a:xfrm>
            <a:off x="502920" y="4974336"/>
            <a:ext cx="51206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51114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bien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50468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proporcional a clientes × k × variables. Millones de clientes sin problema.</a:t>
            </a:r>
            <a:endParaRPr lang="en-US" sz="1350" dirty="0"/>
          </a:p>
        </p:txBody>
      </p:sp>
      <p:sp>
        <p:nvSpPr>
          <p:cNvPr id="16" name="tarjeta"/>
          <p:cNvSpPr/>
          <p:nvPr/>
        </p:nvSpPr>
        <p:spPr>
          <a:xfrm>
            <a:off x="5897880" y="2103120"/>
            <a:ext cx="5788152" cy="4251960"/>
          </a:xfrm>
          <a:prstGeom prst="roundRect">
            <a:avLst>
              <a:gd name="adj" fmla="val 172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26480" y="2240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Supone, y si no se cumple, falla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2743200"/>
            <a:ext cx="5349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darle k: no decide cuántos grupos hay.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redondos (esféricos) y de tamaño parecido.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variables numéricas y en la misma escala.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extremos tiran de las medias: un puñado de clientes raros mueve un centro.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a todos: no puede decir «este cliente no se parece a nadie».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441448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ELEGIR K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codo no es nítido y la silueta prefiere 4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sobre las 12 variables escaladas, k de 2 a 10.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01168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846320" y="201168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arjeta"/>
          <p:cNvSpPr/>
          <p:nvPr/>
        </p:nvSpPr>
        <p:spPr>
          <a:xfrm>
            <a:off x="502920" y="5303520"/>
            <a:ext cx="8549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13232" y="5349240"/>
            <a:ext cx="8138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(b − a) / máx(a, b) 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distancia media a los de su grupo · b: al grupo vecino más cercano. Cerca de 1, bien ubicado; cerca de 0, en la frontera; negativo, en el grupo equivocado.</a:t>
            </a:r>
            <a:endParaRPr lang="en-US" sz="1300" dirty="0"/>
          </a:p>
        </p:txBody>
      </p:sp>
      <p:sp>
        <p:nvSpPr>
          <p:cNvPr id="11" name="tarjeta"/>
          <p:cNvSpPr/>
          <p:nvPr/>
        </p:nvSpPr>
        <p:spPr>
          <a:xfrm>
            <a:off x="9326880" y="2103120"/>
            <a:ext cx="23591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0976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0.378</a:t>
            </a:r>
            <a:endParaRPr lang="en-US" sz="3200" dirty="0"/>
          </a:p>
        </p:txBody>
      </p:sp>
      <p:sp>
        <p:nvSpPr>
          <p:cNvPr id="13" name="Text 8"/>
          <p:cNvSpPr txBox="1"/>
          <p:nvPr/>
        </p:nvSpPr>
        <p:spPr>
          <a:xfrm>
            <a:off x="950976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silueta con k = 4 · la más alta</a:t>
            </a:r>
            <a:endParaRPr lang="en-US" sz="1200" dirty="0"/>
          </a:p>
        </p:txBody>
      </p:sp>
      <p:sp>
        <p:nvSpPr>
          <p:cNvPr id="14" name="tarjeta"/>
          <p:cNvSpPr/>
          <p:nvPr/>
        </p:nvSpPr>
        <p:spPr>
          <a:xfrm>
            <a:off x="9326880" y="3703320"/>
            <a:ext cx="235915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50976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0.335</a:t>
            </a:r>
            <a:endParaRPr lang="en-US" sz="3200" dirty="0"/>
          </a:p>
        </p:txBody>
      </p:sp>
      <p:sp>
        <p:nvSpPr>
          <p:cNvPr id="16" name="Text 11"/>
          <p:cNvSpPr txBox="1"/>
          <p:nvPr/>
        </p:nvSpPr>
        <p:spPr>
          <a:xfrm>
            <a:off x="9509760" y="4389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silueta con k = 6 · la segunda</a:t>
            </a:r>
            <a:endParaRPr lang="en-US" sz="1200" dirty="0"/>
          </a:p>
        </p:txBody>
      </p:sp>
      <p:sp>
        <p:nvSpPr>
          <p:cNvPr id="17" name="tarjeta"/>
          <p:cNvSpPr/>
          <p:nvPr/>
        </p:nvSpPr>
        <p:spPr>
          <a:xfrm>
            <a:off x="9326880" y="5303520"/>
            <a:ext cx="2359152" cy="1051560"/>
          </a:xfrm>
          <a:prstGeom prst="roundRect">
            <a:avLst>
              <a:gd name="adj" fmla="val 6957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491472" y="534924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proponen; el negocio decide.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441448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PERFILAR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de los 6 grupos, en desviaciones frente a la cartera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Rojo: el grupo está por encima de la cartera en esa variable. Azul: por debajo. K-Means con k = 6.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3112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súper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rest.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viajes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online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pago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uso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Revolvente · 1029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F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7A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A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9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 de efectivo · 1003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C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9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C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A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A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B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704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joven · 978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8D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C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A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41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54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5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Cotidiano · 2133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3C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2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Dormido · 531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A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AE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A9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115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viajero · 1011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7A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F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3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B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F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37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7A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C6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C"/>
                    </a:solidFill>
                  </a:tcPr>
                </a:tc>
              </a:tr>
            </a:tbl>
          </a:graphicData>
        </a:graphic>
      </p:graphicFrame>
      <p:sp>
        <p:nvSpPr>
          <p:cNvPr id="8" name="tarjeta"/>
          <p:cNvSpPr/>
          <p:nvPr/>
        </p:nvSpPr>
        <p:spPr>
          <a:xfrm>
            <a:off x="502920" y="603504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E9EEF8"/>
          </a:solidFill>
          <a:ln w="12700">
            <a:solidFill>
              <a:srgbClr val="E9EE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" y="6035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segmento se reconoce por una o dos celdas fuertes. Así se les pone nombre: con reglas sobre el perfil, nunca con el número de cluster.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336292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336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NOMBRAR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segmentos con nombre de negocio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 cluster cambia con la semilla o la versión; el nombre sale de una regla sobre el perfil.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4088" y="2322576"/>
            <a:ext cx="292608" cy="292608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24712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Revolvente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04088" y="2743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1 029 clientes · regla: más utilización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04088" y="3108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76 % de su línea y paga solo el 14 % del saldo.</a:t>
            </a:r>
            <a:endParaRPr lang="en-US" sz="1350" dirty="0"/>
          </a:p>
        </p:txBody>
      </p:sp>
      <p:sp>
        <p:nvSpPr>
          <p:cNvPr id="12" name="tarjeta"/>
          <p:cNvSpPr/>
          <p:nvPr/>
        </p:nvSpPr>
        <p:spPr>
          <a:xfrm>
            <a:off x="4270248" y="2103120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71416" y="2322576"/>
            <a:ext cx="292608" cy="292608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de efectivo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471416" y="2743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1 003 clientes · regla: más avances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471416" y="3108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 avances en 6 meses, poca app, paga el 14 %.</a:t>
            </a:r>
            <a:endParaRPr lang="en-US" sz="1350" dirty="0"/>
          </a:p>
        </p:txBody>
      </p:sp>
      <p:sp>
        <p:nvSpPr>
          <p:cNvPr id="17" name="tarjeta"/>
          <p:cNvSpPr/>
          <p:nvPr/>
        </p:nvSpPr>
        <p:spPr>
          <a:xfrm>
            <a:off x="8037576" y="2103120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38744" y="2322576"/>
            <a:ext cx="292608" cy="292608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59368" y="2240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joven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238744" y="2743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 clientes · regla: más % de app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238744" y="31089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años en promedio, 49 compras al mes, 55 % online, 92 % por app.</a:t>
            </a:r>
            <a:endParaRPr lang="en-US" sz="1350" dirty="0"/>
          </a:p>
        </p:txBody>
      </p:sp>
      <p:sp>
        <p:nvSpPr>
          <p:cNvPr id="22" name="tarjeta"/>
          <p:cNvSpPr/>
          <p:nvPr/>
        </p:nvSpPr>
        <p:spPr>
          <a:xfrm>
            <a:off x="502920" y="4279392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4088" y="4498848"/>
            <a:ext cx="292608" cy="292608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124712" y="44165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Cotidiano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" y="49194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2 133 clientes · regla: el que queda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704088" y="528523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grupo más grande: 44 % del gasto en supermercado.</a:t>
            </a:r>
            <a:endParaRPr lang="en-US" sz="1350" dirty="0"/>
          </a:p>
        </p:txBody>
      </p:sp>
      <p:sp>
        <p:nvSpPr>
          <p:cNvPr id="27" name="tarjeta"/>
          <p:cNvSpPr/>
          <p:nvPr/>
        </p:nvSpPr>
        <p:spPr>
          <a:xfrm>
            <a:off x="4270248" y="4279392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71416" y="4498848"/>
            <a:ext cx="292608" cy="292608"/>
          </a:xfrm>
          <a:prstGeom prst="ellipse">
            <a:avLst/>
          </a:prstGeom>
          <a:solidFill>
            <a:srgbClr val="5B6B87"/>
          </a:solidFill>
          <a:ln w="12700">
            <a:solidFill>
              <a:srgbClr val="5B6B8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92040" y="44165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Dormido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4471416" y="49194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531 clientes · regla: más meses sin uso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471416" y="528523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6 meses sin una compra. Gasta S/ 51 al mes.</a:t>
            </a:r>
            <a:endParaRPr lang="en-US" sz="1350" dirty="0"/>
          </a:p>
        </p:txBody>
      </p:sp>
      <p:sp>
        <p:nvSpPr>
          <p:cNvPr id="32" name="tarjeta"/>
          <p:cNvSpPr/>
          <p:nvPr/>
        </p:nvSpPr>
        <p:spPr>
          <a:xfrm>
            <a:off x="8037576" y="4279392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238744" y="4498848"/>
            <a:ext cx="292608" cy="292608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659368" y="44165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viajero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8238744" y="49194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1 011 clientes · regla: más % de viajes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8238744" y="5285232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5 629 al mes, 28 % en viajes, paga el 94 % del saldo.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3808476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38084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CRUZAR CON EL NEGOCIO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clustering no vio el default, y los segmentos lo separan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foto de 2026 de cada cliente en la cartera de la Clase 9, unida por id_cliente.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01168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arjeta"/>
          <p:cNvSpPr/>
          <p:nvPr/>
        </p:nvSpPr>
        <p:spPr>
          <a:xfrm>
            <a:off x="7726680" y="2103120"/>
            <a:ext cx="395935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955280" y="2176272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2.4×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9418320" y="217627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lift de Revolvente: 21.7 % contra 9.1 %</a:t>
            </a:r>
            <a:endParaRPr lang="en-US" sz="1300" dirty="0"/>
          </a:p>
        </p:txBody>
      </p:sp>
      <p:sp>
        <p:nvSpPr>
          <p:cNvPr id="11" name="tarjeta"/>
          <p:cNvSpPr/>
          <p:nvPr/>
        </p:nvSpPr>
        <p:spPr>
          <a:xfrm>
            <a:off x="7726680" y="3566160"/>
            <a:ext cx="395935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955280" y="3639312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0.34×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9418320" y="363931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 Premium viajero: 3.1 %</a:t>
            </a:r>
            <a:endParaRPr lang="en-US" sz="1300" dirty="0"/>
          </a:p>
        </p:txBody>
      </p:sp>
      <p:sp>
        <p:nvSpPr>
          <p:cNvPr id="14" name="tarjeta"/>
          <p:cNvSpPr/>
          <p:nvPr/>
        </p:nvSpPr>
        <p:spPr>
          <a:xfrm>
            <a:off x="7726680" y="5120640"/>
            <a:ext cx="3959352" cy="1234440"/>
          </a:xfrm>
          <a:prstGeom prst="roundRect">
            <a:avLst>
              <a:gd name="adj" fmla="val 592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936992" y="516636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al score de la Clase 9: el segmento dice quién es el cliente para decidir cómo hablarle.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967228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9672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K = 4 O K = 6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k = 4, tres segmentos muy distintos quedan juntos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silueta prefería 4 porque Cotidiano, Revolvente y Efectivo están cerca. Para el negocio, no se parecen.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7315200" cy="4251960"/>
          </a:xfrm>
          <a:prstGeom prst="roundRect">
            <a:avLst>
              <a:gd name="adj" fmla="val 1720"/>
            </a:avLst>
          </a:prstGeom>
          <a:solidFill>
            <a:srgbClr val="E9EEF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grupo de k = 4 · 4 152 clientes · default 11.6 %</a:t>
            </a:r>
            <a:endParaRPr lang="en-US" sz="1700" dirty="0"/>
          </a:p>
        </p:txBody>
      </p:sp>
      <p:sp>
        <p:nvSpPr>
          <p:cNvPr id="9" name="tarjeta"/>
          <p:cNvSpPr/>
          <p:nvPr/>
        </p:nvSpPr>
        <p:spPr>
          <a:xfrm>
            <a:off x="731520" y="2880360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3063240"/>
            <a:ext cx="292608" cy="292608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Cotidiano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2 120 clientes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663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4.9 %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5303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default</a:t>
            </a:r>
            <a:endParaRPr lang="en-US" sz="1200" dirty="0"/>
          </a:p>
        </p:txBody>
      </p:sp>
      <p:sp>
        <p:nvSpPr>
          <p:cNvPr id="15" name="tarjeta"/>
          <p:cNvSpPr/>
          <p:nvPr/>
        </p:nvSpPr>
        <p:spPr>
          <a:xfrm>
            <a:off x="3063240" y="2880360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46120" y="3063240"/>
            <a:ext cx="292608" cy="292608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4612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Revolvente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24612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1 029 clientes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246120" y="4663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21.7 %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3246120" y="5303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default</a:t>
            </a:r>
            <a:endParaRPr lang="en-US" sz="1200" dirty="0"/>
          </a:p>
        </p:txBody>
      </p:sp>
      <p:sp>
        <p:nvSpPr>
          <p:cNvPr id="21" name="tarjeta"/>
          <p:cNvSpPr/>
          <p:nvPr/>
        </p:nvSpPr>
        <p:spPr>
          <a:xfrm>
            <a:off x="5394960" y="2880360"/>
            <a:ext cx="2148840" cy="32461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77840" y="3063240"/>
            <a:ext cx="292608" cy="292608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57784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de efectivo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57784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1 003 clientes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77840" y="4663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15.3 %</a:t>
            </a:r>
            <a:endParaRPr lang="en-US" sz="32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0" y="5303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default</a:t>
            </a:r>
            <a:endParaRPr lang="en-US" sz="1200" dirty="0"/>
          </a:p>
        </p:txBody>
      </p:sp>
      <p:sp>
        <p:nvSpPr>
          <p:cNvPr id="27" name="tarjeta"/>
          <p:cNvSpPr/>
          <p:nvPr/>
        </p:nvSpPr>
        <p:spPr>
          <a:xfrm>
            <a:off x="8092440" y="2103120"/>
            <a:ext cx="359359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02752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otros tres grupos de k = 4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302752" y="265176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viajero, Dormido, y Digital joven (con los clientes atípicos adentro): igual que con k = 6.</a:t>
            </a:r>
            <a:endParaRPr lang="en-US" sz="1350" dirty="0"/>
          </a:p>
        </p:txBody>
      </p:sp>
      <p:sp>
        <p:nvSpPr>
          <p:cNvPr id="30" name="tarjeta"/>
          <p:cNvSpPr/>
          <p:nvPr/>
        </p:nvSpPr>
        <p:spPr>
          <a:xfrm>
            <a:off x="8092440" y="4663440"/>
            <a:ext cx="3593592" cy="1691640"/>
          </a:xfrm>
          <a:prstGeom prst="roundRect">
            <a:avLst>
              <a:gd name="adj" fmla="val 432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02752" y="4736592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proponen un rango (de 4 a 6). La interpretabilidad y la acción eligen.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546604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VARIANTES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familia de K-Means: cuatro variantes que vas a encontrar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Cambian el centro, la escala o el tipo de datos. La lógica de asignar y mover es la misma.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K-Medoids (PAM)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974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centro es un cliente real (el medoide), no un promedio. Acepta cualquier distancia, como Gower, y aguanta los extremos. Más lento.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6576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kmedoids · scikit-learn-extra</a:t>
            </a:r>
            <a:endParaRPr lang="en-US" sz="1200" dirty="0"/>
          </a:p>
        </p:txBody>
      </p:sp>
      <p:sp>
        <p:nvSpPr>
          <p:cNvPr id="11" name="tarjeta"/>
          <p:cNvSpPr/>
          <p:nvPr/>
        </p:nvSpPr>
        <p:spPr>
          <a:xfrm>
            <a:off x="6172200" y="2103120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K-Means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6974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los centros con lotes pequeños de clientes. Para millones de filas. Pierde algo de precisión.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36576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sklearn.cluster.MiniBatchKMeans</a:t>
            </a:r>
            <a:endParaRPr lang="en-US" sz="1200" dirty="0"/>
          </a:p>
        </p:txBody>
      </p:sp>
      <p:sp>
        <p:nvSpPr>
          <p:cNvPr id="15" name="tarjeta"/>
          <p:cNvSpPr/>
          <p:nvPr/>
        </p:nvSpPr>
        <p:spPr>
          <a:xfrm>
            <a:off x="502920" y="4279392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44165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K-Prototypes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873752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K-Means para las numéricas y K-Modes (la moda) para las categóricas, como tipo de empleo.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83387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kmodes.KPrototypes</a:t>
            </a:r>
            <a:endParaRPr lang="en-US" sz="1200" dirty="0"/>
          </a:p>
        </p:txBody>
      </p:sp>
      <p:sp>
        <p:nvSpPr>
          <p:cNvPr id="19" name="tarjeta"/>
          <p:cNvSpPr/>
          <p:nvPr/>
        </p:nvSpPr>
        <p:spPr>
          <a:xfrm>
            <a:off x="6172200" y="4279392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44165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Bisecting K-Means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4873752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con un grupo y lo parte en dos una y otra vez. Deja una jerarquía de segmentos y subsegmentos.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583387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sklearn.cluster.BisectingKMeans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3072384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MIRAR Y CERRAR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segmentos en dos dimensiones, y un aviso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solo para mirar: las 12 variables escaladas proyectadas en 2 componentes (52 % de la varianza).</a:t>
            </a:r>
            <a:endParaRPr lang="en-US" sz="1400" dirty="0"/>
          </a:p>
        </p:txBody>
      </p:sp>
      <p:pic>
        <p:nvPicPr>
          <p:cNvPr id="7" name="Image 0" descr="/home/claude/c10/img/pca_segmen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65960"/>
            <a:ext cx="7223760" cy="4334256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8001000" y="2103120"/>
            <a:ext cx="368503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11312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joven · gasto mensual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11312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1 691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0012680" y="2697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32278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704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663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10012680" y="3227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211312" y="37581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29 766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10012680" y="37581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</a:t>
            </a:r>
            <a:endParaRPr lang="en-US" sz="1300" dirty="0"/>
          </a:p>
        </p:txBody>
      </p:sp>
      <p:sp>
        <p:nvSpPr>
          <p:cNvPr id="16" name="tarjeta"/>
          <p:cNvSpPr/>
          <p:nvPr/>
        </p:nvSpPr>
        <p:spPr>
          <a:xfrm>
            <a:off x="8001000" y="4572000"/>
            <a:ext cx="3685032" cy="1783080"/>
          </a:xfrm>
          <a:prstGeom prst="roundRect">
            <a:avLst>
              <a:gd name="adj" fmla="val 4103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11312" y="466344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asigna a todos. No puede decir «este cliente no se parece a nadie». Para eso, la parte 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56692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5669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· PARTE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K-Means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2860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Mismos datos, cuatro familias más. Y una ventaja que solo tenemos en clase: sabemos con qué segmentos se generaron los datos, así que podemos medir qué algoritmo los recupera mejor.</a:t>
            </a:r>
            <a:endParaRPr lang="en-US" sz="1600" dirty="0"/>
          </a:p>
        </p:txBody>
      </p:sp>
      <p:sp>
        <p:nvSpPr>
          <p:cNvPr id="6" name="tarjeta"/>
          <p:cNvSpPr/>
          <p:nvPr/>
        </p:nvSpPr>
        <p:spPr>
          <a:xfrm>
            <a:off x="502920" y="40233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224528"/>
            <a:ext cx="365760" cy="36576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Jerárquico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074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árboles de fusiones</a:t>
            </a:r>
            <a:endParaRPr lang="en-US" sz="1300" dirty="0"/>
          </a:p>
        </p:txBody>
      </p:sp>
      <p:sp>
        <p:nvSpPr>
          <p:cNvPr id="10" name="tarjeta"/>
          <p:cNvSpPr/>
          <p:nvPr/>
        </p:nvSpPr>
        <p:spPr>
          <a:xfrm>
            <a:off x="3319272" y="40233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47872" y="4224528"/>
            <a:ext cx="365760" cy="365760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47872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5074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densas y ruido</a:t>
            </a:r>
            <a:endParaRPr lang="en-US" sz="1300" dirty="0"/>
          </a:p>
        </p:txBody>
      </p:sp>
      <p:sp>
        <p:nvSpPr>
          <p:cNvPr id="14" name="tarjeta"/>
          <p:cNvSpPr/>
          <p:nvPr/>
        </p:nvSpPr>
        <p:spPr>
          <a:xfrm>
            <a:off x="6135624" y="40233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64224" y="4224528"/>
            <a:ext cx="365760" cy="36576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4224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5074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pertenencia con probabilidad</a:t>
            </a:r>
            <a:endParaRPr lang="en-US" sz="1300" dirty="0"/>
          </a:p>
        </p:txBody>
      </p:sp>
      <p:sp>
        <p:nvSpPr>
          <p:cNvPr id="18" name="tarjeta"/>
          <p:cNvSpPr/>
          <p:nvPr/>
        </p:nvSpPr>
        <p:spPr>
          <a:xfrm>
            <a:off x="8951976" y="40233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0576" y="4224528"/>
            <a:ext cx="365760" cy="365760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0576" y="4709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180576" y="5074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ARI, silueta y forma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Programa de Especialización Data Scientist · Sesiones 10 y 11 de 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JERÁRQUICO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Jerárquico aglomerativo: fusionar de a dos y dibujar el árbol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con un grupo por cliente y une los dos más cercanos, una y otra vez, hasta que queda uno solo.</a:t>
            </a:r>
            <a:endParaRPr lang="en-US" sz="1400" dirty="0"/>
          </a:p>
        </p:txBody>
      </p:sp>
      <p:pic>
        <p:nvPicPr>
          <p:cNvPr id="7" name="Image 0" descr="/home/claude/c10/img/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11680"/>
            <a:ext cx="7223760" cy="3318218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502920" y="5440680"/>
            <a:ext cx="7223760" cy="914400"/>
          </a:xfrm>
          <a:prstGeom prst="roundRect">
            <a:avLst>
              <a:gd name="adj" fmla="val 8000"/>
            </a:avLst>
          </a:prstGeom>
          <a:solidFill>
            <a:srgbClr val="E9EEF8"/>
          </a:solidFill>
          <a:ln w="12700">
            <a:solidFill>
              <a:srgbClr val="E9EE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" y="54406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altura de cada unión es la distancia entre los grupos que se fusionan. Una unión muy alta: grupos muy distintos. Ahí se corta.</a:t>
            </a:r>
            <a:endParaRPr lang="en-US" sz="1350" dirty="0"/>
          </a:p>
        </p:txBody>
      </p:sp>
      <p:sp>
        <p:nvSpPr>
          <p:cNvPr id="10" name="tarjeta"/>
          <p:cNvSpPr/>
          <p:nvPr/>
        </p:nvSpPr>
        <p:spPr>
          <a:xfrm>
            <a:off x="8001000" y="2103120"/>
            <a:ext cx="36850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11312" y="2212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pide k al inicio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5786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corta el árbol después, mirando las alturas.</a:t>
            </a:r>
            <a:endParaRPr lang="en-US" sz="1300" dirty="0"/>
          </a:p>
        </p:txBody>
      </p:sp>
      <p:sp>
        <p:nvSpPr>
          <p:cNvPr id="13" name="tarjeta"/>
          <p:cNvSpPr/>
          <p:nvPr/>
        </p:nvSpPr>
        <p:spPr>
          <a:xfrm>
            <a:off x="8001000" y="3538728"/>
            <a:ext cx="36850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11312" y="36484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natural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211312" y="401421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y subsegmentos en un solo resultado.</a:t>
            </a:r>
            <a:endParaRPr lang="en-US" sz="1300" dirty="0"/>
          </a:p>
        </p:txBody>
      </p:sp>
      <p:sp>
        <p:nvSpPr>
          <p:cNvPr id="16" name="tarjeta"/>
          <p:cNvSpPr/>
          <p:nvPr/>
        </p:nvSpPr>
        <p:spPr>
          <a:xfrm>
            <a:off x="8001000" y="4974336"/>
            <a:ext cx="36850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11312" y="50840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n²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8211312" y="544982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todas las distancias entre pares. Para millones de filas, BIRCH o muestrear.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3177540" cy="347472"/>
          </a:xfrm>
          <a:prstGeom prst="roundRect">
            <a:avLst>
              <a:gd name="adj" fmla="val 50000"/>
            </a:avLst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3177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TIPOS DE ENLACE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distancia entre dos grupos se puede medir de cuatro formas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decisión más importante del jerárquico. ARI frente a los segmentos reales, con 6 grupos.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2651760" cy="4251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4088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(single)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 de clientes más cercano entre los dos grupos.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04088" y="3703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Encadena: un grupo gigante y varios de un cliente.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04088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704088" y="5486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en el caso</a:t>
            </a:r>
            <a:endParaRPr lang="en-US" sz="1200" dirty="0"/>
          </a:p>
        </p:txBody>
      </p:sp>
      <p:sp>
        <p:nvSpPr>
          <p:cNvPr id="13" name="tarjeta"/>
          <p:cNvSpPr/>
          <p:nvPr/>
        </p:nvSpPr>
        <p:spPr>
          <a:xfrm>
            <a:off x="3319272" y="2103120"/>
            <a:ext cx="2651760" cy="4251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2044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 (complete)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 más lejano.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3703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compactos, sensibles a extremos.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520440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3520440" y="5486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en el caso</a:t>
            </a:r>
            <a:endParaRPr lang="en-US" sz="1200" dirty="0"/>
          </a:p>
        </p:txBody>
      </p:sp>
      <p:sp>
        <p:nvSpPr>
          <p:cNvPr id="19" name="tarjeta"/>
          <p:cNvSpPr/>
          <p:nvPr/>
        </p:nvSpPr>
        <p:spPr>
          <a:xfrm>
            <a:off x="6135624" y="2103120"/>
            <a:ext cx="2651760" cy="4251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36792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(average)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336792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promedio de todos los pares.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336792" y="3703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medio entre los dos anteriores.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336792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3400" dirty="0"/>
          </a:p>
        </p:txBody>
      </p:sp>
      <p:sp>
        <p:nvSpPr>
          <p:cNvPr id="24" name="Text 21"/>
          <p:cNvSpPr txBox="1"/>
          <p:nvPr/>
        </p:nvSpPr>
        <p:spPr>
          <a:xfrm>
            <a:off x="6336792" y="5486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en el caso</a:t>
            </a:r>
            <a:endParaRPr lang="en-US" sz="1200" dirty="0"/>
          </a:p>
        </p:txBody>
      </p:sp>
      <p:sp>
        <p:nvSpPr>
          <p:cNvPr id="25" name="tarjeta"/>
          <p:cNvSpPr/>
          <p:nvPr/>
        </p:nvSpPr>
        <p:spPr>
          <a:xfrm>
            <a:off x="8951976" y="2103120"/>
            <a:ext cx="2651760" cy="4251960"/>
          </a:xfrm>
          <a:prstGeom prst="roundRect">
            <a:avLst>
              <a:gd name="adj" fmla="val 2759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53144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153144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sube la varianza dentro del grupo al unirlos.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9153144" y="3703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redondos y parejos, como K-Means.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153144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4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3400" dirty="0"/>
          </a:p>
        </p:txBody>
      </p:sp>
      <p:sp>
        <p:nvSpPr>
          <p:cNvPr id="30" name="Text 27"/>
          <p:cNvSpPr txBox="1"/>
          <p:nvPr/>
        </p:nvSpPr>
        <p:spPr>
          <a:xfrm>
            <a:off x="9153144" y="5486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en el caso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231136" cy="347472"/>
          </a:xfrm>
          <a:prstGeom prst="roundRect">
            <a:avLst>
              <a:gd name="adj" fmla="val 50000"/>
            </a:avLst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DBSCAN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DBSCAN: un grupo es una zona densa; lo demás es ruido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parámetros: eps (el radio del vecindario) y min_samples (cuántos vecinos hacen falta para ser núcleo).</a:t>
            </a:r>
            <a:endParaRPr lang="en-US" sz="1400" dirty="0"/>
          </a:p>
        </p:txBody>
      </p:sp>
      <p:pic>
        <p:nvPicPr>
          <p:cNvPr id="7" name="Image 0" descr="/home/claude/c10/img/dbscan_concep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11680"/>
            <a:ext cx="6400800" cy="4000500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7178040" y="2103120"/>
            <a:ext cx="4507992" cy="978408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88352" y="217627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217627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al menos min_samples vecinos dentro del radio eps.</a:t>
            </a:r>
            <a:endParaRPr lang="en-US" sz="1250" dirty="0"/>
          </a:p>
        </p:txBody>
      </p:sp>
      <p:sp>
        <p:nvSpPr>
          <p:cNvPr id="11" name="tarjeta"/>
          <p:cNvSpPr/>
          <p:nvPr/>
        </p:nvSpPr>
        <p:spPr>
          <a:xfrm>
            <a:off x="7178040" y="3200400"/>
            <a:ext cx="4507992" cy="978408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88352" y="327355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327355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dentro del radio de un núcleo, pero tiene menos vecinos.</a:t>
            </a:r>
            <a:endParaRPr lang="en-US" sz="1250" dirty="0"/>
          </a:p>
        </p:txBody>
      </p:sp>
      <p:sp>
        <p:nvSpPr>
          <p:cNvPr id="14" name="tarjeta"/>
          <p:cNvSpPr/>
          <p:nvPr/>
        </p:nvSpPr>
        <p:spPr>
          <a:xfrm>
            <a:off x="7178040" y="4297680"/>
            <a:ext cx="4507992" cy="978408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88352" y="43708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Ruido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43708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núcleo ni borde: etiqueta −1. No se le fuerza un grupo.</a:t>
            </a:r>
            <a:endParaRPr lang="en-US" sz="1250" dirty="0"/>
          </a:p>
        </p:txBody>
      </p:sp>
      <p:sp>
        <p:nvSpPr>
          <p:cNvPr id="17" name="tarjeta"/>
          <p:cNvSpPr/>
          <p:nvPr/>
        </p:nvSpPr>
        <p:spPr>
          <a:xfrm>
            <a:off x="7178040" y="5440680"/>
            <a:ext cx="4507992" cy="914400"/>
          </a:xfrm>
          <a:prstGeom prst="roundRect">
            <a:avLst>
              <a:gd name="adj" fmla="val 800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388352" y="54406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eps: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la distancia de cada cliente a su k-ésimo vecino y buscar el codo.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3282696" cy="347472"/>
          </a:xfrm>
          <a:prstGeom prst="roundRect">
            <a:avLst>
              <a:gd name="adj" fmla="val 50000"/>
            </a:avLst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OPTICS Y HDBSCAN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densidad cambia de un grupo a otro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eps no sirve para un grupo apretado y otro disperso. OPTICS y HDBSCAN prueban todos los radios.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9748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a los clientes por qué tan accesibles son desde zonas densas. El gráfico de alcanzabilidad muestra los grupos como valles; se cortan después.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6758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sklearn.cluster.OPTICS</a:t>
            </a:r>
            <a:endParaRPr lang="en-US" sz="1200" dirty="0"/>
          </a:p>
        </p:txBody>
      </p:sp>
      <p:sp>
        <p:nvSpPr>
          <p:cNvPr id="11" name="tarjeta"/>
          <p:cNvSpPr/>
          <p:nvPr/>
        </p:nvSpPr>
        <p:spPr>
          <a:xfrm>
            <a:off x="502920" y="4279392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4165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87375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DBSCAN para todos los radios y se queda con los grupos más estables. Un parámetro principal: min_cluster_size.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852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sklearn.cluster.HDBSCAN</a:t>
            </a:r>
            <a:endParaRPr lang="en-US" sz="1200" dirty="0"/>
          </a:p>
        </p:txBody>
      </p:sp>
      <p:sp>
        <p:nvSpPr>
          <p:cNvPr id="15" name="tarjeta"/>
          <p:cNvSpPr/>
          <p:nvPr/>
        </p:nvSpPr>
        <p:spPr>
          <a:xfrm>
            <a:off x="6263640" y="2103120"/>
            <a:ext cx="5422392" cy="4251960"/>
          </a:xfrm>
          <a:prstGeom prst="roundRect">
            <a:avLst>
              <a:gd name="adj" fmla="val 1720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92240" y="2240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nuestra cartera · HDBSCAN(min_cluster_size=100)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de 45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3337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atípicos marcados como ruido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00684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9006840" y="3337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grupos: fusiona los segmentos que se tocan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4160520"/>
            <a:ext cx="4983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Lección: la densidad no es la herramienta para segmentar esta cartera (ARI 0.09), pero es la mejor para encontrar a los clientes que no se parecen a nadie. Úsala como detector de anomalías, antes o después de K-Means.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3493008" cy="347472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MEZCLAS GAUSSIANAS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GMM: grupos como campanas, pertenencia con probabilidad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Pertenencia suave: un cliente puede ser 70 % Revolvente y 30 % Cotidiano. K-Means es el caso duro y redondo.</a:t>
            </a:r>
            <a:endParaRPr lang="en-US" sz="1400" dirty="0"/>
          </a:p>
        </p:txBody>
      </p:sp>
      <p:pic>
        <p:nvPicPr>
          <p:cNvPr id="7" name="Image 0" descr="/home/claude/c10/img/gm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11680"/>
            <a:ext cx="7223760" cy="2889504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502920" y="5074920"/>
            <a:ext cx="7223760" cy="1280160"/>
          </a:xfrm>
          <a:prstGeom prst="roundRect">
            <a:avLst>
              <a:gd name="adj" fmla="val 5714"/>
            </a:avLst>
          </a:prstGeom>
          <a:solidFill>
            <a:srgbClr val="E9EEF8"/>
          </a:solidFill>
          <a:ln w="12700">
            <a:solidFill>
              <a:srgbClr val="E9EE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" y="51206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25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GaussianMixture(6, covariance_type="tied").predict_proba(Zs)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elegir k: el BIC, que premia el ajuste y castiga los parámetros. Más bajo, mejor.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en el caso según la covarianza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2560320"/>
          <a:ext cx="368503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00200"/>
                <a:gridCol w="7589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covariance_type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 por grupo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ejes alineados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spherical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redonda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forma común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arjeta"/>
          <p:cNvSpPr/>
          <p:nvPr/>
        </p:nvSpPr>
        <p:spPr>
          <a:xfrm>
            <a:off x="8001000" y="5074920"/>
            <a:ext cx="3685032" cy="1280160"/>
          </a:xfrm>
          <a:prstGeom prst="roundRect">
            <a:avLst>
              <a:gd name="adj" fmla="val 5714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211312" y="51206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«full» hay demasiados parámetros, y las variables discretas lo rompen. Más flexible no es mejor.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3282696" cy="347472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3282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OTROS ALGORITMOS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algoritmos más que vale la pena conocer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usados en banca, pero aparecen en papers, entrevistas y librerías.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40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Shift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74320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cada cliente hacia la zona más densa cercana. No pide k, sí un ancho de banda.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25603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3291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· encontró 5 grupos</a:t>
            </a:r>
            <a:endParaRPr lang="en-US" sz="1100" dirty="0"/>
          </a:p>
        </p:txBody>
      </p:sp>
      <p:sp>
        <p:nvSpPr>
          <p:cNvPr id="12" name="tarjeta"/>
          <p:cNvSpPr/>
          <p:nvPr/>
        </p:nvSpPr>
        <p:spPr>
          <a:xfrm>
            <a:off x="6172200" y="2103120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0" y="2240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Espectral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274320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un grafo de vecinos y agrupa a los bien conectados. Bueno para formas raras; caro.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0104120" y="25603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9875520" y="3291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en el caso</a:t>
            </a:r>
            <a:endParaRPr lang="en-US" sz="1100" dirty="0"/>
          </a:p>
        </p:txBody>
      </p:sp>
      <p:sp>
        <p:nvSpPr>
          <p:cNvPr id="17" name="tarjeta"/>
          <p:cNvSpPr/>
          <p:nvPr/>
        </p:nvSpPr>
        <p:spPr>
          <a:xfrm>
            <a:off x="502920" y="4279392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416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BIRCH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4919472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los clientes en un árbol de subgrupos y agrupa el resumen. Para millones de filas.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4434840" y="473659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4206240" y="546811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en el caso</a:t>
            </a:r>
            <a:endParaRPr lang="en-US" sz="1100" dirty="0"/>
          </a:p>
        </p:txBody>
      </p:sp>
      <p:sp>
        <p:nvSpPr>
          <p:cNvPr id="22" name="tarjeta"/>
          <p:cNvSpPr/>
          <p:nvPr/>
        </p:nvSpPr>
        <p:spPr>
          <a:xfrm>
            <a:off x="6172200" y="4279392"/>
            <a:ext cx="55138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0" y="4416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Propagation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0" y="4919472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«votan» por representantes. No pide k. Costo n²: no lo corrimos.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10104120" y="4736592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9875520" y="546811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en el caso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231136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FORMAS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familia ve grupos distintos en los mismos puntos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juegos de datos de juguete, cinco algoritmos. Gris: ruido.</a:t>
            </a:r>
            <a:endParaRPr lang="en-US" sz="1400" dirty="0"/>
          </a:p>
        </p:txBody>
      </p:sp>
      <p:pic>
        <p:nvPicPr>
          <p:cNvPr id="7" name="Image 0" descr="/home/claude/c10/img/form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38528"/>
            <a:ext cx="7863840" cy="4440339"/>
          </a:xfrm>
          <a:prstGeom prst="rect">
            <a:avLst/>
          </a:prstGeom>
        </p:spPr>
      </p:pic>
      <p:sp>
        <p:nvSpPr>
          <p:cNvPr id="8" name="tarjeta"/>
          <p:cNvSpPr/>
          <p:nvPr/>
        </p:nvSpPr>
        <p:spPr>
          <a:xfrm>
            <a:off x="9509760" y="2103120"/>
            <a:ext cx="217627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674352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Redondos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9674352" y="2560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aciertan.</a:t>
            </a:r>
            <a:endParaRPr lang="en-US" sz="1200" dirty="0"/>
          </a:p>
        </p:txBody>
      </p:sp>
      <p:sp>
        <p:nvSpPr>
          <p:cNvPr id="11" name="tarjeta"/>
          <p:cNvSpPr/>
          <p:nvPr/>
        </p:nvSpPr>
        <p:spPr>
          <a:xfrm>
            <a:off x="9509760" y="3538728"/>
            <a:ext cx="217627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674352" y="36301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9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674352" y="399592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densidad las sigue.</a:t>
            </a:r>
            <a:endParaRPr lang="en-US" sz="1200" dirty="0"/>
          </a:p>
        </p:txBody>
      </p:sp>
      <p:sp>
        <p:nvSpPr>
          <p:cNvPr id="14" name="tarjeta"/>
          <p:cNvSpPr/>
          <p:nvPr/>
        </p:nvSpPr>
        <p:spPr>
          <a:xfrm>
            <a:off x="9509760" y="4974336"/>
            <a:ext cx="217627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674352" y="50657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Densidades + ruido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9674352" y="5431536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es el único que separa bien y aparta el ruido.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441448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COMPARAR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para elegir algoritmo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ARI: índice de Rand ajustado contra los segmentos reales de la cartera. 1 es perfecto; 0, lo mismo que al azar.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554480"/>
                <a:gridCol w="1600200"/>
                <a:gridCol w="1828800"/>
                <a:gridCol w="24505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¿Pide k?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¿Marca ruido?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Muchos clientes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 en el caso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5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redondas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bien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Mini-Batch K-Means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redondas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Jerárquico Ward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cortar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redondas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n² en memoria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redondas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GMM (tied)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elipses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Espectral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cualquiera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cualquiera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HDBSCAN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B6B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cualquiera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2B8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3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11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 · 45/45 atípicos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B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rjeta"/>
          <p:cNvSpPr/>
          <p:nvPr/>
        </p:nvSpPr>
        <p:spPr>
          <a:xfrm>
            <a:off x="502920" y="6035040"/>
            <a:ext cx="11183112" cy="502920"/>
          </a:xfrm>
          <a:prstGeom prst="roundRect">
            <a:avLst>
              <a:gd name="adj" fmla="val 14545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3232" y="6035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segmentar esta cartera: K-Means o Ward. Para encontrar a los que no se parecen a nadie: HDBSCAN.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441448" cy="347472"/>
          </a:xfrm>
          <a:prstGeom prst="roundRect">
            <a:avLst>
              <a:gd name="adj" fmla="val 50000"/>
            </a:avLst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MÉTRICAS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evalúa un clustering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Internas: solo miran los datos. Externas: comparan con una etiqueta, que en la vida real casi nunca existe.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INTERNAS · sin etiqueta</a:t>
            </a:r>
            <a:endParaRPr lang="en-US" sz="1200" dirty="0"/>
          </a:p>
        </p:txBody>
      </p:sp>
      <p:sp>
        <p:nvSpPr>
          <p:cNvPr id="8" name="tarjeta"/>
          <p:cNvSpPr/>
          <p:nvPr/>
        </p:nvSpPr>
        <p:spPr>
          <a:xfrm>
            <a:off x="502920" y="2423160"/>
            <a:ext cx="55138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4963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2898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alta, mejor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249631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0.378 (k=4) · 0.335 (k=6)</a:t>
            </a:r>
            <a:endParaRPr lang="en-US" sz="1300" dirty="0"/>
          </a:p>
        </p:txBody>
      </p:sp>
      <p:sp>
        <p:nvSpPr>
          <p:cNvPr id="12" name="tarjeta"/>
          <p:cNvSpPr/>
          <p:nvPr/>
        </p:nvSpPr>
        <p:spPr>
          <a:xfrm>
            <a:off x="502920" y="3447288"/>
            <a:ext cx="55138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3520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" y="3922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bajo, mejor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35204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 (k=4) · 1.14 (k=6)</a:t>
            </a:r>
            <a:endParaRPr lang="en-US" sz="1300" dirty="0"/>
          </a:p>
        </p:txBody>
      </p:sp>
      <p:sp>
        <p:nvSpPr>
          <p:cNvPr id="16" name="tarjeta"/>
          <p:cNvSpPr/>
          <p:nvPr/>
        </p:nvSpPr>
        <p:spPr>
          <a:xfrm>
            <a:off x="502920" y="4471416"/>
            <a:ext cx="551383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544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13232" y="4946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alto, mejor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017520" y="454456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2 622 (k=4) · 2 794 (k=6)</a:t>
            </a:r>
            <a:endParaRPr lang="en-US" sz="1300" dirty="0"/>
          </a:p>
        </p:txBody>
      </p:sp>
      <p:sp>
        <p:nvSpPr>
          <p:cNvPr id="20" name="tarjeta"/>
          <p:cNvSpPr/>
          <p:nvPr/>
        </p:nvSpPr>
        <p:spPr>
          <a:xfrm>
            <a:off x="502920" y="5532120"/>
            <a:ext cx="5513832" cy="822960"/>
          </a:xfrm>
          <a:prstGeom prst="roundRect">
            <a:avLst>
              <a:gd name="adj" fmla="val 8889"/>
            </a:avLst>
          </a:prstGeom>
          <a:solidFill>
            <a:srgbClr val="E9EEF8"/>
          </a:solidFill>
          <a:ln w="12700">
            <a:solidFill>
              <a:srgbClr val="E9EE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3232" y="5532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siquiera se ponen de acuerdo: Calinski-Harabasz prefiere k = 6. Y las tres favorecen grupos redondos.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26364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EXTERNAS Y DE NEGOCIO</a:t>
            </a:r>
            <a:endParaRPr lang="en-US" sz="1200" dirty="0"/>
          </a:p>
        </p:txBody>
      </p:sp>
      <p:sp>
        <p:nvSpPr>
          <p:cNvPr id="23" name="tarjeta"/>
          <p:cNvSpPr/>
          <p:nvPr/>
        </p:nvSpPr>
        <p:spPr>
          <a:xfrm>
            <a:off x="6263640" y="2423160"/>
            <a:ext cx="54223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73952" y="25328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5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· NMI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473952" y="289864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 con una etiqueta conocida. Aquí, los segmentos con que se generaron los datos.</a:t>
            </a:r>
            <a:endParaRPr lang="en-US" sz="1300" dirty="0"/>
          </a:p>
        </p:txBody>
      </p:sp>
      <p:sp>
        <p:nvSpPr>
          <p:cNvPr id="26" name="tarjeta"/>
          <p:cNvSpPr/>
          <p:nvPr/>
        </p:nvSpPr>
        <p:spPr>
          <a:xfrm>
            <a:off x="6263640" y="3749040"/>
            <a:ext cx="54223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73952" y="3858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2B8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473952" y="42245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clientes caen en el mismo segmento con otra muestra u otro mes?</a:t>
            </a:r>
            <a:endParaRPr lang="en-US" sz="1300" dirty="0"/>
          </a:p>
        </p:txBody>
      </p:sp>
      <p:sp>
        <p:nvSpPr>
          <p:cNvPr id="29" name="tarjeta"/>
          <p:cNvSpPr/>
          <p:nvPr/>
        </p:nvSpPr>
        <p:spPr>
          <a:xfrm>
            <a:off x="6263640" y="5074920"/>
            <a:ext cx="54223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73952" y="5184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473952" y="555040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segmentos separan algo que importa, como el default? ¿Piden acciones distintas?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reglas para segmentar clientes en un banco</a:t>
            </a:r>
            <a:endParaRPr lang="en-US" sz="3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02920" y="148132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separa un clustering de laboratorio de uno que se usa.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502920" y="2103120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8" name="numero"/>
          <p:cNvSpPr/>
          <p:nvPr/>
        </p:nvSpPr>
        <p:spPr>
          <a:xfrm>
            <a:off x="704088" y="2304288"/>
            <a:ext cx="502920" cy="502920"/>
          </a:xfrm>
          <a:prstGeom prst="ellipse">
            <a:avLst/>
          </a:prstGeom>
          <a:solidFill>
            <a:srgbClr val="1A56E8"/>
          </a:solidFill>
          <a:ln w="12700">
            <a:solidFill>
              <a:srgbClr val="1A56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4088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04088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las variables con el negocio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704088" y="3383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variable vota en la distancia. Tres de gasto son tres votos al gasto.</a:t>
            </a:r>
            <a:endParaRPr lang="en-US" sz="1400" dirty="0"/>
          </a:p>
        </p:txBody>
      </p:sp>
      <p:sp>
        <p:nvSpPr>
          <p:cNvPr id="12" name="tarjeta"/>
          <p:cNvSpPr/>
          <p:nvPr/>
        </p:nvSpPr>
        <p:spPr>
          <a:xfrm>
            <a:off x="4270248" y="2103120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13" name="numero"/>
          <p:cNvSpPr/>
          <p:nvPr/>
        </p:nvSpPr>
        <p:spPr>
          <a:xfrm>
            <a:off x="4471416" y="2304288"/>
            <a:ext cx="502920" cy="502920"/>
          </a:xfrm>
          <a:prstGeom prst="ellipse">
            <a:avLst/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1416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471416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y escala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4471416" y="3383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Logaritmo a montos y conteos; StandardScaler a todo. Sin excepción.</a:t>
            </a:r>
            <a:endParaRPr lang="en-US" sz="1400" dirty="0"/>
          </a:p>
        </p:txBody>
      </p:sp>
      <p:sp>
        <p:nvSpPr>
          <p:cNvPr id="17" name="tarjeta"/>
          <p:cNvSpPr/>
          <p:nvPr/>
        </p:nvSpPr>
        <p:spPr>
          <a:xfrm>
            <a:off x="8037576" y="2103120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8" name="numero"/>
          <p:cNvSpPr/>
          <p:nvPr/>
        </p:nvSpPr>
        <p:spPr>
          <a:xfrm>
            <a:off x="8238744" y="2304288"/>
            <a:ext cx="502920" cy="502920"/>
          </a:xfrm>
          <a:prstGeom prst="ellipse">
            <a:avLst/>
          </a:prstGeom>
          <a:solidFill>
            <a:srgbClr val="12B886"/>
          </a:solidFill>
          <a:ln w="12700">
            <a:solidFill>
              <a:srgbClr val="12B88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38744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238744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un rango de k</a:t>
            </a:r>
            <a:endParaRPr lang="en-US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8238744" y="3383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Codo, silueta y Davies-Bouldin proponen; el perfil y la acción deciden.</a:t>
            </a:r>
            <a:endParaRPr lang="en-US" sz="1400" dirty="0"/>
          </a:p>
        </p:txBody>
      </p:sp>
      <p:sp>
        <p:nvSpPr>
          <p:cNvPr id="22" name="tarjeta"/>
          <p:cNvSpPr/>
          <p:nvPr/>
        </p:nvSpPr>
        <p:spPr>
          <a:xfrm>
            <a:off x="502920" y="4279392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3" name="numero"/>
          <p:cNvSpPr/>
          <p:nvPr/>
        </p:nvSpPr>
        <p:spPr>
          <a:xfrm>
            <a:off x="704088" y="4480560"/>
            <a:ext cx="502920" cy="502920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04088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" y="5102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Perfila y nombra con reglas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704088" y="55595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unidades originales. Nunca con el número de cluster.</a:t>
            </a:r>
            <a:endParaRPr lang="en-US" sz="1400" dirty="0"/>
          </a:p>
        </p:txBody>
      </p:sp>
      <p:sp>
        <p:nvSpPr>
          <p:cNvPr id="27" name="tarjeta"/>
          <p:cNvSpPr/>
          <p:nvPr/>
        </p:nvSpPr>
        <p:spPr>
          <a:xfrm>
            <a:off x="4270248" y="4279392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28" name="numero"/>
          <p:cNvSpPr/>
          <p:nvPr/>
        </p:nvSpPr>
        <p:spPr>
          <a:xfrm>
            <a:off x="4471416" y="4480560"/>
            <a:ext cx="502920" cy="50292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471416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4471416" y="5102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estabilidad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471416" y="55595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con otro mes: un segmento que cambia cada mes no sirve para una campaña.</a:t>
            </a:r>
            <a:endParaRPr lang="en-US" sz="1400" dirty="0"/>
          </a:p>
        </p:txBody>
      </p:sp>
      <p:sp>
        <p:nvSpPr>
          <p:cNvPr id="32" name="tarjeta"/>
          <p:cNvSpPr/>
          <p:nvPr/>
        </p:nvSpPr>
        <p:spPr>
          <a:xfrm>
            <a:off x="8037576" y="4279392"/>
            <a:ext cx="358444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33" name="numero"/>
          <p:cNvSpPr/>
          <p:nvPr/>
        </p:nvSpPr>
        <p:spPr>
          <a:xfrm>
            <a:off x="8238744" y="4480560"/>
            <a:ext cx="502920" cy="502920"/>
          </a:xfrm>
          <a:prstGeom prst="ellipse">
            <a:avLst/>
          </a:prstGeom>
          <a:solidFill>
            <a:srgbClr val="0A2559"/>
          </a:solidFill>
          <a:ln w="12700">
            <a:solidFill>
              <a:srgbClr val="0A255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38744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8238744" y="5102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0A2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 la asignación de nuevos</a:t>
            </a:r>
            <a:endParaRPr lang="en-US" sz="1550" dirty="0"/>
          </a:p>
        </p:txBody>
      </p:sp>
      <p:sp>
        <p:nvSpPr>
          <p:cNvPr id="36" name="Text 33"/>
          <p:cNvSpPr txBox="1"/>
          <p:nvPr/>
        </p:nvSpPr>
        <p:spPr>
          <a:xfrm>
            <a:off x="8238744" y="55595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tiene predict. Jerárquico y DBSCAN no: hace falta un clasificador encima.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8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ondo"/>
          <p:cNvSpPr/>
          <p:nvPr/>
        </p:nvSpPr>
        <p:spPr>
          <a:xfrm>
            <a:off x="502920" y="384048"/>
            <a:ext cx="2756916" cy="347472"/>
          </a:xfrm>
          <a:prstGeom prst="roundRect">
            <a:avLst>
              <a:gd name="adj" fmla="val 50000"/>
            </a:avLst>
          </a:prstGeom>
          <a:solidFill>
            <a:srgbClr val="E6115E"/>
          </a:solidFill>
          <a:ln w="12700">
            <a:solidFill>
              <a:srgbClr val="E6115E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02920" y="384048"/>
            <a:ext cx="27569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TIPO EXAMEN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02920" y="84124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 las dos partes</a:t>
            </a:r>
            <a:endParaRPr lang="en-US" sz="3000" dirty="0"/>
          </a:p>
        </p:txBody>
      </p:sp>
      <p:sp>
        <p:nvSpPr>
          <p:cNvPr id="6" name="tarjeta"/>
          <p:cNvSpPr/>
          <p:nvPr/>
        </p:nvSpPr>
        <p:spPr>
          <a:xfrm>
            <a:off x="502920" y="1828800"/>
            <a:ext cx="3584448" cy="3657600"/>
          </a:xfrm>
          <a:prstGeom prst="roundRect">
            <a:avLst>
              <a:gd name="adj" fmla="val 2041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analista corre K-Means con gasto en soles, edad y % de pago, sin escalar. ¿Qué pasa?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9319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gasto domina la distancia: los grupos son rebanadas de gasto. Hay que escalar (y logaritmo al gasto).</a:t>
            </a:r>
            <a:endParaRPr lang="en-US" sz="1350" dirty="0"/>
          </a:p>
        </p:txBody>
      </p:sp>
      <p:sp>
        <p:nvSpPr>
          <p:cNvPr id="10" name="tarjeta"/>
          <p:cNvSpPr/>
          <p:nvPr/>
        </p:nvSpPr>
        <p:spPr>
          <a:xfrm>
            <a:off x="4270248" y="1828800"/>
            <a:ext cx="3584448" cy="3657600"/>
          </a:xfrm>
          <a:prstGeom prst="roundRect">
            <a:avLst>
              <a:gd name="adj" fmla="val 2041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98848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498848" y="233172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silueta prefiere k = 4 y el equipo elige k = 6. ¿Se justifica?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498848" y="39319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Sí: con k = 4 un grupo junta tasas de default de 5 % y 22 %, que piden acciones distintas.</a:t>
            </a:r>
            <a:endParaRPr lang="en-US" sz="1350" dirty="0"/>
          </a:p>
        </p:txBody>
      </p:sp>
      <p:sp>
        <p:nvSpPr>
          <p:cNvPr id="14" name="tarjeta"/>
          <p:cNvSpPr/>
          <p:nvPr/>
        </p:nvSpPr>
        <p:spPr>
          <a:xfrm>
            <a:off x="8037576" y="1828800"/>
            <a:ext cx="3584448" cy="3657600"/>
          </a:xfrm>
          <a:prstGeom prst="roundRect">
            <a:avLst>
              <a:gd name="adj" fmla="val 2041"/>
            </a:avLst>
          </a:prstGeom>
          <a:solidFill>
            <a:srgbClr val="13306B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66176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spc="200" kern="0" dirty="0">
                <a:solidFill>
                  <a:srgbClr val="E61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266176" y="233172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HDBSCAN segmenta mal esta cartera y aun así sirve?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266176" y="39319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D2DB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segmentos se tocan y los fusiona, pero aísla a los 45 atípicos: es un buen detector de anomalías.</a:t>
            </a:r>
            <a:endParaRPr lang="en-US" sz="1350" dirty="0"/>
          </a:p>
        </p:txBody>
      </p:sp>
      <p:sp>
        <p:nvSpPr>
          <p:cNvPr id="18" name="tarjeta"/>
          <p:cNvSpPr/>
          <p:nvPr/>
        </p:nvSpPr>
        <p:spPr>
          <a:xfrm>
            <a:off x="502920" y="5669280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1A56E8"/>
          </a:solidFill>
          <a:ln w="12700">
            <a:solidFill>
              <a:srgbClr val="D2DB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56692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sigue: 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un modelo en producción en la web, con una introducción a Databricks.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e 10 ML">
  <a:themeElements>
    <a:clrScheme name="Clase 10 ML">
      <a:dk1>
        <a:srgbClr val="2C3A55"/>
      </a:dk1>
      <a:lt1>
        <a:srgbClr val="FFFFFF"/>
      </a:lt1>
      <a:dk2>
        <a:srgbClr val="0A2559"/>
      </a:dk2>
      <a:lt2>
        <a:srgbClr val="F5F7FB"/>
      </a:lt2>
      <a:accent1>
        <a:srgbClr val="1A56E8"/>
      </a:accent1>
      <a:accent2>
        <a:srgbClr val="E6115E"/>
      </a:accent2>
      <a:accent3>
        <a:srgbClr val="12B886"/>
      </a:accent3>
      <a:accent4>
        <a:srgbClr val="5B6B87"/>
      </a:accent4>
      <a:accent5>
        <a:srgbClr val="D2DBEC"/>
      </a:accent5>
      <a:accent6>
        <a:srgbClr val="E9EEF8"/>
      </a:accent6>
      <a:hlink>
        <a:srgbClr val="1A56E8"/>
      </a:hlink>
      <a:folHlink>
        <a:srgbClr val="5B6B87"/>
      </a:folHlink>
    </a:clrScheme>
    <a:fontScheme name="Clase 10 M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· Partes 1 y 2</dc:title>
  <dc:subject>PptxGenJS Presentation</dc:subject>
  <dc:creator>Josef Renato Rodriguez</dc:creator>
  <cp:lastModifiedBy>Josef Renato Rodriguez</cp:lastModifiedBy>
  <cp:revision>1</cp:revision>
  <dcterms:created xsi:type="dcterms:W3CDTF">2026-10-28T16:09:07Z</dcterms:created>
  <dcterms:modified xsi:type="dcterms:W3CDTF">2026-10-28T16:09:07Z</dcterms:modified>
</cp:coreProperties>
</file>