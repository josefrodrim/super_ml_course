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44a904b-9323-c4f4-d7bd-96c0feeac702}">
          <p14:sldIdLst>
            <p14:sldId id="256"/>
            <p14:sldId id="257"/>
            <p14:sldId id="258"/>
            <p14:sldId id="259"/>
          </p14:sldIdLst>
        </p14:section>
        <p14:section name="Bloque 1 · Logística" id="{4d5d01f8-e9ff-c6aa-2ef2-b7bfe6ee9fc9}">
          <p14:sldIdLst>
            <p14:sldId id="260"/>
          </p14:sldIdLst>
        </p14:section>
        <p14:section name="Bloque 2 · Importancia" id="{8e2e3184-077a-387d-f05c-8e519f8aff9e}">
          <p14:sldIdLst>
            <p14:sldId id="261"/>
            <p14:sldId id="262"/>
          </p14:sldIdLst>
        </p14:section>
        <p14:section name="Bloque 3 · PDP e ICE" id="{fa024512-5c68-79d4-be1b-2027e6c890f2}">
          <p14:sldIdLst>
            <p14:sldId id="263"/>
            <p14:sldId id="264"/>
          </p14:sldIdLst>
        </p14:section>
        <p14:section name="Bloque 4 · SHAP" id="{ec4b5b26-5867-1906-c3c6-8d3e29c08339}">
          <p14:sldIdLst>
            <p14:sldId id="265"/>
            <p14:sldId id="266"/>
            <p14:sldId id="267"/>
            <p14:sldId id="268"/>
            <p14:sldId id="269"/>
          </p14:sldIdLst>
        </p14:section>
        <p14:section name="Cierre" id="{35895b52-fbef-ff1b-5267-23a394c2d43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Participación de cada variable · media de |SHAP| · test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2DBE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Atraso máx. 6m</c:v>
                  </c:pt>
                  <c:pt idx="1">
                    <c:v>Utilización TC</c:v>
                  </c:pt>
                  <c:pt idx="2">
                    <c:v>Deuda / ingreso</c:v>
                  </c:pt>
                  <c:pt idx="3">
                    <c:v>Consultas 3m</c:v>
                  </c:pt>
                  <c:pt idx="4">
                    <c:v>Antigüedad</c:v>
                  </c:pt>
                  <c:pt idx="5">
                    <c:v>Ingreso</c:v>
                  </c:pt>
                  <c:pt idx="6">
                    <c:v>Tipo de empleo</c:v>
                  </c:pt>
                  <c:pt idx="7">
                    <c:v>Edad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0.459</c:v>
                </c:pt>
                <c:pt idx="1">
                  <c:v>0.2</c:v>
                </c:pt>
                <c:pt idx="2">
                  <c:v>0.1</c:v>
                </c:pt>
                <c:pt idx="3">
                  <c:v>0.093</c:v>
                </c:pt>
                <c:pt idx="4">
                  <c:v>0.069</c:v>
                </c:pt>
                <c:pt idx="5">
                  <c:v>0.062</c:v>
                </c:pt>
                <c:pt idx="6">
                  <c:v>0.013</c:v>
                </c:pt>
                <c:pt idx="7">
                  <c:v>0.004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D2DBE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2DBE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Odds ratio por +1 desv. estándar · referencia en 1.0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56E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56E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A56E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Utilización TC</c:v>
                  </c:pt>
                  <c:pt idx="1">
                    <c:v>Atraso máx. 6m</c:v>
                  </c:pt>
                  <c:pt idx="2">
                    <c:v>Deuda / ingreso</c:v>
                  </c:pt>
                  <c:pt idx="3">
                    <c:v>Consultas 3m</c:v>
                  </c:pt>
                  <c:pt idx="4">
                    <c:v>Empleo informal</c:v>
                  </c:pt>
                  <c:pt idx="5">
                    <c:v>Edad</c:v>
                  </c:pt>
                  <c:pt idx="6">
                    <c:v>Ingreso</c:v>
                  </c:pt>
                  <c:pt idx="7">
                    <c:v>Empleo independiente</c:v>
                  </c:pt>
                  <c:pt idx="8">
                    <c:v>Antigüedad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2.019</c:v>
                </c:pt>
                <c:pt idx="1">
                  <c:v>1.514</c:v>
                </c:pt>
                <c:pt idx="2">
                  <c:v>1.421</c:v>
                </c:pt>
                <c:pt idx="3">
                  <c:v>1.363</c:v>
                </c:pt>
                <c:pt idx="4">
                  <c:v>1.195</c:v>
                </c:pt>
                <c:pt idx="5">
                  <c:v>0.996</c:v>
                </c:pt>
                <c:pt idx="6">
                  <c:v>0.866</c:v>
                </c:pt>
                <c:pt idx="7">
                  <c:v>0.878</c:v>
                </c:pt>
                <c:pt idx="8">
                  <c:v>0.827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b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1A56E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Atraso máx. 6m</c:v>
                  </c:pt>
                  <c:pt idx="1">
                    <c:v>Utilización TC</c:v>
                  </c:pt>
                  <c:pt idx="2">
                    <c:v>Consultas 3m</c:v>
                  </c:pt>
                  <c:pt idx="3">
                    <c:v>Deuda / ingreso</c:v>
                  </c:pt>
                  <c:pt idx="4">
                    <c:v>Ingreso</c:v>
                  </c:pt>
                  <c:pt idx="5">
                    <c:v>Antigüedad</c:v>
                  </c:pt>
                  <c:pt idx="6">
                    <c:v>Edad</c:v>
                  </c:pt>
                  <c:pt idx="7">
                    <c:v>Empleo (3 col.)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0.498</c:v>
                </c:pt>
                <c:pt idx="1">
                  <c:v>0.166</c:v>
                </c:pt>
                <c:pt idx="2">
                  <c:v>0.089</c:v>
                </c:pt>
                <c:pt idx="3">
                  <c:v>0.087</c:v>
                </c:pt>
                <c:pt idx="4">
                  <c:v>0.033</c:v>
                </c:pt>
                <c:pt idx="5">
                  <c:v>0.033</c:v>
                </c:pt>
                <c:pt idx="6">
                  <c:v>0.022</c:v>
                </c:pt>
                <c:pt idx="7">
                  <c:v>0.071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B8C2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Atraso máx. 6m</c:v>
                  </c:pt>
                  <c:pt idx="1">
                    <c:v>Utilización TC</c:v>
                  </c:pt>
                  <c:pt idx="2">
                    <c:v>Consultas 3m</c:v>
                  </c:pt>
                  <c:pt idx="3">
                    <c:v>Deuda / ingreso</c:v>
                  </c:pt>
                  <c:pt idx="4">
                    <c:v>Ingreso</c:v>
                  </c:pt>
                  <c:pt idx="5">
                    <c:v>Antigüedad</c:v>
                  </c:pt>
                  <c:pt idx="6">
                    <c:v>Edad</c:v>
                  </c:pt>
                  <c:pt idx="7">
                    <c:v>Empleo (3 col.)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0.14</c:v>
                </c:pt>
                <c:pt idx="1">
                  <c:v>0.179</c:v>
                </c:pt>
                <c:pt idx="2">
                  <c:v>0.097</c:v>
                </c:pt>
                <c:pt idx="3">
                  <c:v>0.169</c:v>
                </c:pt>
                <c:pt idx="4">
                  <c:v>0.143</c:v>
                </c:pt>
                <c:pt idx="5">
                  <c:v>0.168</c:v>
                </c:pt>
                <c:pt idx="6">
                  <c:v>0.074</c:v>
                </c:pt>
                <c:pt idx="7">
                  <c:v>0.03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C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Caída del AUC en el test 2025 al barajar cada variable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caída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Atraso máx. 6m</c:v>
                  </c:pt>
                  <c:pt idx="1">
                    <c:v>Utilización TC</c:v>
                  </c:pt>
                  <c:pt idx="2">
                    <c:v>Deuda / ingreso</c:v>
                  </c:pt>
                  <c:pt idx="3">
                    <c:v>Consultas 3m</c:v>
                  </c:pt>
                  <c:pt idx="4">
                    <c:v>Antigüedad</c:v>
                  </c:pt>
                  <c:pt idx="5">
                    <c:v>Ingreso</c:v>
                  </c:pt>
                  <c:pt idx="6">
                    <c:v>Edad</c:v>
                  </c:pt>
                  <c:pt idx="7">
                    <c:v>Tipo de empleo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0.1409</c:v>
                </c:pt>
                <c:pt idx="1">
                  <c:v>0.0381</c:v>
                </c:pt>
                <c:pt idx="2">
                  <c:v>0.0134</c:v>
                </c:pt>
                <c:pt idx="3">
                  <c:v>0.0105</c:v>
                </c:pt>
                <c:pt idx="4">
                  <c:v>0.0039</c:v>
                </c:pt>
                <c:pt idx="5">
                  <c:v>0.0027</c:v>
                </c:pt>
                <c:pt idx="6">
                  <c:v>0.0001</c:v>
                </c:pt>
                <c:pt idx="7">
                  <c:v>0.0001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Probabilidad media de default según utilización · test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PDP</c:v>
                </c:pt>
              </c:strCache>
            </c:strRef>
          </c:tx>
          <c:spPr>
            <a:solidFill>
              <a:srgbClr val="E6115E"/>
            </a:solidFill>
            <a:ln w="38100" cap="flat">
              <a:solidFill>
                <a:srgbClr val="E611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0.00</c:v>
                  </c:pt>
                  <c:pt idx="1">
                    <c:v>0.05</c:v>
                  </c:pt>
                  <c:pt idx="2">
                    <c:v>0.10</c:v>
                  </c:pt>
                  <c:pt idx="3">
                    <c:v>0.15</c:v>
                  </c:pt>
                  <c:pt idx="4">
                    <c:v>0.20</c:v>
                  </c:pt>
                  <c:pt idx="5">
                    <c:v>0.25</c:v>
                  </c:pt>
                  <c:pt idx="6">
                    <c:v>0.30</c:v>
                  </c:pt>
                  <c:pt idx="7">
                    <c:v>0.35</c:v>
                  </c:pt>
                  <c:pt idx="8">
                    <c:v>0.40</c:v>
                  </c:pt>
                  <c:pt idx="9">
                    <c:v>0.45</c:v>
                  </c:pt>
                  <c:pt idx="10">
                    <c:v>0.50</c:v>
                  </c:pt>
                  <c:pt idx="11">
                    <c:v>0.55</c:v>
                  </c:pt>
                  <c:pt idx="12">
                    <c:v>0.60</c:v>
                  </c:pt>
                  <c:pt idx="13">
                    <c:v>0.65</c:v>
                  </c:pt>
                  <c:pt idx="14">
                    <c:v>0.70</c:v>
                  </c:pt>
                  <c:pt idx="15">
                    <c:v>0.75</c:v>
                  </c:pt>
                  <c:pt idx="16">
                    <c:v>0.80</c:v>
                  </c:pt>
                  <c:pt idx="17">
                    <c:v>0.85</c:v>
                  </c:pt>
                  <c:pt idx="18">
                    <c:v>0.90</c:v>
                  </c:pt>
                  <c:pt idx="19">
                    <c:v>0.95</c:v>
                  </c:pt>
                  <c:pt idx="20">
                    <c:v>1.00</c:v>
                  </c:pt>
                  <c:pt idx="21">
                    <c:v>1.05</c:v>
                  </c:pt>
                  <c:pt idx="22">
                    <c:v>1.10</c:v>
                  </c:pt>
                  <c:pt idx="23">
                    <c:v>1.15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0.0256</c:v>
                </c:pt>
                <c:pt idx="1">
                  <c:v>0.0256</c:v>
                </c:pt>
                <c:pt idx="2">
                  <c:v>0.0286</c:v>
                </c:pt>
                <c:pt idx="3">
                  <c:v>0.0386</c:v>
                </c:pt>
                <c:pt idx="4">
                  <c:v>0.0392</c:v>
                </c:pt>
                <c:pt idx="5">
                  <c:v>0.0392</c:v>
                </c:pt>
                <c:pt idx="6">
                  <c:v>0.0414</c:v>
                </c:pt>
                <c:pt idx="7">
                  <c:v>0.042</c:v>
                </c:pt>
                <c:pt idx="8">
                  <c:v>0.042</c:v>
                </c:pt>
                <c:pt idx="9">
                  <c:v>0.0469</c:v>
                </c:pt>
                <c:pt idx="10">
                  <c:v>0.0528</c:v>
                </c:pt>
                <c:pt idx="11">
                  <c:v>0.0627</c:v>
                </c:pt>
                <c:pt idx="12">
                  <c:v>0.0627</c:v>
                </c:pt>
                <c:pt idx="13">
                  <c:v>0.0695</c:v>
                </c:pt>
                <c:pt idx="14">
                  <c:v>0.0799</c:v>
                </c:pt>
                <c:pt idx="15">
                  <c:v>0.0903</c:v>
                </c:pt>
                <c:pt idx="16">
                  <c:v>0.1111</c:v>
                </c:pt>
                <c:pt idx="17">
                  <c:v>0.1111</c:v>
                </c:pt>
                <c:pt idx="18">
                  <c:v>0.1468</c:v>
                </c:pt>
                <c:pt idx="19">
                  <c:v>0.1468</c:v>
                </c:pt>
                <c:pt idx="20">
                  <c:v>0.1805</c:v>
                </c:pt>
                <c:pt idx="21">
                  <c:v>0.1805</c:v>
                </c:pt>
                <c:pt idx="22">
                  <c:v>0.1805</c:v>
                </c:pt>
                <c:pt idx="23">
                  <c:v>0.1805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La Clase 9 respondió qué tan bien ordena el modelo; hoy respondemos por qué. El gráfico muestra la respuesta global del día: la mitad del modelo es el atraso y una quinta parte la utilización. La primera hora es explicabilidad; la segunda, clustering parte 1 con su propio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notebook de explicabilidad corre en menos de un minuto: la Celda 0 vuelve a entrenar el campeón de la Clase 9 con la misma receta. El de clustering usa segmentacion_tarjetas.csv, que hay que subir a Clase_10/Datos antes de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Pregunta a la clase quién les ha pedido explicar un modelo en su trabajo. Las tres figuras de abajo son las que van a aparecer siempre en un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cuadro es el índice de la hora. Global: cómo funciona el modelo para toda la cartera. Local: por qué este cliente. Por diseño: el modelo ya es legible. Post hoc: herramientas que se aplican a cualquier modelo después de entrenarlo.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= e^beta. Si OR es 2, los odds se duplican. La utilización es la que más pesa en la logística, aunque en XGBoost el primero será el atraso: la logística solo puede ver efectos lineales y la utilización tiene una pendiente fuerte en todo el rango. La edad no hace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gain el atraso es la mitad del modelo; con weight la antigüedad queda tercera. Las variables continuas con muchos valores ofrecen muchos cortes posibles y se inflan en weight. Ninguna de las dos mide cuánto depende la predicción de la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Barajar rompe la relación de la variable con el target pero conserva su distribución. Se mide en test, no en entrenamiento. Edad y tipo de empleo: cero. Advertir sobre variables correlacionadas: se reparten la importancia y las dos parecen poco importantes.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la logística no podía ver: entre 0.15 y 0.45 casi plano, pasado 0.70 se dispara. Los escalones son propios de los árboles. Más allá de 1.0 la curva es plana porque casi no hay datos: el modelo no sabe, no es que el riesgo deje de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las curvas fueran paralelas, el efecto sería igual para todos. Se abren en abanico porque en probabilidad los efectos se multiplican: el mismo salto de utilización sube más a quien ya tiene atraso. El atraso: el gran salto es de 0 a 5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propiedad clave es la aditividad: base más la suma de los SHAP da exactamente la predicción del modelo, en log-odds para XGBoost. El valor base sale 6.0 % y no 6.1 % porque se promedia en log-odds. TreeExplainer es exacto y rápido en árboles: 21 600 clientes en menos de un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de arriba abajo. Atraso y utilización: rojo a la derecha. Antigüedad e ingreso: rojo a la izquierda, misma dirección que la logística. Edad y empleo pegados al cero: el mismo veredicto que la permutación por otro camino.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le explica a un comité o al cliente. Los tres primeros aportes positivos son los códigos de motivo que se guardan con cada decisión. El ingreso vacío suma riesgo: XGBoost aprendió que no declarar ingreso es una señal. Es legítimo, pero el validador lo va a preguntar.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permutación y SHAP llegan al mismo orden por caminos distintos. Gain se acerca. Weight es la que engaña. La tabla de la derecha es una aplicación de monitoreo: la participación SHAP casi no cambia en 2026, coherente con la Clase 9: el modelo ordena igual y mira lo mismo; lo que falló fue el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cuarto es el más frecuente en comités: decir que SHAP +1.16 son 116 puntos de probabilidad. Mencionar ALE como alternativa al PDP cuando hay variables muy correlacionadas.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dos o tres en voz alta y pasar al deck de clustering. Las respuestas completas están al final del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566928"/>
            <a:ext cx="31775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566928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· CLASE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modelo dice lo que dice?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XGBoost de la Clase 9 ordena bien. Hoy lo abrimos: odds ratios, importancia por permutación, PDP e ICE, y SHAP para explicar a un cliente en «Muy alto».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explicado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atraso (SHAP)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 pts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AUC si se baraja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atraso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36.4 %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103883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486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Sesión 10 de 14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0" y="822960"/>
          <a:ext cx="5303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hora para abrir el modelo de la Clase 9 y una hora para empezar el clustering.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394960"/>
                <a:gridCol w="731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por diseño: odds ratios de la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Importancia global: nativa de XGBoost y por permutación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cambia el riesgo? PDP e 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SHAP: aditividad, importancia global y los motivos de un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· Parte 1 (otro deck y otro notebook)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Cierre: preguntas tipo examen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7772400" y="2103120"/>
            <a:ext cx="391363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0100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26974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odds ratios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Desconfiar de la importancia nativa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importancia por permutación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PDP a mano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un cliente con SHAP</a:t>
            </a:r>
            <a:endParaRPr lang="en-US" sz="1500" dirty="0"/>
          </a:p>
        </p:txBody>
      </p:sp>
      <p:sp>
        <p:nvSpPr>
          <p:cNvPr id="11" name="tarjeta"/>
          <p:cNvSpPr/>
          <p:nvPr/>
        </p:nvSpPr>
        <p:spPr>
          <a:xfrm>
            <a:off x="7772400" y="5577840"/>
            <a:ext cx="3913632" cy="777240"/>
          </a:xfrm>
          <a:prstGeom prst="roundRect">
            <a:avLst>
              <a:gd name="adj" fmla="val 941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73568" y="5650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importante: los motivos de un cliente, como los pide un validador.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9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ordena. Ahora alguien pregunta por qué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le ganó a la logística por 4 puntos de Gini. El precio: ya no hay un coeficiente que leer.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584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07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OOT de XGBoost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4270248" y="2103120"/>
            <a:ext cx="3584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0.637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2807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OOT de la logística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8037576" y="2103120"/>
            <a:ext cx="3584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66176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66176" y="2807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2 niveles</a:t>
            </a:r>
            <a:endParaRPr lang="en-US" sz="1200" dirty="0"/>
          </a:p>
        </p:txBody>
      </p:sp>
      <p:sp>
        <p:nvSpPr>
          <p:cNvPr id="16" name="tarjeta"/>
          <p:cNvSpPr/>
          <p:nvPr/>
        </p:nvSpPr>
        <p:spPr>
          <a:xfrm>
            <a:off x="502920" y="3520440"/>
            <a:ext cx="35844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numero"/>
          <p:cNvSpPr/>
          <p:nvPr/>
        </p:nvSpPr>
        <p:spPr>
          <a:xfrm>
            <a:off x="731520" y="3721608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216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validador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4348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¿Usa variables con sentido de negocio, y en la dirección correcta? ¿Depende de algo que no debería?</a:t>
            </a:r>
            <a:endParaRPr lang="en-US" sz="1550" dirty="0"/>
          </a:p>
        </p:txBody>
      </p:sp>
      <p:sp>
        <p:nvSpPr>
          <p:cNvPr id="21" name="tarjeta"/>
          <p:cNvSpPr/>
          <p:nvPr/>
        </p:nvSpPr>
        <p:spPr>
          <a:xfrm>
            <a:off x="4270248" y="3520440"/>
            <a:ext cx="35844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numero"/>
          <p:cNvSpPr/>
          <p:nvPr/>
        </p:nvSpPr>
        <p:spPr>
          <a:xfrm>
            <a:off x="4498848" y="3721608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98848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138928" y="37216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de riesgos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498848" y="44348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mueve el score? ¿Qué pasa con la cartera si sube la utilización?</a:t>
            </a:r>
            <a:endParaRPr lang="en-US" sz="1550" dirty="0"/>
          </a:p>
        </p:txBody>
      </p:sp>
      <p:sp>
        <p:nvSpPr>
          <p:cNvPr id="26" name="tarjeta"/>
          <p:cNvSpPr/>
          <p:nvPr/>
        </p:nvSpPr>
        <p:spPr>
          <a:xfrm>
            <a:off x="8037576" y="3520440"/>
            <a:ext cx="35844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numero"/>
          <p:cNvSpPr/>
          <p:nvPr/>
        </p:nvSpPr>
        <p:spPr>
          <a:xfrm>
            <a:off x="8266176" y="3721608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66176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906256" y="37216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y el regulador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266176" y="44348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 mí me pusieron en «Muy alto»? Hay que poder dar motivos concretos.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 para ordenar las herramientas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explica el modelo en promedio o a un cliente? ¿El modelo se lee solo o necesita ayuda?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toda la cartera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un cliente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diseño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4348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hoc, para cualquier modelo</a:t>
            </a: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2331720" y="246888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26700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Logística: coeficientes y odds ratios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7086600" y="246888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26700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Logística: coeficiente × valor del cliente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números del Bloque 1</a:t>
            </a:r>
            <a:endParaRPr lang="en-US" sz="1300" dirty="0"/>
          </a:p>
        </p:txBody>
      </p:sp>
      <p:sp>
        <p:nvSpPr>
          <p:cNvPr id="17" name="tarjeta"/>
          <p:cNvSpPr/>
          <p:nvPr/>
        </p:nvSpPr>
        <p:spPr>
          <a:xfrm>
            <a:off x="2331720" y="434340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60320" y="45445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por permutación · PDP · SHAP global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2, 3 y 4</a:t>
            </a:r>
            <a:endParaRPr lang="en-US" sz="1300" dirty="0"/>
          </a:p>
        </p:txBody>
      </p:sp>
      <p:sp>
        <p:nvSpPr>
          <p:cNvPr id="20" name="tarjeta"/>
          <p:cNvSpPr/>
          <p:nvPr/>
        </p:nvSpPr>
        <p:spPr>
          <a:xfrm>
            <a:off x="7086600" y="434340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0" y="45445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· SHAP local (waterfall) · LIME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3 y 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LOGÍSTICA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ratios: cuánto multiplica el riesgo cada variable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estandarizadas: el OR es el efecto de subir una desviación estándar. «Dependiente» es la referencia del empleo.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011680"/>
          <a:ext cx="6675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arjeta"/>
          <p:cNvSpPr/>
          <p:nvPr/>
        </p:nvSpPr>
        <p:spPr>
          <a:xfrm>
            <a:off x="7452360" y="2103120"/>
            <a:ext cx="42336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6517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+1 desv. (≈ 23 puntos):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odds se duplican (OR 2.02).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+1 desv.: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odds bajan 17 % (OR 0.83).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1.00, no aporta.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7452360" y="4434840"/>
            <a:ext cx="4233672" cy="1920240"/>
          </a:xfrm>
          <a:prstGeom prst="roundRect">
            <a:avLst>
              <a:gd name="adj" fmla="val 381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4572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495604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es el mismo en todo el rango: pasar de 10 % a 33 % de utilización pesa igual que de 70 % a 93 %. XGBoost no tiene esa restricción, y por eso ganó 4 puntos de Gini.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86207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IMPORTANCIA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importancias de XGBoost no se ponen de acuerdo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«gain» mide cuánto mejora cada corte; «weight», cuántas veces se usa la variable para cortar.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01168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arjeta"/>
          <p:cNvSpPr/>
          <p:nvPr/>
        </p:nvSpPr>
        <p:spPr>
          <a:xfrm>
            <a:off x="8092440" y="2103120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2104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gain es el atraso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weight el atraso baja al cuarto lugar y la antigüedad sube al tercero.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8092440" y="434340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cuál creerle?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4864608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ninguna del todo: describen cómo está armado el árbol, no cuánto depende la predicción de cada variable. Para eso, la permutación.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86207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PERMUTACIÓN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Barajar una columna y medir cuánto cae el AUC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test 2025, con 5 repeticiones por variable. Si el AUC no cae, el modelo no necesitaba esa variable.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numero"/>
          <p:cNvSpPr/>
          <p:nvPr/>
        </p:nvSpPr>
        <p:spPr>
          <a:xfrm>
            <a:off x="685800" y="2267712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test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32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original: 0.841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502920" y="30632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numero"/>
          <p:cNvSpPr/>
          <p:nvPr/>
        </p:nvSpPr>
        <p:spPr>
          <a:xfrm>
            <a:off x="685800" y="3227832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Barajar una columna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493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rng.permutation, sin tocar las demás</a:t>
            </a:r>
            <a:endParaRPr lang="en-US" sz="1200" dirty="0"/>
          </a:p>
        </p:txBody>
      </p:sp>
      <p:sp>
        <p:nvSpPr>
          <p:cNvPr id="17" name="tarjeta"/>
          <p:cNvSpPr/>
          <p:nvPr/>
        </p:nvSpPr>
        <p:spPr>
          <a:xfrm>
            <a:off x="502920" y="40233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numero"/>
          <p:cNvSpPr/>
          <p:nvPr/>
        </p:nvSpPr>
        <p:spPr>
          <a:xfrm>
            <a:off x="685800" y="4187952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caída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453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original − AUC barajado</a:t>
            </a:r>
            <a:endParaRPr lang="en-US" sz="1200" dirty="0"/>
          </a:p>
        </p:txBody>
      </p:sp>
      <p:sp>
        <p:nvSpPr>
          <p:cNvPr id="22" name="tarjeta"/>
          <p:cNvSpPr/>
          <p:nvPr/>
        </p:nvSpPr>
        <p:spPr>
          <a:xfrm>
            <a:off x="502920" y="50292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3232" y="5138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las correlacionadas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5486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variables dicen lo mismo, barajar una no duele porque la otra la cubre.</a:t>
            </a:r>
            <a:endParaRPr lang="en-US" sz="12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754880" y="201168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PDP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PDP: el riesgo medio si todos tuvieran la misma utilización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la variable en un valor para toda la base, predecir, promediar. Repetir para cada punto de la grilla.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01168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arjeta"/>
          <p:cNvSpPr/>
          <p:nvPr/>
        </p:nvSpPr>
        <p:spPr>
          <a:xfrm>
            <a:off x="8183880" y="2103120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66760" y="217627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3.9 %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9784080" y="21762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20 % de utilización</a:t>
            </a:r>
            <a:endParaRPr lang="en-US" sz="1250" dirty="0"/>
          </a:p>
        </p:txBody>
      </p:sp>
      <p:sp>
        <p:nvSpPr>
          <p:cNvPr id="11" name="tarjeta"/>
          <p:cNvSpPr/>
          <p:nvPr/>
        </p:nvSpPr>
        <p:spPr>
          <a:xfrm>
            <a:off x="8183880" y="3182112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66760" y="3255264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3255264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70 %: aquí empieza la subida</a:t>
            </a:r>
            <a:endParaRPr lang="en-US" sz="1250" dirty="0"/>
          </a:p>
        </p:txBody>
      </p:sp>
      <p:sp>
        <p:nvSpPr>
          <p:cNvPr id="14" name="tarjeta"/>
          <p:cNvSpPr/>
          <p:nvPr/>
        </p:nvSpPr>
        <p:spPr>
          <a:xfrm>
            <a:off x="8183880" y="4261104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66760" y="4334256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18.1 %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9784080" y="433425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100 %: 4.6 veces más</a:t>
            </a:r>
            <a:endParaRPr lang="en-US" sz="1250" dirty="0"/>
          </a:p>
        </p:txBody>
      </p:sp>
      <p:sp>
        <p:nvSpPr>
          <p:cNvPr id="17" name="tarjeta"/>
          <p:cNvSpPr/>
          <p:nvPr/>
        </p:nvSpPr>
        <p:spPr>
          <a:xfrm>
            <a:off x="8183880" y="5394960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66760" y="54681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después de 1.0: no hay datos ahí. El modelo no extrapola.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ICE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ICE: una curva por cliente, debajo del promedio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Gris: 150 clientes del test. Rojo: el PDP. Azul al fondo: dónde están los clientes.</a:t>
            </a:r>
            <a:endParaRPr lang="en-US" sz="1400" dirty="0"/>
          </a:p>
        </p:txBody>
      </p:sp>
      <p:pic>
        <p:nvPicPr>
          <p:cNvPr id="7" name="Image 0" descr="/home/claude/c10/img_ex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11155680" cy="3870812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9436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5943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5 días el riesgo medio pasa de 2.5 % a 9.8 %.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6172200" y="5943600"/>
            <a:ext cx="5513832" cy="548640"/>
          </a:xfrm>
          <a:prstGeom prst="roundRect">
            <a:avLst>
              <a:gd name="adj" fmla="val 1333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55080" y="5943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fijar 100 % de utilización crea clientes que no existen.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1259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125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SHAP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reparte la predicción de cada cliente entre sus variables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idea de teoría de juegos: cuánto aporta cada «jugador» en promedio, sobre todos los órdenes en que se suma al equipo.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φ₀  valor base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−2.76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6.0 % en probabilidad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4270248" y="2103120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98848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Σ φⱼ  aportes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2606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498848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103883</a:t>
            </a:r>
            <a:endParaRPr lang="en-US" sz="1300" dirty="0"/>
          </a:p>
        </p:txBody>
      </p:sp>
      <p:sp>
        <p:nvSpPr>
          <p:cNvPr id="15" name="tarjeta"/>
          <p:cNvSpPr/>
          <p:nvPr/>
        </p:nvSpPr>
        <p:spPr>
          <a:xfrm>
            <a:off x="8037576" y="2103120"/>
            <a:ext cx="3584448" cy="1783080"/>
          </a:xfrm>
          <a:prstGeom prst="roundRect">
            <a:avLst>
              <a:gd name="adj" fmla="val 41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66176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f(x)  log-odds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66176" y="2606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−0.56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266176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36.4 % en probabilidad</a:t>
            </a:r>
            <a:endParaRPr lang="en-US" sz="1300" dirty="0"/>
          </a:p>
        </p:txBody>
      </p:sp>
      <p:sp>
        <p:nvSpPr>
          <p:cNvPr id="19" name="tarjeta"/>
          <p:cNvSpPr/>
          <p:nvPr/>
        </p:nvSpPr>
        <p:spPr>
          <a:xfrm>
            <a:off x="502920" y="411480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numero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Aditivo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9834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cuadra hasta el sexto decimal (diferencia máxima 5 × 10⁻⁶). No aproxima la predicción: la reparte.</a:t>
            </a:r>
            <a:endParaRPr lang="en-US" sz="1300" dirty="0"/>
          </a:p>
        </p:txBody>
      </p:sp>
      <p:sp>
        <p:nvSpPr>
          <p:cNvPr id="24" name="tarjeta"/>
          <p:cNvSpPr/>
          <p:nvPr/>
        </p:nvSpPr>
        <p:spPr>
          <a:xfrm>
            <a:off x="4270248" y="411480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numero"/>
          <p:cNvSpPr/>
          <p:nvPr/>
        </p:nvSpPr>
        <p:spPr>
          <a:xfrm>
            <a:off x="4498848" y="4297680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98848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138928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Exacto en árboles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498848" y="49834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shap.TreeExplainer calcula los valores exactos de XGBoost, LightGBM o CatBoost, y rápido.</a:t>
            </a:r>
            <a:endParaRPr lang="en-US" sz="1300" dirty="0"/>
          </a:p>
        </p:txBody>
      </p:sp>
      <p:sp>
        <p:nvSpPr>
          <p:cNvPr id="29" name="tarjeta"/>
          <p:cNvSpPr/>
          <p:nvPr/>
        </p:nvSpPr>
        <p:spPr>
          <a:xfrm>
            <a:off x="8037576" y="4114800"/>
            <a:ext cx="35844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0" name="numero"/>
          <p:cNvSpPr/>
          <p:nvPr/>
        </p:nvSpPr>
        <p:spPr>
          <a:xfrm>
            <a:off x="8266176" y="4297680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66176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906256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log-odds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66176" y="49834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XGBoost se suman en log-odds. Se convierte a probabilidad solo el total, al final.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86207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SHAP GLOBAL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y dirección en un solo gráfico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es un cliente del test. Posición: su SHAP. Color: el valor de la variable (rojo alto, azul bajo).</a:t>
            </a:r>
            <a:endParaRPr lang="en-US" sz="1400" dirty="0"/>
          </a:p>
        </p:txBody>
      </p:sp>
      <p:pic>
        <p:nvPicPr>
          <p:cNvPr id="7" name="Image 0" descr="/home/claude/c10/img_ex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7680960" cy="4376615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8412480" y="2103120"/>
            <a:ext cx="32735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13648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y utilización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613648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altos (rojo) empujan a la derecha. La utilización puede sumar hasta 1.6 de log-odds.</a:t>
            </a:r>
            <a:endParaRPr lang="en-US" sz="1250" dirty="0"/>
          </a:p>
        </p:txBody>
      </p:sp>
      <p:sp>
        <p:nvSpPr>
          <p:cNvPr id="11" name="tarjeta"/>
          <p:cNvSpPr/>
          <p:nvPr/>
        </p:nvSpPr>
        <p:spPr>
          <a:xfrm>
            <a:off x="8412480" y="3538728"/>
            <a:ext cx="32735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13648" y="3648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e ingreso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613648" y="3995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altos restan riesgo. La misma dirección que en la logística.</a:t>
            </a:r>
            <a:endParaRPr lang="en-US" sz="1250" dirty="0"/>
          </a:p>
        </p:txBody>
      </p:sp>
      <p:sp>
        <p:nvSpPr>
          <p:cNvPr id="14" name="tarjeta"/>
          <p:cNvSpPr/>
          <p:nvPr/>
        </p:nvSpPr>
        <p:spPr>
          <a:xfrm>
            <a:off x="8412480" y="4974336"/>
            <a:ext cx="32735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13648" y="5084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empleo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613648" y="543153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Pegados al cero, igual que en la permutación.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756916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756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SHAP LOCAL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103883: de 6.0 % a 36.4 %, y por qué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enero de 2025. Cayó en default en los tres meses siguientes.</a:t>
            </a:r>
            <a:endParaRPr lang="en-US" sz="1400" dirty="0"/>
          </a:p>
        </p:txBody>
      </p:sp>
      <p:pic>
        <p:nvPicPr>
          <p:cNvPr id="7" name="Image 0" descr="/home/claude/c10/img_ex_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5394960" cy="4312518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6172200" y="2103120"/>
            <a:ext cx="551383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22128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motivos (reason codes)</a:t>
            </a:r>
            <a:endParaRPr lang="en-US" sz="1600" dirty="0"/>
          </a:p>
        </p:txBody>
      </p:sp>
      <p:sp>
        <p:nvSpPr>
          <p:cNvPr id="10" name="numero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89 % de su línea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042416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+1.16</a:t>
            </a:r>
            <a:endParaRPr lang="en-US" sz="1500" dirty="0"/>
          </a:p>
        </p:txBody>
      </p:sp>
      <p:sp>
        <p:nvSpPr>
          <p:cNvPr id="14" name="numero"/>
          <p:cNvSpPr/>
          <p:nvPr/>
        </p:nvSpPr>
        <p:spPr>
          <a:xfrm>
            <a:off x="6400800" y="3429000"/>
            <a:ext cx="457200" cy="45720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Tuvo 13 días de atraso en 6 meses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42416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+0.95</a:t>
            </a:r>
            <a:endParaRPr lang="en-US" sz="1500" dirty="0"/>
          </a:p>
        </p:txBody>
      </p:sp>
      <p:sp>
        <p:nvSpPr>
          <p:cNvPr id="18" name="numero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04088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consultaron 2 veces en la central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042416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</a:t>
            </a:r>
            <a:endParaRPr lang="en-US" sz="1500" dirty="0"/>
          </a:p>
        </p:txBody>
      </p:sp>
      <p:sp>
        <p:nvSpPr>
          <p:cNvPr id="22" name="tarjeta"/>
          <p:cNvSpPr/>
          <p:nvPr/>
        </p:nvSpPr>
        <p:spPr>
          <a:xfrm>
            <a:off x="6172200" y="5074920"/>
            <a:ext cx="267004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73368" y="5166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69 meses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−0.14: le baja un poco el riesgo.</a:t>
            </a:r>
            <a:endParaRPr lang="en-US" sz="1250" dirty="0"/>
          </a:p>
        </p:txBody>
      </p:sp>
      <p:sp>
        <p:nvSpPr>
          <p:cNvPr id="24" name="tarjeta"/>
          <p:cNvSpPr/>
          <p:nvPr/>
        </p:nvSpPr>
        <p:spPr>
          <a:xfrm>
            <a:off x="9015984" y="5074920"/>
            <a:ext cx="2670048" cy="128016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217152" y="5166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vacío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+0.09: no declarar ingreso es una señal de riesgo.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546604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COMPARAR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rankings, una conclusión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 de cada variable según cada método. Los que miden la predicción coinciden; «weight» es el que se desvía.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005840"/>
                <a:gridCol w="1234440"/>
                <a:gridCol w="1051560"/>
              </a:tblGrid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máx. 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Utilización TC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/ ingreso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6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empleo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7178040" y="2103120"/>
            <a:ext cx="4507992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88352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por año · ¿mira lo mismo en 2026?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88352" y="2651760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2296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/ ingreso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arjeta"/>
          <p:cNvSpPr/>
          <p:nvPr/>
        </p:nvSpPr>
        <p:spPr>
          <a:xfrm>
            <a:off x="7178040" y="5257800"/>
            <a:ext cx="4507992" cy="109728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88352" y="533095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participaciones casi no se mueven: en 2026 el modelo ordena igual. Lo que falló fue el nivel de la PD.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PRESENTARLO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errores al explicar un modelo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explican el modelo, no el mundo.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numero"/>
          <p:cNvSpPr/>
          <p:nvPr/>
        </p:nvSpPr>
        <p:spPr>
          <a:xfrm>
            <a:off x="731520" y="2304288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304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no es causalidad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7180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modelo use el atraso no significa que bajar el atraso de un cliente baje su riesgo real. Explica la predicción, no el mundo.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numero"/>
          <p:cNvSpPr/>
          <p:nvPr/>
        </p:nvSpPr>
        <p:spPr>
          <a:xfrm>
            <a:off x="6400800" y="2304288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304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reparte la importancia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97180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variables parecidas se cubren: barajar una no duele. Revisa correlaciones antes de sacar variables.</a:t>
            </a:r>
            <a:endParaRPr lang="en-US" sz="1500" dirty="0"/>
          </a:p>
        </p:txBody>
      </p:sp>
      <p:sp>
        <p:nvSpPr>
          <p:cNvPr id="17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numero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480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PDP inventa clientes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1480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100 % de utilización a quien tiene deuda baja crea combinaciones imposibles. Con variables muy correlacionadas, mejor ALE.</a:t>
            </a:r>
            <a:endParaRPr lang="en-US" sz="1500" dirty="0"/>
          </a:p>
        </p:txBody>
      </p:sp>
      <p:sp>
        <p:nvSpPr>
          <p:cNvPr id="22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numero"/>
          <p:cNvSpPr/>
          <p:nvPr/>
        </p:nvSpPr>
        <p:spPr>
          <a:xfrm>
            <a:off x="6400800" y="4480560"/>
            <a:ext cx="502920" cy="502920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4480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no son probabilidad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51480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SHAP de +1.16 no son 116 puntos. Se suman en log-odds y el total se convierte al final.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1775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PRIMERA HORA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</a:t>
            </a:r>
            <a:endParaRPr lang="en-US" sz="3000" dirty="0"/>
          </a:p>
        </p:txBody>
      </p:sp>
      <p:sp>
        <p:nvSpPr>
          <p:cNvPr id="6" name="tarjeta"/>
          <p:cNvSpPr/>
          <p:nvPr/>
        </p:nvSpPr>
        <p:spPr>
          <a:xfrm>
            <a:off x="502920" y="1828800"/>
            <a:ext cx="3584448" cy="3291840"/>
          </a:xfrm>
          <a:prstGeom prst="roundRect">
            <a:avLst>
              <a:gd name="adj" fmla="val 2222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«weight» pone a la antigüedad tercera y la permutación quinta. ¿A cuál le crees para sacarla?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03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permutación en el test: weight cuenta cortes, y las continuas salen infladas.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4270248" y="1828800"/>
            <a:ext cx="3584448" cy="3291840"/>
          </a:xfrm>
          <a:prstGeom prst="roundRect">
            <a:avLst>
              <a:gd name="adj" fmla="val 2222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Barajar el ingreso casi no cambia el AUC. ¿Lo sacas del modelo?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3703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revisa la correlación: deuda/ingreso usa el ingreso y lo puede estar cubriendo.</a:t>
            </a:r>
            <a:endParaRPr lang="en-US" sz="1350" dirty="0"/>
          </a:p>
        </p:txBody>
      </p:sp>
      <p:sp>
        <p:nvSpPr>
          <p:cNvPr id="14" name="tarjeta"/>
          <p:cNvSpPr/>
          <p:nvPr/>
        </p:nvSpPr>
        <p:spPr>
          <a:xfrm>
            <a:off x="8037576" y="1828800"/>
            <a:ext cx="3584448" cy="3291840"/>
          </a:xfrm>
          <a:prstGeom prst="roundRect">
            <a:avLst>
              <a:gd name="adj" fmla="val 2222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66176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SHAP de la utilización de un cliente es +1.16. ¿Sube 116 puntos su probabilidad?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266176" y="3703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es log-odds. Se suma al base (−2.76) y el total se convierte al final.</a:t>
            </a:r>
            <a:endParaRPr lang="en-US" sz="1350" dirty="0"/>
          </a:p>
        </p:txBody>
      </p:sp>
      <p:sp>
        <p:nvSpPr>
          <p:cNvPr id="18" name="tarjeta"/>
          <p:cNvSpPr/>
          <p:nvPr/>
        </p:nvSpPr>
        <p:spPr>
          <a:xfrm>
            <a:off x="502920" y="5349240"/>
            <a:ext cx="11183112" cy="1005840"/>
          </a:xfrm>
          <a:prstGeom prst="roundRect">
            <a:avLst>
              <a:gd name="adj" fmla="val 7273"/>
            </a:avLst>
          </a:prstGeom>
          <a:solidFill>
            <a:srgbClr val="1A56E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3492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· Clustering, parte 1.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Cambiamos de pregunta: ya no hay target. Con los mismos clientes de la cartera buscamos segmentos de comportamiento.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e 10 ML">
  <a:themeElements>
    <a:clrScheme name="Clase 10 ML">
      <a:dk1>
        <a:srgbClr val="2C3A55"/>
      </a:dk1>
      <a:lt1>
        <a:srgbClr val="FFFFFF"/>
      </a:lt1>
      <a:dk2>
        <a:srgbClr val="0A2559"/>
      </a:dk2>
      <a:lt2>
        <a:srgbClr val="F5F7FB"/>
      </a:lt2>
      <a:accent1>
        <a:srgbClr val="1A56E8"/>
      </a:accent1>
      <a:accent2>
        <a:srgbClr val="E6115E"/>
      </a:accent2>
      <a:accent3>
        <a:srgbClr val="12B886"/>
      </a:accent3>
      <a:accent4>
        <a:srgbClr val="5B6B87"/>
      </a:accent4>
      <a:accent5>
        <a:srgbClr val="D2DBEC"/>
      </a:accent5>
      <a:accent6>
        <a:srgbClr val="E9EEF8"/>
      </a:accent6>
      <a:hlink>
        <a:srgbClr val="1A56E8"/>
      </a:hlink>
      <a:folHlink>
        <a:srgbClr val="5B6B87"/>
      </a:folHlink>
    </a:clrScheme>
    <a:fontScheme name="Clase 10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· Explicabilidad e interpretabilidad</dc:title>
  <dc:subject>PptxGenJS Presentation</dc:subject>
  <dc:creator>Josef Renato Rodriguez</dc:creator>
  <cp:lastModifiedBy>Josef Renato Rodriguez</cp:lastModifiedBy>
  <cp:revision>1</cp:revision>
  <dcterms:created xsi:type="dcterms:W3CDTF">2026-10-28T16:04:49Z</dcterms:created>
  <dcterms:modified xsi:type="dcterms:W3CDTF">2026-10-28T16:04:49Z</dcterms:modified>
</cp:coreProperties>
</file>