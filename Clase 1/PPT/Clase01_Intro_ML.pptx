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2.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error entrenamiento</c:v>
                </c:pt>
              </c:strCache>
            </c:strRef>
          </c:tx>
          <c:spPr>
            <a:ln w="31750" cap="flat">
              <a:solidFill>
                <a:srgbClr val="0A2559"/>
              </a:solidFill>
              <a:prstDash val="solid"/>
              <a:round/>
            </a:ln>
            <a:effectLst/>
          </c:spPr>
          <c:marker>
            <c:symbol val="circle"/>
            <c:size val="7"/>
            <c:spPr>
              <a:solidFill>
                <a:srgbClr val="0A2559"/>
              </a:solidFill>
              <a:ln w="9525" cap="flat">
                <a:solidFill>
                  <a:srgbClr val="0A2559"/>
                </a:solidFill>
                <a:prstDash val="solid"/>
                <a:round/>
              </a:ln>
              <a:effectLst/>
            </c:spPr>
          </c:marker>
          <c:cat>
            <c:strRef>
              <c:f>Sheet1!$A$2:$A$12</c:f>
              <c:strCache>
                <c:ptCount val="11"/>
                <c:pt idx="0">
                  <c:v>1</c:v>
                </c:pt>
                <c:pt idx="1">
                  <c:v>2</c:v>
                </c:pt>
                <c:pt idx="2">
                  <c:v>3</c:v>
                </c:pt>
                <c:pt idx="3">
                  <c:v>4</c:v>
                </c:pt>
                <c:pt idx="4">
                  <c:v>5</c:v>
                </c:pt>
                <c:pt idx="5">
                  <c:v>6</c:v>
                </c:pt>
                <c:pt idx="6">
                  <c:v>7</c:v>
                </c:pt>
                <c:pt idx="7">
                  <c:v>8</c:v>
                </c:pt>
                <c:pt idx="8">
                  <c:v>9</c:v>
                </c:pt>
                <c:pt idx="9">
                  <c:v>10</c:v>
                </c:pt>
                <c:pt idx="10">
                  <c:v>11</c:v>
                </c:pt>
              </c:strCache>
            </c:strRef>
          </c:cat>
          <c:val>
            <c:numRef>
              <c:f>Sheet1!$B$2:$B$12</c:f>
              <c:numCache>
                <c:formatCode>General</c:formatCode>
                <c:ptCount val="11"/>
                <c:pt idx="0">
                  <c:v>0.51200000000000001</c:v>
                </c:pt>
                <c:pt idx="1">
                  <c:v>0.51200000000000001</c:v>
                </c:pt>
                <c:pt idx="2">
                  <c:v>0.22</c:v>
                </c:pt>
                <c:pt idx="3">
                  <c:v>0.188</c:v>
                </c:pt>
                <c:pt idx="4">
                  <c:v>0.18099999999999999</c:v>
                </c:pt>
                <c:pt idx="5">
                  <c:v>0.17699999999999999</c:v>
                </c:pt>
                <c:pt idx="6">
                  <c:v>0.17599999999999999</c:v>
                </c:pt>
                <c:pt idx="7">
                  <c:v>0.17199999999999999</c:v>
                </c:pt>
                <c:pt idx="8">
                  <c:v>0.16500000000000001</c:v>
                </c:pt>
                <c:pt idx="9">
                  <c:v>0.159</c:v>
                </c:pt>
                <c:pt idx="10">
                  <c:v>0.159</c:v>
                </c:pt>
              </c:numCache>
            </c:numRef>
          </c:val>
          <c:smooth val="0"/>
          <c:extLst>
            <c:ext xmlns:c16="http://schemas.microsoft.com/office/drawing/2014/chart" uri="{C3380CC4-5D6E-409C-BE32-E72D297353CC}">
              <c16:uniqueId val="{00000000-0334-D047-9656-059B6CBA7E29}"/>
            </c:ext>
          </c:extLst>
        </c:ser>
        <c:ser>
          <c:idx val="1"/>
          <c:order val="1"/>
          <c:tx>
            <c:strRef>
              <c:f>Sheet1!$C$1</c:f>
              <c:strCache>
                <c:ptCount val="1"/>
                <c:pt idx="0">
                  <c:v>error datos nuevos</c:v>
                </c:pt>
              </c:strCache>
            </c:strRef>
          </c:tx>
          <c:spPr>
            <a:ln w="31750" cap="flat">
              <a:solidFill>
                <a:srgbClr val="E6115E"/>
              </a:solidFill>
              <a:prstDash val="solid"/>
              <a:round/>
            </a:ln>
            <a:effectLst/>
          </c:spPr>
          <c:marker>
            <c:symbol val="circle"/>
            <c:size val="7"/>
            <c:spPr>
              <a:solidFill>
                <a:srgbClr val="E6115E"/>
              </a:solidFill>
              <a:ln w="9525" cap="flat">
                <a:solidFill>
                  <a:srgbClr val="E6115E"/>
                </a:solidFill>
                <a:prstDash val="solid"/>
                <a:round/>
              </a:ln>
              <a:effectLst/>
            </c:spPr>
          </c:marker>
          <c:cat>
            <c:strRef>
              <c:f>Sheet1!$A$2:$A$12</c:f>
              <c:strCache>
                <c:ptCount val="11"/>
                <c:pt idx="0">
                  <c:v>1</c:v>
                </c:pt>
                <c:pt idx="1">
                  <c:v>2</c:v>
                </c:pt>
                <c:pt idx="2">
                  <c:v>3</c:v>
                </c:pt>
                <c:pt idx="3">
                  <c:v>4</c:v>
                </c:pt>
                <c:pt idx="4">
                  <c:v>5</c:v>
                </c:pt>
                <c:pt idx="5">
                  <c:v>6</c:v>
                </c:pt>
                <c:pt idx="6">
                  <c:v>7</c:v>
                </c:pt>
                <c:pt idx="7">
                  <c:v>8</c:v>
                </c:pt>
                <c:pt idx="8">
                  <c:v>9</c:v>
                </c:pt>
                <c:pt idx="9">
                  <c:v>10</c:v>
                </c:pt>
                <c:pt idx="10">
                  <c:v>11</c:v>
                </c:pt>
              </c:strCache>
            </c:strRef>
          </c:cat>
          <c:val>
            <c:numRef>
              <c:f>Sheet1!$C$2:$C$12</c:f>
              <c:numCache>
                <c:formatCode>General</c:formatCode>
                <c:ptCount val="11"/>
                <c:pt idx="0">
                  <c:v>0.53100000000000003</c:v>
                </c:pt>
                <c:pt idx="1">
                  <c:v>0.53100000000000003</c:v>
                </c:pt>
                <c:pt idx="2">
                  <c:v>0.34200000000000003</c:v>
                </c:pt>
                <c:pt idx="3">
                  <c:v>0.41</c:v>
                </c:pt>
                <c:pt idx="4">
                  <c:v>0.374</c:v>
                </c:pt>
                <c:pt idx="5">
                  <c:v>0.36399999999999999</c:v>
                </c:pt>
                <c:pt idx="6">
                  <c:v>0.36399999999999999</c:v>
                </c:pt>
                <c:pt idx="7">
                  <c:v>0.40600000000000003</c:v>
                </c:pt>
                <c:pt idx="8">
                  <c:v>0.72499999999999998</c:v>
                </c:pt>
                <c:pt idx="9">
                  <c:v>0.40699999999999997</c:v>
                </c:pt>
                <c:pt idx="10">
                  <c:v>0.56699999999999995</c:v>
                </c:pt>
              </c:numCache>
            </c:numRef>
          </c:val>
          <c:smooth val="0"/>
          <c:extLst>
            <c:ext xmlns:c16="http://schemas.microsoft.com/office/drawing/2014/chart" uri="{C3380CC4-5D6E-409C-BE32-E72D297353CC}">
              <c16:uniqueId val="{00000001-0334-D047-9656-059B6CBA7E29}"/>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100" b="0" i="0" u="none" strike="noStrike">
                    <a:solidFill>
                      <a:srgbClr val="5B6B87"/>
                    </a:solidFill>
                    <a:latin typeface="Arial"/>
                  </a:defRPr>
                </a:pPr>
                <a:r>
                  <a:rPr sz="1100" b="0" i="0" u="none" strike="noStrike">
                    <a:solidFill>
                      <a:srgbClr val="5B6B87"/>
                    </a:solidFill>
                    <a:latin typeface="Arial"/>
                  </a:rPr>
                  <a:t>grado del polinomio (complejidad →)</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5B6B87"/>
                </a:solidFill>
                <a:latin typeface="Calibri"/>
              </a:defRPr>
            </a:pPr>
            <a:endParaRPr lang="en-US"/>
          </a:p>
        </c:txPr>
        <c:crossAx val="2094734552"/>
        <c:crosses val="autoZero"/>
        <c:auto val="1"/>
        <c:lblAlgn val="ctr"/>
        <c:lblOffset val="100"/>
        <c:noMultiLvlLbl val="1"/>
      </c:catAx>
      <c:valAx>
        <c:axId val="2094734552"/>
        <c:scaling>
          <c:orientation val="minMax"/>
          <c:max val="0.8"/>
          <c:min val="0"/>
        </c:scaling>
        <c:delete val="0"/>
        <c:axPos val="l"/>
        <c:majorGridlines>
          <c:spPr>
            <a:ln w="6350" cap="flat">
              <a:solidFill>
                <a:srgbClr val="E3E8F2"/>
              </a:solidFill>
              <a:prstDash val="solid"/>
              <a:round/>
            </a:ln>
          </c:spPr>
        </c:majorGridlines>
        <c:title>
          <c:tx>
            <c:rich>
              <a:bodyPr/>
              <a:lstStyle/>
              <a:p>
                <a:pPr>
                  <a:defRPr sz="1100" b="0" i="0" u="none" strike="noStrike">
                    <a:solidFill>
                      <a:srgbClr val="5B6B87"/>
                    </a:solidFill>
                    <a:latin typeface="Arial"/>
                  </a:defRPr>
                </a:pPr>
                <a:r>
                  <a:rPr sz="1100" b="0" i="0" u="none" strike="noStrike">
                    <a:solidFill>
                      <a:srgbClr val="5B6B87"/>
                    </a:solidFill>
                    <a:latin typeface="Arial"/>
                  </a:rPr>
                  <a:t>error (RMSE)</a:t>
                </a:r>
              </a:p>
            </c:rich>
          </c:tx>
          <c:overlay val="0"/>
        </c:title>
        <c:numFmt formatCode="0.0" sourceLinked="0"/>
        <c:majorTickMark val="out"/>
        <c:minorTickMark val="none"/>
        <c:tickLblPos val="nextTo"/>
        <c:spPr>
          <a:ln w="12700" cap="flat">
            <a:solidFill>
              <a:srgbClr val="888888"/>
            </a:solidFill>
            <a:prstDash val="solid"/>
            <a:round/>
          </a:ln>
        </c:spPr>
        <c:txPr>
          <a:bodyPr/>
          <a:lstStyle/>
          <a:p>
            <a:pPr>
              <a:defRPr sz="1050" b="0" i="0" u="none" strike="noStrike">
                <a:solidFill>
                  <a:srgbClr val="5B6B87"/>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2C3A55"/>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entrenamiento</c:v>
                </c:pt>
              </c:strCache>
            </c:strRef>
          </c:tx>
          <c:spPr>
            <a:ln w="31750" cap="flat">
              <a:solidFill>
                <a:srgbClr val="0A2559"/>
              </a:solidFill>
              <a:prstDash val="solid"/>
              <a:round/>
            </a:ln>
            <a:effectLst/>
          </c:spPr>
          <c:marker>
            <c:symbol val="circle"/>
            <c:size val="7"/>
            <c:spPr>
              <a:solidFill>
                <a:srgbClr val="0A2559"/>
              </a:solidFill>
              <a:ln w="9525" cap="flat">
                <a:solidFill>
                  <a:srgbClr val="0A2559"/>
                </a:solidFill>
                <a:prstDash val="solid"/>
                <a:round/>
              </a:ln>
              <a:effectLst/>
            </c:spPr>
          </c:marker>
          <c:cat>
            <c:strRef>
              <c:f>Sheet1!$A$2:$A$13</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Sheet1!$B$2:$B$13</c:f>
              <c:numCache>
                <c:formatCode>General</c:formatCode>
                <c:ptCount val="12"/>
                <c:pt idx="0">
                  <c:v>0.84399999999999997</c:v>
                </c:pt>
                <c:pt idx="1">
                  <c:v>0.86299999999999999</c:v>
                </c:pt>
                <c:pt idx="2">
                  <c:v>0.877</c:v>
                </c:pt>
                <c:pt idx="3">
                  <c:v>0.89400000000000002</c:v>
                </c:pt>
                <c:pt idx="4">
                  <c:v>0.91200000000000003</c:v>
                </c:pt>
                <c:pt idx="5">
                  <c:v>0.92700000000000005</c:v>
                </c:pt>
                <c:pt idx="6">
                  <c:v>0.94899999999999995</c:v>
                </c:pt>
                <c:pt idx="7">
                  <c:v>0.97299999999999998</c:v>
                </c:pt>
                <c:pt idx="8">
                  <c:v>0.98399999999999999</c:v>
                </c:pt>
                <c:pt idx="9">
                  <c:v>0.99099999999999999</c:v>
                </c:pt>
                <c:pt idx="10">
                  <c:v>0.998</c:v>
                </c:pt>
                <c:pt idx="11">
                  <c:v>0.998</c:v>
                </c:pt>
              </c:numCache>
            </c:numRef>
          </c:val>
          <c:smooth val="0"/>
          <c:extLst>
            <c:ext xmlns:c16="http://schemas.microsoft.com/office/drawing/2014/chart" uri="{C3380CC4-5D6E-409C-BE32-E72D297353CC}">
              <c16:uniqueId val="{00000000-3E2C-9742-BA39-F366A8965C1A}"/>
            </c:ext>
          </c:extLst>
        </c:ser>
        <c:ser>
          <c:idx val="1"/>
          <c:order val="1"/>
          <c:tx>
            <c:strRef>
              <c:f>Sheet1!$C$1</c:f>
              <c:strCache>
                <c:ptCount val="1"/>
                <c:pt idx="0">
                  <c:v>validación</c:v>
                </c:pt>
              </c:strCache>
            </c:strRef>
          </c:tx>
          <c:spPr>
            <a:ln w="31750" cap="flat">
              <a:solidFill>
                <a:srgbClr val="E6115E"/>
              </a:solidFill>
              <a:prstDash val="solid"/>
              <a:round/>
            </a:ln>
            <a:effectLst/>
          </c:spPr>
          <c:marker>
            <c:symbol val="circle"/>
            <c:size val="7"/>
            <c:spPr>
              <a:solidFill>
                <a:srgbClr val="E6115E"/>
              </a:solidFill>
              <a:ln w="9525" cap="flat">
                <a:solidFill>
                  <a:srgbClr val="E6115E"/>
                </a:solidFill>
                <a:prstDash val="solid"/>
                <a:round/>
              </a:ln>
              <a:effectLst/>
            </c:spPr>
          </c:marker>
          <c:cat>
            <c:strRef>
              <c:f>Sheet1!$A$2:$A$13</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Sheet1!$C$2:$C$13</c:f>
              <c:numCache>
                <c:formatCode>General</c:formatCode>
                <c:ptCount val="12"/>
                <c:pt idx="0">
                  <c:v>0.84299999999999997</c:v>
                </c:pt>
                <c:pt idx="1">
                  <c:v>0.84499999999999997</c:v>
                </c:pt>
                <c:pt idx="2">
                  <c:v>0.86299999999999999</c:v>
                </c:pt>
                <c:pt idx="3">
                  <c:v>0.877</c:v>
                </c:pt>
                <c:pt idx="4">
                  <c:v>0.88</c:v>
                </c:pt>
                <c:pt idx="5">
                  <c:v>0.85299999999999998</c:v>
                </c:pt>
                <c:pt idx="6">
                  <c:v>0.86299999999999999</c:v>
                </c:pt>
                <c:pt idx="7">
                  <c:v>0.84799999999999998</c:v>
                </c:pt>
                <c:pt idx="8">
                  <c:v>0.84799999999999998</c:v>
                </c:pt>
                <c:pt idx="9">
                  <c:v>0.84799999999999998</c:v>
                </c:pt>
                <c:pt idx="10">
                  <c:v>0.84499999999999997</c:v>
                </c:pt>
                <c:pt idx="11">
                  <c:v>0.84499999999999997</c:v>
                </c:pt>
              </c:numCache>
            </c:numRef>
          </c:val>
          <c:smooth val="0"/>
          <c:extLst>
            <c:ext xmlns:c16="http://schemas.microsoft.com/office/drawing/2014/chart" uri="{C3380CC4-5D6E-409C-BE32-E72D297353CC}">
              <c16:uniqueId val="{00000001-3E2C-9742-BA39-F366A8965C1A}"/>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100" b="0" i="0" u="none" strike="noStrike">
                    <a:solidFill>
                      <a:srgbClr val="5B6B87"/>
                    </a:solidFill>
                    <a:latin typeface="Arial"/>
                  </a:defRPr>
                </a:pPr>
                <a:r>
                  <a:rPr sz="1100" b="0" i="0" u="none" strike="noStrike">
                    <a:solidFill>
                      <a:srgbClr val="5B6B87"/>
                    </a:solidFill>
                    <a:latin typeface="Arial"/>
                  </a:rPr>
                  <a:t>profundidad del árbol (complejidad →)</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5B6B87"/>
                </a:solidFill>
                <a:latin typeface="Calibri"/>
              </a:defRPr>
            </a:pPr>
            <a:endParaRPr lang="en-US"/>
          </a:p>
        </c:txPr>
        <c:crossAx val="2094734552"/>
        <c:crosses val="autoZero"/>
        <c:auto val="1"/>
        <c:lblAlgn val="ctr"/>
        <c:lblOffset val="100"/>
        <c:noMultiLvlLbl val="1"/>
      </c:catAx>
      <c:valAx>
        <c:axId val="2094734552"/>
        <c:scaling>
          <c:orientation val="minMax"/>
          <c:max val="1"/>
          <c:min val="0.82"/>
        </c:scaling>
        <c:delete val="0"/>
        <c:axPos val="l"/>
        <c:majorGridlines>
          <c:spPr>
            <a:ln w="6350" cap="flat">
              <a:solidFill>
                <a:srgbClr val="E3E8F2"/>
              </a:solidFill>
              <a:prstDash val="solid"/>
              <a:round/>
            </a:ln>
          </c:spPr>
        </c:majorGridlines>
        <c:title>
          <c:tx>
            <c:rich>
              <a:bodyPr/>
              <a:lstStyle/>
              <a:p>
                <a:pPr>
                  <a:defRPr sz="1100" b="0" i="0" u="none" strike="noStrike">
                    <a:solidFill>
                      <a:srgbClr val="5B6B87"/>
                    </a:solidFill>
                    <a:latin typeface="Arial"/>
                  </a:defRPr>
                </a:pPr>
                <a:r>
                  <a:rPr sz="1100" b="0" i="0" u="none" strike="noStrike">
                    <a:solidFill>
                      <a:srgbClr val="5B6B87"/>
                    </a:solidFill>
                    <a:latin typeface="Arial"/>
                  </a:rPr>
                  <a:t>exactitud</a:t>
                </a:r>
              </a:p>
            </c:rich>
          </c:tx>
          <c:overlay val="0"/>
        </c:title>
        <c:numFmt formatCode="0.00" sourceLinked="0"/>
        <c:majorTickMark val="out"/>
        <c:minorTickMark val="none"/>
        <c:tickLblPos val="nextTo"/>
        <c:spPr>
          <a:ln w="12700" cap="flat">
            <a:solidFill>
              <a:srgbClr val="888888"/>
            </a:solidFill>
            <a:prstDash val="solid"/>
            <a:round/>
          </a:ln>
        </c:spPr>
        <c:txPr>
          <a:bodyPr/>
          <a:lstStyle/>
          <a:p>
            <a:pPr>
              <a:defRPr sz="1050" b="0" i="0" u="none" strike="noStrike">
                <a:solidFill>
                  <a:srgbClr val="5B6B87"/>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2C3A55"/>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241002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personal breve y del curso. Engancha con la pregunta: ¿cuántos de ustedes han escrito alguna vez un IF para tomar una decisión de negocio? Eso es programación tradicional. Hoy vemos qué cambia cuando la regla la escribe la máquina. La imagen de la derecha es la idea de todo el curso: una curva que captura la forma de los datos sin pasar por cada punto.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Recorrido rápido, un minuto. Lo importante: el curso va de lo supervisado (M1 y M2) a lo no supervisado (M3) y termina con cómo mejorar y desplegar modelos (M4). El parcial cae justo cuando se termina lo supervisado. Menciona que Random Forest y XGBoost aparecen en tres módulos a propósito: cada vez se ven desde un ángulo distinto.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vas retrasado, el bloque 4 se puede reducir a mostrar el código: se practica en el laboratorio. El bloque 3 no se toca.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diagrama es la definición más útil de ML para alguien de negocio. Subraya la columna de la derecha: la entrada incluye las RESPUESTAS. Por eso necesitamos datos históricos etiquetados: clientes de los que ya sabemos cómo terminaron.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definición de Mitchell parece académica pero es una herramienta práctica: obliga a definir la métrica (P) antes de empezar. Muchos proyectos fracasan porque nadie definió P. Con Samuel: la idea que cambió todo es que el programa llegó a jugar mejor que su propio autor, que era un jugador mediocre. El autor no le enseñó a jugar bien: le enseñó a aprender.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al grupo antes de mostrar los números: ¿cuánto creen que acierta alguien que dice siempre que no? Casi todos subestiman: 80 %. Esa es la vara. Si un modelo no la supera, no sirve, por impresionante que suene su exactitud. Y deja sembrada la duda del recuadro rojo: se resuelve en el bloque 3.</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 la tabla despacio, con la mini tabla de la derecha a la vista: X son las columnas azules, y es la roja. La diferencia parámetro/hiperparámetro se confunde durante todo el curso; vale la pena repetirla: el modelo aprende los parámetros, tú eliges los hiperparámetros. Y elegirlos bien es el tema del bloque 3.</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Supervisado = aprendes con un profesor que tiene las respuestas (la columna y). No supervisado = no hay respuestas; el modelo busca estructura. Existe un tercer tipo, aprendizaje por refuerzo (un agente que aprende por prueba y error, como el jugador de damas de Samuel), pero queda fuera de este curso.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Tapa la columna Tipo (o muéstrala después de que respondan). La (d) genera discusión: hay quien dice clasificación porque es un porcentaje. Si alguien pregunta por calificar clientes en A/B/C/D: eso es clasificación multiclase, más de dos etiquetas, pero sigue siendo clasificación.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Punto clave para gente de negocio: el paso 1 es el más importante y el que más se salta. Un modelo excelente para la pregunta equivocada no vale nada. La flecha roja de regreso es real: la mayoría de proyectos da varias vueltas.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Muestra primero solo la línea azul: el error de entrenamiento baja siempre. Pregunta: ¿entonces elijo el grado 15? Luego la roja. El notebook tiene el gráfico de las tres curvas; vale la pena proyectarlo aquí si hay tiempo: el grado 15 pasa exactamente por los puntos y entre ellos hace locuras.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analogía del examen funciona muy bien: si el profesor te deja ver el examen final antes, tu nota ya no mide lo que sabes. Lo mismo con la prueba. El error más común en la práctica no es malicioso: es mirar la prueba, ajustar 'solo un poquito' y volver a medir. Eso contamina la prueba.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gráfico lo construyen ellos en el ejercicio 3.4. Remarca que la profundidad se eligió con validación, no con prueba. Y compara con el bloque 1: allí dijimos que el árbol sacaba 0.870 midiendo con los mismos datos. Un árbol sin límite llega a 1.000 en entrenamiento: perfecto y engañoso. Con 180 hojas para 1 400 clientes, se aprendió a cada grupito de memoria.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 caso porque viene de una empresa con toda la data y el talento del mundo: el overfitting no es un error de principiantes. Lazer y coautores describieron el modelo como parte detector de gripe y parte detector de invierno. Google dejó de publicar las estimaciones en 2015.</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hace falta explicar cada modelo: los veremos uno por uno. Lo que importa hoy es que el código es el mismo. Que gane la logística no significa que siempre gane: aquí los datos siguen una relación suave y la logística encaja justo con eso. El cliente nuevo es el ejercicio 4.2.</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el grupo va lento, el bloque 2 se puede hacer en voz alta todos juntos (ya lo discutimos en la slide 9). El bloque 3 es el que no se recorta. Quien termine antes: que cambie el test_size a 0.1 y a 0.5 y vea cómo cambian los números.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Cierra con la frase de arriba y pide que cada uno diga en voz alta cuál de los números del día le sorprendió más. Normalmente es el 546 del grado 15 o que no hacer nada acierte el 80 %.</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559"/>
        </a:solidFill>
        <a:effectLst/>
      </p:bgPr>
    </p:bg>
    <p:spTree>
      <p:nvGrpSpPr>
        <p:cNvPr id="1" name=""/>
        <p:cNvGrpSpPr/>
        <p:nvPr/>
      </p:nvGrpSpPr>
      <p:grpSpPr>
        <a:xfrm>
          <a:off x="0" y="0"/>
          <a:ext cx="0" cy="0"/>
          <a:chOff x="0" y="0"/>
          <a:chExt cx="0" cy="0"/>
        </a:xfrm>
      </p:grpSpPr>
      <p:sp>
        <p:nvSpPr>
          <p:cNvPr id="2" name="Shape 0"/>
          <p:cNvSpPr/>
          <p:nvPr/>
        </p:nvSpPr>
        <p:spPr>
          <a:xfrm>
            <a:off x="502920" y="960120"/>
            <a:ext cx="2560320" cy="347472"/>
          </a:xfrm>
          <a:prstGeom prst="roundRect">
            <a:avLst>
              <a:gd name="adj" fmla="val 50000"/>
            </a:avLst>
          </a:prstGeom>
          <a:solidFill>
            <a:srgbClr val="E6115E"/>
          </a:solidFill>
          <a:ln w="12700">
            <a:solidFill>
              <a:srgbClr val="E6115E"/>
            </a:solidFill>
            <a:prstDash val="solid"/>
          </a:ln>
        </p:spPr>
      </p:sp>
      <p:sp>
        <p:nvSpPr>
          <p:cNvPr id="3" name="Text 1"/>
          <p:cNvSpPr txBox="1"/>
          <p:nvPr/>
        </p:nvSpPr>
        <p:spPr>
          <a:xfrm>
            <a:off x="502920" y="960120"/>
            <a:ext cx="256032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CURSO 7 · CLASE 1</a:t>
            </a:r>
            <a:endParaRPr lang="en-US" sz="1100" dirty="0"/>
          </a:p>
        </p:txBody>
      </p:sp>
      <p:sp>
        <p:nvSpPr>
          <p:cNvPr id="4" name="Text 2"/>
          <p:cNvSpPr txBox="1"/>
          <p:nvPr/>
        </p:nvSpPr>
        <p:spPr>
          <a:xfrm>
            <a:off x="502920" y="1508760"/>
            <a:ext cx="6035040" cy="1463040"/>
          </a:xfrm>
          <a:prstGeom prst="rect">
            <a:avLst/>
          </a:prstGeom>
          <a:noFill/>
          <a:ln/>
        </p:spPr>
        <p:txBody>
          <a:bodyPr wrap="square" lIns="0" tIns="0" rIns="0" bIns="0" rtlCol="0" anchor="t"/>
          <a:lstStyle/>
          <a:p>
            <a:pPr marL="0" indent="0">
              <a:buNone/>
            </a:pPr>
            <a:r>
              <a:rPr lang="en-US" sz="4000" b="1" dirty="0">
                <a:solidFill>
                  <a:srgbClr val="FFFFFF"/>
                </a:solidFill>
                <a:latin typeface="Calibri" pitchFamily="34" charset="0"/>
                <a:ea typeface="Calibri" pitchFamily="34" charset="-122"/>
                <a:cs typeface="Calibri" pitchFamily="34" charset="-120"/>
              </a:rPr>
              <a:t>Enseñarle a una</a:t>
            </a:r>
            <a:endParaRPr lang="en-US" sz="4000" dirty="0"/>
          </a:p>
          <a:p>
            <a:pPr marL="0" indent="0">
              <a:buNone/>
            </a:pPr>
            <a:r>
              <a:rPr lang="en-US" sz="4000" b="1" dirty="0">
                <a:solidFill>
                  <a:srgbClr val="FFFFFF"/>
                </a:solidFill>
                <a:latin typeface="Calibri" pitchFamily="34" charset="0"/>
                <a:ea typeface="Calibri" pitchFamily="34" charset="-122"/>
                <a:cs typeface="Calibri" pitchFamily="34" charset="-120"/>
              </a:rPr>
              <a:t>máquina con ejemplos</a:t>
            </a:r>
            <a:endParaRPr lang="en-US" sz="4000" dirty="0"/>
          </a:p>
        </p:txBody>
      </p:sp>
      <p:sp>
        <p:nvSpPr>
          <p:cNvPr id="5" name="Text 3"/>
          <p:cNvSpPr txBox="1"/>
          <p:nvPr/>
        </p:nvSpPr>
        <p:spPr>
          <a:xfrm>
            <a:off x="530352" y="3246120"/>
            <a:ext cx="6035040" cy="731520"/>
          </a:xfrm>
          <a:prstGeom prst="rect">
            <a:avLst/>
          </a:prstGeom>
          <a:noFill/>
          <a:ln/>
        </p:spPr>
        <p:txBody>
          <a:bodyPr wrap="square" lIns="0" tIns="0" rIns="0" bIns="0" rtlCol="0" anchor="t"/>
          <a:lstStyle/>
          <a:p>
            <a:pPr marL="0" indent="0">
              <a:buNone/>
            </a:pPr>
            <a:r>
              <a:rPr lang="en-US" sz="1500" dirty="0">
                <a:solidFill>
                  <a:srgbClr val="C9D4EA"/>
                </a:solidFill>
                <a:latin typeface="Calibri" pitchFamily="34" charset="0"/>
                <a:ea typeface="Calibri" pitchFamily="34" charset="-122"/>
                <a:cs typeface="Calibri" pitchFamily="34" charset="-120"/>
              </a:rPr>
              <a:t>Introducción al Machine Learning: qué es, qué tipos de problema resuelve</a:t>
            </a:r>
            <a:endParaRPr lang="en-US" sz="1500" dirty="0"/>
          </a:p>
          <a:p>
            <a:pPr marL="0" indent="0">
              <a:buNone/>
            </a:pPr>
            <a:r>
              <a:rPr lang="en-US" sz="1500" dirty="0">
                <a:solidFill>
                  <a:srgbClr val="C9D4EA"/>
                </a:solidFill>
                <a:latin typeface="Calibri" pitchFamily="34" charset="0"/>
                <a:ea typeface="Calibri" pitchFamily="34" charset="-122"/>
                <a:cs typeface="Calibri" pitchFamily="34" charset="-120"/>
              </a:rPr>
              <a:t>y por qué un modelo que memoriza no sirve para nada.</a:t>
            </a:r>
            <a:endParaRPr lang="en-US" sz="1500" dirty="0"/>
          </a:p>
        </p:txBody>
      </p:sp>
      <p:sp>
        <p:nvSpPr>
          <p:cNvPr id="6" name="Text 4"/>
          <p:cNvSpPr txBox="1"/>
          <p:nvPr/>
        </p:nvSpPr>
        <p:spPr>
          <a:xfrm>
            <a:off x="530352" y="4343400"/>
            <a:ext cx="2011680" cy="365760"/>
          </a:xfrm>
          <a:prstGeom prst="rect">
            <a:avLst/>
          </a:prstGeom>
          <a:noFill/>
          <a:ln/>
        </p:spPr>
        <p:txBody>
          <a:bodyPr wrap="square" lIns="0" tIns="0" rIns="0" bIns="0" rtlCol="0" anchor="ctr"/>
          <a:lstStyle/>
          <a:p>
            <a:pPr marL="0" indent="0">
              <a:buNone/>
            </a:pPr>
            <a:r>
              <a:rPr lang="en-US" sz="1800" b="1" dirty="0">
                <a:solidFill>
                  <a:srgbClr val="4A82FF"/>
                </a:solidFill>
                <a:latin typeface="Calibri" pitchFamily="34" charset="0"/>
                <a:ea typeface="Calibri" pitchFamily="34" charset="-122"/>
                <a:cs typeface="Calibri" pitchFamily="34" charset="-120"/>
              </a:rPr>
              <a:t>120 min</a:t>
            </a:r>
            <a:endParaRPr lang="en-US" sz="1800" dirty="0"/>
          </a:p>
        </p:txBody>
      </p:sp>
      <p:sp>
        <p:nvSpPr>
          <p:cNvPr id="7" name="Text 5"/>
          <p:cNvSpPr txBox="1"/>
          <p:nvPr/>
        </p:nvSpPr>
        <p:spPr>
          <a:xfrm>
            <a:off x="530352" y="4709160"/>
            <a:ext cx="2011680" cy="274320"/>
          </a:xfrm>
          <a:prstGeom prst="rect">
            <a:avLst/>
          </a:prstGeom>
          <a:noFill/>
          <a:ln/>
        </p:spPr>
        <p:txBody>
          <a:bodyPr wrap="square" lIns="0" tIns="0" rIns="0" bIns="0" rtlCol="0" anchor="ctr"/>
          <a:lstStyle/>
          <a:p>
            <a:pPr marL="0" indent="0">
              <a:buNone/>
            </a:pPr>
            <a:r>
              <a:rPr lang="en-US" sz="1150" dirty="0">
                <a:solidFill>
                  <a:srgbClr val="A9B7D4"/>
                </a:solidFill>
                <a:latin typeface="Calibri" pitchFamily="34" charset="0"/>
                <a:ea typeface="Calibri" pitchFamily="34" charset="-122"/>
                <a:cs typeface="Calibri" pitchFamily="34" charset="-120"/>
              </a:rPr>
              <a:t>1 sesión</a:t>
            </a:r>
            <a:endParaRPr lang="en-US" sz="1150" dirty="0"/>
          </a:p>
        </p:txBody>
      </p:sp>
      <p:sp>
        <p:nvSpPr>
          <p:cNvPr id="8" name="Text 6"/>
          <p:cNvSpPr txBox="1"/>
          <p:nvPr/>
        </p:nvSpPr>
        <p:spPr>
          <a:xfrm>
            <a:off x="2633472" y="4343400"/>
            <a:ext cx="2011680" cy="365760"/>
          </a:xfrm>
          <a:prstGeom prst="rect">
            <a:avLst/>
          </a:prstGeom>
          <a:noFill/>
          <a:ln/>
        </p:spPr>
        <p:txBody>
          <a:bodyPr wrap="square" lIns="0" tIns="0" rIns="0" bIns="0" rtlCol="0" anchor="ctr"/>
          <a:lstStyle/>
          <a:p>
            <a:pPr marL="0" indent="0">
              <a:buNone/>
            </a:pPr>
            <a:r>
              <a:rPr lang="en-US" sz="1800" b="1" dirty="0">
                <a:solidFill>
                  <a:srgbClr val="4A82FF"/>
                </a:solidFill>
                <a:latin typeface="Calibri" pitchFamily="34" charset="0"/>
                <a:ea typeface="Calibri" pitchFamily="34" charset="-122"/>
                <a:cs typeface="Calibri" pitchFamily="34" charset="-120"/>
              </a:rPr>
              <a:t>16 clases</a:t>
            </a:r>
            <a:endParaRPr lang="en-US" sz="1800" dirty="0"/>
          </a:p>
        </p:txBody>
      </p:sp>
      <p:sp>
        <p:nvSpPr>
          <p:cNvPr id="9" name="Text 7"/>
          <p:cNvSpPr txBox="1"/>
          <p:nvPr/>
        </p:nvSpPr>
        <p:spPr>
          <a:xfrm>
            <a:off x="2633472" y="4709160"/>
            <a:ext cx="2011680" cy="274320"/>
          </a:xfrm>
          <a:prstGeom prst="rect">
            <a:avLst/>
          </a:prstGeom>
          <a:noFill/>
          <a:ln/>
        </p:spPr>
        <p:txBody>
          <a:bodyPr wrap="square" lIns="0" tIns="0" rIns="0" bIns="0" rtlCol="0" anchor="ctr"/>
          <a:lstStyle/>
          <a:p>
            <a:pPr marL="0" indent="0">
              <a:buNone/>
            </a:pPr>
            <a:r>
              <a:rPr lang="en-US" sz="1150" dirty="0">
                <a:solidFill>
                  <a:srgbClr val="A9B7D4"/>
                </a:solidFill>
                <a:latin typeface="Calibri" pitchFamily="34" charset="0"/>
                <a:ea typeface="Calibri" pitchFamily="34" charset="-122"/>
                <a:cs typeface="Calibri" pitchFamily="34" charset="-120"/>
              </a:rPr>
              <a:t>4 módulos</a:t>
            </a:r>
            <a:endParaRPr lang="en-US" sz="1150" dirty="0"/>
          </a:p>
        </p:txBody>
      </p:sp>
      <p:sp>
        <p:nvSpPr>
          <p:cNvPr id="10" name="Text 8"/>
          <p:cNvSpPr txBox="1"/>
          <p:nvPr/>
        </p:nvSpPr>
        <p:spPr>
          <a:xfrm>
            <a:off x="4736592" y="4343400"/>
            <a:ext cx="2011680" cy="365760"/>
          </a:xfrm>
          <a:prstGeom prst="rect">
            <a:avLst/>
          </a:prstGeom>
          <a:noFill/>
          <a:ln/>
        </p:spPr>
        <p:txBody>
          <a:bodyPr wrap="square" lIns="0" tIns="0" rIns="0" bIns="0" rtlCol="0" anchor="ctr"/>
          <a:lstStyle/>
          <a:p>
            <a:pPr marL="0" indent="0">
              <a:buNone/>
            </a:pPr>
            <a:r>
              <a:rPr lang="en-US" sz="1800" b="1" dirty="0">
                <a:solidFill>
                  <a:srgbClr val="4A82FF"/>
                </a:solidFill>
                <a:latin typeface="Calibri" pitchFamily="34" charset="0"/>
                <a:ea typeface="Calibri" pitchFamily="34" charset="-122"/>
                <a:cs typeface="Calibri" pitchFamily="34" charset="-120"/>
              </a:rPr>
              <a:t>generalizar</a:t>
            </a:r>
            <a:endParaRPr lang="en-US" sz="1800" dirty="0"/>
          </a:p>
        </p:txBody>
      </p:sp>
      <p:sp>
        <p:nvSpPr>
          <p:cNvPr id="11" name="Text 9"/>
          <p:cNvSpPr txBox="1"/>
          <p:nvPr/>
        </p:nvSpPr>
        <p:spPr>
          <a:xfrm>
            <a:off x="4736592" y="4709160"/>
            <a:ext cx="2011680" cy="274320"/>
          </a:xfrm>
          <a:prstGeom prst="rect">
            <a:avLst/>
          </a:prstGeom>
          <a:noFill/>
          <a:ln/>
        </p:spPr>
        <p:txBody>
          <a:bodyPr wrap="square" lIns="0" tIns="0" rIns="0" bIns="0" rtlCol="0" anchor="ctr"/>
          <a:lstStyle/>
          <a:p>
            <a:pPr marL="0" indent="0">
              <a:buNone/>
            </a:pPr>
            <a:r>
              <a:rPr lang="en-US" sz="1150" dirty="0">
                <a:solidFill>
                  <a:srgbClr val="A9B7D4"/>
                </a:solidFill>
                <a:latin typeface="Calibri" pitchFamily="34" charset="0"/>
                <a:ea typeface="Calibri" pitchFamily="34" charset="-122"/>
                <a:cs typeface="Calibri" pitchFamily="34" charset="-120"/>
              </a:rPr>
              <a:t>la idea de todo el curso</a:t>
            </a:r>
            <a:endParaRPr lang="en-US" sz="1150" dirty="0"/>
          </a:p>
        </p:txBody>
      </p:sp>
      <p:sp>
        <p:nvSpPr>
          <p:cNvPr id="12" name="Text 10"/>
          <p:cNvSpPr txBox="1"/>
          <p:nvPr/>
        </p:nvSpPr>
        <p:spPr>
          <a:xfrm>
            <a:off x="530352" y="5349240"/>
            <a:ext cx="5943600" cy="320040"/>
          </a:xfrm>
          <a:prstGeom prst="rect">
            <a:avLst/>
          </a:prstGeom>
          <a:noFill/>
          <a:ln/>
        </p:spPr>
        <p:txBody>
          <a:bodyPr wrap="square" lIns="0" tIns="0" rIns="0" bIns="0" rtlCol="0" anchor="ctr"/>
          <a:lstStyle/>
          <a:p>
            <a:pPr marL="0" indent="0">
              <a:buNone/>
            </a:pPr>
            <a:r>
              <a:rPr lang="en-US" sz="1400" dirty="0">
                <a:solidFill>
                  <a:srgbClr val="A9B7D4"/>
                </a:solidFill>
                <a:latin typeface="Calibri" pitchFamily="34" charset="0"/>
                <a:ea typeface="Calibri" pitchFamily="34" charset="-122"/>
                <a:cs typeface="Calibri" pitchFamily="34" charset="-120"/>
              </a:rPr>
              <a:t>Docente  </a:t>
            </a:r>
            <a:r>
              <a:rPr lang="en-US" sz="1400" b="1" dirty="0">
                <a:solidFill>
                  <a:srgbClr val="FFFFFF"/>
                </a:solidFill>
                <a:latin typeface="Calibri" pitchFamily="34" charset="0"/>
                <a:ea typeface="Calibri" pitchFamily="34" charset="-122"/>
                <a:cs typeface="Calibri" pitchFamily="34" charset="-120"/>
              </a:rPr>
              <a:t>Josef Renato Rodriguez</a:t>
            </a:r>
            <a:endParaRPr lang="en-US" sz="1400" dirty="0"/>
          </a:p>
        </p:txBody>
      </p:sp>
      <p:sp>
        <p:nvSpPr>
          <p:cNvPr id="13" name="Text 11"/>
          <p:cNvSpPr txBox="1"/>
          <p:nvPr/>
        </p:nvSpPr>
        <p:spPr>
          <a:xfrm>
            <a:off x="530352" y="6172200"/>
            <a:ext cx="7315200" cy="274320"/>
          </a:xfrm>
          <a:prstGeom prst="rect">
            <a:avLst/>
          </a:prstGeom>
          <a:noFill/>
          <a:ln/>
        </p:spPr>
        <p:txBody>
          <a:bodyPr wrap="square" lIns="0" tIns="0" rIns="0" bIns="0" rtlCol="0" anchor="ctr"/>
          <a:lstStyle/>
          <a:p>
            <a:pPr marL="0" indent="0">
              <a:buNone/>
            </a:pPr>
            <a:r>
              <a:rPr lang="en-US" sz="1050" i="1" dirty="0">
                <a:solidFill>
                  <a:srgbClr val="8595B5"/>
                </a:solidFill>
                <a:latin typeface="Calibri" pitchFamily="34" charset="0"/>
                <a:ea typeface="Calibri" pitchFamily="34" charset="-122"/>
                <a:cs typeface="Calibri" pitchFamily="34" charset="-120"/>
              </a:rPr>
              <a:t>Machine Learning · Programa de Especialización Data Scientist · 16 clases + parcial + final</a:t>
            </a:r>
            <a:endParaRPr lang="en-US" sz="1050" dirty="0"/>
          </a:p>
        </p:txBody>
      </p:sp>
      <p:sp>
        <p:nvSpPr>
          <p:cNvPr id="14" name="Shape 12"/>
          <p:cNvSpPr/>
          <p:nvPr/>
        </p:nvSpPr>
        <p:spPr>
          <a:xfrm>
            <a:off x="7223760" y="3200400"/>
            <a:ext cx="4389120" cy="0"/>
          </a:xfrm>
          <a:prstGeom prst="line">
            <a:avLst/>
          </a:prstGeom>
          <a:noFill/>
          <a:ln w="9525">
            <a:solidFill>
              <a:srgbClr val="2F4B85"/>
            </a:solidFill>
            <a:prstDash val="dash"/>
          </a:ln>
        </p:spPr>
      </p:sp>
      <p:sp>
        <p:nvSpPr>
          <p:cNvPr id="15" name="Shape 13"/>
          <p:cNvSpPr/>
          <p:nvPr/>
        </p:nvSpPr>
        <p:spPr>
          <a:xfrm>
            <a:off x="7196328" y="3814719"/>
            <a:ext cx="54864" cy="54864"/>
          </a:xfrm>
          <a:prstGeom prst="ellipse">
            <a:avLst/>
          </a:prstGeom>
          <a:solidFill>
            <a:srgbClr val="6F86B8"/>
          </a:solidFill>
          <a:ln w="12700">
            <a:solidFill>
              <a:srgbClr val="6F86B8"/>
            </a:solidFill>
            <a:prstDash val="solid"/>
          </a:ln>
        </p:spPr>
      </p:sp>
      <p:sp>
        <p:nvSpPr>
          <p:cNvPr id="16" name="Shape 14"/>
          <p:cNvSpPr/>
          <p:nvPr/>
        </p:nvSpPr>
        <p:spPr>
          <a:xfrm>
            <a:off x="7270720" y="3563553"/>
            <a:ext cx="54864" cy="54864"/>
          </a:xfrm>
          <a:prstGeom prst="ellipse">
            <a:avLst/>
          </a:prstGeom>
          <a:solidFill>
            <a:srgbClr val="6F86B8"/>
          </a:solidFill>
          <a:ln w="12700">
            <a:solidFill>
              <a:srgbClr val="6F86B8"/>
            </a:solidFill>
            <a:prstDash val="solid"/>
          </a:ln>
        </p:spPr>
      </p:sp>
      <p:sp>
        <p:nvSpPr>
          <p:cNvPr id="17" name="Shape 15"/>
          <p:cNvSpPr/>
          <p:nvPr/>
        </p:nvSpPr>
        <p:spPr>
          <a:xfrm>
            <a:off x="7345112" y="3335162"/>
            <a:ext cx="54864" cy="54864"/>
          </a:xfrm>
          <a:prstGeom prst="ellipse">
            <a:avLst/>
          </a:prstGeom>
          <a:solidFill>
            <a:srgbClr val="6F86B8"/>
          </a:solidFill>
          <a:ln w="12700">
            <a:solidFill>
              <a:srgbClr val="6F86B8"/>
            </a:solidFill>
            <a:prstDash val="solid"/>
          </a:ln>
        </p:spPr>
      </p:sp>
      <p:sp>
        <p:nvSpPr>
          <p:cNvPr id="18" name="Shape 16"/>
          <p:cNvSpPr/>
          <p:nvPr/>
        </p:nvSpPr>
        <p:spPr>
          <a:xfrm>
            <a:off x="7419504" y="3128775"/>
            <a:ext cx="54864" cy="54864"/>
          </a:xfrm>
          <a:prstGeom prst="ellipse">
            <a:avLst/>
          </a:prstGeom>
          <a:solidFill>
            <a:srgbClr val="6F86B8"/>
          </a:solidFill>
          <a:ln w="12700">
            <a:solidFill>
              <a:srgbClr val="6F86B8"/>
            </a:solidFill>
            <a:prstDash val="solid"/>
          </a:ln>
        </p:spPr>
      </p:sp>
      <p:sp>
        <p:nvSpPr>
          <p:cNvPr id="19" name="Shape 17"/>
          <p:cNvSpPr/>
          <p:nvPr/>
        </p:nvSpPr>
        <p:spPr>
          <a:xfrm>
            <a:off x="7493895" y="2943621"/>
            <a:ext cx="54864" cy="54864"/>
          </a:xfrm>
          <a:prstGeom prst="ellipse">
            <a:avLst/>
          </a:prstGeom>
          <a:solidFill>
            <a:srgbClr val="6F86B8"/>
          </a:solidFill>
          <a:ln w="12700">
            <a:solidFill>
              <a:srgbClr val="6F86B8"/>
            </a:solidFill>
            <a:prstDash val="solid"/>
          </a:ln>
        </p:spPr>
      </p:sp>
      <p:sp>
        <p:nvSpPr>
          <p:cNvPr id="20" name="Shape 18"/>
          <p:cNvSpPr/>
          <p:nvPr/>
        </p:nvSpPr>
        <p:spPr>
          <a:xfrm>
            <a:off x="7568287" y="2778931"/>
            <a:ext cx="54864" cy="54864"/>
          </a:xfrm>
          <a:prstGeom prst="ellipse">
            <a:avLst/>
          </a:prstGeom>
          <a:solidFill>
            <a:srgbClr val="6F86B8"/>
          </a:solidFill>
          <a:ln w="12700">
            <a:solidFill>
              <a:srgbClr val="6F86B8"/>
            </a:solidFill>
            <a:prstDash val="solid"/>
          </a:ln>
        </p:spPr>
      </p:sp>
      <p:sp>
        <p:nvSpPr>
          <p:cNvPr id="21" name="Shape 19"/>
          <p:cNvSpPr/>
          <p:nvPr/>
        </p:nvSpPr>
        <p:spPr>
          <a:xfrm>
            <a:off x="7642679" y="2633932"/>
            <a:ext cx="54864" cy="54864"/>
          </a:xfrm>
          <a:prstGeom prst="ellipse">
            <a:avLst/>
          </a:prstGeom>
          <a:solidFill>
            <a:srgbClr val="6F86B8"/>
          </a:solidFill>
          <a:ln w="12700">
            <a:solidFill>
              <a:srgbClr val="6F86B8"/>
            </a:solidFill>
            <a:prstDash val="solid"/>
          </a:ln>
        </p:spPr>
      </p:sp>
      <p:sp>
        <p:nvSpPr>
          <p:cNvPr id="22" name="Shape 20"/>
          <p:cNvSpPr/>
          <p:nvPr/>
        </p:nvSpPr>
        <p:spPr>
          <a:xfrm>
            <a:off x="7717071" y="2507856"/>
            <a:ext cx="54864" cy="54864"/>
          </a:xfrm>
          <a:prstGeom prst="ellipse">
            <a:avLst/>
          </a:prstGeom>
          <a:solidFill>
            <a:srgbClr val="6F86B8"/>
          </a:solidFill>
          <a:ln w="12700">
            <a:solidFill>
              <a:srgbClr val="6F86B8"/>
            </a:solidFill>
            <a:prstDash val="solid"/>
          </a:ln>
        </p:spPr>
      </p:sp>
      <p:sp>
        <p:nvSpPr>
          <p:cNvPr id="23" name="Shape 21"/>
          <p:cNvSpPr/>
          <p:nvPr/>
        </p:nvSpPr>
        <p:spPr>
          <a:xfrm>
            <a:off x="7791463" y="2399932"/>
            <a:ext cx="54864" cy="54864"/>
          </a:xfrm>
          <a:prstGeom prst="ellipse">
            <a:avLst/>
          </a:prstGeom>
          <a:solidFill>
            <a:srgbClr val="6F86B8"/>
          </a:solidFill>
          <a:ln w="12700">
            <a:solidFill>
              <a:srgbClr val="6F86B8"/>
            </a:solidFill>
            <a:prstDash val="solid"/>
          </a:ln>
        </p:spPr>
      </p:sp>
      <p:sp>
        <p:nvSpPr>
          <p:cNvPr id="24" name="Shape 22"/>
          <p:cNvSpPr/>
          <p:nvPr/>
        </p:nvSpPr>
        <p:spPr>
          <a:xfrm>
            <a:off x="7865855" y="2309388"/>
            <a:ext cx="54864" cy="54864"/>
          </a:xfrm>
          <a:prstGeom prst="ellipse">
            <a:avLst/>
          </a:prstGeom>
          <a:solidFill>
            <a:srgbClr val="6F86B8"/>
          </a:solidFill>
          <a:ln w="12700">
            <a:solidFill>
              <a:srgbClr val="6F86B8"/>
            </a:solidFill>
            <a:prstDash val="solid"/>
          </a:ln>
        </p:spPr>
      </p:sp>
      <p:sp>
        <p:nvSpPr>
          <p:cNvPr id="25" name="Shape 23"/>
          <p:cNvSpPr/>
          <p:nvPr/>
        </p:nvSpPr>
        <p:spPr>
          <a:xfrm>
            <a:off x="7940247" y="2235456"/>
            <a:ext cx="54864" cy="54864"/>
          </a:xfrm>
          <a:prstGeom prst="ellipse">
            <a:avLst/>
          </a:prstGeom>
          <a:solidFill>
            <a:srgbClr val="6F86B8"/>
          </a:solidFill>
          <a:ln w="12700">
            <a:solidFill>
              <a:srgbClr val="6F86B8"/>
            </a:solidFill>
            <a:prstDash val="solid"/>
          </a:ln>
        </p:spPr>
      </p:sp>
      <p:sp>
        <p:nvSpPr>
          <p:cNvPr id="26" name="Shape 24"/>
          <p:cNvSpPr/>
          <p:nvPr/>
        </p:nvSpPr>
        <p:spPr>
          <a:xfrm>
            <a:off x="8014639" y="2177363"/>
            <a:ext cx="54864" cy="54864"/>
          </a:xfrm>
          <a:prstGeom prst="ellipse">
            <a:avLst/>
          </a:prstGeom>
          <a:solidFill>
            <a:srgbClr val="6F86B8"/>
          </a:solidFill>
          <a:ln w="12700">
            <a:solidFill>
              <a:srgbClr val="6F86B8"/>
            </a:solidFill>
            <a:prstDash val="solid"/>
          </a:ln>
        </p:spPr>
      </p:sp>
      <p:sp>
        <p:nvSpPr>
          <p:cNvPr id="27" name="Shape 25"/>
          <p:cNvSpPr/>
          <p:nvPr/>
        </p:nvSpPr>
        <p:spPr>
          <a:xfrm>
            <a:off x="8089030" y="2134341"/>
            <a:ext cx="54864" cy="54864"/>
          </a:xfrm>
          <a:prstGeom prst="ellipse">
            <a:avLst/>
          </a:prstGeom>
          <a:solidFill>
            <a:srgbClr val="6F86B8"/>
          </a:solidFill>
          <a:ln w="12700">
            <a:solidFill>
              <a:srgbClr val="6F86B8"/>
            </a:solidFill>
            <a:prstDash val="solid"/>
          </a:ln>
        </p:spPr>
      </p:sp>
      <p:sp>
        <p:nvSpPr>
          <p:cNvPr id="28" name="Shape 26"/>
          <p:cNvSpPr/>
          <p:nvPr/>
        </p:nvSpPr>
        <p:spPr>
          <a:xfrm>
            <a:off x="8163422" y="2105618"/>
            <a:ext cx="54864" cy="54864"/>
          </a:xfrm>
          <a:prstGeom prst="ellipse">
            <a:avLst/>
          </a:prstGeom>
          <a:solidFill>
            <a:srgbClr val="6F86B8"/>
          </a:solidFill>
          <a:ln w="12700">
            <a:solidFill>
              <a:srgbClr val="6F86B8"/>
            </a:solidFill>
            <a:prstDash val="solid"/>
          </a:ln>
        </p:spPr>
      </p:sp>
      <p:sp>
        <p:nvSpPr>
          <p:cNvPr id="29" name="Shape 27"/>
          <p:cNvSpPr/>
          <p:nvPr/>
        </p:nvSpPr>
        <p:spPr>
          <a:xfrm>
            <a:off x="8237814" y="2090424"/>
            <a:ext cx="54864" cy="54864"/>
          </a:xfrm>
          <a:prstGeom prst="ellipse">
            <a:avLst/>
          </a:prstGeom>
          <a:solidFill>
            <a:srgbClr val="6F86B8"/>
          </a:solidFill>
          <a:ln w="12700">
            <a:solidFill>
              <a:srgbClr val="6F86B8"/>
            </a:solidFill>
            <a:prstDash val="solid"/>
          </a:ln>
        </p:spPr>
      </p:sp>
      <p:sp>
        <p:nvSpPr>
          <p:cNvPr id="30" name="Shape 28"/>
          <p:cNvSpPr/>
          <p:nvPr/>
        </p:nvSpPr>
        <p:spPr>
          <a:xfrm>
            <a:off x="8312206" y="2087989"/>
            <a:ext cx="54864" cy="54864"/>
          </a:xfrm>
          <a:prstGeom prst="ellipse">
            <a:avLst/>
          </a:prstGeom>
          <a:solidFill>
            <a:srgbClr val="6F86B8"/>
          </a:solidFill>
          <a:ln w="12700">
            <a:solidFill>
              <a:srgbClr val="6F86B8"/>
            </a:solidFill>
            <a:prstDash val="solid"/>
          </a:ln>
        </p:spPr>
      </p:sp>
      <p:sp>
        <p:nvSpPr>
          <p:cNvPr id="31" name="Shape 29"/>
          <p:cNvSpPr/>
          <p:nvPr/>
        </p:nvSpPr>
        <p:spPr>
          <a:xfrm>
            <a:off x="8386598" y="2097541"/>
            <a:ext cx="54864" cy="54864"/>
          </a:xfrm>
          <a:prstGeom prst="ellipse">
            <a:avLst/>
          </a:prstGeom>
          <a:solidFill>
            <a:srgbClr val="6F86B8"/>
          </a:solidFill>
          <a:ln w="12700">
            <a:solidFill>
              <a:srgbClr val="6F86B8"/>
            </a:solidFill>
            <a:prstDash val="solid"/>
          </a:ln>
        </p:spPr>
      </p:sp>
      <p:sp>
        <p:nvSpPr>
          <p:cNvPr id="32" name="Shape 30"/>
          <p:cNvSpPr/>
          <p:nvPr/>
        </p:nvSpPr>
        <p:spPr>
          <a:xfrm>
            <a:off x="8460990" y="2118312"/>
            <a:ext cx="54864" cy="54864"/>
          </a:xfrm>
          <a:prstGeom prst="ellipse">
            <a:avLst/>
          </a:prstGeom>
          <a:solidFill>
            <a:srgbClr val="6F86B8"/>
          </a:solidFill>
          <a:ln w="12700">
            <a:solidFill>
              <a:srgbClr val="6F86B8"/>
            </a:solidFill>
            <a:prstDash val="solid"/>
          </a:ln>
        </p:spPr>
      </p:sp>
      <p:sp>
        <p:nvSpPr>
          <p:cNvPr id="33" name="Shape 31"/>
          <p:cNvSpPr/>
          <p:nvPr/>
        </p:nvSpPr>
        <p:spPr>
          <a:xfrm>
            <a:off x="8535382" y="2149529"/>
            <a:ext cx="54864" cy="54864"/>
          </a:xfrm>
          <a:prstGeom prst="ellipse">
            <a:avLst/>
          </a:prstGeom>
          <a:solidFill>
            <a:srgbClr val="6F86B8"/>
          </a:solidFill>
          <a:ln w="12700">
            <a:solidFill>
              <a:srgbClr val="6F86B8"/>
            </a:solidFill>
            <a:prstDash val="solid"/>
          </a:ln>
        </p:spPr>
      </p:sp>
      <p:sp>
        <p:nvSpPr>
          <p:cNvPr id="34" name="Shape 32"/>
          <p:cNvSpPr/>
          <p:nvPr/>
        </p:nvSpPr>
        <p:spPr>
          <a:xfrm>
            <a:off x="8609773" y="2190424"/>
            <a:ext cx="54864" cy="54864"/>
          </a:xfrm>
          <a:prstGeom prst="ellipse">
            <a:avLst/>
          </a:prstGeom>
          <a:solidFill>
            <a:srgbClr val="6F86B8"/>
          </a:solidFill>
          <a:ln w="12700">
            <a:solidFill>
              <a:srgbClr val="6F86B8"/>
            </a:solidFill>
            <a:prstDash val="solid"/>
          </a:ln>
        </p:spPr>
      </p:sp>
      <p:sp>
        <p:nvSpPr>
          <p:cNvPr id="35" name="Shape 33"/>
          <p:cNvSpPr/>
          <p:nvPr/>
        </p:nvSpPr>
        <p:spPr>
          <a:xfrm>
            <a:off x="8684165" y="2240225"/>
            <a:ext cx="54864" cy="54864"/>
          </a:xfrm>
          <a:prstGeom prst="ellipse">
            <a:avLst/>
          </a:prstGeom>
          <a:solidFill>
            <a:srgbClr val="6F86B8"/>
          </a:solidFill>
          <a:ln w="12700">
            <a:solidFill>
              <a:srgbClr val="6F86B8"/>
            </a:solidFill>
            <a:prstDash val="solid"/>
          </a:ln>
        </p:spPr>
      </p:sp>
      <p:sp>
        <p:nvSpPr>
          <p:cNvPr id="36" name="Shape 34"/>
          <p:cNvSpPr/>
          <p:nvPr/>
        </p:nvSpPr>
        <p:spPr>
          <a:xfrm>
            <a:off x="8758557" y="2298161"/>
            <a:ext cx="54864" cy="54864"/>
          </a:xfrm>
          <a:prstGeom prst="ellipse">
            <a:avLst/>
          </a:prstGeom>
          <a:solidFill>
            <a:srgbClr val="6F86B8"/>
          </a:solidFill>
          <a:ln w="12700">
            <a:solidFill>
              <a:srgbClr val="6F86B8"/>
            </a:solidFill>
            <a:prstDash val="solid"/>
          </a:ln>
        </p:spPr>
      </p:sp>
      <p:sp>
        <p:nvSpPr>
          <p:cNvPr id="37" name="Shape 35"/>
          <p:cNvSpPr/>
          <p:nvPr/>
        </p:nvSpPr>
        <p:spPr>
          <a:xfrm>
            <a:off x="8832949" y="2363463"/>
            <a:ext cx="54864" cy="54864"/>
          </a:xfrm>
          <a:prstGeom prst="ellipse">
            <a:avLst/>
          </a:prstGeom>
          <a:solidFill>
            <a:srgbClr val="6F86B8"/>
          </a:solidFill>
          <a:ln w="12700">
            <a:solidFill>
              <a:srgbClr val="6F86B8"/>
            </a:solidFill>
            <a:prstDash val="solid"/>
          </a:ln>
        </p:spPr>
      </p:sp>
      <p:sp>
        <p:nvSpPr>
          <p:cNvPr id="38" name="Shape 36"/>
          <p:cNvSpPr/>
          <p:nvPr/>
        </p:nvSpPr>
        <p:spPr>
          <a:xfrm>
            <a:off x="8907341" y="2435361"/>
            <a:ext cx="54864" cy="54864"/>
          </a:xfrm>
          <a:prstGeom prst="ellipse">
            <a:avLst/>
          </a:prstGeom>
          <a:solidFill>
            <a:srgbClr val="6F86B8"/>
          </a:solidFill>
          <a:ln w="12700">
            <a:solidFill>
              <a:srgbClr val="6F86B8"/>
            </a:solidFill>
            <a:prstDash val="solid"/>
          </a:ln>
        </p:spPr>
      </p:sp>
      <p:sp>
        <p:nvSpPr>
          <p:cNvPr id="39" name="Shape 37"/>
          <p:cNvSpPr/>
          <p:nvPr/>
        </p:nvSpPr>
        <p:spPr>
          <a:xfrm>
            <a:off x="8981733" y="2513082"/>
            <a:ext cx="54864" cy="54864"/>
          </a:xfrm>
          <a:prstGeom prst="ellipse">
            <a:avLst/>
          </a:prstGeom>
          <a:solidFill>
            <a:srgbClr val="6F86B8"/>
          </a:solidFill>
          <a:ln w="12700">
            <a:solidFill>
              <a:srgbClr val="6F86B8"/>
            </a:solidFill>
            <a:prstDash val="solid"/>
          </a:ln>
        </p:spPr>
      </p:sp>
      <p:sp>
        <p:nvSpPr>
          <p:cNvPr id="40" name="Shape 38"/>
          <p:cNvSpPr/>
          <p:nvPr/>
        </p:nvSpPr>
        <p:spPr>
          <a:xfrm>
            <a:off x="9056125" y="2595858"/>
            <a:ext cx="54864" cy="54864"/>
          </a:xfrm>
          <a:prstGeom prst="ellipse">
            <a:avLst/>
          </a:prstGeom>
          <a:solidFill>
            <a:srgbClr val="6F86B8"/>
          </a:solidFill>
          <a:ln w="12700">
            <a:solidFill>
              <a:srgbClr val="6F86B8"/>
            </a:solidFill>
            <a:prstDash val="solid"/>
          </a:ln>
        </p:spPr>
      </p:sp>
      <p:sp>
        <p:nvSpPr>
          <p:cNvPr id="41" name="Shape 39"/>
          <p:cNvSpPr/>
          <p:nvPr/>
        </p:nvSpPr>
        <p:spPr>
          <a:xfrm>
            <a:off x="9130516" y="2682918"/>
            <a:ext cx="54864" cy="54864"/>
          </a:xfrm>
          <a:prstGeom prst="ellipse">
            <a:avLst/>
          </a:prstGeom>
          <a:solidFill>
            <a:srgbClr val="6F86B8"/>
          </a:solidFill>
          <a:ln w="12700">
            <a:solidFill>
              <a:srgbClr val="6F86B8"/>
            </a:solidFill>
            <a:prstDash val="solid"/>
          </a:ln>
        </p:spPr>
      </p:sp>
      <p:sp>
        <p:nvSpPr>
          <p:cNvPr id="42" name="Shape 40"/>
          <p:cNvSpPr/>
          <p:nvPr/>
        </p:nvSpPr>
        <p:spPr>
          <a:xfrm>
            <a:off x="9204908" y="2773491"/>
            <a:ext cx="54864" cy="54864"/>
          </a:xfrm>
          <a:prstGeom prst="ellipse">
            <a:avLst/>
          </a:prstGeom>
          <a:solidFill>
            <a:srgbClr val="6F86B8"/>
          </a:solidFill>
          <a:ln w="12700">
            <a:solidFill>
              <a:srgbClr val="6F86B8"/>
            </a:solidFill>
            <a:prstDash val="solid"/>
          </a:ln>
        </p:spPr>
      </p:sp>
      <p:sp>
        <p:nvSpPr>
          <p:cNvPr id="43" name="Shape 41"/>
          <p:cNvSpPr/>
          <p:nvPr/>
        </p:nvSpPr>
        <p:spPr>
          <a:xfrm>
            <a:off x="9279300" y="2866806"/>
            <a:ext cx="54864" cy="54864"/>
          </a:xfrm>
          <a:prstGeom prst="ellipse">
            <a:avLst/>
          </a:prstGeom>
          <a:solidFill>
            <a:srgbClr val="6F86B8"/>
          </a:solidFill>
          <a:ln w="12700">
            <a:solidFill>
              <a:srgbClr val="6F86B8"/>
            </a:solidFill>
            <a:prstDash val="solid"/>
          </a:ln>
        </p:spPr>
      </p:sp>
      <p:sp>
        <p:nvSpPr>
          <p:cNvPr id="44" name="Shape 42"/>
          <p:cNvSpPr/>
          <p:nvPr/>
        </p:nvSpPr>
        <p:spPr>
          <a:xfrm>
            <a:off x="9353692" y="2962094"/>
            <a:ext cx="54864" cy="54864"/>
          </a:xfrm>
          <a:prstGeom prst="ellipse">
            <a:avLst/>
          </a:prstGeom>
          <a:solidFill>
            <a:srgbClr val="6F86B8"/>
          </a:solidFill>
          <a:ln w="12700">
            <a:solidFill>
              <a:srgbClr val="6F86B8"/>
            </a:solidFill>
            <a:prstDash val="solid"/>
          </a:ln>
        </p:spPr>
      </p:sp>
      <p:sp>
        <p:nvSpPr>
          <p:cNvPr id="45" name="Shape 43"/>
          <p:cNvSpPr/>
          <p:nvPr/>
        </p:nvSpPr>
        <p:spPr>
          <a:xfrm>
            <a:off x="9428084" y="3058584"/>
            <a:ext cx="54864" cy="54864"/>
          </a:xfrm>
          <a:prstGeom prst="ellipse">
            <a:avLst/>
          </a:prstGeom>
          <a:solidFill>
            <a:srgbClr val="6F86B8"/>
          </a:solidFill>
          <a:ln w="12700">
            <a:solidFill>
              <a:srgbClr val="6F86B8"/>
            </a:solidFill>
            <a:prstDash val="solid"/>
          </a:ln>
        </p:spPr>
      </p:sp>
      <p:sp>
        <p:nvSpPr>
          <p:cNvPr id="46" name="Shape 44"/>
          <p:cNvSpPr/>
          <p:nvPr/>
        </p:nvSpPr>
        <p:spPr>
          <a:xfrm>
            <a:off x="9502476" y="3155506"/>
            <a:ext cx="54864" cy="54864"/>
          </a:xfrm>
          <a:prstGeom prst="ellipse">
            <a:avLst/>
          </a:prstGeom>
          <a:solidFill>
            <a:srgbClr val="6F86B8"/>
          </a:solidFill>
          <a:ln w="12700">
            <a:solidFill>
              <a:srgbClr val="6F86B8"/>
            </a:solidFill>
            <a:prstDash val="solid"/>
          </a:ln>
        </p:spPr>
      </p:sp>
      <p:sp>
        <p:nvSpPr>
          <p:cNvPr id="47" name="Shape 45"/>
          <p:cNvSpPr/>
          <p:nvPr/>
        </p:nvSpPr>
        <p:spPr>
          <a:xfrm>
            <a:off x="9576868" y="3252088"/>
            <a:ext cx="54864" cy="54864"/>
          </a:xfrm>
          <a:prstGeom prst="ellipse">
            <a:avLst/>
          </a:prstGeom>
          <a:solidFill>
            <a:srgbClr val="6F86B8"/>
          </a:solidFill>
          <a:ln w="12700">
            <a:solidFill>
              <a:srgbClr val="6F86B8"/>
            </a:solidFill>
            <a:prstDash val="solid"/>
          </a:ln>
        </p:spPr>
      </p:sp>
      <p:sp>
        <p:nvSpPr>
          <p:cNvPr id="48" name="Shape 46"/>
          <p:cNvSpPr/>
          <p:nvPr/>
        </p:nvSpPr>
        <p:spPr>
          <a:xfrm>
            <a:off x="9651260" y="3347561"/>
            <a:ext cx="54864" cy="54864"/>
          </a:xfrm>
          <a:prstGeom prst="ellipse">
            <a:avLst/>
          </a:prstGeom>
          <a:solidFill>
            <a:srgbClr val="6F86B8"/>
          </a:solidFill>
          <a:ln w="12700">
            <a:solidFill>
              <a:srgbClr val="6F86B8"/>
            </a:solidFill>
            <a:prstDash val="solid"/>
          </a:ln>
        </p:spPr>
      </p:sp>
      <p:sp>
        <p:nvSpPr>
          <p:cNvPr id="49" name="Shape 47"/>
          <p:cNvSpPr/>
          <p:nvPr/>
        </p:nvSpPr>
        <p:spPr>
          <a:xfrm>
            <a:off x="9725651" y="3441154"/>
            <a:ext cx="54864" cy="54864"/>
          </a:xfrm>
          <a:prstGeom prst="ellipse">
            <a:avLst/>
          </a:prstGeom>
          <a:solidFill>
            <a:srgbClr val="6F86B8"/>
          </a:solidFill>
          <a:ln w="12700">
            <a:solidFill>
              <a:srgbClr val="6F86B8"/>
            </a:solidFill>
            <a:prstDash val="solid"/>
          </a:ln>
        </p:spPr>
      </p:sp>
      <p:sp>
        <p:nvSpPr>
          <p:cNvPr id="50" name="Shape 48"/>
          <p:cNvSpPr/>
          <p:nvPr/>
        </p:nvSpPr>
        <p:spPr>
          <a:xfrm>
            <a:off x="9800043" y="3532097"/>
            <a:ext cx="54864" cy="54864"/>
          </a:xfrm>
          <a:prstGeom prst="ellipse">
            <a:avLst/>
          </a:prstGeom>
          <a:solidFill>
            <a:srgbClr val="6F86B8"/>
          </a:solidFill>
          <a:ln w="12700">
            <a:solidFill>
              <a:srgbClr val="6F86B8"/>
            </a:solidFill>
            <a:prstDash val="solid"/>
          </a:ln>
        </p:spPr>
      </p:sp>
      <p:sp>
        <p:nvSpPr>
          <p:cNvPr id="51" name="Shape 49"/>
          <p:cNvSpPr/>
          <p:nvPr/>
        </p:nvSpPr>
        <p:spPr>
          <a:xfrm>
            <a:off x="9874435" y="3619620"/>
            <a:ext cx="54864" cy="54864"/>
          </a:xfrm>
          <a:prstGeom prst="ellipse">
            <a:avLst/>
          </a:prstGeom>
          <a:solidFill>
            <a:srgbClr val="6F86B8"/>
          </a:solidFill>
          <a:ln w="12700">
            <a:solidFill>
              <a:srgbClr val="6F86B8"/>
            </a:solidFill>
            <a:prstDash val="solid"/>
          </a:ln>
        </p:spPr>
      </p:sp>
      <p:sp>
        <p:nvSpPr>
          <p:cNvPr id="52" name="Shape 50"/>
          <p:cNvSpPr/>
          <p:nvPr/>
        </p:nvSpPr>
        <p:spPr>
          <a:xfrm>
            <a:off x="9948827" y="3702951"/>
            <a:ext cx="54864" cy="54864"/>
          </a:xfrm>
          <a:prstGeom prst="ellipse">
            <a:avLst/>
          </a:prstGeom>
          <a:solidFill>
            <a:srgbClr val="6F86B8"/>
          </a:solidFill>
          <a:ln w="12700">
            <a:solidFill>
              <a:srgbClr val="6F86B8"/>
            </a:solidFill>
            <a:prstDash val="solid"/>
          </a:ln>
        </p:spPr>
      </p:sp>
      <p:sp>
        <p:nvSpPr>
          <p:cNvPr id="53" name="Shape 51"/>
          <p:cNvSpPr/>
          <p:nvPr/>
        </p:nvSpPr>
        <p:spPr>
          <a:xfrm>
            <a:off x="10023219" y="3781320"/>
            <a:ext cx="54864" cy="54864"/>
          </a:xfrm>
          <a:prstGeom prst="ellipse">
            <a:avLst/>
          </a:prstGeom>
          <a:solidFill>
            <a:srgbClr val="6F86B8"/>
          </a:solidFill>
          <a:ln w="12700">
            <a:solidFill>
              <a:srgbClr val="6F86B8"/>
            </a:solidFill>
            <a:prstDash val="solid"/>
          </a:ln>
        </p:spPr>
      </p:sp>
      <p:sp>
        <p:nvSpPr>
          <p:cNvPr id="54" name="Shape 52"/>
          <p:cNvSpPr/>
          <p:nvPr/>
        </p:nvSpPr>
        <p:spPr>
          <a:xfrm>
            <a:off x="10097611" y="3853958"/>
            <a:ext cx="54864" cy="54864"/>
          </a:xfrm>
          <a:prstGeom prst="ellipse">
            <a:avLst/>
          </a:prstGeom>
          <a:solidFill>
            <a:srgbClr val="6F86B8"/>
          </a:solidFill>
          <a:ln w="12700">
            <a:solidFill>
              <a:srgbClr val="6F86B8"/>
            </a:solidFill>
            <a:prstDash val="solid"/>
          </a:ln>
        </p:spPr>
      </p:sp>
      <p:sp>
        <p:nvSpPr>
          <p:cNvPr id="55" name="Shape 53"/>
          <p:cNvSpPr/>
          <p:nvPr/>
        </p:nvSpPr>
        <p:spPr>
          <a:xfrm>
            <a:off x="10172003" y="3920093"/>
            <a:ext cx="54864" cy="54864"/>
          </a:xfrm>
          <a:prstGeom prst="ellipse">
            <a:avLst/>
          </a:prstGeom>
          <a:solidFill>
            <a:srgbClr val="6F86B8"/>
          </a:solidFill>
          <a:ln w="12700">
            <a:solidFill>
              <a:srgbClr val="6F86B8"/>
            </a:solidFill>
            <a:prstDash val="solid"/>
          </a:ln>
        </p:spPr>
      </p:sp>
      <p:sp>
        <p:nvSpPr>
          <p:cNvPr id="56" name="Shape 54"/>
          <p:cNvSpPr/>
          <p:nvPr/>
        </p:nvSpPr>
        <p:spPr>
          <a:xfrm>
            <a:off x="10246394" y="3978955"/>
            <a:ext cx="54864" cy="54864"/>
          </a:xfrm>
          <a:prstGeom prst="ellipse">
            <a:avLst/>
          </a:prstGeom>
          <a:solidFill>
            <a:srgbClr val="6F86B8"/>
          </a:solidFill>
          <a:ln w="12700">
            <a:solidFill>
              <a:srgbClr val="6F86B8"/>
            </a:solidFill>
            <a:prstDash val="solid"/>
          </a:ln>
        </p:spPr>
      </p:sp>
      <p:sp>
        <p:nvSpPr>
          <p:cNvPr id="57" name="Shape 55"/>
          <p:cNvSpPr/>
          <p:nvPr/>
        </p:nvSpPr>
        <p:spPr>
          <a:xfrm>
            <a:off x="10320786" y="4029773"/>
            <a:ext cx="54864" cy="54864"/>
          </a:xfrm>
          <a:prstGeom prst="ellipse">
            <a:avLst/>
          </a:prstGeom>
          <a:solidFill>
            <a:srgbClr val="6F86B8"/>
          </a:solidFill>
          <a:ln w="12700">
            <a:solidFill>
              <a:srgbClr val="6F86B8"/>
            </a:solidFill>
            <a:prstDash val="solid"/>
          </a:ln>
        </p:spPr>
      </p:sp>
      <p:sp>
        <p:nvSpPr>
          <p:cNvPr id="58" name="Shape 56"/>
          <p:cNvSpPr/>
          <p:nvPr/>
        </p:nvSpPr>
        <p:spPr>
          <a:xfrm>
            <a:off x="10395178" y="4071778"/>
            <a:ext cx="54864" cy="54864"/>
          </a:xfrm>
          <a:prstGeom prst="ellipse">
            <a:avLst/>
          </a:prstGeom>
          <a:solidFill>
            <a:srgbClr val="6F86B8"/>
          </a:solidFill>
          <a:ln w="12700">
            <a:solidFill>
              <a:srgbClr val="6F86B8"/>
            </a:solidFill>
            <a:prstDash val="solid"/>
          </a:ln>
        </p:spPr>
      </p:sp>
      <p:sp>
        <p:nvSpPr>
          <p:cNvPr id="59" name="Shape 57"/>
          <p:cNvSpPr/>
          <p:nvPr/>
        </p:nvSpPr>
        <p:spPr>
          <a:xfrm>
            <a:off x="10469570" y="4104199"/>
            <a:ext cx="54864" cy="54864"/>
          </a:xfrm>
          <a:prstGeom prst="ellipse">
            <a:avLst/>
          </a:prstGeom>
          <a:solidFill>
            <a:srgbClr val="6F86B8"/>
          </a:solidFill>
          <a:ln w="12700">
            <a:solidFill>
              <a:srgbClr val="6F86B8"/>
            </a:solidFill>
            <a:prstDash val="solid"/>
          </a:ln>
        </p:spPr>
      </p:sp>
      <p:sp>
        <p:nvSpPr>
          <p:cNvPr id="60" name="Shape 58"/>
          <p:cNvSpPr/>
          <p:nvPr/>
        </p:nvSpPr>
        <p:spPr>
          <a:xfrm>
            <a:off x="10543962" y="4126265"/>
            <a:ext cx="54864" cy="54864"/>
          </a:xfrm>
          <a:prstGeom prst="ellipse">
            <a:avLst/>
          </a:prstGeom>
          <a:solidFill>
            <a:srgbClr val="6F86B8"/>
          </a:solidFill>
          <a:ln w="12700">
            <a:solidFill>
              <a:srgbClr val="6F86B8"/>
            </a:solidFill>
            <a:prstDash val="solid"/>
          </a:ln>
        </p:spPr>
      </p:sp>
      <p:sp>
        <p:nvSpPr>
          <p:cNvPr id="61" name="Shape 59"/>
          <p:cNvSpPr/>
          <p:nvPr/>
        </p:nvSpPr>
        <p:spPr>
          <a:xfrm>
            <a:off x="10618354" y="4137205"/>
            <a:ext cx="54864" cy="54864"/>
          </a:xfrm>
          <a:prstGeom prst="ellipse">
            <a:avLst/>
          </a:prstGeom>
          <a:solidFill>
            <a:srgbClr val="6F86B8"/>
          </a:solidFill>
          <a:ln w="12700">
            <a:solidFill>
              <a:srgbClr val="6F86B8"/>
            </a:solidFill>
            <a:prstDash val="solid"/>
          </a:ln>
        </p:spPr>
      </p:sp>
      <p:sp>
        <p:nvSpPr>
          <p:cNvPr id="62" name="Shape 60"/>
          <p:cNvSpPr/>
          <p:nvPr/>
        </p:nvSpPr>
        <p:spPr>
          <a:xfrm>
            <a:off x="10692746" y="4136251"/>
            <a:ext cx="54864" cy="54864"/>
          </a:xfrm>
          <a:prstGeom prst="ellipse">
            <a:avLst/>
          </a:prstGeom>
          <a:solidFill>
            <a:srgbClr val="6F86B8"/>
          </a:solidFill>
          <a:ln w="12700">
            <a:solidFill>
              <a:srgbClr val="6F86B8"/>
            </a:solidFill>
            <a:prstDash val="solid"/>
          </a:ln>
        </p:spPr>
      </p:sp>
      <p:sp>
        <p:nvSpPr>
          <p:cNvPr id="63" name="Shape 61"/>
          <p:cNvSpPr/>
          <p:nvPr/>
        </p:nvSpPr>
        <p:spPr>
          <a:xfrm>
            <a:off x="10767137" y="4122630"/>
            <a:ext cx="54864" cy="54864"/>
          </a:xfrm>
          <a:prstGeom prst="ellipse">
            <a:avLst/>
          </a:prstGeom>
          <a:solidFill>
            <a:srgbClr val="6F86B8"/>
          </a:solidFill>
          <a:ln w="12700">
            <a:solidFill>
              <a:srgbClr val="6F86B8"/>
            </a:solidFill>
            <a:prstDash val="solid"/>
          </a:ln>
        </p:spPr>
      </p:sp>
      <p:sp>
        <p:nvSpPr>
          <p:cNvPr id="64" name="Shape 62"/>
          <p:cNvSpPr/>
          <p:nvPr/>
        </p:nvSpPr>
        <p:spPr>
          <a:xfrm>
            <a:off x="10841529" y="4095572"/>
            <a:ext cx="54864" cy="54864"/>
          </a:xfrm>
          <a:prstGeom prst="ellipse">
            <a:avLst/>
          </a:prstGeom>
          <a:solidFill>
            <a:srgbClr val="6F86B8"/>
          </a:solidFill>
          <a:ln w="12700">
            <a:solidFill>
              <a:srgbClr val="6F86B8"/>
            </a:solidFill>
            <a:prstDash val="solid"/>
          </a:ln>
        </p:spPr>
      </p:sp>
      <p:sp>
        <p:nvSpPr>
          <p:cNvPr id="65" name="Shape 63"/>
          <p:cNvSpPr/>
          <p:nvPr/>
        </p:nvSpPr>
        <p:spPr>
          <a:xfrm>
            <a:off x="10915921" y="4054308"/>
            <a:ext cx="54864" cy="54864"/>
          </a:xfrm>
          <a:prstGeom prst="ellipse">
            <a:avLst/>
          </a:prstGeom>
          <a:solidFill>
            <a:srgbClr val="6F86B8"/>
          </a:solidFill>
          <a:ln w="12700">
            <a:solidFill>
              <a:srgbClr val="6F86B8"/>
            </a:solidFill>
            <a:prstDash val="solid"/>
          </a:ln>
        </p:spPr>
      </p:sp>
      <p:sp>
        <p:nvSpPr>
          <p:cNvPr id="66" name="Shape 64"/>
          <p:cNvSpPr/>
          <p:nvPr/>
        </p:nvSpPr>
        <p:spPr>
          <a:xfrm>
            <a:off x="10990313" y="3998067"/>
            <a:ext cx="54864" cy="54864"/>
          </a:xfrm>
          <a:prstGeom prst="ellipse">
            <a:avLst/>
          </a:prstGeom>
          <a:solidFill>
            <a:srgbClr val="6F86B8"/>
          </a:solidFill>
          <a:ln w="12700">
            <a:solidFill>
              <a:srgbClr val="6F86B8"/>
            </a:solidFill>
            <a:prstDash val="solid"/>
          </a:ln>
        </p:spPr>
      </p:sp>
      <p:sp>
        <p:nvSpPr>
          <p:cNvPr id="67" name="Shape 65"/>
          <p:cNvSpPr/>
          <p:nvPr/>
        </p:nvSpPr>
        <p:spPr>
          <a:xfrm>
            <a:off x="11064705" y="3926077"/>
            <a:ext cx="54864" cy="54864"/>
          </a:xfrm>
          <a:prstGeom prst="ellipse">
            <a:avLst/>
          </a:prstGeom>
          <a:solidFill>
            <a:srgbClr val="6F86B8"/>
          </a:solidFill>
          <a:ln w="12700">
            <a:solidFill>
              <a:srgbClr val="6F86B8"/>
            </a:solidFill>
            <a:prstDash val="solid"/>
          </a:ln>
        </p:spPr>
      </p:sp>
      <p:sp>
        <p:nvSpPr>
          <p:cNvPr id="68" name="Shape 66"/>
          <p:cNvSpPr/>
          <p:nvPr/>
        </p:nvSpPr>
        <p:spPr>
          <a:xfrm>
            <a:off x="11139097" y="3837570"/>
            <a:ext cx="54864" cy="54864"/>
          </a:xfrm>
          <a:prstGeom prst="ellipse">
            <a:avLst/>
          </a:prstGeom>
          <a:solidFill>
            <a:srgbClr val="6F86B8"/>
          </a:solidFill>
          <a:ln w="12700">
            <a:solidFill>
              <a:srgbClr val="6F86B8"/>
            </a:solidFill>
            <a:prstDash val="solid"/>
          </a:ln>
        </p:spPr>
      </p:sp>
      <p:sp>
        <p:nvSpPr>
          <p:cNvPr id="69" name="Shape 67"/>
          <p:cNvSpPr/>
          <p:nvPr/>
        </p:nvSpPr>
        <p:spPr>
          <a:xfrm>
            <a:off x="11213489" y="3731773"/>
            <a:ext cx="54864" cy="54864"/>
          </a:xfrm>
          <a:prstGeom prst="ellipse">
            <a:avLst/>
          </a:prstGeom>
          <a:solidFill>
            <a:srgbClr val="6F86B8"/>
          </a:solidFill>
          <a:ln w="12700">
            <a:solidFill>
              <a:srgbClr val="6F86B8"/>
            </a:solidFill>
            <a:prstDash val="solid"/>
          </a:ln>
        </p:spPr>
      </p:sp>
      <p:sp>
        <p:nvSpPr>
          <p:cNvPr id="70" name="Shape 68"/>
          <p:cNvSpPr/>
          <p:nvPr/>
        </p:nvSpPr>
        <p:spPr>
          <a:xfrm>
            <a:off x="11287881" y="3607918"/>
            <a:ext cx="54864" cy="54864"/>
          </a:xfrm>
          <a:prstGeom prst="ellipse">
            <a:avLst/>
          </a:prstGeom>
          <a:solidFill>
            <a:srgbClr val="6F86B8"/>
          </a:solidFill>
          <a:ln w="12700">
            <a:solidFill>
              <a:srgbClr val="6F86B8"/>
            </a:solidFill>
            <a:prstDash val="solid"/>
          </a:ln>
        </p:spPr>
      </p:sp>
      <p:sp>
        <p:nvSpPr>
          <p:cNvPr id="71" name="Shape 69"/>
          <p:cNvSpPr/>
          <p:nvPr/>
        </p:nvSpPr>
        <p:spPr>
          <a:xfrm>
            <a:off x="11362272" y="3465233"/>
            <a:ext cx="54864" cy="54864"/>
          </a:xfrm>
          <a:prstGeom prst="ellipse">
            <a:avLst/>
          </a:prstGeom>
          <a:solidFill>
            <a:srgbClr val="6F86B8"/>
          </a:solidFill>
          <a:ln w="12700">
            <a:solidFill>
              <a:srgbClr val="6F86B8"/>
            </a:solidFill>
            <a:prstDash val="solid"/>
          </a:ln>
        </p:spPr>
      </p:sp>
      <p:sp>
        <p:nvSpPr>
          <p:cNvPr id="72" name="Shape 70"/>
          <p:cNvSpPr/>
          <p:nvPr/>
        </p:nvSpPr>
        <p:spPr>
          <a:xfrm>
            <a:off x="11436664" y="3302948"/>
            <a:ext cx="54864" cy="54864"/>
          </a:xfrm>
          <a:prstGeom prst="ellipse">
            <a:avLst/>
          </a:prstGeom>
          <a:solidFill>
            <a:srgbClr val="6F86B8"/>
          </a:solidFill>
          <a:ln w="12700">
            <a:solidFill>
              <a:srgbClr val="6F86B8"/>
            </a:solidFill>
            <a:prstDash val="solid"/>
          </a:ln>
        </p:spPr>
      </p:sp>
      <p:sp>
        <p:nvSpPr>
          <p:cNvPr id="73" name="Shape 71"/>
          <p:cNvSpPr/>
          <p:nvPr/>
        </p:nvSpPr>
        <p:spPr>
          <a:xfrm>
            <a:off x="11511056" y="3120293"/>
            <a:ext cx="54864" cy="54864"/>
          </a:xfrm>
          <a:prstGeom prst="ellipse">
            <a:avLst/>
          </a:prstGeom>
          <a:solidFill>
            <a:srgbClr val="6F86B8"/>
          </a:solidFill>
          <a:ln w="12700">
            <a:solidFill>
              <a:srgbClr val="6F86B8"/>
            </a:solidFill>
            <a:prstDash val="solid"/>
          </a:ln>
        </p:spPr>
      </p:sp>
      <p:sp>
        <p:nvSpPr>
          <p:cNvPr id="74" name="Shape 72"/>
          <p:cNvSpPr/>
          <p:nvPr/>
        </p:nvSpPr>
        <p:spPr>
          <a:xfrm>
            <a:off x="11585448" y="2916497"/>
            <a:ext cx="54864" cy="54864"/>
          </a:xfrm>
          <a:prstGeom prst="ellipse">
            <a:avLst/>
          </a:prstGeom>
          <a:solidFill>
            <a:srgbClr val="6F86B8"/>
          </a:solidFill>
          <a:ln w="12700">
            <a:solidFill>
              <a:srgbClr val="6F86B8"/>
            </a:solidFill>
            <a:prstDash val="solid"/>
          </a:ln>
        </p:spPr>
      </p:sp>
      <p:sp>
        <p:nvSpPr>
          <p:cNvPr id="75" name="Shape 73"/>
          <p:cNvSpPr/>
          <p:nvPr/>
        </p:nvSpPr>
        <p:spPr>
          <a:xfrm>
            <a:off x="10552166" y="4086592"/>
            <a:ext cx="137160" cy="137160"/>
          </a:xfrm>
          <a:prstGeom prst="ellipse">
            <a:avLst/>
          </a:prstGeom>
          <a:solidFill>
            <a:srgbClr val="E6115E"/>
          </a:solidFill>
          <a:ln w="12700">
            <a:solidFill>
              <a:srgbClr val="E6115E"/>
            </a:solidFill>
            <a:prstDash val="solid"/>
          </a:ln>
        </p:spPr>
      </p:sp>
      <p:sp>
        <p:nvSpPr>
          <p:cNvPr id="76" name="Shape 74"/>
          <p:cNvSpPr/>
          <p:nvPr/>
        </p:nvSpPr>
        <p:spPr>
          <a:xfrm>
            <a:off x="9081470" y="2976017"/>
            <a:ext cx="137160" cy="137160"/>
          </a:xfrm>
          <a:prstGeom prst="ellipse">
            <a:avLst/>
          </a:prstGeom>
          <a:solidFill>
            <a:srgbClr val="E6115E"/>
          </a:solidFill>
          <a:ln w="12700">
            <a:solidFill>
              <a:srgbClr val="E6115E"/>
            </a:solidFill>
            <a:prstDash val="solid"/>
          </a:ln>
        </p:spPr>
      </p:sp>
      <p:sp>
        <p:nvSpPr>
          <p:cNvPr id="77" name="Shape 75"/>
          <p:cNvSpPr/>
          <p:nvPr/>
        </p:nvSpPr>
        <p:spPr>
          <a:xfrm>
            <a:off x="10923669" y="3506117"/>
            <a:ext cx="137160" cy="137160"/>
          </a:xfrm>
          <a:prstGeom prst="ellipse">
            <a:avLst/>
          </a:prstGeom>
          <a:solidFill>
            <a:srgbClr val="E6115E"/>
          </a:solidFill>
          <a:ln w="12700">
            <a:solidFill>
              <a:srgbClr val="E6115E"/>
            </a:solidFill>
            <a:prstDash val="solid"/>
          </a:ln>
        </p:spPr>
      </p:sp>
      <p:sp>
        <p:nvSpPr>
          <p:cNvPr id="78" name="Shape 76"/>
          <p:cNvSpPr/>
          <p:nvPr/>
        </p:nvSpPr>
        <p:spPr>
          <a:xfrm>
            <a:off x="10216012" y="4039065"/>
            <a:ext cx="137160" cy="137160"/>
          </a:xfrm>
          <a:prstGeom prst="ellipse">
            <a:avLst/>
          </a:prstGeom>
          <a:solidFill>
            <a:srgbClr val="E6115E"/>
          </a:solidFill>
          <a:ln w="12700">
            <a:solidFill>
              <a:srgbClr val="E6115E"/>
            </a:solidFill>
            <a:prstDash val="solid"/>
          </a:ln>
        </p:spPr>
      </p:sp>
      <p:sp>
        <p:nvSpPr>
          <p:cNvPr id="79" name="Shape 77"/>
          <p:cNvSpPr/>
          <p:nvPr/>
        </p:nvSpPr>
        <p:spPr>
          <a:xfrm>
            <a:off x="7568536" y="2739266"/>
            <a:ext cx="137160" cy="137160"/>
          </a:xfrm>
          <a:prstGeom prst="ellipse">
            <a:avLst/>
          </a:prstGeom>
          <a:solidFill>
            <a:srgbClr val="E6115E"/>
          </a:solidFill>
          <a:ln w="12700">
            <a:solidFill>
              <a:srgbClr val="E6115E"/>
            </a:solidFill>
            <a:prstDash val="solid"/>
          </a:ln>
        </p:spPr>
      </p:sp>
      <p:sp>
        <p:nvSpPr>
          <p:cNvPr id="80" name="Shape 78"/>
          <p:cNvSpPr/>
          <p:nvPr/>
        </p:nvSpPr>
        <p:spPr>
          <a:xfrm>
            <a:off x="11437304" y="3367928"/>
            <a:ext cx="137160" cy="137160"/>
          </a:xfrm>
          <a:prstGeom prst="ellipse">
            <a:avLst/>
          </a:prstGeom>
          <a:solidFill>
            <a:srgbClr val="E6115E"/>
          </a:solidFill>
          <a:ln w="12700">
            <a:solidFill>
              <a:srgbClr val="E6115E"/>
            </a:solidFill>
            <a:prstDash val="solid"/>
          </a:ln>
        </p:spPr>
      </p:sp>
      <p:sp>
        <p:nvSpPr>
          <p:cNvPr id="81" name="Shape 79"/>
          <p:cNvSpPr/>
          <p:nvPr/>
        </p:nvSpPr>
        <p:spPr>
          <a:xfrm>
            <a:off x="10495913" y="3897958"/>
            <a:ext cx="137160" cy="137160"/>
          </a:xfrm>
          <a:prstGeom prst="ellipse">
            <a:avLst/>
          </a:prstGeom>
          <a:solidFill>
            <a:srgbClr val="E6115E"/>
          </a:solidFill>
          <a:ln w="12700">
            <a:solidFill>
              <a:srgbClr val="E6115E"/>
            </a:solidFill>
            <a:prstDash val="solid"/>
          </a:ln>
        </p:spPr>
      </p:sp>
      <p:sp>
        <p:nvSpPr>
          <p:cNvPr id="82" name="Shape 80"/>
          <p:cNvSpPr/>
          <p:nvPr/>
        </p:nvSpPr>
        <p:spPr>
          <a:xfrm>
            <a:off x="10605311" y="3922596"/>
            <a:ext cx="137160" cy="137160"/>
          </a:xfrm>
          <a:prstGeom prst="ellipse">
            <a:avLst/>
          </a:prstGeom>
          <a:solidFill>
            <a:srgbClr val="E6115E"/>
          </a:solidFill>
          <a:ln w="12700">
            <a:solidFill>
              <a:srgbClr val="E6115E"/>
            </a:solidFill>
            <a:prstDash val="solid"/>
          </a:ln>
        </p:spPr>
      </p:sp>
      <p:sp>
        <p:nvSpPr>
          <p:cNvPr id="83" name="Shape 81"/>
          <p:cNvSpPr/>
          <p:nvPr/>
        </p:nvSpPr>
        <p:spPr>
          <a:xfrm>
            <a:off x="7717486" y="2359496"/>
            <a:ext cx="137160" cy="137160"/>
          </a:xfrm>
          <a:prstGeom prst="ellipse">
            <a:avLst/>
          </a:prstGeom>
          <a:solidFill>
            <a:srgbClr val="E6115E"/>
          </a:solidFill>
          <a:ln w="12700">
            <a:solidFill>
              <a:srgbClr val="E6115E"/>
            </a:solidFill>
            <a:prstDash val="solid"/>
          </a:ln>
        </p:spPr>
      </p:sp>
      <p:sp>
        <p:nvSpPr>
          <p:cNvPr id="84" name="Shape 82"/>
          <p:cNvSpPr/>
          <p:nvPr/>
        </p:nvSpPr>
        <p:spPr>
          <a:xfrm>
            <a:off x="9131978" y="2733182"/>
            <a:ext cx="137160" cy="137160"/>
          </a:xfrm>
          <a:prstGeom prst="ellipse">
            <a:avLst/>
          </a:prstGeom>
          <a:solidFill>
            <a:srgbClr val="E6115E"/>
          </a:solidFill>
          <a:ln w="12700">
            <a:solidFill>
              <a:srgbClr val="E6115E"/>
            </a:solidFill>
            <a:prstDash val="solid"/>
          </a:ln>
        </p:spPr>
      </p:sp>
      <p:sp>
        <p:nvSpPr>
          <p:cNvPr id="85" name="Shape 83"/>
          <p:cNvSpPr/>
          <p:nvPr/>
        </p:nvSpPr>
        <p:spPr>
          <a:xfrm>
            <a:off x="8782657" y="1880901"/>
            <a:ext cx="137160" cy="137160"/>
          </a:xfrm>
          <a:prstGeom prst="ellipse">
            <a:avLst/>
          </a:prstGeom>
          <a:solidFill>
            <a:srgbClr val="E6115E"/>
          </a:solidFill>
          <a:ln w="12700">
            <a:solidFill>
              <a:srgbClr val="E6115E"/>
            </a:solidFill>
            <a:prstDash val="solid"/>
          </a:ln>
        </p:spPr>
      </p:sp>
      <p:sp>
        <p:nvSpPr>
          <p:cNvPr id="86" name="Shape 84"/>
          <p:cNvSpPr/>
          <p:nvPr/>
        </p:nvSpPr>
        <p:spPr>
          <a:xfrm>
            <a:off x="11222863" y="3649376"/>
            <a:ext cx="137160" cy="137160"/>
          </a:xfrm>
          <a:prstGeom prst="ellipse">
            <a:avLst/>
          </a:prstGeom>
          <a:solidFill>
            <a:srgbClr val="E6115E"/>
          </a:solidFill>
          <a:ln w="12700">
            <a:solidFill>
              <a:srgbClr val="E6115E"/>
            </a:solidFill>
            <a:prstDash val="solid"/>
          </a:ln>
        </p:spPr>
      </p:sp>
      <p:sp>
        <p:nvSpPr>
          <p:cNvPr id="87" name="Shape 85"/>
          <p:cNvSpPr/>
          <p:nvPr/>
        </p:nvSpPr>
        <p:spPr>
          <a:xfrm>
            <a:off x="9981181" y="3990842"/>
            <a:ext cx="137160" cy="137160"/>
          </a:xfrm>
          <a:prstGeom prst="ellipse">
            <a:avLst/>
          </a:prstGeom>
          <a:solidFill>
            <a:srgbClr val="E6115E"/>
          </a:solidFill>
          <a:ln w="12700">
            <a:solidFill>
              <a:srgbClr val="E6115E"/>
            </a:solidFill>
            <a:prstDash val="solid"/>
          </a:ln>
        </p:spPr>
      </p:sp>
      <p:sp>
        <p:nvSpPr>
          <p:cNvPr id="88" name="Shape 86"/>
          <p:cNvSpPr/>
          <p:nvPr/>
        </p:nvSpPr>
        <p:spPr>
          <a:xfrm>
            <a:off x="10766379" y="4175548"/>
            <a:ext cx="137160" cy="137160"/>
          </a:xfrm>
          <a:prstGeom prst="ellipse">
            <a:avLst/>
          </a:prstGeom>
          <a:solidFill>
            <a:srgbClr val="E6115E"/>
          </a:solidFill>
          <a:ln w="12700">
            <a:solidFill>
              <a:srgbClr val="E6115E"/>
            </a:solidFill>
            <a:prstDash val="solid"/>
          </a:ln>
        </p:spPr>
      </p:sp>
      <p:sp>
        <p:nvSpPr>
          <p:cNvPr id="89" name="Shape 87"/>
          <p:cNvSpPr/>
          <p:nvPr/>
        </p:nvSpPr>
        <p:spPr>
          <a:xfrm>
            <a:off x="9101378" y="2644546"/>
            <a:ext cx="137160" cy="137160"/>
          </a:xfrm>
          <a:prstGeom prst="ellipse">
            <a:avLst/>
          </a:prstGeom>
          <a:solidFill>
            <a:srgbClr val="E6115E"/>
          </a:solidFill>
          <a:ln w="12700">
            <a:solidFill>
              <a:srgbClr val="E6115E"/>
            </a:solidFill>
            <a:prstDash val="solid"/>
          </a:ln>
        </p:spPr>
      </p:sp>
      <p:sp>
        <p:nvSpPr>
          <p:cNvPr id="90" name="Shape 88"/>
          <p:cNvSpPr/>
          <p:nvPr/>
        </p:nvSpPr>
        <p:spPr>
          <a:xfrm>
            <a:off x="8152558" y="1917055"/>
            <a:ext cx="137160" cy="137160"/>
          </a:xfrm>
          <a:prstGeom prst="ellipse">
            <a:avLst/>
          </a:prstGeom>
          <a:solidFill>
            <a:srgbClr val="E6115E"/>
          </a:solidFill>
          <a:ln w="12700">
            <a:solidFill>
              <a:srgbClr val="E6115E"/>
            </a:solidFill>
            <a:prstDash val="solid"/>
          </a:ln>
        </p:spPr>
      </p:sp>
      <p:sp>
        <p:nvSpPr>
          <p:cNvPr id="91" name="Shape 89"/>
          <p:cNvSpPr/>
          <p:nvPr/>
        </p:nvSpPr>
        <p:spPr>
          <a:xfrm>
            <a:off x="9589319" y="3470574"/>
            <a:ext cx="137160" cy="137160"/>
          </a:xfrm>
          <a:prstGeom prst="ellipse">
            <a:avLst/>
          </a:prstGeom>
          <a:solidFill>
            <a:srgbClr val="E6115E"/>
          </a:solidFill>
          <a:ln w="12700">
            <a:solidFill>
              <a:srgbClr val="E6115E"/>
            </a:solidFill>
            <a:prstDash val="solid"/>
          </a:ln>
        </p:spPr>
      </p:sp>
      <p:sp>
        <p:nvSpPr>
          <p:cNvPr id="92" name="Shape 90"/>
          <p:cNvSpPr/>
          <p:nvPr/>
        </p:nvSpPr>
        <p:spPr>
          <a:xfrm>
            <a:off x="7435282" y="3005386"/>
            <a:ext cx="137160" cy="137160"/>
          </a:xfrm>
          <a:prstGeom prst="ellipse">
            <a:avLst/>
          </a:prstGeom>
          <a:solidFill>
            <a:srgbClr val="E6115E"/>
          </a:solidFill>
          <a:ln w="12700">
            <a:solidFill>
              <a:srgbClr val="E6115E"/>
            </a:solidFill>
            <a:prstDash val="solid"/>
          </a:ln>
        </p:spPr>
      </p:sp>
      <p:sp>
        <p:nvSpPr>
          <p:cNvPr id="93" name="Shape 91"/>
          <p:cNvSpPr/>
          <p:nvPr/>
        </p:nvSpPr>
        <p:spPr>
          <a:xfrm>
            <a:off x="10787753" y="4165754"/>
            <a:ext cx="137160" cy="137160"/>
          </a:xfrm>
          <a:prstGeom prst="ellipse">
            <a:avLst/>
          </a:prstGeom>
          <a:solidFill>
            <a:srgbClr val="E6115E"/>
          </a:solidFill>
          <a:ln w="12700">
            <a:solidFill>
              <a:srgbClr val="E6115E"/>
            </a:solidFill>
            <a:prstDash val="solid"/>
          </a:ln>
        </p:spPr>
      </p:sp>
      <p:sp>
        <p:nvSpPr>
          <p:cNvPr id="94" name="Shape 92"/>
          <p:cNvSpPr/>
          <p:nvPr/>
        </p:nvSpPr>
        <p:spPr>
          <a:xfrm>
            <a:off x="9927631" y="3626428"/>
            <a:ext cx="137160" cy="137160"/>
          </a:xfrm>
          <a:prstGeom prst="ellipse">
            <a:avLst/>
          </a:prstGeom>
          <a:solidFill>
            <a:srgbClr val="E6115E"/>
          </a:solidFill>
          <a:ln w="12700">
            <a:solidFill>
              <a:srgbClr val="E6115E"/>
            </a:solidFill>
            <a:prstDash val="solid"/>
          </a:ln>
        </p:spPr>
      </p:sp>
      <p:sp>
        <p:nvSpPr>
          <p:cNvPr id="95" name="Text 93"/>
          <p:cNvSpPr txBox="1"/>
          <p:nvPr/>
        </p:nvSpPr>
        <p:spPr>
          <a:xfrm>
            <a:off x="7223760" y="4846320"/>
            <a:ext cx="4389120" cy="274320"/>
          </a:xfrm>
          <a:prstGeom prst="rect">
            <a:avLst/>
          </a:prstGeom>
          <a:noFill/>
          <a:ln/>
        </p:spPr>
        <p:txBody>
          <a:bodyPr wrap="square" lIns="0" tIns="0" rIns="0" bIns="0" rtlCol="0" anchor="ctr"/>
          <a:lstStyle/>
          <a:p>
            <a:pPr marL="0" indent="0" algn="ctr">
              <a:buNone/>
            </a:pPr>
            <a:r>
              <a:rPr lang="en-US" sz="1100" i="1" dirty="0">
                <a:solidFill>
                  <a:srgbClr val="8595B5"/>
                </a:solidFill>
                <a:latin typeface="Calibri" pitchFamily="34" charset="0"/>
                <a:ea typeface="Calibri" pitchFamily="34" charset="-122"/>
                <a:cs typeface="Calibri" pitchFamily="34" charset="-120"/>
              </a:rPr>
              <a:t>20 ejemplos, y una curva que los explica sin memorizarlos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EL CURSO</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Cuatro módulos, dieciséis clases</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Lunes, miércoles y viernes · 2 horas · del 28 de setiembre al 6 de noviembre</a:t>
            </a:r>
            <a:endParaRPr lang="en-US" sz="1400" dirty="0"/>
          </a:p>
        </p:txBody>
      </p:sp>
      <p:sp>
        <p:nvSpPr>
          <p:cNvPr id="6" name="Shape 4"/>
          <p:cNvSpPr/>
          <p:nvPr/>
        </p:nvSpPr>
        <p:spPr>
          <a:xfrm>
            <a:off x="502920" y="2103120"/>
            <a:ext cx="1481328" cy="1874520"/>
          </a:xfrm>
          <a:prstGeom prst="roundRect">
            <a:avLst>
              <a:gd name="adj" fmla="val 3704"/>
            </a:avLst>
          </a:prstGeom>
          <a:solidFill>
            <a:srgbClr val="FFFFFF"/>
          </a:solidFill>
          <a:ln w="9525">
            <a:solidFill>
              <a:srgbClr val="D2DBEC"/>
            </a:solidFill>
            <a:prstDash val="solid"/>
          </a:ln>
        </p:spPr>
      </p:sp>
      <p:sp>
        <p:nvSpPr>
          <p:cNvPr id="7" name="Shape 5"/>
          <p:cNvSpPr/>
          <p:nvPr/>
        </p:nvSpPr>
        <p:spPr>
          <a:xfrm>
            <a:off x="640080" y="2267712"/>
            <a:ext cx="1207008" cy="292608"/>
          </a:xfrm>
          <a:prstGeom prst="roundRect">
            <a:avLst>
              <a:gd name="adj" fmla="val 50000"/>
            </a:avLst>
          </a:prstGeom>
          <a:solidFill>
            <a:srgbClr val="E6115E"/>
          </a:solidFill>
          <a:ln w="12700">
            <a:solidFill>
              <a:srgbClr val="E6115E"/>
            </a:solidFill>
            <a:prstDash val="solid"/>
          </a:ln>
        </p:spPr>
      </p:sp>
      <p:sp>
        <p:nvSpPr>
          <p:cNvPr id="8" name="Text 6"/>
          <p:cNvSpPr txBox="1"/>
          <p:nvPr/>
        </p:nvSpPr>
        <p:spPr>
          <a:xfrm>
            <a:off x="640080" y="2267712"/>
            <a:ext cx="1207008" cy="292608"/>
          </a:xfrm>
          <a:prstGeom prst="rect">
            <a:avLst/>
          </a:prstGeom>
          <a:noFill/>
          <a:ln/>
        </p:spPr>
        <p:txBody>
          <a:bodyPr wrap="square" lIns="0" tIns="0" rIns="0" bIns="0"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INTRO</a:t>
            </a:r>
            <a:endParaRPr lang="en-US" sz="1000" dirty="0"/>
          </a:p>
        </p:txBody>
      </p:sp>
      <p:sp>
        <p:nvSpPr>
          <p:cNvPr id="9" name="Text 7"/>
          <p:cNvSpPr txBox="1"/>
          <p:nvPr/>
        </p:nvSpPr>
        <p:spPr>
          <a:xfrm>
            <a:off x="594360" y="2670048"/>
            <a:ext cx="1298448" cy="914400"/>
          </a:xfrm>
          <a:prstGeom prst="rect">
            <a:avLst/>
          </a:prstGeom>
          <a:noFill/>
          <a:ln/>
        </p:spPr>
        <p:txBody>
          <a:bodyPr wrap="square" lIns="0" tIns="0" rIns="0" bIns="0" rtlCol="0" anchor="ctr"/>
          <a:lstStyle/>
          <a:p>
            <a:pPr marL="0" indent="0" algn="ctr">
              <a:buNone/>
            </a:pPr>
            <a:r>
              <a:rPr lang="en-US" sz="1300" b="1" dirty="0">
                <a:solidFill>
                  <a:srgbClr val="0A2559"/>
                </a:solidFill>
                <a:latin typeface="Calibri" pitchFamily="34" charset="0"/>
                <a:ea typeface="Calibri" pitchFamily="34" charset="-122"/>
                <a:cs typeface="Calibri" pitchFamily="34" charset="-120"/>
              </a:rPr>
              <a:t>C1</a:t>
            </a:r>
            <a:endParaRPr lang="en-US" sz="1300" dirty="0"/>
          </a:p>
        </p:txBody>
      </p:sp>
      <p:sp>
        <p:nvSpPr>
          <p:cNvPr id="10" name="Text 8"/>
          <p:cNvSpPr txBox="1"/>
          <p:nvPr/>
        </p:nvSpPr>
        <p:spPr>
          <a:xfrm>
            <a:off x="594360" y="3611880"/>
            <a:ext cx="1298448" cy="256032"/>
          </a:xfrm>
          <a:prstGeom prst="rect">
            <a:avLst/>
          </a:prstGeom>
          <a:noFill/>
          <a:ln/>
        </p:spPr>
        <p:txBody>
          <a:bodyPr wrap="square" lIns="0" tIns="0" rIns="0" bIns="0" rtlCol="0" anchor="ctr"/>
          <a:lstStyle/>
          <a:p>
            <a:pPr marL="0" indent="0" algn="ctr">
              <a:buNone/>
            </a:pPr>
            <a:r>
              <a:rPr lang="en-US" sz="1050" dirty="0">
                <a:solidFill>
                  <a:srgbClr val="5B6B87"/>
                </a:solidFill>
                <a:latin typeface="Calibri" pitchFamily="34" charset="0"/>
                <a:ea typeface="Calibri" pitchFamily="34" charset="-122"/>
                <a:cs typeface="Calibri" pitchFamily="34" charset="-120"/>
              </a:rPr>
              <a:t>28/9</a:t>
            </a:r>
            <a:endParaRPr lang="en-US" sz="1050" dirty="0"/>
          </a:p>
        </p:txBody>
      </p:sp>
      <p:sp>
        <p:nvSpPr>
          <p:cNvPr id="11" name="Shape 9"/>
          <p:cNvSpPr/>
          <p:nvPr/>
        </p:nvSpPr>
        <p:spPr>
          <a:xfrm>
            <a:off x="2112264" y="2103120"/>
            <a:ext cx="1481328" cy="1874520"/>
          </a:xfrm>
          <a:prstGeom prst="roundRect">
            <a:avLst>
              <a:gd name="adj" fmla="val 3704"/>
            </a:avLst>
          </a:prstGeom>
          <a:solidFill>
            <a:srgbClr val="FFFFFF"/>
          </a:solidFill>
          <a:ln w="9525">
            <a:solidFill>
              <a:srgbClr val="D2DBEC"/>
            </a:solidFill>
            <a:prstDash val="solid"/>
          </a:ln>
        </p:spPr>
      </p:sp>
      <p:sp>
        <p:nvSpPr>
          <p:cNvPr id="12" name="Shape 10"/>
          <p:cNvSpPr/>
          <p:nvPr/>
        </p:nvSpPr>
        <p:spPr>
          <a:xfrm>
            <a:off x="2249424" y="2267712"/>
            <a:ext cx="1207008" cy="292608"/>
          </a:xfrm>
          <a:prstGeom prst="roundRect">
            <a:avLst>
              <a:gd name="adj" fmla="val 50000"/>
            </a:avLst>
          </a:prstGeom>
          <a:solidFill>
            <a:srgbClr val="1A56E8"/>
          </a:solidFill>
          <a:ln w="12700">
            <a:solidFill>
              <a:srgbClr val="1A56E8"/>
            </a:solidFill>
            <a:prstDash val="solid"/>
          </a:ln>
        </p:spPr>
      </p:sp>
      <p:sp>
        <p:nvSpPr>
          <p:cNvPr id="13" name="Text 11"/>
          <p:cNvSpPr txBox="1"/>
          <p:nvPr/>
        </p:nvSpPr>
        <p:spPr>
          <a:xfrm>
            <a:off x="2249424" y="2267712"/>
            <a:ext cx="1207008" cy="292608"/>
          </a:xfrm>
          <a:prstGeom prst="rect">
            <a:avLst/>
          </a:prstGeom>
          <a:noFill/>
          <a:ln/>
        </p:spPr>
        <p:txBody>
          <a:bodyPr wrap="square" lIns="0" tIns="0" rIns="0" bIns="0"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MÓDULO 1</a:t>
            </a:r>
            <a:endParaRPr lang="en-US" sz="1000" dirty="0"/>
          </a:p>
        </p:txBody>
      </p:sp>
      <p:sp>
        <p:nvSpPr>
          <p:cNvPr id="14" name="Text 12"/>
          <p:cNvSpPr txBox="1"/>
          <p:nvPr/>
        </p:nvSpPr>
        <p:spPr>
          <a:xfrm>
            <a:off x="2203704" y="2670048"/>
            <a:ext cx="1298448" cy="914400"/>
          </a:xfrm>
          <a:prstGeom prst="rect">
            <a:avLst/>
          </a:prstGeom>
          <a:noFill/>
          <a:ln/>
        </p:spPr>
        <p:txBody>
          <a:bodyPr wrap="square" lIns="0" tIns="0" rIns="0" bIns="0" rtlCol="0" anchor="ctr"/>
          <a:lstStyle/>
          <a:p>
            <a:pPr marL="0" indent="0" algn="ctr">
              <a:buNone/>
            </a:pPr>
            <a:r>
              <a:rPr lang="en-US" sz="1300" b="1" dirty="0">
                <a:solidFill>
                  <a:srgbClr val="0A2559"/>
                </a:solidFill>
                <a:latin typeface="Calibri" pitchFamily="34" charset="0"/>
                <a:ea typeface="Calibri" pitchFamily="34" charset="-122"/>
                <a:cs typeface="Calibri" pitchFamily="34" charset="-120"/>
              </a:rPr>
              <a:t>Regresión</a:t>
            </a:r>
            <a:endParaRPr lang="en-US" sz="1300" dirty="0"/>
          </a:p>
          <a:p>
            <a:pPr marL="0" indent="0" algn="ctr">
              <a:buNone/>
            </a:pPr>
            <a:r>
              <a:rPr lang="en-US" sz="1300" b="1" dirty="0">
                <a:solidFill>
                  <a:srgbClr val="0A2559"/>
                </a:solidFill>
                <a:latin typeface="Calibri" pitchFamily="34" charset="0"/>
                <a:ea typeface="Calibri" pitchFamily="34" charset="-122"/>
                <a:cs typeface="Calibri" pitchFamily="34" charset="-120"/>
              </a:rPr>
              <a:t>C2 – C4</a:t>
            </a:r>
            <a:endParaRPr lang="en-US" sz="1300" dirty="0"/>
          </a:p>
        </p:txBody>
      </p:sp>
      <p:sp>
        <p:nvSpPr>
          <p:cNvPr id="15" name="Text 13"/>
          <p:cNvSpPr txBox="1"/>
          <p:nvPr/>
        </p:nvSpPr>
        <p:spPr>
          <a:xfrm>
            <a:off x="2203704" y="3611880"/>
            <a:ext cx="1298448" cy="256032"/>
          </a:xfrm>
          <a:prstGeom prst="rect">
            <a:avLst/>
          </a:prstGeom>
          <a:noFill/>
          <a:ln/>
        </p:spPr>
        <p:txBody>
          <a:bodyPr wrap="square" lIns="0" tIns="0" rIns="0" bIns="0" rtlCol="0" anchor="ctr"/>
          <a:lstStyle/>
          <a:p>
            <a:pPr marL="0" indent="0" algn="ctr">
              <a:buNone/>
            </a:pPr>
            <a:r>
              <a:rPr lang="en-US" sz="1050" dirty="0">
                <a:solidFill>
                  <a:srgbClr val="5B6B87"/>
                </a:solidFill>
                <a:latin typeface="Calibri" pitchFamily="34" charset="0"/>
                <a:ea typeface="Calibri" pitchFamily="34" charset="-122"/>
                <a:cs typeface="Calibri" pitchFamily="34" charset="-120"/>
              </a:rPr>
              <a:t>30/9 – 5/10</a:t>
            </a:r>
            <a:endParaRPr lang="en-US" sz="1050" dirty="0"/>
          </a:p>
        </p:txBody>
      </p:sp>
      <p:sp>
        <p:nvSpPr>
          <p:cNvPr id="16" name="Shape 14"/>
          <p:cNvSpPr/>
          <p:nvPr/>
        </p:nvSpPr>
        <p:spPr>
          <a:xfrm>
            <a:off x="3721608" y="2103120"/>
            <a:ext cx="1481328" cy="1874520"/>
          </a:xfrm>
          <a:prstGeom prst="roundRect">
            <a:avLst>
              <a:gd name="adj" fmla="val 3704"/>
            </a:avLst>
          </a:prstGeom>
          <a:solidFill>
            <a:srgbClr val="FFFFFF"/>
          </a:solidFill>
          <a:ln w="9525">
            <a:solidFill>
              <a:srgbClr val="D2DBEC"/>
            </a:solidFill>
            <a:prstDash val="solid"/>
          </a:ln>
        </p:spPr>
      </p:sp>
      <p:sp>
        <p:nvSpPr>
          <p:cNvPr id="17" name="Shape 15"/>
          <p:cNvSpPr/>
          <p:nvPr/>
        </p:nvSpPr>
        <p:spPr>
          <a:xfrm>
            <a:off x="3858768" y="2267712"/>
            <a:ext cx="1207008" cy="292608"/>
          </a:xfrm>
          <a:prstGeom prst="roundRect">
            <a:avLst>
              <a:gd name="adj" fmla="val 50000"/>
            </a:avLst>
          </a:prstGeom>
          <a:solidFill>
            <a:srgbClr val="1A56E8"/>
          </a:solidFill>
          <a:ln w="12700">
            <a:solidFill>
              <a:srgbClr val="1A56E8"/>
            </a:solidFill>
            <a:prstDash val="solid"/>
          </a:ln>
        </p:spPr>
      </p:sp>
      <p:sp>
        <p:nvSpPr>
          <p:cNvPr id="18" name="Text 16"/>
          <p:cNvSpPr txBox="1"/>
          <p:nvPr/>
        </p:nvSpPr>
        <p:spPr>
          <a:xfrm>
            <a:off x="3858768" y="2267712"/>
            <a:ext cx="1207008" cy="292608"/>
          </a:xfrm>
          <a:prstGeom prst="rect">
            <a:avLst/>
          </a:prstGeom>
          <a:noFill/>
          <a:ln/>
        </p:spPr>
        <p:txBody>
          <a:bodyPr wrap="square" lIns="0" tIns="0" rIns="0" bIns="0"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MÓDULO 2</a:t>
            </a:r>
            <a:endParaRPr lang="en-US" sz="1000" dirty="0"/>
          </a:p>
        </p:txBody>
      </p:sp>
      <p:sp>
        <p:nvSpPr>
          <p:cNvPr id="19" name="Text 17"/>
          <p:cNvSpPr txBox="1"/>
          <p:nvPr/>
        </p:nvSpPr>
        <p:spPr>
          <a:xfrm>
            <a:off x="3813048" y="2670048"/>
            <a:ext cx="1298448" cy="914400"/>
          </a:xfrm>
          <a:prstGeom prst="rect">
            <a:avLst/>
          </a:prstGeom>
          <a:noFill/>
          <a:ln/>
        </p:spPr>
        <p:txBody>
          <a:bodyPr wrap="square" lIns="0" tIns="0" rIns="0" bIns="0" rtlCol="0" anchor="ctr"/>
          <a:lstStyle/>
          <a:p>
            <a:pPr marL="0" indent="0" algn="ctr">
              <a:buNone/>
            </a:pPr>
            <a:r>
              <a:rPr lang="en-US" sz="1300" b="1" dirty="0">
                <a:solidFill>
                  <a:srgbClr val="0A2559"/>
                </a:solidFill>
                <a:latin typeface="Calibri" pitchFamily="34" charset="0"/>
                <a:ea typeface="Calibri" pitchFamily="34" charset="-122"/>
                <a:cs typeface="Calibri" pitchFamily="34" charset="-120"/>
              </a:rPr>
              <a:t>Clasificación</a:t>
            </a:r>
            <a:endParaRPr lang="en-US" sz="1300" dirty="0"/>
          </a:p>
          <a:p>
            <a:pPr marL="0" indent="0" algn="ctr">
              <a:buNone/>
            </a:pPr>
            <a:r>
              <a:rPr lang="en-US" sz="1300" b="1" dirty="0">
                <a:solidFill>
                  <a:srgbClr val="0A2559"/>
                </a:solidFill>
                <a:latin typeface="Calibri" pitchFamily="34" charset="0"/>
                <a:ea typeface="Calibri" pitchFamily="34" charset="-122"/>
                <a:cs typeface="Calibri" pitchFamily="34" charset="-120"/>
              </a:rPr>
              <a:t>C5 – C9</a:t>
            </a:r>
            <a:endParaRPr lang="en-US" sz="1300" dirty="0"/>
          </a:p>
        </p:txBody>
      </p:sp>
      <p:sp>
        <p:nvSpPr>
          <p:cNvPr id="20" name="Text 18"/>
          <p:cNvSpPr txBox="1"/>
          <p:nvPr/>
        </p:nvSpPr>
        <p:spPr>
          <a:xfrm>
            <a:off x="3813048" y="3611880"/>
            <a:ext cx="1298448" cy="256032"/>
          </a:xfrm>
          <a:prstGeom prst="rect">
            <a:avLst/>
          </a:prstGeom>
          <a:noFill/>
          <a:ln/>
        </p:spPr>
        <p:txBody>
          <a:bodyPr wrap="square" lIns="0" tIns="0" rIns="0" bIns="0" rtlCol="0" anchor="ctr"/>
          <a:lstStyle/>
          <a:p>
            <a:pPr marL="0" indent="0" algn="ctr">
              <a:buNone/>
            </a:pPr>
            <a:r>
              <a:rPr lang="en-US" sz="1050" dirty="0">
                <a:solidFill>
                  <a:srgbClr val="5B6B87"/>
                </a:solidFill>
                <a:latin typeface="Calibri" pitchFamily="34" charset="0"/>
                <a:ea typeface="Calibri" pitchFamily="34" charset="-122"/>
                <a:cs typeface="Calibri" pitchFamily="34" charset="-120"/>
              </a:rPr>
              <a:t>7/10 – 16/10</a:t>
            </a:r>
            <a:endParaRPr lang="en-US" sz="1050" dirty="0"/>
          </a:p>
        </p:txBody>
      </p:sp>
      <p:sp>
        <p:nvSpPr>
          <p:cNvPr id="21" name="Shape 19"/>
          <p:cNvSpPr/>
          <p:nvPr/>
        </p:nvSpPr>
        <p:spPr>
          <a:xfrm>
            <a:off x="5330952" y="2103120"/>
            <a:ext cx="1481328" cy="1874520"/>
          </a:xfrm>
          <a:prstGeom prst="roundRect">
            <a:avLst>
              <a:gd name="adj" fmla="val 3704"/>
            </a:avLst>
          </a:prstGeom>
          <a:solidFill>
            <a:srgbClr val="0A2559"/>
          </a:solidFill>
          <a:ln w="9525">
            <a:solidFill>
              <a:srgbClr val="0A2559"/>
            </a:solidFill>
            <a:prstDash val="solid"/>
          </a:ln>
        </p:spPr>
      </p:sp>
      <p:sp>
        <p:nvSpPr>
          <p:cNvPr id="22" name="Shape 20"/>
          <p:cNvSpPr/>
          <p:nvPr/>
        </p:nvSpPr>
        <p:spPr>
          <a:xfrm>
            <a:off x="5468112" y="2267712"/>
            <a:ext cx="1207008" cy="292608"/>
          </a:xfrm>
          <a:prstGeom prst="roundRect">
            <a:avLst>
              <a:gd name="adj" fmla="val 50000"/>
            </a:avLst>
          </a:prstGeom>
          <a:solidFill>
            <a:srgbClr val="E6115E"/>
          </a:solidFill>
          <a:ln w="12700">
            <a:solidFill>
              <a:srgbClr val="0A2559"/>
            </a:solidFill>
            <a:prstDash val="solid"/>
          </a:ln>
        </p:spPr>
      </p:sp>
      <p:sp>
        <p:nvSpPr>
          <p:cNvPr id="23" name="Text 21"/>
          <p:cNvSpPr txBox="1"/>
          <p:nvPr/>
        </p:nvSpPr>
        <p:spPr>
          <a:xfrm>
            <a:off x="5468112" y="2267712"/>
            <a:ext cx="1207008" cy="292608"/>
          </a:xfrm>
          <a:prstGeom prst="rect">
            <a:avLst/>
          </a:prstGeom>
          <a:noFill/>
          <a:ln/>
        </p:spPr>
        <p:txBody>
          <a:bodyPr wrap="square" lIns="0" tIns="0" rIns="0" bIns="0"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PARCIAL</a:t>
            </a:r>
            <a:endParaRPr lang="en-US" sz="1000" dirty="0"/>
          </a:p>
        </p:txBody>
      </p:sp>
      <p:sp>
        <p:nvSpPr>
          <p:cNvPr id="24" name="Text 22"/>
          <p:cNvSpPr txBox="1"/>
          <p:nvPr/>
        </p:nvSpPr>
        <p:spPr>
          <a:xfrm>
            <a:off x="5422392" y="2670048"/>
            <a:ext cx="1298448" cy="9144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Intro + M1</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 M2</a:t>
            </a:r>
            <a:endParaRPr lang="en-US" sz="1300" dirty="0"/>
          </a:p>
        </p:txBody>
      </p:sp>
      <p:sp>
        <p:nvSpPr>
          <p:cNvPr id="25" name="Text 23"/>
          <p:cNvSpPr txBox="1"/>
          <p:nvPr/>
        </p:nvSpPr>
        <p:spPr>
          <a:xfrm>
            <a:off x="5422392" y="3611880"/>
            <a:ext cx="1298448" cy="256032"/>
          </a:xfrm>
          <a:prstGeom prst="rect">
            <a:avLst/>
          </a:prstGeom>
          <a:noFill/>
          <a:ln/>
        </p:spPr>
        <p:txBody>
          <a:bodyPr wrap="square" lIns="0" tIns="0" rIns="0" bIns="0" rtlCol="0" anchor="ctr"/>
          <a:lstStyle/>
          <a:p>
            <a:pPr marL="0" indent="0" algn="ctr">
              <a:buNone/>
            </a:pPr>
            <a:r>
              <a:rPr lang="en-US" sz="1050" dirty="0">
                <a:solidFill>
                  <a:srgbClr val="A9B7D4"/>
                </a:solidFill>
                <a:latin typeface="Calibri" pitchFamily="34" charset="0"/>
                <a:ea typeface="Calibri" pitchFamily="34" charset="-122"/>
                <a:cs typeface="Calibri" pitchFamily="34" charset="-120"/>
              </a:rPr>
              <a:t>lun 19/10</a:t>
            </a:r>
            <a:endParaRPr lang="en-US" sz="1050" dirty="0"/>
          </a:p>
        </p:txBody>
      </p:sp>
      <p:sp>
        <p:nvSpPr>
          <p:cNvPr id="26" name="Shape 24"/>
          <p:cNvSpPr/>
          <p:nvPr/>
        </p:nvSpPr>
        <p:spPr>
          <a:xfrm>
            <a:off x="6940296" y="2103120"/>
            <a:ext cx="1481328" cy="1874520"/>
          </a:xfrm>
          <a:prstGeom prst="roundRect">
            <a:avLst>
              <a:gd name="adj" fmla="val 3704"/>
            </a:avLst>
          </a:prstGeom>
          <a:solidFill>
            <a:srgbClr val="FFFFFF"/>
          </a:solidFill>
          <a:ln w="9525">
            <a:solidFill>
              <a:srgbClr val="D2DBEC"/>
            </a:solidFill>
            <a:prstDash val="solid"/>
          </a:ln>
        </p:spPr>
      </p:sp>
      <p:sp>
        <p:nvSpPr>
          <p:cNvPr id="27" name="Shape 25"/>
          <p:cNvSpPr/>
          <p:nvPr/>
        </p:nvSpPr>
        <p:spPr>
          <a:xfrm>
            <a:off x="7077456" y="2267712"/>
            <a:ext cx="1207008" cy="292608"/>
          </a:xfrm>
          <a:prstGeom prst="roundRect">
            <a:avLst>
              <a:gd name="adj" fmla="val 50000"/>
            </a:avLst>
          </a:prstGeom>
          <a:solidFill>
            <a:srgbClr val="1A56E8"/>
          </a:solidFill>
          <a:ln w="12700">
            <a:solidFill>
              <a:srgbClr val="1A56E8"/>
            </a:solidFill>
            <a:prstDash val="solid"/>
          </a:ln>
        </p:spPr>
      </p:sp>
      <p:sp>
        <p:nvSpPr>
          <p:cNvPr id="28" name="Text 26"/>
          <p:cNvSpPr txBox="1"/>
          <p:nvPr/>
        </p:nvSpPr>
        <p:spPr>
          <a:xfrm>
            <a:off x="7077456" y="2267712"/>
            <a:ext cx="1207008" cy="292608"/>
          </a:xfrm>
          <a:prstGeom prst="rect">
            <a:avLst/>
          </a:prstGeom>
          <a:noFill/>
          <a:ln/>
        </p:spPr>
        <p:txBody>
          <a:bodyPr wrap="square" lIns="0" tIns="0" rIns="0" bIns="0"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MÓDULO 3</a:t>
            </a:r>
            <a:endParaRPr lang="en-US" sz="1000" dirty="0"/>
          </a:p>
        </p:txBody>
      </p:sp>
      <p:sp>
        <p:nvSpPr>
          <p:cNvPr id="29" name="Text 27"/>
          <p:cNvSpPr txBox="1"/>
          <p:nvPr/>
        </p:nvSpPr>
        <p:spPr>
          <a:xfrm>
            <a:off x="7031736" y="2670048"/>
            <a:ext cx="1298448" cy="914400"/>
          </a:xfrm>
          <a:prstGeom prst="rect">
            <a:avLst/>
          </a:prstGeom>
          <a:noFill/>
          <a:ln/>
        </p:spPr>
        <p:txBody>
          <a:bodyPr wrap="square" lIns="0" tIns="0" rIns="0" bIns="0" rtlCol="0" anchor="ctr"/>
          <a:lstStyle/>
          <a:p>
            <a:pPr marL="0" indent="0" algn="ctr">
              <a:buNone/>
            </a:pPr>
            <a:r>
              <a:rPr lang="en-US" sz="1300" b="1" dirty="0">
                <a:solidFill>
                  <a:srgbClr val="0A2559"/>
                </a:solidFill>
                <a:latin typeface="Calibri" pitchFamily="34" charset="0"/>
                <a:ea typeface="Calibri" pitchFamily="34" charset="-122"/>
                <a:cs typeface="Calibri" pitchFamily="34" charset="-120"/>
              </a:rPr>
              <a:t>Clustering</a:t>
            </a:r>
            <a:endParaRPr lang="en-US" sz="1300" dirty="0"/>
          </a:p>
          <a:p>
            <a:pPr marL="0" indent="0" algn="ctr">
              <a:buNone/>
            </a:pPr>
            <a:r>
              <a:rPr lang="en-US" sz="1300" b="1" dirty="0">
                <a:solidFill>
                  <a:srgbClr val="0A2559"/>
                </a:solidFill>
                <a:latin typeface="Calibri" pitchFamily="34" charset="0"/>
                <a:ea typeface="Calibri" pitchFamily="34" charset="-122"/>
                <a:cs typeface="Calibri" pitchFamily="34" charset="-120"/>
              </a:rPr>
              <a:t>C10 – C12</a:t>
            </a:r>
            <a:endParaRPr lang="en-US" sz="1300" dirty="0"/>
          </a:p>
        </p:txBody>
      </p:sp>
      <p:sp>
        <p:nvSpPr>
          <p:cNvPr id="30" name="Text 28"/>
          <p:cNvSpPr txBox="1"/>
          <p:nvPr/>
        </p:nvSpPr>
        <p:spPr>
          <a:xfrm>
            <a:off x="7031736" y="3611880"/>
            <a:ext cx="1298448" cy="256032"/>
          </a:xfrm>
          <a:prstGeom prst="rect">
            <a:avLst/>
          </a:prstGeom>
          <a:noFill/>
          <a:ln/>
        </p:spPr>
        <p:txBody>
          <a:bodyPr wrap="square" lIns="0" tIns="0" rIns="0" bIns="0" rtlCol="0" anchor="ctr"/>
          <a:lstStyle/>
          <a:p>
            <a:pPr marL="0" indent="0" algn="ctr">
              <a:buNone/>
            </a:pPr>
            <a:r>
              <a:rPr lang="en-US" sz="1050" dirty="0">
                <a:solidFill>
                  <a:srgbClr val="5B6B87"/>
                </a:solidFill>
                <a:latin typeface="Calibri" pitchFamily="34" charset="0"/>
                <a:ea typeface="Calibri" pitchFamily="34" charset="-122"/>
                <a:cs typeface="Calibri" pitchFamily="34" charset="-120"/>
              </a:rPr>
              <a:t>21/10 – 26/10</a:t>
            </a:r>
            <a:endParaRPr lang="en-US" sz="1050" dirty="0"/>
          </a:p>
        </p:txBody>
      </p:sp>
      <p:sp>
        <p:nvSpPr>
          <p:cNvPr id="31" name="Shape 29"/>
          <p:cNvSpPr/>
          <p:nvPr/>
        </p:nvSpPr>
        <p:spPr>
          <a:xfrm>
            <a:off x="8549640" y="2103120"/>
            <a:ext cx="1481328" cy="1874520"/>
          </a:xfrm>
          <a:prstGeom prst="roundRect">
            <a:avLst>
              <a:gd name="adj" fmla="val 3704"/>
            </a:avLst>
          </a:prstGeom>
          <a:solidFill>
            <a:srgbClr val="FFFFFF"/>
          </a:solidFill>
          <a:ln w="9525">
            <a:solidFill>
              <a:srgbClr val="D2DBEC"/>
            </a:solidFill>
            <a:prstDash val="solid"/>
          </a:ln>
        </p:spPr>
      </p:sp>
      <p:sp>
        <p:nvSpPr>
          <p:cNvPr id="32" name="Shape 30"/>
          <p:cNvSpPr/>
          <p:nvPr/>
        </p:nvSpPr>
        <p:spPr>
          <a:xfrm>
            <a:off x="8686800" y="2267712"/>
            <a:ext cx="1207008" cy="292608"/>
          </a:xfrm>
          <a:prstGeom prst="roundRect">
            <a:avLst>
              <a:gd name="adj" fmla="val 50000"/>
            </a:avLst>
          </a:prstGeom>
          <a:solidFill>
            <a:srgbClr val="1A56E8"/>
          </a:solidFill>
          <a:ln w="12700">
            <a:solidFill>
              <a:srgbClr val="1A56E8"/>
            </a:solidFill>
            <a:prstDash val="solid"/>
          </a:ln>
        </p:spPr>
      </p:sp>
      <p:sp>
        <p:nvSpPr>
          <p:cNvPr id="33" name="Text 31"/>
          <p:cNvSpPr txBox="1"/>
          <p:nvPr/>
        </p:nvSpPr>
        <p:spPr>
          <a:xfrm>
            <a:off x="8686800" y="2267712"/>
            <a:ext cx="1207008" cy="292608"/>
          </a:xfrm>
          <a:prstGeom prst="rect">
            <a:avLst/>
          </a:prstGeom>
          <a:noFill/>
          <a:ln/>
        </p:spPr>
        <p:txBody>
          <a:bodyPr wrap="square" lIns="0" tIns="0" rIns="0" bIns="0"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MÓDULO 4</a:t>
            </a:r>
            <a:endParaRPr lang="en-US" sz="1000" dirty="0"/>
          </a:p>
        </p:txBody>
      </p:sp>
      <p:sp>
        <p:nvSpPr>
          <p:cNvPr id="34" name="Text 32"/>
          <p:cNvSpPr txBox="1"/>
          <p:nvPr/>
        </p:nvSpPr>
        <p:spPr>
          <a:xfrm>
            <a:off x="8641080" y="2670048"/>
            <a:ext cx="1298448" cy="914400"/>
          </a:xfrm>
          <a:prstGeom prst="rect">
            <a:avLst/>
          </a:prstGeom>
          <a:noFill/>
          <a:ln/>
        </p:spPr>
        <p:txBody>
          <a:bodyPr wrap="square" lIns="0" tIns="0" rIns="0" bIns="0" rtlCol="0" anchor="ctr"/>
          <a:lstStyle/>
          <a:p>
            <a:pPr marL="0" indent="0" algn="ctr">
              <a:buNone/>
            </a:pPr>
            <a:r>
              <a:rPr lang="en-US" sz="1300" b="1" dirty="0">
                <a:solidFill>
                  <a:srgbClr val="0A2559"/>
                </a:solidFill>
                <a:latin typeface="Calibri" pitchFamily="34" charset="0"/>
                <a:ea typeface="Calibri" pitchFamily="34" charset="-122"/>
                <a:cs typeface="Calibri" pitchFamily="34" charset="-120"/>
              </a:rPr>
              <a:t>Métodos</a:t>
            </a:r>
            <a:endParaRPr lang="en-US" sz="1300" dirty="0"/>
          </a:p>
          <a:p>
            <a:pPr marL="0" indent="0" algn="ctr">
              <a:buNone/>
            </a:pPr>
            <a:r>
              <a:rPr lang="en-US" sz="1300" b="1" dirty="0">
                <a:solidFill>
                  <a:srgbClr val="0A2559"/>
                </a:solidFill>
                <a:latin typeface="Calibri" pitchFamily="34" charset="0"/>
                <a:ea typeface="Calibri" pitchFamily="34" charset="-122"/>
                <a:cs typeface="Calibri" pitchFamily="34" charset="-120"/>
              </a:rPr>
              <a:t>avanzados</a:t>
            </a:r>
            <a:endParaRPr lang="en-US" sz="1300" dirty="0"/>
          </a:p>
          <a:p>
            <a:pPr marL="0" indent="0" algn="ctr">
              <a:buNone/>
            </a:pPr>
            <a:r>
              <a:rPr lang="en-US" sz="1300" b="1" dirty="0">
                <a:solidFill>
                  <a:srgbClr val="0A2559"/>
                </a:solidFill>
                <a:latin typeface="Calibri" pitchFamily="34" charset="0"/>
                <a:ea typeface="Calibri" pitchFamily="34" charset="-122"/>
                <a:cs typeface="Calibri" pitchFamily="34" charset="-120"/>
              </a:rPr>
              <a:t>C13 – C16</a:t>
            </a:r>
            <a:endParaRPr lang="en-US" sz="1300" dirty="0"/>
          </a:p>
        </p:txBody>
      </p:sp>
      <p:sp>
        <p:nvSpPr>
          <p:cNvPr id="35" name="Text 33"/>
          <p:cNvSpPr txBox="1"/>
          <p:nvPr/>
        </p:nvSpPr>
        <p:spPr>
          <a:xfrm>
            <a:off x="8641080" y="3611880"/>
            <a:ext cx="1298448" cy="256032"/>
          </a:xfrm>
          <a:prstGeom prst="rect">
            <a:avLst/>
          </a:prstGeom>
          <a:noFill/>
          <a:ln/>
        </p:spPr>
        <p:txBody>
          <a:bodyPr wrap="square" lIns="0" tIns="0" rIns="0" bIns="0" rtlCol="0" anchor="ctr"/>
          <a:lstStyle/>
          <a:p>
            <a:pPr marL="0" indent="0" algn="ctr">
              <a:buNone/>
            </a:pPr>
            <a:r>
              <a:rPr lang="en-US" sz="1050" dirty="0">
                <a:solidFill>
                  <a:srgbClr val="5B6B87"/>
                </a:solidFill>
                <a:latin typeface="Calibri" pitchFamily="34" charset="0"/>
                <a:ea typeface="Calibri" pitchFamily="34" charset="-122"/>
                <a:cs typeface="Calibri" pitchFamily="34" charset="-120"/>
              </a:rPr>
              <a:t>28/10 – 4/11</a:t>
            </a:r>
            <a:endParaRPr lang="en-US" sz="1050" dirty="0"/>
          </a:p>
        </p:txBody>
      </p:sp>
      <p:sp>
        <p:nvSpPr>
          <p:cNvPr id="36" name="Shape 34"/>
          <p:cNvSpPr/>
          <p:nvPr/>
        </p:nvSpPr>
        <p:spPr>
          <a:xfrm>
            <a:off x="10158984" y="2103120"/>
            <a:ext cx="1481328" cy="1874520"/>
          </a:xfrm>
          <a:prstGeom prst="roundRect">
            <a:avLst>
              <a:gd name="adj" fmla="val 3704"/>
            </a:avLst>
          </a:prstGeom>
          <a:solidFill>
            <a:srgbClr val="0A2559"/>
          </a:solidFill>
          <a:ln w="9525">
            <a:solidFill>
              <a:srgbClr val="0A2559"/>
            </a:solidFill>
            <a:prstDash val="solid"/>
          </a:ln>
        </p:spPr>
      </p:sp>
      <p:sp>
        <p:nvSpPr>
          <p:cNvPr id="37" name="Shape 35"/>
          <p:cNvSpPr/>
          <p:nvPr/>
        </p:nvSpPr>
        <p:spPr>
          <a:xfrm>
            <a:off x="10296144" y="2267712"/>
            <a:ext cx="1207008" cy="292608"/>
          </a:xfrm>
          <a:prstGeom prst="roundRect">
            <a:avLst>
              <a:gd name="adj" fmla="val 50000"/>
            </a:avLst>
          </a:prstGeom>
          <a:solidFill>
            <a:srgbClr val="E6115E"/>
          </a:solidFill>
          <a:ln w="12700">
            <a:solidFill>
              <a:srgbClr val="0A2559"/>
            </a:solidFill>
            <a:prstDash val="solid"/>
          </a:ln>
        </p:spPr>
      </p:sp>
      <p:sp>
        <p:nvSpPr>
          <p:cNvPr id="38" name="Text 36"/>
          <p:cNvSpPr txBox="1"/>
          <p:nvPr/>
        </p:nvSpPr>
        <p:spPr>
          <a:xfrm>
            <a:off x="10296144" y="2267712"/>
            <a:ext cx="1207008" cy="292608"/>
          </a:xfrm>
          <a:prstGeom prst="rect">
            <a:avLst/>
          </a:prstGeom>
          <a:noFill/>
          <a:ln/>
        </p:spPr>
        <p:txBody>
          <a:bodyPr wrap="square" lIns="0" tIns="0" rIns="0" bIns="0"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FINAL</a:t>
            </a:r>
            <a:endParaRPr lang="en-US" sz="1000" dirty="0"/>
          </a:p>
        </p:txBody>
      </p:sp>
      <p:sp>
        <p:nvSpPr>
          <p:cNvPr id="39" name="Text 37"/>
          <p:cNvSpPr txBox="1"/>
          <p:nvPr/>
        </p:nvSpPr>
        <p:spPr>
          <a:xfrm>
            <a:off x="10250424" y="2670048"/>
            <a:ext cx="1298448" cy="9144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M3 + M4</a:t>
            </a:r>
            <a:endParaRPr lang="en-US" sz="1300" dirty="0"/>
          </a:p>
        </p:txBody>
      </p:sp>
      <p:sp>
        <p:nvSpPr>
          <p:cNvPr id="40" name="Text 38"/>
          <p:cNvSpPr txBox="1"/>
          <p:nvPr/>
        </p:nvSpPr>
        <p:spPr>
          <a:xfrm>
            <a:off x="10250424" y="3611880"/>
            <a:ext cx="1298448" cy="256032"/>
          </a:xfrm>
          <a:prstGeom prst="rect">
            <a:avLst/>
          </a:prstGeom>
          <a:noFill/>
          <a:ln/>
        </p:spPr>
        <p:txBody>
          <a:bodyPr wrap="square" lIns="0" tIns="0" rIns="0" bIns="0" rtlCol="0" anchor="ctr"/>
          <a:lstStyle/>
          <a:p>
            <a:pPr marL="0" indent="0" algn="ctr">
              <a:buNone/>
            </a:pPr>
            <a:r>
              <a:rPr lang="en-US" sz="1050" dirty="0">
                <a:solidFill>
                  <a:srgbClr val="A9B7D4"/>
                </a:solidFill>
                <a:latin typeface="Calibri" pitchFamily="34" charset="0"/>
                <a:ea typeface="Calibri" pitchFamily="34" charset="-122"/>
                <a:cs typeface="Calibri" pitchFamily="34" charset="-120"/>
              </a:rPr>
              <a:t>vie 6/11</a:t>
            </a:r>
            <a:endParaRPr lang="en-US" sz="1050" dirty="0"/>
          </a:p>
        </p:txBody>
      </p:sp>
      <p:sp>
        <p:nvSpPr>
          <p:cNvPr id="41" name="Shape 39"/>
          <p:cNvSpPr/>
          <p:nvPr/>
        </p:nvSpPr>
        <p:spPr>
          <a:xfrm>
            <a:off x="502920" y="4297680"/>
            <a:ext cx="5486400" cy="1965960"/>
          </a:xfrm>
          <a:prstGeom prst="roundRect">
            <a:avLst>
              <a:gd name="adj" fmla="val 2791"/>
            </a:avLst>
          </a:prstGeom>
          <a:solidFill>
            <a:srgbClr val="FFFFFF"/>
          </a:solidFill>
          <a:ln w="9525">
            <a:solidFill>
              <a:srgbClr val="D2DBEC"/>
            </a:solidFill>
            <a:prstDash val="solid"/>
          </a:ln>
        </p:spPr>
      </p:sp>
      <p:sp>
        <p:nvSpPr>
          <p:cNvPr id="42" name="Shape 40"/>
          <p:cNvSpPr/>
          <p:nvPr/>
        </p:nvSpPr>
        <p:spPr>
          <a:xfrm>
            <a:off x="731520" y="4544568"/>
            <a:ext cx="128016" cy="128016"/>
          </a:xfrm>
          <a:prstGeom prst="roundRect">
            <a:avLst>
              <a:gd name="adj" fmla="val 21429"/>
            </a:avLst>
          </a:prstGeom>
          <a:solidFill>
            <a:srgbClr val="1A56E8"/>
          </a:solidFill>
          <a:ln w="12700">
            <a:solidFill>
              <a:srgbClr val="1A56E8"/>
            </a:solidFill>
            <a:prstDash val="solid"/>
          </a:ln>
        </p:spPr>
      </p:sp>
      <p:sp>
        <p:nvSpPr>
          <p:cNvPr id="43" name="Text 41"/>
          <p:cNvSpPr txBox="1"/>
          <p:nvPr/>
        </p:nvSpPr>
        <p:spPr>
          <a:xfrm>
            <a:off x="960120" y="4434840"/>
            <a:ext cx="4846320"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Cómo es cada clase</a:t>
            </a:r>
            <a:endParaRPr lang="en-US" sz="1400" dirty="0"/>
          </a:p>
        </p:txBody>
      </p:sp>
      <p:sp>
        <p:nvSpPr>
          <p:cNvPr id="44" name="Text 42"/>
          <p:cNvSpPr txBox="1"/>
          <p:nvPr/>
        </p:nvSpPr>
        <p:spPr>
          <a:xfrm>
            <a:off x="731520" y="4800600"/>
            <a:ext cx="5029200" cy="1371600"/>
          </a:xfrm>
          <a:prstGeom prst="rect">
            <a:avLst/>
          </a:prstGeom>
          <a:noFill/>
          <a:ln/>
        </p:spPr>
        <p:txBody>
          <a:bodyPr wrap="square" lIns="0" tIns="0" rIns="0" bIns="0" rtlCol="0" anchor="t"/>
          <a:lstStyle/>
          <a:p>
            <a:pPr marL="0" indent="0">
              <a:spcAft>
                <a:spcPts val="400"/>
              </a:spcAft>
              <a:buNone/>
            </a:pPr>
            <a:r>
              <a:rPr lang="en-US" sz="1250" b="1" dirty="0">
                <a:solidFill>
                  <a:srgbClr val="2C3A55"/>
                </a:solidFill>
                <a:latin typeface="Calibri" pitchFamily="34" charset="0"/>
                <a:ea typeface="Calibri" pitchFamily="34" charset="-122"/>
                <a:cs typeface="Calibri" pitchFamily="34" charset="-120"/>
              </a:rPr>
              <a:t>50 min de teoría: </a:t>
            </a:r>
            <a:r>
              <a:rPr lang="en-US" sz="1250" dirty="0">
                <a:solidFill>
                  <a:srgbClr val="2C3A55"/>
                </a:solidFill>
                <a:latin typeface="Calibri" pitchFamily="34" charset="0"/>
                <a:ea typeface="Calibri" pitchFamily="34" charset="-122"/>
                <a:cs typeface="Calibri" pitchFamily="34" charset="-120"/>
              </a:rPr>
              <a:t>la idea, un caso real y los números.</a:t>
            </a:r>
            <a:endParaRPr lang="en-US" sz="1250" dirty="0"/>
          </a:p>
          <a:p>
            <a:pPr marL="0" indent="0">
              <a:spcAft>
                <a:spcPts val="400"/>
              </a:spcAft>
              <a:buNone/>
            </a:pPr>
            <a:r>
              <a:rPr lang="en-US" sz="1250" b="1" dirty="0">
                <a:solidFill>
                  <a:srgbClr val="2C3A55"/>
                </a:solidFill>
                <a:latin typeface="Calibri" pitchFamily="34" charset="0"/>
                <a:ea typeface="Calibri" pitchFamily="34" charset="-122"/>
                <a:cs typeface="Calibri" pitchFamily="34" charset="-120"/>
              </a:rPr>
              <a:t>60 min en Colab: </a:t>
            </a:r>
            <a:r>
              <a:rPr lang="en-US" sz="1250" dirty="0">
                <a:solidFill>
                  <a:srgbClr val="2C3A55"/>
                </a:solidFill>
                <a:latin typeface="Calibri" pitchFamily="34" charset="0"/>
                <a:ea typeface="Calibri" pitchFamily="34" charset="-122"/>
                <a:cs typeface="Calibri" pitchFamily="34" charset="-120"/>
              </a:rPr>
              <a:t>un notebook con verificación automática. Cada ejercicio te dice [OK] o [X].</a:t>
            </a:r>
            <a:endParaRPr lang="en-US" sz="1250" dirty="0"/>
          </a:p>
          <a:p>
            <a:pPr marL="0" indent="0">
              <a:spcAft>
                <a:spcPts val="400"/>
              </a:spcAft>
              <a:buNone/>
            </a:pPr>
            <a:r>
              <a:rPr lang="en-US" sz="1250" b="1" dirty="0">
                <a:solidFill>
                  <a:srgbClr val="2C3A55"/>
                </a:solidFill>
                <a:latin typeface="Calibri" pitchFamily="34" charset="0"/>
                <a:ea typeface="Calibri" pitchFamily="34" charset="-122"/>
                <a:cs typeface="Calibri" pitchFamily="34" charset="-120"/>
              </a:rPr>
              <a:t>10 min de cierre: </a:t>
            </a:r>
            <a:r>
              <a:rPr lang="en-US" sz="1250" dirty="0">
                <a:solidFill>
                  <a:srgbClr val="2C3A55"/>
                </a:solidFill>
                <a:latin typeface="Calibri" pitchFamily="34" charset="0"/>
                <a:ea typeface="Calibri" pitchFamily="34" charset="-122"/>
                <a:cs typeface="Calibri" pitchFamily="34" charset="-120"/>
              </a:rPr>
              <a:t>lo que te llevas y lo que viene.</a:t>
            </a:r>
            <a:endParaRPr lang="en-US" sz="1250" dirty="0"/>
          </a:p>
        </p:txBody>
      </p:sp>
      <p:sp>
        <p:nvSpPr>
          <p:cNvPr id="45" name="Shape 43"/>
          <p:cNvSpPr/>
          <p:nvPr/>
        </p:nvSpPr>
        <p:spPr>
          <a:xfrm>
            <a:off x="6172200" y="4297680"/>
            <a:ext cx="5513832" cy="1965960"/>
          </a:xfrm>
          <a:prstGeom prst="roundRect">
            <a:avLst>
              <a:gd name="adj" fmla="val 2791"/>
            </a:avLst>
          </a:prstGeom>
          <a:solidFill>
            <a:srgbClr val="0A2559"/>
          </a:solidFill>
          <a:ln w="9525">
            <a:solidFill>
              <a:srgbClr val="0A2559"/>
            </a:solidFill>
            <a:prstDash val="solid"/>
          </a:ln>
        </p:spPr>
      </p:sp>
      <p:sp>
        <p:nvSpPr>
          <p:cNvPr id="46" name="Shape 44"/>
          <p:cNvSpPr/>
          <p:nvPr/>
        </p:nvSpPr>
        <p:spPr>
          <a:xfrm>
            <a:off x="6400800" y="4544568"/>
            <a:ext cx="128016" cy="128016"/>
          </a:xfrm>
          <a:prstGeom prst="roundRect">
            <a:avLst>
              <a:gd name="adj" fmla="val 21429"/>
            </a:avLst>
          </a:prstGeom>
          <a:solidFill>
            <a:srgbClr val="E6115E"/>
          </a:solidFill>
          <a:ln w="12700">
            <a:solidFill>
              <a:srgbClr val="E6115E"/>
            </a:solidFill>
            <a:prstDash val="solid"/>
          </a:ln>
        </p:spPr>
      </p:sp>
      <p:sp>
        <p:nvSpPr>
          <p:cNvPr id="47" name="Text 45"/>
          <p:cNvSpPr txBox="1"/>
          <p:nvPr/>
        </p:nvSpPr>
        <p:spPr>
          <a:xfrm>
            <a:off x="6629400" y="4434840"/>
            <a:ext cx="4873752" cy="3474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Lo que se evalúa</a:t>
            </a:r>
            <a:endParaRPr lang="en-US" sz="1400" dirty="0"/>
          </a:p>
        </p:txBody>
      </p:sp>
      <p:sp>
        <p:nvSpPr>
          <p:cNvPr id="48" name="Text 46"/>
          <p:cNvSpPr txBox="1"/>
          <p:nvPr/>
        </p:nvSpPr>
        <p:spPr>
          <a:xfrm>
            <a:off x="6400800" y="4800600"/>
            <a:ext cx="5074920" cy="1371600"/>
          </a:xfrm>
          <a:prstGeom prst="rect">
            <a:avLst/>
          </a:prstGeom>
          <a:noFill/>
          <a:ln/>
        </p:spPr>
        <p:txBody>
          <a:bodyPr wrap="square" lIns="0" tIns="0" rIns="0" bIns="0" rtlCol="0" anchor="t"/>
          <a:lstStyle/>
          <a:p>
            <a:pPr marL="0" indent="0">
              <a:spcAft>
                <a:spcPts val="400"/>
              </a:spcAft>
              <a:buNone/>
            </a:pPr>
            <a:r>
              <a:rPr lang="en-US" sz="1250" b="1" dirty="0">
                <a:solidFill>
                  <a:srgbClr val="FFFFFF"/>
                </a:solidFill>
                <a:latin typeface="Calibri" pitchFamily="34" charset="0"/>
                <a:ea typeface="Calibri" pitchFamily="34" charset="-122"/>
                <a:cs typeface="Calibri" pitchFamily="34" charset="-120"/>
              </a:rPr>
              <a:t>Parcial · lun 19/10 · </a:t>
            </a:r>
            <a:r>
              <a:rPr lang="en-US" sz="1250" dirty="0">
                <a:solidFill>
                  <a:srgbClr val="C9D4EA"/>
                </a:solidFill>
                <a:latin typeface="Calibri" pitchFamily="34" charset="0"/>
                <a:ea typeface="Calibri" pitchFamily="34" charset="-122"/>
                <a:cs typeface="Calibri" pitchFamily="34" charset="-120"/>
              </a:rPr>
              <a:t>intro y módulos 1 y 2</a:t>
            </a:r>
            <a:endParaRPr lang="en-US" sz="1250" dirty="0"/>
          </a:p>
          <a:p>
            <a:pPr marL="0" indent="0">
              <a:spcAft>
                <a:spcPts val="400"/>
              </a:spcAft>
              <a:buNone/>
            </a:pPr>
            <a:r>
              <a:rPr lang="en-US" sz="1250" b="1" dirty="0">
                <a:solidFill>
                  <a:srgbClr val="FFFFFF"/>
                </a:solidFill>
                <a:latin typeface="Calibri" pitchFamily="34" charset="0"/>
                <a:ea typeface="Calibri" pitchFamily="34" charset="-122"/>
                <a:cs typeface="Calibri" pitchFamily="34" charset="-120"/>
              </a:rPr>
              <a:t>Final · vie 6/11 · </a:t>
            </a:r>
            <a:r>
              <a:rPr lang="en-US" sz="1250" dirty="0">
                <a:solidFill>
                  <a:srgbClr val="C9D4EA"/>
                </a:solidFill>
                <a:latin typeface="Calibri" pitchFamily="34" charset="0"/>
                <a:ea typeface="Calibri" pitchFamily="34" charset="-122"/>
                <a:cs typeface="Calibri" pitchFamily="34" charset="-120"/>
              </a:rPr>
              <a:t>módulos 3 y 4</a:t>
            </a:r>
            <a:endParaRPr lang="en-US" sz="1250" dirty="0"/>
          </a:p>
          <a:p>
            <a:pPr marL="0" indent="0">
              <a:spcAft>
                <a:spcPts val="400"/>
              </a:spcAft>
              <a:buNone/>
            </a:pPr>
            <a:r>
              <a:rPr lang="en-US" sz="1250" b="1" dirty="0">
                <a:solidFill>
                  <a:srgbClr val="FFFFFF"/>
                </a:solidFill>
                <a:latin typeface="Calibri" pitchFamily="34" charset="0"/>
                <a:ea typeface="Calibri" pitchFamily="34" charset="-122"/>
                <a:cs typeface="Calibri" pitchFamily="34" charset="-120"/>
              </a:rPr>
              <a:t>Proyecto final · </a:t>
            </a:r>
            <a:r>
              <a:rPr lang="en-US" sz="1250" dirty="0">
                <a:solidFill>
                  <a:srgbClr val="C9D4EA"/>
                </a:solidFill>
                <a:latin typeface="Calibri" pitchFamily="34" charset="0"/>
                <a:ea typeface="Calibri" pitchFamily="34" charset="-122"/>
                <a:cs typeface="Calibri" pitchFamily="34" charset="-120"/>
              </a:rPr>
              <a:t>un caso completo, de los datos crudos al modelo evaluado.</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AGENDA</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Cómo repartimos los 120 minutos</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Primero la idea, después el código. Todo lo que ves en las slides lo vas a reproducir en el notebook.</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2103120"/>
          <a:ext cx="6766560" cy="914400"/>
        </p:xfrm>
        <a:graphic>
          <a:graphicData uri="http://schemas.openxmlformats.org/drawingml/2006/table">
            <a:tbl>
              <a:tblPr/>
              <a:tblGrid>
                <a:gridCol w="822960">
                  <a:extLst>
                    <a:ext uri="{9D8B030D-6E8A-4147-A177-3AD203B41FA5}">
                      <a16:colId xmlns:a16="http://schemas.microsoft.com/office/drawing/2014/main" val="20000"/>
                    </a:ext>
                  </a:extLst>
                </a:gridCol>
                <a:gridCol w="521208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tblGrid>
              <a:tr h="420624">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Bloque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Contenido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Min</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420624">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Bienvenida y mapa del curso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Reglas escritas a mano vs reglas aprendidas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624">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Vocabulario, tipos de problema y el flujo de un proyecto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15</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b="1" dirty="0">
                          <a:solidFill>
                            <a:srgbClr val="E6115E"/>
                          </a:solidFill>
                          <a:latin typeface="Calibri" pitchFamily="34" charset="0"/>
                          <a:ea typeface="Calibri" pitchFamily="34" charset="-122"/>
                          <a:cs typeface="Calibri" pitchFamily="34" charset="-120"/>
                        </a:rPr>
                        <a:t>Memorizar no es aprender: entrenamiento, validación y prueba</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15</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0624">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La API de scikit-learn</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0624">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Laboratorio en Colab</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60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20624">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Cierre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7" name="Shape 4"/>
          <p:cNvSpPr/>
          <p:nvPr/>
        </p:nvSpPr>
        <p:spPr>
          <a:xfrm>
            <a:off x="7589520" y="2103120"/>
            <a:ext cx="4096512" cy="2148840"/>
          </a:xfrm>
          <a:prstGeom prst="roundRect">
            <a:avLst>
              <a:gd name="adj" fmla="val 2553"/>
            </a:avLst>
          </a:prstGeom>
          <a:solidFill>
            <a:srgbClr val="E9EEF8"/>
          </a:solidFill>
          <a:ln w="9525">
            <a:solidFill>
              <a:srgbClr val="D2DBEC"/>
            </a:solidFill>
            <a:prstDash val="solid"/>
          </a:ln>
        </p:spPr>
      </p:sp>
      <p:sp>
        <p:nvSpPr>
          <p:cNvPr id="8" name="Shape 5"/>
          <p:cNvSpPr/>
          <p:nvPr/>
        </p:nvSpPr>
        <p:spPr>
          <a:xfrm>
            <a:off x="7818120" y="2350008"/>
            <a:ext cx="128016" cy="128016"/>
          </a:xfrm>
          <a:prstGeom prst="roundRect">
            <a:avLst>
              <a:gd name="adj" fmla="val 21429"/>
            </a:avLst>
          </a:prstGeom>
          <a:solidFill>
            <a:srgbClr val="E6115E"/>
          </a:solidFill>
          <a:ln w="12700">
            <a:solidFill>
              <a:srgbClr val="E6115E"/>
            </a:solidFill>
            <a:prstDash val="solid"/>
          </a:ln>
        </p:spPr>
      </p:sp>
      <p:sp>
        <p:nvSpPr>
          <p:cNvPr id="9" name="Text 6"/>
          <p:cNvSpPr txBox="1"/>
          <p:nvPr/>
        </p:nvSpPr>
        <p:spPr>
          <a:xfrm>
            <a:off x="8046720" y="2240280"/>
            <a:ext cx="3456432"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Qué te llevas hoy</a:t>
            </a:r>
            <a:endParaRPr lang="en-US" sz="1400" dirty="0"/>
          </a:p>
        </p:txBody>
      </p:sp>
      <p:sp>
        <p:nvSpPr>
          <p:cNvPr id="10" name="Text 7"/>
          <p:cNvSpPr txBox="1"/>
          <p:nvPr/>
        </p:nvSpPr>
        <p:spPr>
          <a:xfrm>
            <a:off x="7818120" y="2606040"/>
            <a:ext cx="3657600" cy="155448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2C3A55"/>
                </a:solidFill>
                <a:latin typeface="Calibri" pitchFamily="34" charset="0"/>
                <a:ea typeface="Calibri" pitchFamily="34" charset="-122"/>
                <a:cs typeface="Calibri" pitchFamily="34" charset="-120"/>
              </a:rPr>
              <a:t>Explicar qué es ML y cuándo conviene usarlo</a:t>
            </a:r>
            <a:endParaRPr lang="en-US" sz="1250" dirty="0"/>
          </a:p>
          <a:p>
            <a:pPr marL="342900" indent="-342900">
              <a:spcAft>
                <a:spcPts val="400"/>
              </a:spcAft>
              <a:buSzPct val="100000"/>
              <a:buChar char="•"/>
            </a:pPr>
            <a:r>
              <a:rPr lang="en-US" sz="1250" dirty="0">
                <a:solidFill>
                  <a:srgbClr val="2C3A55"/>
                </a:solidFill>
                <a:latin typeface="Calibri" pitchFamily="34" charset="0"/>
                <a:ea typeface="Calibri" pitchFamily="34" charset="-122"/>
                <a:cs typeface="Calibri" pitchFamily="34" charset="-120"/>
              </a:rPr>
              <a:t>Distinguir regresión, clasificación y clustering</a:t>
            </a:r>
            <a:endParaRPr lang="en-US" sz="1250" dirty="0"/>
          </a:p>
          <a:p>
            <a:pPr marL="342900" indent="-342900">
              <a:spcAft>
                <a:spcPts val="400"/>
              </a:spcAft>
              <a:buSzPct val="100000"/>
              <a:buChar char="•"/>
            </a:pPr>
            <a:r>
              <a:rPr lang="en-US" sz="1250" dirty="0">
                <a:solidFill>
                  <a:srgbClr val="2C3A55"/>
                </a:solidFill>
                <a:latin typeface="Calibri" pitchFamily="34" charset="0"/>
                <a:ea typeface="Calibri" pitchFamily="34" charset="-122"/>
                <a:cs typeface="Calibri" pitchFamily="34" charset="-120"/>
              </a:rPr>
              <a:t>Separar entrenamiento, validación y prueba</a:t>
            </a:r>
            <a:endParaRPr lang="en-US" sz="1250" dirty="0"/>
          </a:p>
          <a:p>
            <a:pPr marL="342900" indent="-342900">
              <a:spcAft>
                <a:spcPts val="400"/>
              </a:spcAft>
              <a:buSzPct val="100000"/>
              <a:buChar char="•"/>
            </a:pPr>
            <a:r>
              <a:rPr lang="en-US" sz="1250" dirty="0">
                <a:solidFill>
                  <a:srgbClr val="2C3A55"/>
                </a:solidFill>
                <a:latin typeface="Calibri" pitchFamily="34" charset="0"/>
                <a:ea typeface="Calibri" pitchFamily="34" charset="-122"/>
                <a:cs typeface="Calibri" pitchFamily="34" charset="-120"/>
              </a:rPr>
              <a:t>Reconocer el overfitting</a:t>
            </a:r>
            <a:endParaRPr lang="en-US" sz="1250" dirty="0"/>
          </a:p>
          <a:p>
            <a:pPr marL="342900" indent="-342900">
              <a:spcAft>
                <a:spcPts val="400"/>
              </a:spcAft>
              <a:buSzPct val="100000"/>
              <a:buChar char="•"/>
            </a:pPr>
            <a:r>
              <a:rPr lang="en-US" sz="1250" dirty="0">
                <a:solidFill>
                  <a:srgbClr val="2C3A55"/>
                </a:solidFill>
                <a:latin typeface="Calibri" pitchFamily="34" charset="0"/>
                <a:ea typeface="Calibri" pitchFamily="34" charset="-122"/>
                <a:cs typeface="Calibri" pitchFamily="34" charset="-120"/>
              </a:rPr>
              <a:t>Entrenar tu primer modelo en scikit-learn</a:t>
            </a:r>
            <a:endParaRPr lang="en-US" sz="1250" dirty="0"/>
          </a:p>
        </p:txBody>
      </p:sp>
      <p:sp>
        <p:nvSpPr>
          <p:cNvPr id="11" name="Shape 8"/>
          <p:cNvSpPr/>
          <p:nvPr/>
        </p:nvSpPr>
        <p:spPr>
          <a:xfrm>
            <a:off x="7589520" y="4434840"/>
            <a:ext cx="4096512" cy="1783080"/>
          </a:xfrm>
          <a:prstGeom prst="roundRect">
            <a:avLst>
              <a:gd name="adj" fmla="val 3077"/>
            </a:avLst>
          </a:prstGeom>
          <a:solidFill>
            <a:srgbClr val="0A2559"/>
          </a:solidFill>
          <a:ln w="9525">
            <a:solidFill>
              <a:srgbClr val="0A2559"/>
            </a:solidFill>
            <a:prstDash val="solid"/>
          </a:ln>
        </p:spPr>
      </p:sp>
      <p:sp>
        <p:nvSpPr>
          <p:cNvPr id="12" name="Shape 9"/>
          <p:cNvSpPr/>
          <p:nvPr/>
        </p:nvSpPr>
        <p:spPr>
          <a:xfrm>
            <a:off x="7818120" y="4681728"/>
            <a:ext cx="128016" cy="128016"/>
          </a:xfrm>
          <a:prstGeom prst="roundRect">
            <a:avLst>
              <a:gd name="adj" fmla="val 21429"/>
            </a:avLst>
          </a:prstGeom>
          <a:solidFill>
            <a:srgbClr val="E6115E"/>
          </a:solidFill>
          <a:ln w="12700">
            <a:solidFill>
              <a:srgbClr val="E6115E"/>
            </a:solidFill>
            <a:prstDash val="solid"/>
          </a:ln>
        </p:spPr>
      </p:sp>
      <p:sp>
        <p:nvSpPr>
          <p:cNvPr id="13" name="Text 10"/>
          <p:cNvSpPr txBox="1"/>
          <p:nvPr/>
        </p:nvSpPr>
        <p:spPr>
          <a:xfrm>
            <a:off x="8046720" y="4572000"/>
            <a:ext cx="3456432" cy="3474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El bloque 3 es el importante</a:t>
            </a:r>
            <a:endParaRPr lang="en-US" sz="1400" dirty="0"/>
          </a:p>
        </p:txBody>
      </p:sp>
      <p:sp>
        <p:nvSpPr>
          <p:cNvPr id="14" name="Text 11"/>
          <p:cNvSpPr txBox="1"/>
          <p:nvPr/>
        </p:nvSpPr>
        <p:spPr>
          <a:xfrm>
            <a:off x="7818120" y="4937760"/>
            <a:ext cx="3657600" cy="1188720"/>
          </a:xfrm>
          <a:prstGeom prst="rect">
            <a:avLst/>
          </a:prstGeom>
          <a:noFill/>
          <a:ln/>
        </p:spPr>
        <p:txBody>
          <a:bodyPr wrap="square" lIns="0" tIns="0" rIns="0" bIns="0" rtlCol="0" anchor="t"/>
          <a:lstStyle/>
          <a:p>
            <a:pPr marL="0" indent="0">
              <a:spcAft>
                <a:spcPts val="400"/>
              </a:spcAft>
              <a:buNone/>
            </a:pPr>
            <a:r>
              <a:rPr lang="en-US" sz="1250" dirty="0">
                <a:solidFill>
                  <a:srgbClr val="C9D4EA"/>
                </a:solidFill>
                <a:latin typeface="Calibri" pitchFamily="34" charset="0"/>
                <a:ea typeface="Calibri" pitchFamily="34" charset="-122"/>
                <a:cs typeface="Calibri" pitchFamily="34" charset="-120"/>
              </a:rPr>
              <a:t>Lo demás es vocabulario. El bloque 3 es la idea sobre la que se apoya TODO el curso: un modelo se juzga con datos que no vio.</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BLOQUE 1</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Dos formas de hacer que un programa decida</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La diferencia no está en el resultado, sino en quién escribe la regla.</a:t>
            </a:r>
            <a:endParaRPr lang="en-US" sz="1400" dirty="0"/>
          </a:p>
        </p:txBody>
      </p:sp>
      <p:sp>
        <p:nvSpPr>
          <p:cNvPr id="6" name="Shape 4"/>
          <p:cNvSpPr/>
          <p:nvPr/>
        </p:nvSpPr>
        <p:spPr>
          <a:xfrm>
            <a:off x="502920" y="2103120"/>
            <a:ext cx="5486400" cy="2423160"/>
          </a:xfrm>
          <a:prstGeom prst="roundRect">
            <a:avLst>
              <a:gd name="adj" fmla="val 2264"/>
            </a:avLst>
          </a:prstGeom>
          <a:solidFill>
            <a:srgbClr val="FFFFFF"/>
          </a:solidFill>
          <a:ln w="9525">
            <a:solidFill>
              <a:srgbClr val="D2DBEC"/>
            </a:solidFill>
            <a:prstDash val="solid"/>
          </a:ln>
        </p:spPr>
      </p:sp>
      <p:sp>
        <p:nvSpPr>
          <p:cNvPr id="7" name="Shape 5"/>
          <p:cNvSpPr/>
          <p:nvPr/>
        </p:nvSpPr>
        <p:spPr>
          <a:xfrm>
            <a:off x="731520" y="2350008"/>
            <a:ext cx="128016" cy="128016"/>
          </a:xfrm>
          <a:prstGeom prst="roundRect">
            <a:avLst>
              <a:gd name="adj" fmla="val 21429"/>
            </a:avLst>
          </a:prstGeom>
          <a:solidFill>
            <a:srgbClr val="1A56E8"/>
          </a:solidFill>
          <a:ln w="12700">
            <a:solidFill>
              <a:srgbClr val="1A56E8"/>
            </a:solidFill>
            <a:prstDash val="solid"/>
          </a:ln>
        </p:spPr>
      </p:sp>
      <p:sp>
        <p:nvSpPr>
          <p:cNvPr id="8" name="Text 6"/>
          <p:cNvSpPr txBox="1"/>
          <p:nvPr/>
        </p:nvSpPr>
        <p:spPr>
          <a:xfrm>
            <a:off x="960120" y="2240280"/>
            <a:ext cx="4846320"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Programación tradicional</a:t>
            </a:r>
            <a:endParaRPr lang="en-US" sz="1400" dirty="0"/>
          </a:p>
        </p:txBody>
      </p:sp>
      <p:sp>
        <p:nvSpPr>
          <p:cNvPr id="9" name="Shape 7"/>
          <p:cNvSpPr/>
          <p:nvPr/>
        </p:nvSpPr>
        <p:spPr>
          <a:xfrm>
            <a:off x="777240" y="2743200"/>
            <a:ext cx="1417320" cy="502920"/>
          </a:xfrm>
          <a:prstGeom prst="roundRect">
            <a:avLst>
              <a:gd name="adj" fmla="val 9091"/>
            </a:avLst>
          </a:prstGeom>
          <a:solidFill>
            <a:srgbClr val="E9EEF8"/>
          </a:solidFill>
          <a:ln w="9525">
            <a:solidFill>
              <a:srgbClr val="D2DBEC"/>
            </a:solidFill>
            <a:prstDash val="solid"/>
          </a:ln>
        </p:spPr>
      </p:sp>
      <p:sp>
        <p:nvSpPr>
          <p:cNvPr id="10" name="Text 8"/>
          <p:cNvSpPr txBox="1"/>
          <p:nvPr/>
        </p:nvSpPr>
        <p:spPr>
          <a:xfrm>
            <a:off x="777240" y="2743200"/>
            <a:ext cx="1417320" cy="502920"/>
          </a:xfrm>
          <a:prstGeom prst="rect">
            <a:avLst/>
          </a:prstGeom>
          <a:noFill/>
          <a:ln/>
        </p:spPr>
        <p:txBody>
          <a:bodyPr wrap="square" lIns="0" tIns="0" rIns="0" bIns="0" rtlCol="0" anchor="ctr"/>
          <a:lstStyle/>
          <a:p>
            <a:pPr marL="0" indent="0" algn="ctr">
              <a:buNone/>
            </a:pPr>
            <a:r>
              <a:rPr lang="en-US" sz="1300" b="1" dirty="0">
                <a:solidFill>
                  <a:srgbClr val="0A2559"/>
                </a:solidFill>
                <a:latin typeface="Calibri" pitchFamily="34" charset="0"/>
                <a:ea typeface="Calibri" pitchFamily="34" charset="-122"/>
                <a:cs typeface="Calibri" pitchFamily="34" charset="-120"/>
              </a:rPr>
              <a:t>Reglas</a:t>
            </a:r>
            <a:endParaRPr lang="en-US" sz="1300" dirty="0"/>
          </a:p>
        </p:txBody>
      </p:sp>
      <p:sp>
        <p:nvSpPr>
          <p:cNvPr id="11" name="Shape 9"/>
          <p:cNvSpPr/>
          <p:nvPr/>
        </p:nvSpPr>
        <p:spPr>
          <a:xfrm>
            <a:off x="777240" y="3429000"/>
            <a:ext cx="1417320" cy="502920"/>
          </a:xfrm>
          <a:prstGeom prst="roundRect">
            <a:avLst>
              <a:gd name="adj" fmla="val 9091"/>
            </a:avLst>
          </a:prstGeom>
          <a:solidFill>
            <a:srgbClr val="E9EEF8"/>
          </a:solidFill>
          <a:ln w="9525">
            <a:solidFill>
              <a:srgbClr val="D2DBEC"/>
            </a:solidFill>
            <a:prstDash val="solid"/>
          </a:ln>
        </p:spPr>
      </p:sp>
      <p:sp>
        <p:nvSpPr>
          <p:cNvPr id="12" name="Text 10"/>
          <p:cNvSpPr txBox="1"/>
          <p:nvPr/>
        </p:nvSpPr>
        <p:spPr>
          <a:xfrm>
            <a:off x="777240" y="3429000"/>
            <a:ext cx="1417320" cy="502920"/>
          </a:xfrm>
          <a:prstGeom prst="rect">
            <a:avLst/>
          </a:prstGeom>
          <a:noFill/>
          <a:ln/>
        </p:spPr>
        <p:txBody>
          <a:bodyPr wrap="square" lIns="0" tIns="0" rIns="0" bIns="0" rtlCol="0" anchor="ctr"/>
          <a:lstStyle/>
          <a:p>
            <a:pPr marL="0" indent="0" algn="ctr">
              <a:buNone/>
            </a:pPr>
            <a:r>
              <a:rPr lang="en-US" sz="1300" b="1" dirty="0">
                <a:solidFill>
                  <a:srgbClr val="0A2559"/>
                </a:solidFill>
                <a:latin typeface="Calibri" pitchFamily="34" charset="0"/>
                <a:ea typeface="Calibri" pitchFamily="34" charset="-122"/>
                <a:cs typeface="Calibri" pitchFamily="34" charset="-120"/>
              </a:rPr>
              <a:t>Datos</a:t>
            </a:r>
            <a:endParaRPr lang="en-US" sz="1300" dirty="0"/>
          </a:p>
        </p:txBody>
      </p:sp>
      <p:sp>
        <p:nvSpPr>
          <p:cNvPr id="13" name="Shape 11"/>
          <p:cNvSpPr/>
          <p:nvPr/>
        </p:nvSpPr>
        <p:spPr>
          <a:xfrm>
            <a:off x="2286000" y="3337560"/>
            <a:ext cx="502920" cy="0"/>
          </a:xfrm>
          <a:prstGeom prst="line">
            <a:avLst/>
          </a:prstGeom>
          <a:noFill/>
          <a:ln w="19050">
            <a:solidFill>
              <a:srgbClr val="5B6B87"/>
            </a:solidFill>
            <a:prstDash val="solid"/>
            <a:tailEnd type="triangle"/>
          </a:ln>
        </p:spPr>
      </p:sp>
      <p:sp>
        <p:nvSpPr>
          <p:cNvPr id="14" name="Shape 12"/>
          <p:cNvSpPr/>
          <p:nvPr/>
        </p:nvSpPr>
        <p:spPr>
          <a:xfrm>
            <a:off x="2880360" y="2926080"/>
            <a:ext cx="1325880" cy="822960"/>
          </a:xfrm>
          <a:prstGeom prst="roundRect">
            <a:avLst>
              <a:gd name="adj" fmla="val 6667"/>
            </a:avLst>
          </a:prstGeom>
          <a:solidFill>
            <a:srgbClr val="1A56E8"/>
          </a:solidFill>
          <a:ln w="12700">
            <a:solidFill>
              <a:srgbClr val="1A56E8"/>
            </a:solidFill>
            <a:prstDash val="solid"/>
          </a:ln>
        </p:spPr>
      </p:sp>
      <p:sp>
        <p:nvSpPr>
          <p:cNvPr id="15" name="Text 13"/>
          <p:cNvSpPr txBox="1"/>
          <p:nvPr/>
        </p:nvSpPr>
        <p:spPr>
          <a:xfrm>
            <a:off x="2880360" y="2926080"/>
            <a:ext cx="1325880" cy="8229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Programa</a:t>
            </a:r>
            <a:endParaRPr lang="en-US" sz="1300" dirty="0"/>
          </a:p>
        </p:txBody>
      </p:sp>
      <p:sp>
        <p:nvSpPr>
          <p:cNvPr id="16" name="Shape 14"/>
          <p:cNvSpPr/>
          <p:nvPr/>
        </p:nvSpPr>
        <p:spPr>
          <a:xfrm>
            <a:off x="4297680" y="3337560"/>
            <a:ext cx="411480" cy="0"/>
          </a:xfrm>
          <a:prstGeom prst="line">
            <a:avLst/>
          </a:prstGeom>
          <a:noFill/>
          <a:ln w="19050">
            <a:solidFill>
              <a:srgbClr val="5B6B87"/>
            </a:solidFill>
            <a:prstDash val="solid"/>
            <a:tailEnd type="triangle"/>
          </a:ln>
        </p:spPr>
      </p:sp>
      <p:sp>
        <p:nvSpPr>
          <p:cNvPr id="17" name="Shape 15"/>
          <p:cNvSpPr/>
          <p:nvPr/>
        </p:nvSpPr>
        <p:spPr>
          <a:xfrm>
            <a:off x="4754880" y="3017520"/>
            <a:ext cx="1005840" cy="640080"/>
          </a:xfrm>
          <a:prstGeom prst="roundRect">
            <a:avLst>
              <a:gd name="adj" fmla="val 7143"/>
            </a:avLst>
          </a:prstGeom>
          <a:solidFill>
            <a:srgbClr val="FFFFFF"/>
          </a:solidFill>
          <a:ln w="19050">
            <a:solidFill>
              <a:srgbClr val="1A56E8"/>
            </a:solidFill>
            <a:prstDash val="solid"/>
          </a:ln>
        </p:spPr>
      </p:sp>
      <p:sp>
        <p:nvSpPr>
          <p:cNvPr id="18" name="Text 16"/>
          <p:cNvSpPr txBox="1"/>
          <p:nvPr/>
        </p:nvSpPr>
        <p:spPr>
          <a:xfrm>
            <a:off x="4754880" y="3017520"/>
            <a:ext cx="1005840" cy="640080"/>
          </a:xfrm>
          <a:prstGeom prst="rect">
            <a:avLst/>
          </a:prstGeom>
          <a:noFill/>
          <a:ln/>
        </p:spPr>
        <p:txBody>
          <a:bodyPr wrap="square" lIns="0" tIns="0" rIns="0" bIns="0" rtlCol="0" anchor="ctr"/>
          <a:lstStyle/>
          <a:p>
            <a:pPr marL="0" indent="0" algn="ctr">
              <a:buNone/>
            </a:pPr>
            <a:r>
              <a:rPr lang="en-US" sz="1250" b="1" dirty="0">
                <a:solidFill>
                  <a:srgbClr val="1A56E8"/>
                </a:solidFill>
                <a:latin typeface="Calibri" pitchFamily="34" charset="0"/>
                <a:ea typeface="Calibri" pitchFamily="34" charset="-122"/>
                <a:cs typeface="Calibri" pitchFamily="34" charset="-120"/>
              </a:rPr>
              <a:t>Respuestas</a:t>
            </a:r>
            <a:endParaRPr lang="en-US" sz="1250" dirty="0"/>
          </a:p>
        </p:txBody>
      </p:sp>
      <p:sp>
        <p:nvSpPr>
          <p:cNvPr id="19" name="Text 17"/>
          <p:cNvSpPr txBox="1"/>
          <p:nvPr/>
        </p:nvSpPr>
        <p:spPr>
          <a:xfrm>
            <a:off x="777240" y="4133088"/>
            <a:ext cx="4937760" cy="320040"/>
          </a:xfrm>
          <a:prstGeom prst="rect">
            <a:avLst/>
          </a:prstGeom>
          <a:noFill/>
          <a:ln/>
        </p:spPr>
        <p:txBody>
          <a:bodyPr wrap="square" lIns="0" tIns="0" rIns="0" bIns="0" rtlCol="0" anchor="t"/>
          <a:lstStyle/>
          <a:p>
            <a:pPr marL="0" indent="0">
              <a:spcAft>
                <a:spcPts val="400"/>
              </a:spcAft>
              <a:buNone/>
            </a:pPr>
            <a:r>
              <a:rPr lang="en-US" sz="1150" i="1" dirty="0">
                <a:solidFill>
                  <a:srgbClr val="5B6B87"/>
                </a:solidFill>
                <a:latin typeface="Calibri" pitchFamily="34" charset="0"/>
                <a:ea typeface="Calibri" pitchFamily="34" charset="-122"/>
                <a:cs typeface="Calibri" pitchFamily="34" charset="-120"/>
              </a:rPr>
              <a:t>Tú escribes la regla; el programa solo la aplica.</a:t>
            </a:r>
            <a:endParaRPr lang="en-US" sz="1150" dirty="0"/>
          </a:p>
        </p:txBody>
      </p:sp>
      <p:sp>
        <p:nvSpPr>
          <p:cNvPr id="20" name="Shape 18"/>
          <p:cNvSpPr/>
          <p:nvPr/>
        </p:nvSpPr>
        <p:spPr>
          <a:xfrm>
            <a:off x="6199632" y="2103120"/>
            <a:ext cx="5486400" cy="2423160"/>
          </a:xfrm>
          <a:prstGeom prst="roundRect">
            <a:avLst>
              <a:gd name="adj" fmla="val 2264"/>
            </a:avLst>
          </a:prstGeom>
          <a:solidFill>
            <a:srgbClr val="FFFFFF"/>
          </a:solidFill>
          <a:ln w="9525">
            <a:solidFill>
              <a:srgbClr val="D2DBEC"/>
            </a:solidFill>
            <a:prstDash val="solid"/>
          </a:ln>
        </p:spPr>
      </p:sp>
      <p:sp>
        <p:nvSpPr>
          <p:cNvPr id="21" name="Shape 19"/>
          <p:cNvSpPr/>
          <p:nvPr/>
        </p:nvSpPr>
        <p:spPr>
          <a:xfrm>
            <a:off x="6428232" y="2350008"/>
            <a:ext cx="128016" cy="128016"/>
          </a:xfrm>
          <a:prstGeom prst="roundRect">
            <a:avLst>
              <a:gd name="adj" fmla="val 21429"/>
            </a:avLst>
          </a:prstGeom>
          <a:solidFill>
            <a:srgbClr val="E6115E"/>
          </a:solidFill>
          <a:ln w="12700">
            <a:solidFill>
              <a:srgbClr val="E6115E"/>
            </a:solidFill>
            <a:prstDash val="solid"/>
          </a:ln>
        </p:spPr>
      </p:sp>
      <p:sp>
        <p:nvSpPr>
          <p:cNvPr id="22" name="Text 20"/>
          <p:cNvSpPr txBox="1"/>
          <p:nvPr/>
        </p:nvSpPr>
        <p:spPr>
          <a:xfrm>
            <a:off x="6656832" y="2240280"/>
            <a:ext cx="4846320"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Machine Learning</a:t>
            </a:r>
            <a:endParaRPr lang="en-US" sz="1400" dirty="0"/>
          </a:p>
        </p:txBody>
      </p:sp>
      <p:sp>
        <p:nvSpPr>
          <p:cNvPr id="23" name="Shape 21"/>
          <p:cNvSpPr/>
          <p:nvPr/>
        </p:nvSpPr>
        <p:spPr>
          <a:xfrm>
            <a:off x="6473952" y="2743200"/>
            <a:ext cx="1417320" cy="502920"/>
          </a:xfrm>
          <a:prstGeom prst="roundRect">
            <a:avLst>
              <a:gd name="adj" fmla="val 9091"/>
            </a:avLst>
          </a:prstGeom>
          <a:solidFill>
            <a:srgbClr val="E9EEF8"/>
          </a:solidFill>
          <a:ln w="9525">
            <a:solidFill>
              <a:srgbClr val="D2DBEC"/>
            </a:solidFill>
            <a:prstDash val="solid"/>
          </a:ln>
        </p:spPr>
      </p:sp>
      <p:sp>
        <p:nvSpPr>
          <p:cNvPr id="24" name="Text 22"/>
          <p:cNvSpPr txBox="1"/>
          <p:nvPr/>
        </p:nvSpPr>
        <p:spPr>
          <a:xfrm>
            <a:off x="6473952" y="2743200"/>
            <a:ext cx="1417320" cy="502920"/>
          </a:xfrm>
          <a:prstGeom prst="rect">
            <a:avLst/>
          </a:prstGeom>
          <a:noFill/>
          <a:ln/>
        </p:spPr>
        <p:txBody>
          <a:bodyPr wrap="square" lIns="0" tIns="0" rIns="0" bIns="0" rtlCol="0" anchor="ctr"/>
          <a:lstStyle/>
          <a:p>
            <a:pPr marL="0" indent="0" algn="ctr">
              <a:buNone/>
            </a:pPr>
            <a:r>
              <a:rPr lang="en-US" sz="1300" b="1" dirty="0">
                <a:solidFill>
                  <a:srgbClr val="0A2559"/>
                </a:solidFill>
                <a:latin typeface="Calibri" pitchFamily="34" charset="0"/>
                <a:ea typeface="Calibri" pitchFamily="34" charset="-122"/>
                <a:cs typeface="Calibri" pitchFamily="34" charset="-120"/>
              </a:rPr>
              <a:t>Datos</a:t>
            </a:r>
            <a:endParaRPr lang="en-US" sz="1300" dirty="0"/>
          </a:p>
        </p:txBody>
      </p:sp>
      <p:sp>
        <p:nvSpPr>
          <p:cNvPr id="25" name="Shape 23"/>
          <p:cNvSpPr/>
          <p:nvPr/>
        </p:nvSpPr>
        <p:spPr>
          <a:xfrm>
            <a:off x="6473952" y="3429000"/>
            <a:ext cx="1417320" cy="502920"/>
          </a:xfrm>
          <a:prstGeom prst="roundRect">
            <a:avLst>
              <a:gd name="adj" fmla="val 9091"/>
            </a:avLst>
          </a:prstGeom>
          <a:solidFill>
            <a:srgbClr val="E9EEF8"/>
          </a:solidFill>
          <a:ln w="9525">
            <a:solidFill>
              <a:srgbClr val="D2DBEC"/>
            </a:solidFill>
            <a:prstDash val="solid"/>
          </a:ln>
        </p:spPr>
      </p:sp>
      <p:sp>
        <p:nvSpPr>
          <p:cNvPr id="26" name="Text 24"/>
          <p:cNvSpPr txBox="1"/>
          <p:nvPr/>
        </p:nvSpPr>
        <p:spPr>
          <a:xfrm>
            <a:off x="6473952" y="3429000"/>
            <a:ext cx="1417320" cy="502920"/>
          </a:xfrm>
          <a:prstGeom prst="rect">
            <a:avLst/>
          </a:prstGeom>
          <a:noFill/>
          <a:ln/>
        </p:spPr>
        <p:txBody>
          <a:bodyPr wrap="square" lIns="0" tIns="0" rIns="0" bIns="0" rtlCol="0" anchor="ctr"/>
          <a:lstStyle/>
          <a:p>
            <a:pPr marL="0" indent="0" algn="ctr">
              <a:buNone/>
            </a:pPr>
            <a:r>
              <a:rPr lang="en-US" sz="1300" b="1" dirty="0">
                <a:solidFill>
                  <a:srgbClr val="0A2559"/>
                </a:solidFill>
                <a:latin typeface="Calibri" pitchFamily="34" charset="0"/>
                <a:ea typeface="Calibri" pitchFamily="34" charset="-122"/>
                <a:cs typeface="Calibri" pitchFamily="34" charset="-120"/>
              </a:rPr>
              <a:t>Respuestas</a:t>
            </a:r>
            <a:endParaRPr lang="en-US" sz="1300" dirty="0"/>
          </a:p>
        </p:txBody>
      </p:sp>
      <p:sp>
        <p:nvSpPr>
          <p:cNvPr id="27" name="Shape 25"/>
          <p:cNvSpPr/>
          <p:nvPr/>
        </p:nvSpPr>
        <p:spPr>
          <a:xfrm>
            <a:off x="7982712" y="3337560"/>
            <a:ext cx="502920" cy="0"/>
          </a:xfrm>
          <a:prstGeom prst="line">
            <a:avLst/>
          </a:prstGeom>
          <a:noFill/>
          <a:ln w="19050">
            <a:solidFill>
              <a:srgbClr val="5B6B87"/>
            </a:solidFill>
            <a:prstDash val="solid"/>
            <a:tailEnd type="triangle"/>
          </a:ln>
        </p:spPr>
      </p:sp>
      <p:sp>
        <p:nvSpPr>
          <p:cNvPr id="28" name="Shape 26"/>
          <p:cNvSpPr/>
          <p:nvPr/>
        </p:nvSpPr>
        <p:spPr>
          <a:xfrm>
            <a:off x="8577072" y="2926080"/>
            <a:ext cx="1325880" cy="822960"/>
          </a:xfrm>
          <a:prstGeom prst="roundRect">
            <a:avLst>
              <a:gd name="adj" fmla="val 6667"/>
            </a:avLst>
          </a:prstGeom>
          <a:solidFill>
            <a:srgbClr val="E6115E"/>
          </a:solidFill>
          <a:ln w="12700">
            <a:solidFill>
              <a:srgbClr val="E6115E"/>
            </a:solidFill>
            <a:prstDash val="solid"/>
          </a:ln>
        </p:spPr>
      </p:sp>
      <p:sp>
        <p:nvSpPr>
          <p:cNvPr id="29" name="Text 27"/>
          <p:cNvSpPr txBox="1"/>
          <p:nvPr/>
        </p:nvSpPr>
        <p:spPr>
          <a:xfrm>
            <a:off x="8577072" y="2926080"/>
            <a:ext cx="1325880" cy="8229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Algoritmo de</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aprendizaje</a:t>
            </a:r>
            <a:endParaRPr lang="en-US" sz="1300" dirty="0"/>
          </a:p>
        </p:txBody>
      </p:sp>
      <p:sp>
        <p:nvSpPr>
          <p:cNvPr id="30" name="Shape 28"/>
          <p:cNvSpPr/>
          <p:nvPr/>
        </p:nvSpPr>
        <p:spPr>
          <a:xfrm>
            <a:off x="9994392" y="3337560"/>
            <a:ext cx="411480" cy="0"/>
          </a:xfrm>
          <a:prstGeom prst="line">
            <a:avLst/>
          </a:prstGeom>
          <a:noFill/>
          <a:ln w="19050">
            <a:solidFill>
              <a:srgbClr val="5B6B87"/>
            </a:solidFill>
            <a:prstDash val="solid"/>
            <a:tailEnd type="triangle"/>
          </a:ln>
        </p:spPr>
      </p:sp>
      <p:sp>
        <p:nvSpPr>
          <p:cNvPr id="31" name="Shape 29"/>
          <p:cNvSpPr/>
          <p:nvPr/>
        </p:nvSpPr>
        <p:spPr>
          <a:xfrm>
            <a:off x="10451592" y="3017520"/>
            <a:ext cx="1005840" cy="640080"/>
          </a:xfrm>
          <a:prstGeom prst="roundRect">
            <a:avLst>
              <a:gd name="adj" fmla="val 7143"/>
            </a:avLst>
          </a:prstGeom>
          <a:solidFill>
            <a:srgbClr val="FFFFFF"/>
          </a:solidFill>
          <a:ln w="19050">
            <a:solidFill>
              <a:srgbClr val="E6115E"/>
            </a:solidFill>
            <a:prstDash val="solid"/>
          </a:ln>
        </p:spPr>
      </p:sp>
      <p:sp>
        <p:nvSpPr>
          <p:cNvPr id="32" name="Text 30"/>
          <p:cNvSpPr txBox="1"/>
          <p:nvPr/>
        </p:nvSpPr>
        <p:spPr>
          <a:xfrm>
            <a:off x="10451592" y="3017520"/>
            <a:ext cx="1005840" cy="640080"/>
          </a:xfrm>
          <a:prstGeom prst="rect">
            <a:avLst/>
          </a:prstGeom>
          <a:noFill/>
          <a:ln/>
        </p:spPr>
        <p:txBody>
          <a:bodyPr wrap="square" lIns="0" tIns="0" rIns="0" bIns="0" rtlCol="0" anchor="ctr"/>
          <a:lstStyle/>
          <a:p>
            <a:pPr marL="0" indent="0" algn="ctr">
              <a:buNone/>
            </a:pPr>
            <a:r>
              <a:rPr lang="en-US" sz="1250" b="1" dirty="0">
                <a:solidFill>
                  <a:srgbClr val="E6115E"/>
                </a:solidFill>
                <a:latin typeface="Calibri" pitchFamily="34" charset="0"/>
                <a:ea typeface="Calibri" pitchFamily="34" charset="-122"/>
                <a:cs typeface="Calibri" pitchFamily="34" charset="-120"/>
              </a:rPr>
              <a:t>Reglas</a:t>
            </a:r>
            <a:endParaRPr lang="en-US" sz="1250" dirty="0"/>
          </a:p>
          <a:p>
            <a:pPr marL="0" indent="0" algn="ctr">
              <a:buNone/>
            </a:pPr>
            <a:r>
              <a:rPr lang="en-US" sz="1250" b="1" dirty="0">
                <a:solidFill>
                  <a:srgbClr val="E6115E"/>
                </a:solidFill>
                <a:latin typeface="Calibri" pitchFamily="34" charset="0"/>
                <a:ea typeface="Calibri" pitchFamily="34" charset="-122"/>
                <a:cs typeface="Calibri" pitchFamily="34" charset="-120"/>
              </a:rPr>
              <a:t>(modelo)</a:t>
            </a:r>
            <a:endParaRPr lang="en-US" sz="1250" dirty="0"/>
          </a:p>
        </p:txBody>
      </p:sp>
      <p:sp>
        <p:nvSpPr>
          <p:cNvPr id="33" name="Text 31"/>
          <p:cNvSpPr txBox="1"/>
          <p:nvPr/>
        </p:nvSpPr>
        <p:spPr>
          <a:xfrm>
            <a:off x="6473952" y="4133088"/>
            <a:ext cx="4937760" cy="320040"/>
          </a:xfrm>
          <a:prstGeom prst="rect">
            <a:avLst/>
          </a:prstGeom>
          <a:noFill/>
          <a:ln/>
        </p:spPr>
        <p:txBody>
          <a:bodyPr wrap="square" lIns="0" tIns="0" rIns="0" bIns="0" rtlCol="0" anchor="t"/>
          <a:lstStyle/>
          <a:p>
            <a:pPr marL="0" indent="0">
              <a:spcAft>
                <a:spcPts val="400"/>
              </a:spcAft>
              <a:buNone/>
            </a:pPr>
            <a:r>
              <a:rPr lang="en-US" sz="1150" i="1" dirty="0">
                <a:solidFill>
                  <a:srgbClr val="5B6B87"/>
                </a:solidFill>
                <a:latin typeface="Calibri" pitchFamily="34" charset="0"/>
                <a:ea typeface="Calibri" pitchFamily="34" charset="-122"/>
                <a:cs typeface="Calibri" pitchFamily="34" charset="-120"/>
              </a:rPr>
              <a:t>Tú das ejemplos resueltos; el algoritmo encuentra la regla.</a:t>
            </a:r>
            <a:endParaRPr lang="en-US" sz="1150" dirty="0"/>
          </a:p>
        </p:txBody>
      </p:sp>
      <p:sp>
        <p:nvSpPr>
          <p:cNvPr id="34" name="Shape 32"/>
          <p:cNvSpPr/>
          <p:nvPr/>
        </p:nvSpPr>
        <p:spPr>
          <a:xfrm>
            <a:off x="502920" y="4754880"/>
            <a:ext cx="11183112" cy="1463040"/>
          </a:xfrm>
          <a:prstGeom prst="roundRect">
            <a:avLst>
              <a:gd name="adj" fmla="val 3750"/>
            </a:avLst>
          </a:prstGeom>
          <a:solidFill>
            <a:srgbClr val="0A2559"/>
          </a:solidFill>
          <a:ln w="9525">
            <a:solidFill>
              <a:srgbClr val="0A2559"/>
            </a:solidFill>
            <a:prstDash val="solid"/>
          </a:ln>
        </p:spPr>
      </p:sp>
      <p:sp>
        <p:nvSpPr>
          <p:cNvPr id="35" name="Shape 33"/>
          <p:cNvSpPr/>
          <p:nvPr/>
        </p:nvSpPr>
        <p:spPr>
          <a:xfrm>
            <a:off x="731520" y="5001768"/>
            <a:ext cx="128016" cy="128016"/>
          </a:xfrm>
          <a:prstGeom prst="roundRect">
            <a:avLst>
              <a:gd name="adj" fmla="val 21429"/>
            </a:avLst>
          </a:prstGeom>
          <a:solidFill>
            <a:srgbClr val="E6115E"/>
          </a:solidFill>
          <a:ln w="12700">
            <a:solidFill>
              <a:srgbClr val="E6115E"/>
            </a:solidFill>
            <a:prstDash val="solid"/>
          </a:ln>
        </p:spPr>
      </p:sp>
      <p:sp>
        <p:nvSpPr>
          <p:cNvPr id="36" name="Text 34"/>
          <p:cNvSpPr txBox="1"/>
          <p:nvPr/>
        </p:nvSpPr>
        <p:spPr>
          <a:xfrm>
            <a:off x="960120" y="4892040"/>
            <a:ext cx="10543032" cy="3474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El mismo problema, visto de las dos formas</a:t>
            </a:r>
            <a:endParaRPr lang="en-US" sz="1400" dirty="0"/>
          </a:p>
        </p:txBody>
      </p:sp>
      <p:sp>
        <p:nvSpPr>
          <p:cNvPr id="37" name="Text 35"/>
          <p:cNvSpPr txBox="1"/>
          <p:nvPr/>
        </p:nvSpPr>
        <p:spPr>
          <a:xfrm>
            <a:off x="731520" y="5230368"/>
            <a:ext cx="10698480" cy="914400"/>
          </a:xfrm>
          <a:prstGeom prst="rect">
            <a:avLst/>
          </a:prstGeom>
          <a:noFill/>
          <a:ln/>
        </p:spPr>
        <p:txBody>
          <a:bodyPr wrap="square" lIns="0" tIns="0" rIns="0" bIns="0" rtlCol="0" anchor="t"/>
          <a:lstStyle/>
          <a:p>
            <a:pPr marL="0" indent="0">
              <a:spcAft>
                <a:spcPts val="400"/>
              </a:spcAft>
              <a:buNone/>
            </a:pPr>
            <a:r>
              <a:rPr lang="en-US" sz="1300" b="1" dirty="0">
                <a:solidFill>
                  <a:srgbClr val="FFFFFF"/>
                </a:solidFill>
                <a:latin typeface="Calibri" pitchFamily="34" charset="0"/>
                <a:ea typeface="Calibri" pitchFamily="34" charset="-122"/>
                <a:cs typeface="Calibri" pitchFamily="34" charset="-120"/>
              </a:rPr>
              <a:t>Tradicional: </a:t>
            </a:r>
            <a:r>
              <a:rPr lang="en-US" sz="1300" dirty="0">
                <a:solidFill>
                  <a:srgbClr val="C9D4EA"/>
                </a:solidFill>
                <a:latin typeface="Calibri" pitchFamily="34" charset="0"/>
                <a:ea typeface="Calibri" pitchFamily="34" charset="-122"/>
                <a:cs typeface="Calibri" pitchFamily="34" charset="-120"/>
              </a:rPr>
              <a:t>el analista escribe «si debe más del 50 % de su ingreso o tiene 3 atrasos, es riesgoso». ¿Por qué 50 y no 45? A ojo.</a:t>
            </a:r>
            <a:endParaRPr lang="en-US" sz="1300" dirty="0"/>
          </a:p>
          <a:p>
            <a:pPr marL="0" indent="0">
              <a:spcAft>
                <a:spcPts val="400"/>
              </a:spcAft>
              <a:buNone/>
            </a:pPr>
            <a:r>
              <a:rPr lang="en-US" sz="1300" b="1" dirty="0">
                <a:solidFill>
                  <a:srgbClr val="FFFFFF"/>
                </a:solidFill>
                <a:latin typeface="Calibri" pitchFamily="34" charset="0"/>
                <a:ea typeface="Calibri" pitchFamily="34" charset="-122"/>
                <a:cs typeface="Calibri" pitchFamily="34" charset="-120"/>
              </a:rPr>
              <a:t>ML: </a:t>
            </a:r>
            <a:r>
              <a:rPr lang="en-US" sz="1300" dirty="0">
                <a:solidFill>
                  <a:srgbClr val="C9D4EA"/>
                </a:solidFill>
                <a:latin typeface="Calibri" pitchFamily="34" charset="0"/>
                <a:ea typeface="Calibri" pitchFamily="34" charset="-122"/>
                <a:cs typeface="Calibri" pitchFamily="34" charset="-120"/>
              </a:rPr>
              <a:t>le damos 2 000 clientes con su historia de pago y el algoritmo decide qué variables mirar y dónde cortar.</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BLOQUE 1</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Aprender es mejorar con la experiencia</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La definición de Tom Mitchell (1997) sigue siendo la más clara: tres letras, T, E y P.</a:t>
            </a:r>
            <a:endParaRPr lang="en-US" sz="1400" dirty="0"/>
          </a:p>
        </p:txBody>
      </p:sp>
      <p:sp>
        <p:nvSpPr>
          <p:cNvPr id="6" name="Shape 4"/>
          <p:cNvSpPr/>
          <p:nvPr/>
        </p:nvSpPr>
        <p:spPr>
          <a:xfrm>
            <a:off x="502920" y="2103120"/>
            <a:ext cx="6583680" cy="1143000"/>
          </a:xfrm>
          <a:prstGeom prst="roundRect">
            <a:avLst>
              <a:gd name="adj" fmla="val 4800"/>
            </a:avLst>
          </a:prstGeom>
          <a:solidFill>
            <a:srgbClr val="0A2559"/>
          </a:solidFill>
          <a:ln w="9525">
            <a:solidFill>
              <a:srgbClr val="0A2559"/>
            </a:solidFill>
            <a:prstDash val="solid"/>
          </a:ln>
        </p:spPr>
      </p:sp>
      <p:sp>
        <p:nvSpPr>
          <p:cNvPr id="7" name="Text 5"/>
          <p:cNvSpPr txBox="1"/>
          <p:nvPr/>
        </p:nvSpPr>
        <p:spPr>
          <a:xfrm>
            <a:off x="777240" y="2194560"/>
            <a:ext cx="6126480" cy="960120"/>
          </a:xfrm>
          <a:prstGeom prst="rect">
            <a:avLst/>
          </a:prstGeom>
          <a:noFill/>
          <a:ln/>
        </p:spPr>
        <p:txBody>
          <a:bodyPr wrap="square" lIns="0" tIns="0" rIns="0" bIns="0"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Un programa aprende de la experiencia E, en una tarea T, medida con P, si su desempeño en T —medido con P— mejora con E.</a:t>
            </a:r>
            <a:endParaRPr lang="en-US" sz="15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 y="3474720"/>
          <a:ext cx="6583680" cy="914400"/>
        </p:xfrm>
        <a:graphic>
          <a:graphicData uri="http://schemas.openxmlformats.org/drawingml/2006/table">
            <a:tbl>
              <a:tblPr/>
              <a:tblGrid>
                <a:gridCol w="82296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3749040">
                  <a:extLst>
                    <a:ext uri="{9D8B030D-6E8A-4147-A177-3AD203B41FA5}">
                      <a16:colId xmlns:a16="http://schemas.microsoft.com/office/drawing/2014/main" val="20002"/>
                    </a:ext>
                  </a:extLst>
                </a:gridCol>
              </a:tblGrid>
              <a:tr h="40233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Letra</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Qué es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En detección de fraude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402336">
                <a:tc>
                  <a:txBody>
                    <a:bodyPr/>
                    <a:lstStyle/>
                    <a:p>
                      <a:pPr marL="0" indent="0">
                        <a:buNone/>
                      </a:pPr>
                      <a:r>
                        <a:rPr lang="en-US" sz="1150" b="1" dirty="0">
                          <a:solidFill>
                            <a:srgbClr val="E6115E"/>
                          </a:solidFill>
                          <a:latin typeface="Calibri" pitchFamily="34" charset="0"/>
                          <a:ea typeface="Calibri" pitchFamily="34" charset="-122"/>
                          <a:cs typeface="Calibri" pitchFamily="34" charset="-120"/>
                        </a:rPr>
                        <a:t>T</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la tarea</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decidir si una transacción es fraude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buNone/>
                      </a:pPr>
                      <a:r>
                        <a:rPr lang="en-US" sz="1150" b="1" dirty="0">
                          <a:solidFill>
                            <a:srgbClr val="E6115E"/>
                          </a:solidFill>
                          <a:latin typeface="Calibri" pitchFamily="34" charset="0"/>
                          <a:ea typeface="Calibri" pitchFamily="34" charset="-122"/>
                          <a:cs typeface="Calibri" pitchFamily="34" charset="-120"/>
                        </a:rPr>
                        <a:t>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la experiencia</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millones de transacciones pasadas, ya marcadas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2336">
                <a:tc>
                  <a:txBody>
                    <a:bodyPr/>
                    <a:lstStyle/>
                    <a:p>
                      <a:pPr marL="0" indent="0">
                        <a:buNone/>
                      </a:pPr>
                      <a:r>
                        <a:rPr lang="en-US" sz="1150" b="1" dirty="0">
                          <a:solidFill>
                            <a:srgbClr val="E6115E"/>
                          </a:solidFill>
                          <a:latin typeface="Calibri" pitchFamily="34" charset="0"/>
                          <a:ea typeface="Calibri" pitchFamily="34" charset="-122"/>
                          <a:cs typeface="Calibri" pitchFamily="34" charset="-120"/>
                        </a:rPr>
                        <a:t>P</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la medida de desempeño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de los fraudes reales, cuántos detecta</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9" name="Text 6"/>
          <p:cNvSpPr txBox="1"/>
          <p:nvPr/>
        </p:nvSpPr>
        <p:spPr>
          <a:xfrm>
            <a:off x="502920" y="5257800"/>
            <a:ext cx="6583680" cy="457200"/>
          </a:xfrm>
          <a:prstGeom prst="rect">
            <a:avLst/>
          </a:prstGeom>
          <a:noFill/>
          <a:ln/>
        </p:spPr>
        <p:txBody>
          <a:bodyPr wrap="square" lIns="0" tIns="0" rIns="0" bIns="0" rtlCol="0" anchor="t"/>
          <a:lstStyle/>
          <a:p>
            <a:pPr marL="0" indent="0">
              <a:spcAft>
                <a:spcPts val="400"/>
              </a:spcAft>
              <a:buNone/>
            </a:pPr>
            <a:r>
              <a:rPr lang="en-US" sz="1250" i="1" dirty="0">
                <a:solidFill>
                  <a:srgbClr val="5B6B87"/>
                </a:solidFill>
                <a:latin typeface="Calibri" pitchFamily="34" charset="0"/>
                <a:ea typeface="Calibri" pitchFamily="34" charset="-122"/>
                <a:cs typeface="Calibri" pitchFamily="34" charset="-120"/>
              </a:rPr>
              <a:t>Si no puedes nombrar las tres, todavía no tienes un problema de ML: tienes una idea.</a:t>
            </a:r>
            <a:endParaRPr lang="en-US" sz="1250" dirty="0"/>
          </a:p>
        </p:txBody>
      </p:sp>
      <p:sp>
        <p:nvSpPr>
          <p:cNvPr id="10" name="Shape 7"/>
          <p:cNvSpPr/>
          <p:nvPr/>
        </p:nvSpPr>
        <p:spPr>
          <a:xfrm>
            <a:off x="7360920" y="2103120"/>
            <a:ext cx="4325112" cy="4114800"/>
          </a:xfrm>
          <a:prstGeom prst="roundRect">
            <a:avLst>
              <a:gd name="adj" fmla="val 1333"/>
            </a:avLst>
          </a:prstGeom>
          <a:solidFill>
            <a:srgbClr val="FFFFFF"/>
          </a:solidFill>
          <a:ln w="9525">
            <a:solidFill>
              <a:srgbClr val="D2DBEC"/>
            </a:solidFill>
            <a:prstDash val="solid"/>
          </a:ln>
        </p:spPr>
      </p:sp>
      <p:sp>
        <p:nvSpPr>
          <p:cNvPr id="11" name="Shape 8"/>
          <p:cNvSpPr/>
          <p:nvPr/>
        </p:nvSpPr>
        <p:spPr>
          <a:xfrm>
            <a:off x="7589520" y="2350008"/>
            <a:ext cx="128016" cy="128016"/>
          </a:xfrm>
          <a:prstGeom prst="roundRect">
            <a:avLst>
              <a:gd name="adj" fmla="val 21429"/>
            </a:avLst>
          </a:prstGeom>
          <a:solidFill>
            <a:srgbClr val="E6115E"/>
          </a:solidFill>
          <a:ln w="12700">
            <a:solidFill>
              <a:srgbClr val="E6115E"/>
            </a:solidFill>
            <a:prstDash val="solid"/>
          </a:ln>
        </p:spPr>
      </p:sp>
      <p:sp>
        <p:nvSpPr>
          <p:cNvPr id="12" name="Text 9"/>
          <p:cNvSpPr txBox="1"/>
          <p:nvPr/>
        </p:nvSpPr>
        <p:spPr>
          <a:xfrm>
            <a:off x="7818120" y="2240280"/>
            <a:ext cx="3685032"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Caso real · IBM, 1959</a:t>
            </a:r>
            <a:endParaRPr lang="en-US" sz="1400" dirty="0"/>
          </a:p>
        </p:txBody>
      </p:sp>
      <p:sp>
        <p:nvSpPr>
          <p:cNvPr id="13" name="Text 10"/>
          <p:cNvSpPr txBox="1"/>
          <p:nvPr/>
        </p:nvSpPr>
        <p:spPr>
          <a:xfrm>
            <a:off x="7589520" y="2651760"/>
            <a:ext cx="3840480" cy="594360"/>
          </a:xfrm>
          <a:prstGeom prst="rect">
            <a:avLst/>
          </a:prstGeom>
          <a:noFill/>
          <a:ln/>
        </p:spPr>
        <p:txBody>
          <a:bodyPr wrap="square" lIns="0" tIns="0" rIns="0" bIns="0" rtlCol="0" anchor="ctr"/>
          <a:lstStyle/>
          <a:p>
            <a:pPr marL="0" indent="0">
              <a:buNone/>
            </a:pPr>
            <a:r>
              <a:rPr lang="en-US" sz="3600" b="1" dirty="0">
                <a:solidFill>
                  <a:srgbClr val="1A56E8"/>
                </a:solidFill>
                <a:latin typeface="Calibri" pitchFamily="34" charset="0"/>
                <a:ea typeface="Calibri" pitchFamily="34" charset="-122"/>
                <a:cs typeface="Calibri" pitchFamily="34" charset="-120"/>
              </a:rPr>
              <a:t>damas</a:t>
            </a:r>
            <a:endParaRPr lang="en-US" sz="3600" dirty="0"/>
          </a:p>
        </p:txBody>
      </p:sp>
      <p:sp>
        <p:nvSpPr>
          <p:cNvPr id="14" name="Text 11"/>
          <p:cNvSpPr txBox="1"/>
          <p:nvPr/>
        </p:nvSpPr>
        <p:spPr>
          <a:xfrm>
            <a:off x="7589520" y="3291840"/>
            <a:ext cx="3886200" cy="2651760"/>
          </a:xfrm>
          <a:prstGeom prst="rect">
            <a:avLst/>
          </a:prstGeom>
          <a:noFill/>
          <a:ln/>
        </p:spPr>
        <p:txBody>
          <a:bodyPr wrap="square" lIns="0" tIns="0" rIns="0" bIns="0" rtlCol="0" anchor="t"/>
          <a:lstStyle/>
          <a:p>
            <a:pPr marL="0" indent="0">
              <a:spcAft>
                <a:spcPts val="400"/>
              </a:spcAft>
              <a:buNone/>
            </a:pPr>
            <a:r>
              <a:rPr lang="en-US" sz="1250" dirty="0">
                <a:solidFill>
                  <a:srgbClr val="2C3A55"/>
                </a:solidFill>
                <a:latin typeface="Calibri" pitchFamily="34" charset="0"/>
                <a:ea typeface="Calibri" pitchFamily="34" charset="-122"/>
                <a:cs typeface="Calibri" pitchFamily="34" charset="-120"/>
              </a:rPr>
              <a:t>Arthur Samuel programó en una IBM 701 un jugador de damas que mejoraba jugando partidas, incluso contra sí mismo.</a:t>
            </a:r>
            <a:endParaRPr lang="en-US" sz="1250" dirty="0"/>
          </a:p>
          <a:p>
            <a:pPr marL="0" indent="0">
              <a:spcAft>
                <a:spcPts val="400"/>
              </a:spcAft>
              <a:buNone/>
            </a:pPr>
            <a:r>
              <a:rPr lang="en-US" sz="600" dirty="0">
                <a:solidFill>
                  <a:srgbClr val="2C3A55"/>
                </a:solidFill>
                <a:latin typeface="Calibri" pitchFamily="34" charset="0"/>
                <a:ea typeface="Calibri" pitchFamily="34" charset="-122"/>
                <a:cs typeface="Calibri" pitchFamily="34" charset="-120"/>
              </a:rPr>
              <a:t> </a:t>
            </a:r>
            <a:endParaRPr lang="en-US" sz="1250" dirty="0"/>
          </a:p>
          <a:p>
            <a:pPr marL="0" indent="0">
              <a:spcAft>
                <a:spcPts val="400"/>
              </a:spcAft>
              <a:buNone/>
            </a:pPr>
            <a:r>
              <a:rPr lang="en-US" sz="1250" dirty="0">
                <a:solidFill>
                  <a:srgbClr val="2C3A55"/>
                </a:solidFill>
                <a:latin typeface="Calibri" pitchFamily="34" charset="0"/>
                <a:ea typeface="Calibri" pitchFamily="34" charset="-122"/>
                <a:cs typeface="Calibri" pitchFamily="34" charset="-120"/>
              </a:rPr>
              <a:t>Su conclusión: se puede programar una computadora para que aprenda a jugar mejor que la persona que escribió el programa.</a:t>
            </a:r>
            <a:endParaRPr lang="en-US" sz="1250" dirty="0"/>
          </a:p>
          <a:p>
            <a:pPr marL="0" indent="0">
              <a:spcAft>
                <a:spcPts val="400"/>
              </a:spcAft>
              <a:buNone/>
            </a:pPr>
            <a:r>
              <a:rPr lang="en-US" sz="600" dirty="0">
                <a:solidFill>
                  <a:srgbClr val="2C3A55"/>
                </a:solidFill>
                <a:latin typeface="Calibri" pitchFamily="34" charset="0"/>
                <a:ea typeface="Calibri" pitchFamily="34" charset="-122"/>
                <a:cs typeface="Calibri" pitchFamily="34" charset="-120"/>
              </a:rPr>
              <a:t> </a:t>
            </a:r>
            <a:endParaRPr lang="en-US" sz="1250" dirty="0"/>
          </a:p>
          <a:p>
            <a:pPr marL="0" indent="0">
              <a:spcAft>
                <a:spcPts val="400"/>
              </a:spcAft>
              <a:buNone/>
            </a:pPr>
            <a:r>
              <a:rPr lang="en-US" sz="1250" b="1" dirty="0">
                <a:solidFill>
                  <a:srgbClr val="0A2559"/>
                </a:solidFill>
                <a:latin typeface="Calibri" pitchFamily="34" charset="0"/>
                <a:ea typeface="Calibri" pitchFamily="34" charset="-122"/>
                <a:cs typeface="Calibri" pitchFamily="34" charset="-120"/>
              </a:rPr>
              <a:t>Es de las primeras veces que se usó el término «machine learning».</a:t>
            </a:r>
            <a:endParaRPr lang="en-US" sz="1250" dirty="0"/>
          </a:p>
        </p:txBody>
      </p:sp>
      <p:sp>
        <p:nvSpPr>
          <p:cNvPr id="15" name="Text 12"/>
          <p:cNvSpPr txBox="1"/>
          <p:nvPr/>
        </p:nvSpPr>
        <p:spPr>
          <a:xfrm>
            <a:off x="502920" y="6419088"/>
            <a:ext cx="11155680" cy="274320"/>
          </a:xfrm>
          <a:prstGeom prst="rect">
            <a:avLst/>
          </a:prstGeom>
          <a:noFill/>
          <a:ln/>
        </p:spPr>
        <p:txBody>
          <a:bodyPr wrap="square" lIns="0" tIns="0" rIns="0" bIns="0" rtlCol="0" anchor="ctr"/>
          <a:lstStyle/>
          <a:p>
            <a:pPr marL="0" indent="0">
              <a:buNone/>
            </a:pPr>
            <a:r>
              <a:rPr lang="en-US" sz="950" i="1" dirty="0">
                <a:solidFill>
                  <a:srgbClr val="5B6B87"/>
                </a:solidFill>
                <a:latin typeface="Calibri" pitchFamily="34" charset="0"/>
                <a:ea typeface="Calibri" pitchFamily="34" charset="-122"/>
                <a:cs typeface="Calibri" pitchFamily="34" charset="-120"/>
              </a:rPr>
              <a:t>Mitchell, T. (1997). Machine Learning. McGraw-Hill, cap. 1 · Samuel, A. L. (1959). Some studies in machine learning using the game of checkers. IBM Journal of Research and Development, 3(3), 210–229.</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BLOQUE 1</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Tres formas de decidir quién cae en mora</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Nuestros datos de hoy: 2 000 clientes simulados. Cayó en mora el 19.8 %.</a:t>
            </a:r>
            <a:endParaRPr lang="en-US" sz="1400" dirty="0"/>
          </a:p>
        </p:txBody>
      </p:sp>
      <p:sp>
        <p:nvSpPr>
          <p:cNvPr id="6" name="Shape 4"/>
          <p:cNvSpPr/>
          <p:nvPr/>
        </p:nvSpPr>
        <p:spPr>
          <a:xfrm>
            <a:off x="502920" y="2103120"/>
            <a:ext cx="6583680" cy="2697480"/>
          </a:xfrm>
          <a:prstGeom prst="roundRect">
            <a:avLst>
              <a:gd name="adj" fmla="val 2034"/>
            </a:avLst>
          </a:prstGeom>
          <a:solidFill>
            <a:srgbClr val="FFFFFF"/>
          </a:solidFill>
          <a:ln w="9525">
            <a:solidFill>
              <a:srgbClr val="D2DBEC"/>
            </a:solidFill>
            <a:prstDash val="solid"/>
          </a:ln>
        </p:spPr>
      </p:sp>
      <p:sp>
        <p:nvSpPr>
          <p:cNvPr id="7" name="Shape 5"/>
          <p:cNvSpPr/>
          <p:nvPr/>
        </p:nvSpPr>
        <p:spPr>
          <a:xfrm>
            <a:off x="731520" y="2350008"/>
            <a:ext cx="128016" cy="128016"/>
          </a:xfrm>
          <a:prstGeom prst="roundRect">
            <a:avLst>
              <a:gd name="adj" fmla="val 21429"/>
            </a:avLst>
          </a:prstGeom>
          <a:solidFill>
            <a:srgbClr val="E6115E"/>
          </a:solidFill>
          <a:ln w="12700">
            <a:solidFill>
              <a:srgbClr val="E6115E"/>
            </a:solidFill>
            <a:prstDash val="solid"/>
          </a:ln>
        </p:spPr>
      </p:sp>
      <p:sp>
        <p:nvSpPr>
          <p:cNvPr id="8" name="Text 6"/>
          <p:cNvSpPr txBox="1"/>
          <p:nvPr/>
        </p:nvSpPr>
        <p:spPr>
          <a:xfrm>
            <a:off x="960120" y="2240280"/>
            <a:ext cx="5943600"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Exactitud: qué proporción de clientes clasifica bien</a:t>
            </a:r>
            <a:endParaRPr lang="en-US" sz="1400" dirty="0"/>
          </a:p>
        </p:txBody>
      </p:sp>
      <p:sp>
        <p:nvSpPr>
          <p:cNvPr id="9" name="Text 7"/>
          <p:cNvSpPr txBox="1"/>
          <p:nvPr/>
        </p:nvSpPr>
        <p:spPr>
          <a:xfrm>
            <a:off x="731520" y="2697480"/>
            <a:ext cx="2240280" cy="457200"/>
          </a:xfrm>
          <a:prstGeom prst="rect">
            <a:avLst/>
          </a:prstGeom>
          <a:noFill/>
          <a:ln/>
        </p:spPr>
        <p:txBody>
          <a:bodyPr wrap="square" lIns="0" tIns="0" rIns="0" bIns="0" rtlCol="0" anchor="ctr"/>
          <a:lstStyle/>
          <a:p>
            <a:pPr marL="0" indent="0">
              <a:buNone/>
            </a:pPr>
            <a:r>
              <a:rPr lang="en-US" sz="1250" dirty="0">
                <a:solidFill>
                  <a:srgbClr val="2C3A55"/>
                </a:solidFill>
                <a:latin typeface="Calibri" pitchFamily="34" charset="0"/>
                <a:ea typeface="Calibri" pitchFamily="34" charset="-122"/>
                <a:cs typeface="Calibri" pitchFamily="34" charset="-120"/>
              </a:rPr>
              <a:t>Siempre «no cae»</a:t>
            </a:r>
            <a:endParaRPr lang="en-US" sz="1250" dirty="0"/>
          </a:p>
        </p:txBody>
      </p:sp>
      <p:sp>
        <p:nvSpPr>
          <p:cNvPr id="10" name="Shape 8"/>
          <p:cNvSpPr/>
          <p:nvPr/>
        </p:nvSpPr>
        <p:spPr>
          <a:xfrm>
            <a:off x="3063240" y="2752344"/>
            <a:ext cx="1141171" cy="347472"/>
          </a:xfrm>
          <a:prstGeom prst="rect">
            <a:avLst/>
          </a:prstGeom>
          <a:solidFill>
            <a:srgbClr val="8A97AD"/>
          </a:solidFill>
          <a:ln w="12700">
            <a:solidFill>
              <a:srgbClr val="8A97AD"/>
            </a:solidFill>
            <a:prstDash val="solid"/>
          </a:ln>
        </p:spPr>
      </p:sp>
      <p:sp>
        <p:nvSpPr>
          <p:cNvPr id="11" name="Text 9"/>
          <p:cNvSpPr txBox="1"/>
          <p:nvPr/>
        </p:nvSpPr>
        <p:spPr>
          <a:xfrm>
            <a:off x="4295851" y="2697480"/>
            <a:ext cx="731520" cy="457200"/>
          </a:xfrm>
          <a:prstGeom prst="rect">
            <a:avLst/>
          </a:prstGeom>
          <a:noFill/>
          <a:ln/>
        </p:spPr>
        <p:txBody>
          <a:bodyPr wrap="square" lIns="0" tIns="0" rIns="0" bIns="0" rtlCol="0" anchor="ctr"/>
          <a:lstStyle/>
          <a:p>
            <a:pPr marL="0" indent="0">
              <a:buNone/>
            </a:pPr>
            <a:r>
              <a:rPr lang="en-US" sz="1400" b="1" dirty="0">
                <a:solidFill>
                  <a:srgbClr val="5B6B87"/>
                </a:solidFill>
                <a:latin typeface="Calibri" pitchFamily="34" charset="0"/>
                <a:ea typeface="Calibri" pitchFamily="34" charset="-122"/>
                <a:cs typeface="Calibri" pitchFamily="34" charset="-120"/>
              </a:rPr>
              <a:t>0.802</a:t>
            </a:r>
            <a:endParaRPr lang="en-US" sz="1400" dirty="0"/>
          </a:p>
        </p:txBody>
      </p:sp>
      <p:sp>
        <p:nvSpPr>
          <p:cNvPr id="12" name="Text 10"/>
          <p:cNvSpPr txBox="1"/>
          <p:nvPr/>
        </p:nvSpPr>
        <p:spPr>
          <a:xfrm>
            <a:off x="731520" y="3355848"/>
            <a:ext cx="2240280" cy="457200"/>
          </a:xfrm>
          <a:prstGeom prst="rect">
            <a:avLst/>
          </a:prstGeom>
          <a:noFill/>
          <a:ln/>
        </p:spPr>
        <p:txBody>
          <a:bodyPr wrap="square" lIns="0" tIns="0" rIns="0" bIns="0" rtlCol="0" anchor="ctr"/>
          <a:lstStyle/>
          <a:p>
            <a:pPr marL="0" indent="0">
              <a:buNone/>
            </a:pPr>
            <a:r>
              <a:rPr lang="en-US" sz="1250" dirty="0">
                <a:solidFill>
                  <a:srgbClr val="2C3A55"/>
                </a:solidFill>
                <a:latin typeface="Calibri" pitchFamily="34" charset="0"/>
                <a:ea typeface="Calibri" pitchFamily="34" charset="-122"/>
                <a:cs typeface="Calibri" pitchFamily="34" charset="-120"/>
              </a:rPr>
              <a:t>Regla del analista</a:t>
            </a:r>
            <a:endParaRPr lang="en-US" sz="1250" dirty="0"/>
          </a:p>
        </p:txBody>
      </p:sp>
      <p:sp>
        <p:nvSpPr>
          <p:cNvPr id="13" name="Shape 11"/>
          <p:cNvSpPr/>
          <p:nvPr/>
        </p:nvSpPr>
        <p:spPr>
          <a:xfrm>
            <a:off x="3063240" y="3410712"/>
            <a:ext cx="1997050" cy="347472"/>
          </a:xfrm>
          <a:prstGeom prst="rect">
            <a:avLst/>
          </a:prstGeom>
          <a:solidFill>
            <a:srgbClr val="1A56E8"/>
          </a:solidFill>
          <a:ln w="12700">
            <a:solidFill>
              <a:srgbClr val="1A56E8"/>
            </a:solidFill>
            <a:prstDash val="solid"/>
          </a:ln>
        </p:spPr>
      </p:sp>
      <p:sp>
        <p:nvSpPr>
          <p:cNvPr id="14" name="Text 12"/>
          <p:cNvSpPr txBox="1"/>
          <p:nvPr/>
        </p:nvSpPr>
        <p:spPr>
          <a:xfrm>
            <a:off x="5151730" y="3355848"/>
            <a:ext cx="731520" cy="457200"/>
          </a:xfrm>
          <a:prstGeom prst="rect">
            <a:avLst/>
          </a:prstGeom>
          <a:noFill/>
          <a:ln/>
        </p:spPr>
        <p:txBody>
          <a:bodyPr wrap="square" lIns="0" tIns="0" rIns="0" bIns="0" rtlCol="0" anchor="ctr"/>
          <a:lstStyle/>
          <a:p>
            <a:pPr marL="0" indent="0">
              <a:buNone/>
            </a:pPr>
            <a:r>
              <a:rPr lang="en-US" sz="1400" b="1" dirty="0">
                <a:solidFill>
                  <a:srgbClr val="1A56E8"/>
                </a:solidFill>
                <a:latin typeface="Calibri" pitchFamily="34" charset="0"/>
                <a:ea typeface="Calibri" pitchFamily="34" charset="-122"/>
                <a:cs typeface="Calibri" pitchFamily="34" charset="-120"/>
              </a:rPr>
              <a:t>0.841</a:t>
            </a:r>
            <a:endParaRPr lang="en-US" sz="1400" dirty="0"/>
          </a:p>
        </p:txBody>
      </p:sp>
      <p:sp>
        <p:nvSpPr>
          <p:cNvPr id="15" name="Text 13"/>
          <p:cNvSpPr txBox="1"/>
          <p:nvPr/>
        </p:nvSpPr>
        <p:spPr>
          <a:xfrm>
            <a:off x="731520" y="4014216"/>
            <a:ext cx="2240280" cy="457200"/>
          </a:xfrm>
          <a:prstGeom prst="rect">
            <a:avLst/>
          </a:prstGeom>
          <a:noFill/>
          <a:ln/>
        </p:spPr>
        <p:txBody>
          <a:bodyPr wrap="square" lIns="0" tIns="0" rIns="0" bIns="0" rtlCol="0" anchor="ctr"/>
          <a:lstStyle/>
          <a:p>
            <a:pPr marL="0" indent="0">
              <a:buNone/>
            </a:pPr>
            <a:r>
              <a:rPr lang="en-US" sz="1250" dirty="0">
                <a:solidFill>
                  <a:srgbClr val="2C3A55"/>
                </a:solidFill>
                <a:latin typeface="Calibri" pitchFamily="34" charset="0"/>
                <a:ea typeface="Calibri" pitchFamily="34" charset="-122"/>
                <a:cs typeface="Calibri" pitchFamily="34" charset="-120"/>
              </a:rPr>
              <a:t>Árbol de decisión (aprendido)</a:t>
            </a:r>
            <a:endParaRPr lang="en-US" sz="1250" dirty="0"/>
          </a:p>
        </p:txBody>
      </p:sp>
      <p:sp>
        <p:nvSpPr>
          <p:cNvPr id="16" name="Shape 14"/>
          <p:cNvSpPr/>
          <p:nvPr/>
        </p:nvSpPr>
        <p:spPr>
          <a:xfrm>
            <a:off x="3063240" y="4069080"/>
            <a:ext cx="2633472" cy="347472"/>
          </a:xfrm>
          <a:prstGeom prst="rect">
            <a:avLst/>
          </a:prstGeom>
          <a:solidFill>
            <a:srgbClr val="E6115E"/>
          </a:solidFill>
          <a:ln w="12700">
            <a:solidFill>
              <a:srgbClr val="E6115E"/>
            </a:solidFill>
            <a:prstDash val="solid"/>
          </a:ln>
        </p:spPr>
      </p:sp>
      <p:sp>
        <p:nvSpPr>
          <p:cNvPr id="17" name="Text 15"/>
          <p:cNvSpPr txBox="1"/>
          <p:nvPr/>
        </p:nvSpPr>
        <p:spPr>
          <a:xfrm>
            <a:off x="5788152" y="4014216"/>
            <a:ext cx="731520" cy="457200"/>
          </a:xfrm>
          <a:prstGeom prst="rect">
            <a:avLst/>
          </a:prstGeom>
          <a:noFill/>
          <a:ln/>
        </p:spPr>
        <p:txBody>
          <a:bodyPr wrap="square" lIns="0" tIns="0" rIns="0" bIns="0" rtlCol="0" anchor="ctr"/>
          <a:lstStyle/>
          <a:p>
            <a:pPr marL="0" indent="0">
              <a:buNone/>
            </a:pPr>
            <a:r>
              <a:rPr lang="en-US" sz="1400" b="1" dirty="0">
                <a:solidFill>
                  <a:srgbClr val="E6115E"/>
                </a:solidFill>
                <a:latin typeface="Calibri" pitchFamily="34" charset="0"/>
                <a:ea typeface="Calibri" pitchFamily="34" charset="-122"/>
                <a:cs typeface="Calibri" pitchFamily="34" charset="-120"/>
              </a:rPr>
              <a:t>0.870</a:t>
            </a:r>
            <a:endParaRPr lang="en-US" sz="1400" dirty="0"/>
          </a:p>
        </p:txBody>
      </p:sp>
      <p:sp>
        <p:nvSpPr>
          <p:cNvPr id="18" name="Text 16"/>
          <p:cNvSpPr txBox="1"/>
          <p:nvPr/>
        </p:nvSpPr>
        <p:spPr>
          <a:xfrm>
            <a:off x="731520" y="4480560"/>
            <a:ext cx="6217920" cy="274320"/>
          </a:xfrm>
          <a:prstGeom prst="rect">
            <a:avLst/>
          </a:prstGeom>
          <a:noFill/>
          <a:ln/>
        </p:spPr>
        <p:txBody>
          <a:bodyPr wrap="square" lIns="0" tIns="0" rIns="0" bIns="0" rtlCol="0" anchor="t"/>
          <a:lstStyle/>
          <a:p>
            <a:pPr marL="0" indent="0">
              <a:spcAft>
                <a:spcPts val="400"/>
              </a:spcAft>
              <a:buNone/>
            </a:pPr>
            <a:r>
              <a:rPr lang="en-US" sz="1050" i="1" dirty="0">
                <a:solidFill>
                  <a:srgbClr val="5B6B87"/>
                </a:solidFill>
                <a:latin typeface="Calibri" pitchFamily="34" charset="0"/>
                <a:ea typeface="Calibri" pitchFamily="34" charset="-122"/>
                <a:cs typeface="Calibri" pitchFamily="34" charset="-120"/>
              </a:rPr>
              <a:t>El eje empieza en 0.75: las diferencias son de pocos puntos, pero en una cartera grande son muchos clientes.</a:t>
            </a:r>
            <a:endParaRPr lang="en-US" sz="1050" dirty="0"/>
          </a:p>
        </p:txBody>
      </p:sp>
      <p:sp>
        <p:nvSpPr>
          <p:cNvPr id="19" name="Shape 17"/>
          <p:cNvSpPr/>
          <p:nvPr/>
        </p:nvSpPr>
        <p:spPr>
          <a:xfrm>
            <a:off x="7360920" y="2103120"/>
            <a:ext cx="4325112" cy="2697480"/>
          </a:xfrm>
          <a:prstGeom prst="roundRect">
            <a:avLst>
              <a:gd name="adj" fmla="val 2034"/>
            </a:avLst>
          </a:prstGeom>
          <a:solidFill>
            <a:srgbClr val="E9EEF8"/>
          </a:solidFill>
          <a:ln w="9525">
            <a:solidFill>
              <a:srgbClr val="D2DBEC"/>
            </a:solidFill>
            <a:prstDash val="solid"/>
          </a:ln>
        </p:spPr>
      </p:sp>
      <p:sp>
        <p:nvSpPr>
          <p:cNvPr id="20" name="Shape 18"/>
          <p:cNvSpPr/>
          <p:nvPr/>
        </p:nvSpPr>
        <p:spPr>
          <a:xfrm>
            <a:off x="7589520" y="2350008"/>
            <a:ext cx="128016" cy="128016"/>
          </a:xfrm>
          <a:prstGeom prst="roundRect">
            <a:avLst>
              <a:gd name="adj" fmla="val 21429"/>
            </a:avLst>
          </a:prstGeom>
          <a:solidFill>
            <a:srgbClr val="1A56E8"/>
          </a:solidFill>
          <a:ln w="12700">
            <a:solidFill>
              <a:srgbClr val="1A56E8"/>
            </a:solidFill>
            <a:prstDash val="solid"/>
          </a:ln>
        </p:spPr>
      </p:sp>
      <p:sp>
        <p:nvSpPr>
          <p:cNvPr id="21" name="Text 19"/>
          <p:cNvSpPr txBox="1"/>
          <p:nvPr/>
        </p:nvSpPr>
        <p:spPr>
          <a:xfrm>
            <a:off x="7818120" y="2240280"/>
            <a:ext cx="3685032"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La regla que encontró el árbol</a:t>
            </a:r>
            <a:endParaRPr lang="en-US" sz="1400" dirty="0"/>
          </a:p>
        </p:txBody>
      </p:sp>
      <p:sp>
        <p:nvSpPr>
          <p:cNvPr id="22" name="Text 20"/>
          <p:cNvSpPr txBox="1"/>
          <p:nvPr/>
        </p:nvSpPr>
        <p:spPr>
          <a:xfrm>
            <a:off x="7589520" y="2651760"/>
            <a:ext cx="3886200" cy="2011680"/>
          </a:xfrm>
          <a:prstGeom prst="rect">
            <a:avLst/>
          </a:prstGeom>
          <a:noFill/>
          <a:ln/>
        </p:spPr>
        <p:txBody>
          <a:bodyPr wrap="square" lIns="0" tIns="0" rIns="0" bIns="0" rtlCol="0" anchor="t"/>
          <a:lstStyle/>
          <a:p>
            <a:pPr marL="0" indent="0">
              <a:spcAft>
                <a:spcPts val="400"/>
              </a:spcAft>
              <a:buNone/>
            </a:pPr>
            <a:r>
              <a:rPr lang="en-US" sz="1300" b="1" dirty="0">
                <a:solidFill>
                  <a:srgbClr val="0A2559"/>
                </a:solidFill>
                <a:latin typeface="Calibri" pitchFamily="34" charset="0"/>
                <a:ea typeface="Calibri" pitchFamily="34" charset="-122"/>
                <a:cs typeface="Calibri" pitchFamily="34" charset="-120"/>
              </a:rPr>
              <a:t>Si ratio_deuda &gt; 0.47</a:t>
            </a:r>
            <a:endParaRPr lang="en-US" sz="1300" dirty="0"/>
          </a:p>
          <a:p>
            <a:pPr marL="0" indent="0">
              <a:spcAft>
                <a:spcPts val="400"/>
              </a:spcAft>
              <a:buNone/>
            </a:pPr>
            <a:r>
              <a:rPr lang="en-US" sz="1300" b="1" dirty="0">
                <a:solidFill>
                  <a:srgbClr val="0A2559"/>
                </a:solidFill>
                <a:latin typeface="Calibri" pitchFamily="34" charset="0"/>
                <a:ea typeface="Calibri" pitchFamily="34" charset="-122"/>
                <a:cs typeface="Calibri" pitchFamily="34" charset="-120"/>
              </a:rPr>
              <a:t>y atrasos_12m ≥ 1</a:t>
            </a:r>
            <a:endParaRPr lang="en-US" sz="1300" dirty="0"/>
          </a:p>
          <a:p>
            <a:pPr marL="0" indent="0">
              <a:spcAft>
                <a:spcPts val="400"/>
              </a:spcAft>
              <a:buNone/>
            </a:pPr>
            <a:r>
              <a:rPr lang="en-US" sz="1300" b="1" dirty="0">
                <a:solidFill>
                  <a:srgbClr val="E6115E"/>
                </a:solidFill>
                <a:latin typeface="Calibri" pitchFamily="34" charset="0"/>
                <a:ea typeface="Calibri" pitchFamily="34" charset="-122"/>
                <a:cs typeface="Calibri" pitchFamily="34" charset="-120"/>
              </a:rPr>
              <a:t>→ cae en mora</a:t>
            </a:r>
            <a:endParaRPr lang="en-US" sz="1300" dirty="0"/>
          </a:p>
          <a:p>
            <a:pPr marL="0" indent="0">
              <a:spcAft>
                <a:spcPts val="400"/>
              </a:spcAft>
              <a:buNone/>
            </a:pPr>
            <a:r>
              <a:rPr lang="en-US" sz="600" dirty="0">
                <a:solidFill>
                  <a:srgbClr val="2C3A55"/>
                </a:solidFill>
                <a:latin typeface="Calibri" pitchFamily="34" charset="0"/>
                <a:ea typeface="Calibri" pitchFamily="34" charset="-122"/>
                <a:cs typeface="Calibri" pitchFamily="34" charset="-120"/>
              </a:rPr>
              <a:t> </a:t>
            </a:r>
            <a:endParaRPr lang="en-US" sz="1300" dirty="0"/>
          </a:p>
          <a:p>
            <a:pPr marL="0" indent="0">
              <a:spcAft>
                <a:spcPts val="400"/>
              </a:spcAft>
              <a:buNone/>
            </a:pPr>
            <a:r>
              <a:rPr lang="en-US" sz="1300" dirty="0">
                <a:solidFill>
                  <a:srgbClr val="2C3A55"/>
                </a:solidFill>
                <a:latin typeface="Calibri" pitchFamily="34" charset="0"/>
                <a:ea typeface="Calibri" pitchFamily="34" charset="-122"/>
                <a:cs typeface="Calibri" pitchFamily="34" charset="-120"/>
              </a:rPr>
              <a:t>Nadie le dijo qué mirar. Encontró el corte en 0.47 (no en 0.50) y que con deuda alta basta UN atraso.</a:t>
            </a:r>
            <a:endParaRPr lang="en-US" sz="1300" dirty="0"/>
          </a:p>
        </p:txBody>
      </p:sp>
      <p:sp>
        <p:nvSpPr>
          <p:cNvPr id="23" name="Shape 21"/>
          <p:cNvSpPr/>
          <p:nvPr/>
        </p:nvSpPr>
        <p:spPr>
          <a:xfrm>
            <a:off x="502920" y="5029200"/>
            <a:ext cx="11183112" cy="1188720"/>
          </a:xfrm>
          <a:prstGeom prst="roundRect">
            <a:avLst>
              <a:gd name="adj" fmla="val 4615"/>
            </a:avLst>
          </a:prstGeom>
          <a:solidFill>
            <a:srgbClr val="E6115E"/>
          </a:solidFill>
          <a:ln w="9525">
            <a:solidFill>
              <a:srgbClr val="E6115E"/>
            </a:solidFill>
            <a:prstDash val="solid"/>
          </a:ln>
        </p:spPr>
      </p:sp>
      <p:sp>
        <p:nvSpPr>
          <p:cNvPr id="24" name="Shape 22"/>
          <p:cNvSpPr/>
          <p:nvPr/>
        </p:nvSpPr>
        <p:spPr>
          <a:xfrm>
            <a:off x="731520" y="5276088"/>
            <a:ext cx="128016" cy="128016"/>
          </a:xfrm>
          <a:prstGeom prst="roundRect">
            <a:avLst>
              <a:gd name="adj" fmla="val 21429"/>
            </a:avLst>
          </a:prstGeom>
          <a:solidFill>
            <a:srgbClr val="FFFFFF"/>
          </a:solidFill>
          <a:ln w="12700">
            <a:solidFill>
              <a:srgbClr val="FFFFFF"/>
            </a:solidFill>
            <a:prstDash val="solid"/>
          </a:ln>
        </p:spPr>
      </p:sp>
      <p:sp>
        <p:nvSpPr>
          <p:cNvPr id="25" name="Text 23"/>
          <p:cNvSpPr txBox="1"/>
          <p:nvPr/>
        </p:nvSpPr>
        <p:spPr>
          <a:xfrm>
            <a:off x="960120" y="5166360"/>
            <a:ext cx="10543032" cy="3474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Pero hicimos trampa</a:t>
            </a:r>
            <a:endParaRPr lang="en-US" sz="1400" dirty="0"/>
          </a:p>
        </p:txBody>
      </p:sp>
      <p:sp>
        <p:nvSpPr>
          <p:cNvPr id="26" name="Text 24"/>
          <p:cNvSpPr txBox="1"/>
          <p:nvPr/>
        </p:nvSpPr>
        <p:spPr>
          <a:xfrm>
            <a:off x="731520" y="5504688"/>
            <a:ext cx="10698480" cy="640080"/>
          </a:xfrm>
          <a:prstGeom prst="rect">
            <a:avLst/>
          </a:prstGeom>
          <a:noFill/>
          <a:ln/>
        </p:spPr>
        <p:txBody>
          <a:bodyPr wrap="square" lIns="0" tIns="0" rIns="0" bIns="0" rtlCol="0" anchor="t"/>
          <a:lstStyle/>
          <a:p>
            <a:pPr marL="0" indent="0">
              <a:spcAft>
                <a:spcPts val="400"/>
              </a:spcAft>
              <a:buNone/>
            </a:pPr>
            <a:r>
              <a:rPr lang="en-US" sz="1300" dirty="0">
                <a:solidFill>
                  <a:srgbClr val="FFFFFF"/>
                </a:solidFill>
                <a:latin typeface="Calibri" pitchFamily="34" charset="0"/>
                <a:ea typeface="Calibri" pitchFamily="34" charset="-122"/>
                <a:cs typeface="Calibri" pitchFamily="34" charset="-120"/>
              </a:rPr>
              <a:t>Medimos al árbol con los mismos clientes con los que aprendió: es corregir un examen con las preguntas que el alumno ya vio resueltas. En el bloque 3 vemos cuánto nos engaña eso.</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BLOQUE 2</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El diccionario del curso</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Estas letras aparecen en todas las clases. Mejor fijarlas hoy, con nuestros propios datos.</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 y="2103120"/>
          <a:ext cx="7223760" cy="914400"/>
        </p:xfrm>
        <a:graphic>
          <a:graphicData uri="http://schemas.openxmlformats.org/drawingml/2006/table">
            <a:tbl>
              <a:tblPr/>
              <a:tblGrid>
                <a:gridCol w="91440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gridCol w="2560320">
                  <a:extLst>
                    <a:ext uri="{9D8B030D-6E8A-4147-A177-3AD203B41FA5}">
                      <a16:colId xmlns:a16="http://schemas.microsoft.com/office/drawing/2014/main" val="20003"/>
                    </a:ext>
                  </a:extLst>
                </a:gridCol>
              </a:tblGrid>
              <a:tr h="38404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Símbolo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Se lee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Qué es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En nuestros datos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384048">
                <a:tc>
                  <a:txBody>
                    <a:bodyPr/>
                    <a:lstStyle/>
                    <a:p>
                      <a:pPr marL="0" indent="0">
                        <a:buNone/>
                      </a:pPr>
                      <a:r>
                        <a:rPr lang="en-US" sz="1400" b="1" dirty="0">
                          <a:solidFill>
                            <a:srgbClr val="1A56E8"/>
                          </a:solidFill>
                          <a:latin typeface="Calibri" pitchFamily="34" charset="0"/>
                          <a:ea typeface="Calibri" pitchFamily="34" charset="-122"/>
                          <a:cs typeface="Calibri" pitchFamily="34" charset="-120"/>
                        </a:rPr>
                        <a:t>X</a:t>
                      </a:r>
                      <a:endParaRPr lang="en-US" sz="140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equis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tabla de variables de entrada (features)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ingreso, ratio_deuda, antigüedad, atrasos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400" b="1" dirty="0">
                          <a:solidFill>
                            <a:srgbClr val="E6115E"/>
                          </a:solidFill>
                          <a:latin typeface="Calibri" pitchFamily="34" charset="0"/>
                          <a:ea typeface="Calibri" pitchFamily="34" charset="-122"/>
                          <a:cs typeface="Calibri" pitchFamily="34" charset="-120"/>
                        </a:rPr>
                        <a:t>y</a:t>
                      </a:r>
                      <a:endParaRPr lang="en-US" sz="140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ye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variable objetivo (target)</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mora: 1 o 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1400" b="1" dirty="0">
                          <a:solidFill>
                            <a:srgbClr val="E6115E"/>
                          </a:solidFill>
                          <a:latin typeface="Calibri" pitchFamily="34" charset="0"/>
                          <a:ea typeface="Calibri" pitchFamily="34" charset="-122"/>
                          <a:cs typeface="Calibri" pitchFamily="34" charset="-120"/>
                        </a:rPr>
                        <a:t>ŷ</a:t>
                      </a:r>
                      <a:endParaRPr lang="en-US" sz="140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ye sombrero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la predicción del modelo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lo que devuelve .predict()</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buNone/>
                      </a:pPr>
                      <a:r>
                        <a:rPr lang="en-US" sz="1400" b="1" dirty="0">
                          <a:solidFill>
                            <a:srgbClr val="0A2559"/>
                          </a:solidFill>
                          <a:latin typeface="Calibri" pitchFamily="34" charset="0"/>
                          <a:ea typeface="Calibri" pitchFamily="34" charset="-122"/>
                          <a:cs typeface="Calibri" pitchFamily="34" charset="-120"/>
                        </a:rPr>
                        <a:t>n</a:t>
                      </a:r>
                      <a:endParaRPr lang="en-US" sz="140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ene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número de observaciones (filas)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2 000 clientes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buNone/>
                      </a:pPr>
                      <a:r>
                        <a:rPr lang="en-US" sz="1400" b="1" dirty="0">
                          <a:solidFill>
                            <a:srgbClr val="0A2559"/>
                          </a:solidFill>
                          <a:latin typeface="Calibri" pitchFamily="34" charset="0"/>
                          <a:ea typeface="Calibri" pitchFamily="34" charset="-122"/>
                          <a:cs typeface="Calibri" pitchFamily="34" charset="-120"/>
                        </a:rPr>
                        <a:t>p</a:t>
                      </a:r>
                      <a:endParaRPr lang="en-US" sz="140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pe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número de variables (columnas de X)</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4048">
                <a:tc>
                  <a:txBody>
                    <a:bodyPr/>
                    <a:lstStyle/>
                    <a:p>
                      <a:pPr marL="0" indent="0">
                        <a:buNone/>
                      </a:pPr>
                      <a:r>
                        <a:rPr lang="en-US" sz="1400" b="1" dirty="0">
                          <a:solidFill>
                            <a:srgbClr val="0A2559"/>
                          </a:solidFill>
                          <a:latin typeface="Calibri" pitchFamily="34" charset="0"/>
                          <a:ea typeface="Calibri" pitchFamily="34" charset="-122"/>
                          <a:cs typeface="Calibri" pitchFamily="34" charset="-120"/>
                        </a:rPr>
                        <a:t>f(X)</a:t>
                      </a:r>
                      <a:endParaRPr lang="en-US" sz="140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efe de equis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el modelo: convierte X en ŷ</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el árbol del bloque 1</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7" name="Shape 4"/>
          <p:cNvSpPr/>
          <p:nvPr/>
        </p:nvSpPr>
        <p:spPr>
          <a:xfrm>
            <a:off x="8001000" y="2103120"/>
            <a:ext cx="3685032" cy="2697480"/>
          </a:xfrm>
          <a:prstGeom prst="roundRect">
            <a:avLst>
              <a:gd name="adj" fmla="val 2034"/>
            </a:avLst>
          </a:prstGeom>
          <a:solidFill>
            <a:srgbClr val="FFFFFF"/>
          </a:solidFill>
          <a:ln w="9525">
            <a:solidFill>
              <a:srgbClr val="D2DBEC"/>
            </a:solidFill>
            <a:prstDash val="solid"/>
          </a:ln>
        </p:spPr>
      </p:sp>
      <p:sp>
        <p:nvSpPr>
          <p:cNvPr id="6" name="Shape 5"/>
          <p:cNvSpPr/>
          <p:nvPr/>
        </p:nvSpPr>
        <p:spPr>
          <a:xfrm>
            <a:off x="8229600" y="2350008"/>
            <a:ext cx="128016" cy="128016"/>
          </a:xfrm>
          <a:prstGeom prst="roundRect">
            <a:avLst>
              <a:gd name="adj" fmla="val 21429"/>
            </a:avLst>
          </a:prstGeom>
          <a:solidFill>
            <a:srgbClr val="1A56E8"/>
          </a:solidFill>
          <a:ln w="12700">
            <a:solidFill>
              <a:srgbClr val="1A56E8"/>
            </a:solidFill>
            <a:prstDash val="solid"/>
          </a:ln>
        </p:spPr>
      </p:sp>
      <p:sp>
        <p:nvSpPr>
          <p:cNvPr id="9" name="Text 6"/>
          <p:cNvSpPr txBox="1"/>
          <p:nvPr/>
        </p:nvSpPr>
        <p:spPr>
          <a:xfrm>
            <a:off x="8458200" y="2240280"/>
            <a:ext cx="3044952"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Así se ve en la tabla</a:t>
            </a:r>
            <a:endParaRPr lang="en-US" sz="1400" dirty="0"/>
          </a:p>
        </p:txBody>
      </p:sp>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8183880" y="2697480"/>
          <a:ext cx="3337560" cy="914400"/>
        </p:xfrm>
        <a:graphic>
          <a:graphicData uri="http://schemas.openxmlformats.org/drawingml/2006/table">
            <a:tbl>
              <a:tblPr/>
              <a:tblGrid>
                <a:gridCol w="77724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548640">
                  <a:extLst>
                    <a:ext uri="{9D8B030D-6E8A-4147-A177-3AD203B41FA5}">
                      <a16:colId xmlns:a16="http://schemas.microsoft.com/office/drawing/2014/main" val="20003"/>
                    </a:ext>
                  </a:extLst>
                </a:gridCol>
                <a:gridCol w="685800">
                  <a:extLst>
                    <a:ext uri="{9D8B030D-6E8A-4147-A177-3AD203B41FA5}">
                      <a16:colId xmlns:a16="http://schemas.microsoft.com/office/drawing/2014/main" val="20004"/>
                    </a:ext>
                  </a:extLst>
                </a:gridCol>
              </a:tblGrid>
              <a:tr h="274320">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ingreso</a:t>
                      </a:r>
                      <a:endParaRPr lang="en-US" sz="1000" dirty="0">
                        <a:latin typeface="Calibri" charset="0"/>
                        <a:ea typeface="Calibri" charset="0"/>
                        <a:cs typeface="Calibri" charset="0"/>
                      </a:endParaRPr>
                    </a:p>
                  </a:txBody>
                  <a:tcPr marL="36576" marR="36576"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1A56E8"/>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ratio</a:t>
                      </a:r>
                      <a:endParaRPr lang="en-US" sz="1000" dirty="0">
                        <a:latin typeface="Calibri" charset="0"/>
                        <a:ea typeface="Calibri" charset="0"/>
                        <a:cs typeface="Calibri" charset="0"/>
                      </a:endParaRPr>
                    </a:p>
                  </a:txBody>
                  <a:tcPr marL="36576" marR="36576"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1A56E8"/>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antig.</a:t>
                      </a:r>
                      <a:endParaRPr lang="en-US" sz="1000" dirty="0">
                        <a:latin typeface="Calibri" charset="0"/>
                        <a:ea typeface="Calibri" charset="0"/>
                        <a:cs typeface="Calibri" charset="0"/>
                      </a:endParaRPr>
                    </a:p>
                  </a:txBody>
                  <a:tcPr marL="36576" marR="36576"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1A56E8"/>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atr.</a:t>
                      </a:r>
                      <a:endParaRPr lang="en-US" sz="1000" dirty="0">
                        <a:latin typeface="Calibri" charset="0"/>
                        <a:ea typeface="Calibri" charset="0"/>
                        <a:cs typeface="Calibri" charset="0"/>
                      </a:endParaRPr>
                    </a:p>
                  </a:txBody>
                  <a:tcPr marL="36576" marR="36576"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1A56E8"/>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mora</a:t>
                      </a:r>
                      <a:endParaRPr lang="en-US" sz="1000" dirty="0">
                        <a:latin typeface="Calibri" charset="0"/>
                        <a:ea typeface="Calibri" charset="0"/>
                        <a:cs typeface="Calibri" charset="0"/>
                      </a:endParaRPr>
                    </a:p>
                  </a:txBody>
                  <a:tcPr marL="36576" marR="36576"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E6115E"/>
                    </a:solidFill>
                  </a:tcPr>
                </a:tc>
                <a:extLst>
                  <a:ext uri="{0D108BD9-81ED-4DB2-BD59-A6C34878D82A}">
                    <a16:rowId xmlns:a16="http://schemas.microsoft.com/office/drawing/2014/main" val="10000"/>
                  </a:ext>
                </a:extLst>
              </a:tr>
              <a:tr h="274320">
                <a:tc>
                  <a:txBody>
                    <a:bodyPr/>
                    <a:lstStyle/>
                    <a:p>
                      <a:pPr marL="0" indent="0" algn="ctr">
                        <a:buNone/>
                      </a:pPr>
                      <a:r>
                        <a:rPr lang="en-US" sz="1050" dirty="0">
                          <a:solidFill>
                            <a:srgbClr val="2C3A55"/>
                          </a:solidFill>
                          <a:latin typeface="Calibri" pitchFamily="34" charset="0"/>
                          <a:ea typeface="Calibri" pitchFamily="34" charset="-122"/>
                          <a:cs typeface="Calibri" pitchFamily="34" charset="-120"/>
                        </a:rPr>
                        <a:t>3780</a:t>
                      </a:r>
                      <a:endParaRPr lang="en-US" sz="1050" dirty="0">
                        <a:latin typeface="Calibri" charset="0"/>
                        <a:ea typeface="Calibri" charset="0"/>
                        <a:cs typeface="Calibri" charset="0"/>
                      </a:endParaRPr>
                    </a:p>
                  </a:txBody>
                  <a:tcPr marL="36576" marR="36576"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C3A55"/>
                          </a:solidFill>
                          <a:latin typeface="Calibri" pitchFamily="34" charset="0"/>
                          <a:ea typeface="Calibri" pitchFamily="34" charset="-122"/>
                          <a:cs typeface="Calibri" pitchFamily="34" charset="-120"/>
                        </a:rPr>
                        <a:t>0.202</a:t>
                      </a:r>
                      <a:endParaRPr lang="en-US" sz="1050" dirty="0">
                        <a:latin typeface="Calibri" charset="0"/>
                        <a:ea typeface="Calibri" charset="0"/>
                        <a:cs typeface="Calibri" charset="0"/>
                      </a:endParaRPr>
                    </a:p>
                  </a:txBody>
                  <a:tcPr marL="36576" marR="36576"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C3A55"/>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36576" marR="36576"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C3A55"/>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36576" marR="36576"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E6115E"/>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36576" marR="36576"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lgn="ctr">
                        <a:buNone/>
                      </a:pPr>
                      <a:r>
                        <a:rPr lang="en-US" sz="1050" dirty="0">
                          <a:solidFill>
                            <a:srgbClr val="2C3A55"/>
                          </a:solidFill>
                          <a:latin typeface="Calibri" pitchFamily="34" charset="0"/>
                          <a:ea typeface="Calibri" pitchFamily="34" charset="-122"/>
                          <a:cs typeface="Calibri" pitchFamily="34" charset="-120"/>
                        </a:rPr>
                        <a:t>2060</a:t>
                      </a:r>
                      <a:endParaRPr lang="en-US" sz="1050" dirty="0">
                        <a:latin typeface="Calibri" charset="0"/>
                        <a:ea typeface="Calibri" charset="0"/>
                        <a:cs typeface="Calibri" charset="0"/>
                      </a:endParaRPr>
                    </a:p>
                  </a:txBody>
                  <a:tcPr marL="36576" marR="36576"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C3A55"/>
                          </a:solidFill>
                          <a:latin typeface="Calibri" pitchFamily="34" charset="0"/>
                          <a:ea typeface="Calibri" pitchFamily="34" charset="-122"/>
                          <a:cs typeface="Calibri" pitchFamily="34" charset="-120"/>
                        </a:rPr>
                        <a:t>0.200</a:t>
                      </a:r>
                      <a:endParaRPr lang="en-US" sz="1050" dirty="0">
                        <a:latin typeface="Calibri" charset="0"/>
                        <a:ea typeface="Calibri" charset="0"/>
                        <a:cs typeface="Calibri" charset="0"/>
                      </a:endParaRPr>
                    </a:p>
                  </a:txBody>
                  <a:tcPr marL="36576" marR="36576"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C3A55"/>
                          </a:solidFill>
                          <a:latin typeface="Calibri" pitchFamily="34" charset="0"/>
                          <a:ea typeface="Calibri" pitchFamily="34" charset="-122"/>
                          <a:cs typeface="Calibri" pitchFamily="34" charset="-120"/>
                        </a:rPr>
                        <a:t>18</a:t>
                      </a:r>
                      <a:endParaRPr lang="en-US" sz="1050" dirty="0">
                        <a:latin typeface="Calibri" charset="0"/>
                        <a:ea typeface="Calibri" charset="0"/>
                        <a:cs typeface="Calibri" charset="0"/>
                      </a:endParaRPr>
                    </a:p>
                  </a:txBody>
                  <a:tcPr marL="36576" marR="36576"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C3A55"/>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36576" marR="36576"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E6115E"/>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36576" marR="36576"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lgn="ctr">
                        <a:buNone/>
                      </a:pPr>
                      <a:r>
                        <a:rPr lang="en-US" sz="1050" dirty="0">
                          <a:solidFill>
                            <a:srgbClr val="2C3A55"/>
                          </a:solidFill>
                          <a:latin typeface="Calibri" pitchFamily="34" charset="0"/>
                          <a:ea typeface="Calibri" pitchFamily="34" charset="-122"/>
                          <a:cs typeface="Calibri" pitchFamily="34" charset="-120"/>
                        </a:rPr>
                        <a:t>4620</a:t>
                      </a:r>
                      <a:endParaRPr lang="en-US" sz="1050" dirty="0">
                        <a:latin typeface="Calibri" charset="0"/>
                        <a:ea typeface="Calibri" charset="0"/>
                        <a:cs typeface="Calibri" charset="0"/>
                      </a:endParaRPr>
                    </a:p>
                  </a:txBody>
                  <a:tcPr marL="36576" marR="36576"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C3A55"/>
                          </a:solidFill>
                          <a:latin typeface="Calibri" pitchFamily="34" charset="0"/>
                          <a:ea typeface="Calibri" pitchFamily="34" charset="-122"/>
                          <a:cs typeface="Calibri" pitchFamily="34" charset="-120"/>
                        </a:rPr>
                        <a:t>0.091</a:t>
                      </a:r>
                      <a:endParaRPr lang="en-US" sz="1050" dirty="0">
                        <a:latin typeface="Calibri" charset="0"/>
                        <a:ea typeface="Calibri" charset="0"/>
                        <a:cs typeface="Calibri" charset="0"/>
                      </a:endParaRPr>
                    </a:p>
                  </a:txBody>
                  <a:tcPr marL="36576" marR="36576"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C3A55"/>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36576" marR="36576"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C3A55"/>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36576" marR="36576"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E6115E"/>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36576" marR="36576"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320">
                <a:tc>
                  <a:txBody>
                    <a:bodyPr/>
                    <a:lstStyle/>
                    <a:p>
                      <a:pPr marL="0" indent="0" algn="ctr">
                        <a:buNone/>
                      </a:pPr>
                      <a:r>
                        <a:rPr lang="en-US" sz="1050" dirty="0">
                          <a:solidFill>
                            <a:srgbClr val="2C3A55"/>
                          </a:solidFill>
                          <a:latin typeface="Calibri" pitchFamily="34" charset="0"/>
                          <a:ea typeface="Calibri" pitchFamily="34" charset="-122"/>
                          <a:cs typeface="Calibri" pitchFamily="34" charset="-120"/>
                        </a:rPr>
                        <a:t>5030</a:t>
                      </a:r>
                      <a:endParaRPr lang="en-US" sz="1050" dirty="0">
                        <a:latin typeface="Calibri" charset="0"/>
                        <a:ea typeface="Calibri" charset="0"/>
                        <a:cs typeface="Calibri" charset="0"/>
                      </a:endParaRPr>
                    </a:p>
                  </a:txBody>
                  <a:tcPr marL="36576" marR="36576"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C3A55"/>
                          </a:solidFill>
                          <a:latin typeface="Calibri" pitchFamily="34" charset="0"/>
                          <a:ea typeface="Calibri" pitchFamily="34" charset="-122"/>
                          <a:cs typeface="Calibri" pitchFamily="34" charset="-120"/>
                        </a:rPr>
                        <a:t>0.429</a:t>
                      </a:r>
                      <a:endParaRPr lang="en-US" sz="1050" dirty="0">
                        <a:latin typeface="Calibri" charset="0"/>
                        <a:ea typeface="Calibri" charset="0"/>
                        <a:cs typeface="Calibri" charset="0"/>
                      </a:endParaRPr>
                    </a:p>
                  </a:txBody>
                  <a:tcPr marL="36576" marR="36576"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C3A55"/>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marL="36576" marR="36576"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C3A55"/>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36576" marR="36576"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E6115E"/>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36576" marR="36576"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1" name="Text 7"/>
          <p:cNvSpPr txBox="1"/>
          <p:nvPr/>
        </p:nvSpPr>
        <p:spPr>
          <a:xfrm>
            <a:off x="8183880" y="4206240"/>
            <a:ext cx="3337560" cy="274320"/>
          </a:xfrm>
          <a:prstGeom prst="rect">
            <a:avLst/>
          </a:prstGeom>
          <a:noFill/>
          <a:ln/>
        </p:spPr>
        <p:txBody>
          <a:bodyPr wrap="square" lIns="0" tIns="0" rIns="0" bIns="0" rtlCol="0" anchor="t"/>
          <a:lstStyle/>
          <a:p>
            <a:pPr marL="0" indent="0" algn="ctr">
              <a:spcAft>
                <a:spcPts val="400"/>
              </a:spcAft>
              <a:buNone/>
            </a:pPr>
            <a:r>
              <a:rPr lang="en-US" sz="1150" b="1" dirty="0">
                <a:solidFill>
                  <a:srgbClr val="1A56E8"/>
                </a:solidFill>
                <a:latin typeface="Calibri" pitchFamily="34" charset="0"/>
                <a:ea typeface="Calibri" pitchFamily="34" charset="-122"/>
                <a:cs typeface="Calibri" pitchFamily="34" charset="-120"/>
              </a:rPr>
              <a:t>azul = X</a:t>
            </a:r>
            <a:r>
              <a:rPr lang="en-US" sz="1150" dirty="0">
                <a:solidFill>
                  <a:srgbClr val="2C3A55"/>
                </a:solidFill>
                <a:latin typeface="Calibri" pitchFamily="34" charset="0"/>
                <a:ea typeface="Calibri" pitchFamily="34" charset="-122"/>
                <a:cs typeface="Calibri" pitchFamily="34" charset="-120"/>
              </a:rPr>
              <a:t>   ·   </a:t>
            </a:r>
            <a:r>
              <a:rPr lang="en-US" sz="1150" b="1" dirty="0">
                <a:solidFill>
                  <a:srgbClr val="E6115E"/>
                </a:solidFill>
                <a:latin typeface="Calibri" pitchFamily="34" charset="0"/>
                <a:ea typeface="Calibri" pitchFamily="34" charset="-122"/>
                <a:cs typeface="Calibri" pitchFamily="34" charset="-120"/>
              </a:rPr>
              <a:t>rojo = y</a:t>
            </a:r>
            <a:endParaRPr lang="en-US" sz="1150" dirty="0"/>
          </a:p>
        </p:txBody>
      </p:sp>
      <p:sp>
        <p:nvSpPr>
          <p:cNvPr id="12" name="Shape 8"/>
          <p:cNvSpPr/>
          <p:nvPr/>
        </p:nvSpPr>
        <p:spPr>
          <a:xfrm>
            <a:off x="502920" y="5074920"/>
            <a:ext cx="5440680" cy="1143000"/>
          </a:xfrm>
          <a:prstGeom prst="roundRect">
            <a:avLst>
              <a:gd name="adj" fmla="val 4800"/>
            </a:avLst>
          </a:prstGeom>
          <a:solidFill>
            <a:srgbClr val="E9EEF8"/>
          </a:solidFill>
          <a:ln w="9525">
            <a:solidFill>
              <a:srgbClr val="D2DBEC"/>
            </a:solidFill>
            <a:prstDash val="solid"/>
          </a:ln>
        </p:spPr>
      </p:sp>
      <p:sp>
        <p:nvSpPr>
          <p:cNvPr id="13" name="Shape 9"/>
          <p:cNvSpPr/>
          <p:nvPr/>
        </p:nvSpPr>
        <p:spPr>
          <a:xfrm>
            <a:off x="731520" y="5321808"/>
            <a:ext cx="128016" cy="128016"/>
          </a:xfrm>
          <a:prstGeom prst="roundRect">
            <a:avLst>
              <a:gd name="adj" fmla="val 21429"/>
            </a:avLst>
          </a:prstGeom>
          <a:solidFill>
            <a:srgbClr val="1A56E8"/>
          </a:solidFill>
          <a:ln w="12700">
            <a:solidFill>
              <a:srgbClr val="1A56E8"/>
            </a:solidFill>
            <a:prstDash val="solid"/>
          </a:ln>
        </p:spPr>
      </p:sp>
      <p:sp>
        <p:nvSpPr>
          <p:cNvPr id="14" name="Text 10"/>
          <p:cNvSpPr txBox="1"/>
          <p:nvPr/>
        </p:nvSpPr>
        <p:spPr>
          <a:xfrm>
            <a:off x="960120" y="5212080"/>
            <a:ext cx="4800600"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Parámetro</a:t>
            </a:r>
            <a:endParaRPr lang="en-US" sz="1400" dirty="0"/>
          </a:p>
        </p:txBody>
      </p:sp>
      <p:sp>
        <p:nvSpPr>
          <p:cNvPr id="10" name="Text 11"/>
          <p:cNvSpPr txBox="1"/>
          <p:nvPr/>
        </p:nvSpPr>
        <p:spPr>
          <a:xfrm>
            <a:off x="731520" y="5577840"/>
            <a:ext cx="5029200" cy="548640"/>
          </a:xfrm>
          <a:prstGeom prst="rect">
            <a:avLst/>
          </a:prstGeom>
          <a:noFill/>
          <a:ln/>
        </p:spPr>
        <p:txBody>
          <a:bodyPr wrap="square" lIns="0" tIns="0" rIns="0" bIns="0" rtlCol="0" anchor="t"/>
          <a:lstStyle/>
          <a:p>
            <a:pPr marL="0" indent="0">
              <a:spcAft>
                <a:spcPts val="400"/>
              </a:spcAft>
              <a:buNone/>
            </a:pPr>
            <a:r>
              <a:rPr lang="en-US" sz="1250" dirty="0">
                <a:solidFill>
                  <a:srgbClr val="2C3A55"/>
                </a:solidFill>
                <a:latin typeface="Calibri" pitchFamily="34" charset="0"/>
                <a:ea typeface="Calibri" pitchFamily="34" charset="-122"/>
                <a:cs typeface="Calibri" pitchFamily="34" charset="-120"/>
              </a:rPr>
              <a:t>Lo que el modelo aprende SOLO. En el árbol: el corte en 0.47.</a:t>
            </a:r>
            <a:endParaRPr lang="en-US" sz="1250" dirty="0"/>
          </a:p>
        </p:txBody>
      </p:sp>
      <p:sp>
        <p:nvSpPr>
          <p:cNvPr id="16" name="Shape 12"/>
          <p:cNvSpPr/>
          <p:nvPr/>
        </p:nvSpPr>
        <p:spPr>
          <a:xfrm>
            <a:off x="6217920" y="5074920"/>
            <a:ext cx="5468112" cy="1143000"/>
          </a:xfrm>
          <a:prstGeom prst="roundRect">
            <a:avLst>
              <a:gd name="adj" fmla="val 4800"/>
            </a:avLst>
          </a:prstGeom>
          <a:solidFill>
            <a:srgbClr val="0A2559"/>
          </a:solidFill>
          <a:ln w="9525">
            <a:solidFill>
              <a:srgbClr val="0A2559"/>
            </a:solidFill>
            <a:prstDash val="solid"/>
          </a:ln>
        </p:spPr>
      </p:sp>
      <p:sp>
        <p:nvSpPr>
          <p:cNvPr id="17" name="Shape 13"/>
          <p:cNvSpPr/>
          <p:nvPr/>
        </p:nvSpPr>
        <p:spPr>
          <a:xfrm>
            <a:off x="6446520" y="5321808"/>
            <a:ext cx="128016" cy="128016"/>
          </a:xfrm>
          <a:prstGeom prst="roundRect">
            <a:avLst>
              <a:gd name="adj" fmla="val 21429"/>
            </a:avLst>
          </a:prstGeom>
          <a:solidFill>
            <a:srgbClr val="E6115E"/>
          </a:solidFill>
          <a:ln w="12700">
            <a:solidFill>
              <a:srgbClr val="E6115E"/>
            </a:solidFill>
            <a:prstDash val="solid"/>
          </a:ln>
        </p:spPr>
      </p:sp>
      <p:sp>
        <p:nvSpPr>
          <p:cNvPr id="18" name="Text 14"/>
          <p:cNvSpPr txBox="1"/>
          <p:nvPr/>
        </p:nvSpPr>
        <p:spPr>
          <a:xfrm>
            <a:off x="6675120" y="5212080"/>
            <a:ext cx="4828032" cy="3474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Hiperparámetro</a:t>
            </a:r>
            <a:endParaRPr lang="en-US" sz="1400" dirty="0"/>
          </a:p>
        </p:txBody>
      </p:sp>
      <p:sp>
        <p:nvSpPr>
          <p:cNvPr id="19" name="Text 15"/>
          <p:cNvSpPr txBox="1"/>
          <p:nvPr/>
        </p:nvSpPr>
        <p:spPr>
          <a:xfrm>
            <a:off x="6446520" y="5577840"/>
            <a:ext cx="5029200" cy="548640"/>
          </a:xfrm>
          <a:prstGeom prst="rect">
            <a:avLst/>
          </a:prstGeom>
          <a:noFill/>
          <a:ln/>
        </p:spPr>
        <p:txBody>
          <a:bodyPr wrap="square" lIns="0" tIns="0" rIns="0" bIns="0" rtlCol="0" anchor="t"/>
          <a:lstStyle/>
          <a:p>
            <a:pPr marL="0" indent="0">
              <a:spcAft>
                <a:spcPts val="400"/>
              </a:spcAft>
              <a:buNone/>
            </a:pPr>
            <a:r>
              <a:rPr lang="en-US" sz="1250" dirty="0">
                <a:solidFill>
                  <a:srgbClr val="C9D4EA"/>
                </a:solidFill>
                <a:latin typeface="Calibri" pitchFamily="34" charset="0"/>
                <a:ea typeface="Calibri" pitchFamily="34" charset="-122"/>
                <a:cs typeface="Calibri" pitchFamily="34" charset="-120"/>
              </a:rPr>
              <a:t>Lo que TÚ decides antes de entrenar. En el árbol: max_depth = 2.</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BLOQUE 2</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Tres tipos de problema, uno por módulo</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La pregunta que lo decide todo: ¿qué quieres obtener, y tienes la respuesta en los datos históricos?</a:t>
            </a:r>
            <a:endParaRPr lang="en-US" sz="1400" dirty="0"/>
          </a:p>
        </p:txBody>
      </p:sp>
      <p:sp>
        <p:nvSpPr>
          <p:cNvPr id="6" name="Shape 4"/>
          <p:cNvSpPr/>
          <p:nvPr/>
        </p:nvSpPr>
        <p:spPr>
          <a:xfrm>
            <a:off x="502920" y="2103120"/>
            <a:ext cx="3630168" cy="3246120"/>
          </a:xfrm>
          <a:prstGeom prst="roundRect">
            <a:avLst>
              <a:gd name="adj" fmla="val 1690"/>
            </a:avLst>
          </a:prstGeom>
          <a:solidFill>
            <a:srgbClr val="FFFFFF"/>
          </a:solidFill>
          <a:ln w="9525">
            <a:solidFill>
              <a:srgbClr val="D2DBEC"/>
            </a:solidFill>
            <a:prstDash val="solid"/>
          </a:ln>
        </p:spPr>
      </p:sp>
      <p:sp>
        <p:nvSpPr>
          <p:cNvPr id="7" name="Shape 5"/>
          <p:cNvSpPr/>
          <p:nvPr/>
        </p:nvSpPr>
        <p:spPr>
          <a:xfrm>
            <a:off x="731520" y="2286000"/>
            <a:ext cx="1280160" cy="292608"/>
          </a:xfrm>
          <a:prstGeom prst="roundRect">
            <a:avLst>
              <a:gd name="adj" fmla="val 50000"/>
            </a:avLst>
          </a:prstGeom>
          <a:solidFill>
            <a:srgbClr val="1A56E8"/>
          </a:solidFill>
          <a:ln w="12700">
            <a:solidFill>
              <a:srgbClr val="1A56E8"/>
            </a:solidFill>
            <a:prstDash val="solid"/>
          </a:ln>
        </p:spPr>
      </p:sp>
      <p:sp>
        <p:nvSpPr>
          <p:cNvPr id="8" name="Text 6"/>
          <p:cNvSpPr txBox="1"/>
          <p:nvPr/>
        </p:nvSpPr>
        <p:spPr>
          <a:xfrm>
            <a:off x="731520" y="2286000"/>
            <a:ext cx="1280160" cy="292608"/>
          </a:xfrm>
          <a:prstGeom prst="rect">
            <a:avLst/>
          </a:prstGeom>
          <a:noFill/>
          <a:ln/>
        </p:spPr>
        <p:txBody>
          <a:bodyPr wrap="square" lIns="0" tIns="0" rIns="0" bIns="0"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MÓDULO 1</a:t>
            </a:r>
            <a:endParaRPr lang="en-US" sz="1000" dirty="0"/>
          </a:p>
        </p:txBody>
      </p:sp>
      <p:sp>
        <p:nvSpPr>
          <p:cNvPr id="9" name="Text 7"/>
          <p:cNvSpPr txBox="1"/>
          <p:nvPr/>
        </p:nvSpPr>
        <p:spPr>
          <a:xfrm>
            <a:off x="731520" y="2697480"/>
            <a:ext cx="3172968" cy="502920"/>
          </a:xfrm>
          <a:prstGeom prst="rect">
            <a:avLst/>
          </a:prstGeom>
          <a:noFill/>
          <a:ln/>
        </p:spPr>
        <p:txBody>
          <a:bodyPr wrap="square" lIns="0" tIns="0" rIns="0" bIns="0" rtlCol="0" anchor="ctr"/>
          <a:lstStyle/>
          <a:p>
            <a:pPr marL="0" indent="0">
              <a:buNone/>
            </a:pPr>
            <a:r>
              <a:rPr lang="en-US" sz="2400" b="1" dirty="0">
                <a:solidFill>
                  <a:srgbClr val="0A2559"/>
                </a:solidFill>
                <a:latin typeface="Calibri" pitchFamily="34" charset="0"/>
                <a:ea typeface="Calibri" pitchFamily="34" charset="-122"/>
                <a:cs typeface="Calibri" pitchFamily="34" charset="-120"/>
              </a:rPr>
              <a:t>Regresión</a:t>
            </a:r>
            <a:endParaRPr lang="en-US" sz="2400" dirty="0"/>
          </a:p>
        </p:txBody>
      </p:sp>
      <p:sp>
        <p:nvSpPr>
          <p:cNvPr id="10" name="Text 8"/>
          <p:cNvSpPr txBox="1"/>
          <p:nvPr/>
        </p:nvSpPr>
        <p:spPr>
          <a:xfrm>
            <a:off x="731520" y="3200400"/>
            <a:ext cx="3172968" cy="320040"/>
          </a:xfrm>
          <a:prstGeom prst="rect">
            <a:avLst/>
          </a:prstGeom>
          <a:noFill/>
          <a:ln/>
        </p:spPr>
        <p:txBody>
          <a:bodyPr wrap="square" lIns="0" tIns="0" rIns="0" bIns="0" rtlCol="0" anchor="ctr"/>
          <a:lstStyle/>
          <a:p>
            <a:pPr marL="0" indent="0">
              <a:buNone/>
            </a:pPr>
            <a:r>
              <a:rPr lang="en-US" sz="1400" dirty="0">
                <a:solidFill>
                  <a:srgbClr val="5B6B87"/>
                </a:solidFill>
                <a:latin typeface="Calibri" pitchFamily="34" charset="0"/>
                <a:ea typeface="Calibri" pitchFamily="34" charset="-122"/>
                <a:cs typeface="Calibri" pitchFamily="34" charset="-120"/>
              </a:rPr>
              <a:t>predice </a:t>
            </a:r>
            <a:r>
              <a:rPr lang="en-US" sz="1400" b="1" dirty="0">
                <a:solidFill>
                  <a:srgbClr val="1A56E8"/>
                </a:solidFill>
                <a:latin typeface="Calibri" pitchFamily="34" charset="0"/>
                <a:ea typeface="Calibri" pitchFamily="34" charset="-122"/>
                <a:cs typeface="Calibri" pitchFamily="34" charset="-120"/>
              </a:rPr>
              <a:t>un NÚMERO</a:t>
            </a:r>
            <a:endParaRPr lang="en-US" sz="1400" dirty="0"/>
          </a:p>
        </p:txBody>
      </p:sp>
      <p:sp>
        <p:nvSpPr>
          <p:cNvPr id="11" name="Shape 9"/>
          <p:cNvSpPr/>
          <p:nvPr/>
        </p:nvSpPr>
        <p:spPr>
          <a:xfrm>
            <a:off x="731520" y="3657600"/>
            <a:ext cx="3172968" cy="1051560"/>
          </a:xfrm>
          <a:prstGeom prst="roundRect">
            <a:avLst>
              <a:gd name="adj" fmla="val 5217"/>
            </a:avLst>
          </a:prstGeom>
          <a:solidFill>
            <a:srgbClr val="E9EEF8"/>
          </a:solidFill>
          <a:ln w="9525">
            <a:solidFill>
              <a:srgbClr val="D2DBEC"/>
            </a:solidFill>
            <a:prstDash val="solid"/>
          </a:ln>
        </p:spPr>
      </p:sp>
      <p:sp>
        <p:nvSpPr>
          <p:cNvPr id="12" name="Text 10"/>
          <p:cNvSpPr txBox="1"/>
          <p:nvPr/>
        </p:nvSpPr>
        <p:spPr>
          <a:xfrm>
            <a:off x="868680" y="3749040"/>
            <a:ext cx="2898648" cy="914400"/>
          </a:xfrm>
          <a:prstGeom prst="rect">
            <a:avLst/>
          </a:prstGeom>
          <a:noFill/>
          <a:ln/>
        </p:spPr>
        <p:txBody>
          <a:bodyPr wrap="square" lIns="0" tIns="0" rIns="0" bIns="0" rtlCol="0" anchor="ctr"/>
          <a:lstStyle/>
          <a:p>
            <a:pPr marL="0" indent="0">
              <a:spcAft>
                <a:spcPts val="400"/>
              </a:spcAft>
              <a:buNone/>
            </a:pPr>
            <a:r>
              <a:rPr lang="en-US" sz="1250" i="1" dirty="0">
                <a:solidFill>
                  <a:srgbClr val="2C3A55"/>
                </a:solidFill>
                <a:latin typeface="Calibri" pitchFamily="34" charset="0"/>
                <a:ea typeface="Calibri" pitchFamily="34" charset="-122"/>
                <a:cs typeface="Calibri" pitchFamily="34" charset="-120"/>
              </a:rPr>
              <a:t>¿Cuánto gastará este cliente con su tarjeta el próximo mes?</a:t>
            </a:r>
            <a:endParaRPr lang="en-US" sz="1250" dirty="0"/>
          </a:p>
        </p:txBody>
      </p:sp>
      <p:sp>
        <p:nvSpPr>
          <p:cNvPr id="13" name="Text 11"/>
          <p:cNvSpPr txBox="1"/>
          <p:nvPr/>
        </p:nvSpPr>
        <p:spPr>
          <a:xfrm>
            <a:off x="731520" y="4846320"/>
            <a:ext cx="3172968" cy="320040"/>
          </a:xfrm>
          <a:prstGeom prst="rect">
            <a:avLst/>
          </a:prstGeom>
          <a:noFill/>
          <a:ln/>
        </p:spPr>
        <p:txBody>
          <a:bodyPr wrap="square" lIns="0" tIns="0" rIns="0" bIns="0" rtlCol="0" anchor="ctr"/>
          <a:lstStyle/>
          <a:p>
            <a:pPr marL="0" indent="0">
              <a:buNone/>
            </a:pPr>
            <a:r>
              <a:rPr lang="en-US" sz="1200" b="1" dirty="0">
                <a:solidFill>
                  <a:srgbClr val="1A56E8"/>
                </a:solidFill>
                <a:latin typeface="Calibri" pitchFamily="34" charset="0"/>
                <a:ea typeface="Calibri" pitchFamily="34" charset="-122"/>
                <a:cs typeface="Calibri" pitchFamily="34" charset="-120"/>
              </a:rPr>
              <a:t>supervisado · hay y</a:t>
            </a:r>
            <a:endParaRPr lang="en-US" sz="1200" dirty="0"/>
          </a:p>
        </p:txBody>
      </p:sp>
      <p:sp>
        <p:nvSpPr>
          <p:cNvPr id="14" name="Shape 12"/>
          <p:cNvSpPr/>
          <p:nvPr/>
        </p:nvSpPr>
        <p:spPr>
          <a:xfrm>
            <a:off x="4279392" y="2103120"/>
            <a:ext cx="3630168" cy="3246120"/>
          </a:xfrm>
          <a:prstGeom prst="roundRect">
            <a:avLst>
              <a:gd name="adj" fmla="val 1690"/>
            </a:avLst>
          </a:prstGeom>
          <a:solidFill>
            <a:srgbClr val="FFFFFF"/>
          </a:solidFill>
          <a:ln w="9525">
            <a:solidFill>
              <a:srgbClr val="D2DBEC"/>
            </a:solidFill>
            <a:prstDash val="solid"/>
          </a:ln>
        </p:spPr>
      </p:sp>
      <p:sp>
        <p:nvSpPr>
          <p:cNvPr id="15" name="Shape 13"/>
          <p:cNvSpPr/>
          <p:nvPr/>
        </p:nvSpPr>
        <p:spPr>
          <a:xfrm>
            <a:off x="4507992" y="2286000"/>
            <a:ext cx="1280160" cy="292608"/>
          </a:xfrm>
          <a:prstGeom prst="roundRect">
            <a:avLst>
              <a:gd name="adj" fmla="val 50000"/>
            </a:avLst>
          </a:prstGeom>
          <a:solidFill>
            <a:srgbClr val="E6115E"/>
          </a:solidFill>
          <a:ln w="12700">
            <a:solidFill>
              <a:srgbClr val="E6115E"/>
            </a:solidFill>
            <a:prstDash val="solid"/>
          </a:ln>
        </p:spPr>
      </p:sp>
      <p:sp>
        <p:nvSpPr>
          <p:cNvPr id="16" name="Text 14"/>
          <p:cNvSpPr txBox="1"/>
          <p:nvPr/>
        </p:nvSpPr>
        <p:spPr>
          <a:xfrm>
            <a:off x="4507992" y="2286000"/>
            <a:ext cx="1280160" cy="292608"/>
          </a:xfrm>
          <a:prstGeom prst="rect">
            <a:avLst/>
          </a:prstGeom>
          <a:noFill/>
          <a:ln/>
        </p:spPr>
        <p:txBody>
          <a:bodyPr wrap="square" lIns="0" tIns="0" rIns="0" bIns="0"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MÓDULO 2</a:t>
            </a:r>
            <a:endParaRPr lang="en-US" sz="1000" dirty="0"/>
          </a:p>
        </p:txBody>
      </p:sp>
      <p:sp>
        <p:nvSpPr>
          <p:cNvPr id="17" name="Text 15"/>
          <p:cNvSpPr txBox="1"/>
          <p:nvPr/>
        </p:nvSpPr>
        <p:spPr>
          <a:xfrm>
            <a:off x="4507992" y="2697480"/>
            <a:ext cx="3172968" cy="502920"/>
          </a:xfrm>
          <a:prstGeom prst="rect">
            <a:avLst/>
          </a:prstGeom>
          <a:noFill/>
          <a:ln/>
        </p:spPr>
        <p:txBody>
          <a:bodyPr wrap="square" lIns="0" tIns="0" rIns="0" bIns="0" rtlCol="0" anchor="ctr"/>
          <a:lstStyle/>
          <a:p>
            <a:pPr marL="0" indent="0">
              <a:buNone/>
            </a:pPr>
            <a:r>
              <a:rPr lang="en-US" sz="2400" b="1" dirty="0">
                <a:solidFill>
                  <a:srgbClr val="0A2559"/>
                </a:solidFill>
                <a:latin typeface="Calibri" pitchFamily="34" charset="0"/>
                <a:ea typeface="Calibri" pitchFamily="34" charset="-122"/>
                <a:cs typeface="Calibri" pitchFamily="34" charset="-120"/>
              </a:rPr>
              <a:t>Clasificación</a:t>
            </a:r>
            <a:endParaRPr lang="en-US" sz="2400" dirty="0"/>
          </a:p>
        </p:txBody>
      </p:sp>
      <p:sp>
        <p:nvSpPr>
          <p:cNvPr id="18" name="Text 16"/>
          <p:cNvSpPr txBox="1"/>
          <p:nvPr/>
        </p:nvSpPr>
        <p:spPr>
          <a:xfrm>
            <a:off x="4507992" y="3200400"/>
            <a:ext cx="3172968" cy="320040"/>
          </a:xfrm>
          <a:prstGeom prst="rect">
            <a:avLst/>
          </a:prstGeom>
          <a:noFill/>
          <a:ln/>
        </p:spPr>
        <p:txBody>
          <a:bodyPr wrap="square" lIns="0" tIns="0" rIns="0" bIns="0" rtlCol="0" anchor="ctr"/>
          <a:lstStyle/>
          <a:p>
            <a:pPr marL="0" indent="0">
              <a:buNone/>
            </a:pPr>
            <a:r>
              <a:rPr lang="en-US" sz="1400" dirty="0">
                <a:solidFill>
                  <a:srgbClr val="5B6B87"/>
                </a:solidFill>
                <a:latin typeface="Calibri" pitchFamily="34" charset="0"/>
                <a:ea typeface="Calibri" pitchFamily="34" charset="-122"/>
                <a:cs typeface="Calibri" pitchFamily="34" charset="-120"/>
              </a:rPr>
              <a:t>predice </a:t>
            </a:r>
            <a:r>
              <a:rPr lang="en-US" sz="1400" b="1" dirty="0">
                <a:solidFill>
                  <a:srgbClr val="E6115E"/>
                </a:solidFill>
                <a:latin typeface="Calibri" pitchFamily="34" charset="0"/>
                <a:ea typeface="Calibri" pitchFamily="34" charset="-122"/>
                <a:cs typeface="Calibri" pitchFamily="34" charset="-120"/>
              </a:rPr>
              <a:t>una ETIQUETA</a:t>
            </a:r>
            <a:endParaRPr lang="en-US" sz="1400" dirty="0"/>
          </a:p>
        </p:txBody>
      </p:sp>
      <p:sp>
        <p:nvSpPr>
          <p:cNvPr id="19" name="Shape 17"/>
          <p:cNvSpPr/>
          <p:nvPr/>
        </p:nvSpPr>
        <p:spPr>
          <a:xfrm>
            <a:off x="4507992" y="3657600"/>
            <a:ext cx="3172968" cy="1051560"/>
          </a:xfrm>
          <a:prstGeom prst="roundRect">
            <a:avLst>
              <a:gd name="adj" fmla="val 5217"/>
            </a:avLst>
          </a:prstGeom>
          <a:solidFill>
            <a:srgbClr val="E9EEF8"/>
          </a:solidFill>
          <a:ln w="9525">
            <a:solidFill>
              <a:srgbClr val="D2DBEC"/>
            </a:solidFill>
            <a:prstDash val="solid"/>
          </a:ln>
        </p:spPr>
      </p:sp>
      <p:sp>
        <p:nvSpPr>
          <p:cNvPr id="20" name="Text 18"/>
          <p:cNvSpPr txBox="1"/>
          <p:nvPr/>
        </p:nvSpPr>
        <p:spPr>
          <a:xfrm>
            <a:off x="4645152" y="3749040"/>
            <a:ext cx="2898648" cy="914400"/>
          </a:xfrm>
          <a:prstGeom prst="rect">
            <a:avLst/>
          </a:prstGeom>
          <a:noFill/>
          <a:ln/>
        </p:spPr>
        <p:txBody>
          <a:bodyPr wrap="square" lIns="0" tIns="0" rIns="0" bIns="0" rtlCol="0" anchor="ctr"/>
          <a:lstStyle/>
          <a:p>
            <a:pPr marL="0" indent="0">
              <a:spcAft>
                <a:spcPts val="400"/>
              </a:spcAft>
              <a:buNone/>
            </a:pPr>
            <a:r>
              <a:rPr lang="en-US" sz="1250" i="1" dirty="0">
                <a:solidFill>
                  <a:srgbClr val="2C3A55"/>
                </a:solidFill>
                <a:latin typeface="Calibri" pitchFamily="34" charset="0"/>
                <a:ea typeface="Calibri" pitchFamily="34" charset="-122"/>
                <a:cs typeface="Calibri" pitchFamily="34" charset="-120"/>
              </a:rPr>
              <a:t>¿Esta transacción es fraude? ¿Este cliente caerá en mora?</a:t>
            </a:r>
            <a:endParaRPr lang="en-US" sz="1250" dirty="0"/>
          </a:p>
        </p:txBody>
      </p:sp>
      <p:sp>
        <p:nvSpPr>
          <p:cNvPr id="21" name="Text 19"/>
          <p:cNvSpPr txBox="1"/>
          <p:nvPr/>
        </p:nvSpPr>
        <p:spPr>
          <a:xfrm>
            <a:off x="4507992" y="4846320"/>
            <a:ext cx="3172968" cy="320040"/>
          </a:xfrm>
          <a:prstGeom prst="rect">
            <a:avLst/>
          </a:prstGeom>
          <a:noFill/>
          <a:ln/>
        </p:spPr>
        <p:txBody>
          <a:bodyPr wrap="square" lIns="0" tIns="0" rIns="0" bIns="0" rtlCol="0" anchor="ctr"/>
          <a:lstStyle/>
          <a:p>
            <a:pPr marL="0" indent="0">
              <a:buNone/>
            </a:pPr>
            <a:r>
              <a:rPr lang="en-US" sz="1200" b="1" dirty="0">
                <a:solidFill>
                  <a:srgbClr val="E6115E"/>
                </a:solidFill>
                <a:latin typeface="Calibri" pitchFamily="34" charset="0"/>
                <a:ea typeface="Calibri" pitchFamily="34" charset="-122"/>
                <a:cs typeface="Calibri" pitchFamily="34" charset="-120"/>
              </a:rPr>
              <a:t>supervisado · hay y</a:t>
            </a:r>
            <a:endParaRPr lang="en-US" sz="1200" dirty="0"/>
          </a:p>
        </p:txBody>
      </p:sp>
      <p:sp>
        <p:nvSpPr>
          <p:cNvPr id="22" name="Shape 20"/>
          <p:cNvSpPr/>
          <p:nvPr/>
        </p:nvSpPr>
        <p:spPr>
          <a:xfrm>
            <a:off x="8055864" y="2103120"/>
            <a:ext cx="3630168" cy="3246120"/>
          </a:xfrm>
          <a:prstGeom prst="roundRect">
            <a:avLst>
              <a:gd name="adj" fmla="val 1690"/>
            </a:avLst>
          </a:prstGeom>
          <a:solidFill>
            <a:srgbClr val="FFFFFF"/>
          </a:solidFill>
          <a:ln w="9525">
            <a:solidFill>
              <a:srgbClr val="D2DBEC"/>
            </a:solidFill>
            <a:prstDash val="solid"/>
          </a:ln>
        </p:spPr>
      </p:sp>
      <p:sp>
        <p:nvSpPr>
          <p:cNvPr id="23" name="Shape 21"/>
          <p:cNvSpPr/>
          <p:nvPr/>
        </p:nvSpPr>
        <p:spPr>
          <a:xfrm>
            <a:off x="8284464" y="2286000"/>
            <a:ext cx="1280160" cy="292608"/>
          </a:xfrm>
          <a:prstGeom prst="roundRect">
            <a:avLst>
              <a:gd name="adj" fmla="val 50000"/>
            </a:avLst>
          </a:prstGeom>
          <a:solidFill>
            <a:srgbClr val="0A2559"/>
          </a:solidFill>
          <a:ln w="12700">
            <a:solidFill>
              <a:srgbClr val="0A2559"/>
            </a:solidFill>
            <a:prstDash val="solid"/>
          </a:ln>
        </p:spPr>
      </p:sp>
      <p:sp>
        <p:nvSpPr>
          <p:cNvPr id="24" name="Text 22"/>
          <p:cNvSpPr txBox="1"/>
          <p:nvPr/>
        </p:nvSpPr>
        <p:spPr>
          <a:xfrm>
            <a:off x="8284464" y="2286000"/>
            <a:ext cx="1280160" cy="292608"/>
          </a:xfrm>
          <a:prstGeom prst="rect">
            <a:avLst/>
          </a:prstGeom>
          <a:noFill/>
          <a:ln/>
        </p:spPr>
        <p:txBody>
          <a:bodyPr wrap="square" lIns="0" tIns="0" rIns="0" bIns="0"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MÓDULO 3</a:t>
            </a:r>
            <a:endParaRPr lang="en-US" sz="1000" dirty="0"/>
          </a:p>
        </p:txBody>
      </p:sp>
      <p:sp>
        <p:nvSpPr>
          <p:cNvPr id="25" name="Text 23"/>
          <p:cNvSpPr txBox="1"/>
          <p:nvPr/>
        </p:nvSpPr>
        <p:spPr>
          <a:xfrm>
            <a:off x="8284464" y="2697480"/>
            <a:ext cx="3172968" cy="502920"/>
          </a:xfrm>
          <a:prstGeom prst="rect">
            <a:avLst/>
          </a:prstGeom>
          <a:noFill/>
          <a:ln/>
        </p:spPr>
        <p:txBody>
          <a:bodyPr wrap="square" lIns="0" tIns="0" rIns="0" bIns="0" rtlCol="0" anchor="ctr"/>
          <a:lstStyle/>
          <a:p>
            <a:pPr marL="0" indent="0">
              <a:buNone/>
            </a:pPr>
            <a:r>
              <a:rPr lang="en-US" sz="2400" b="1" dirty="0">
                <a:solidFill>
                  <a:srgbClr val="0A2559"/>
                </a:solidFill>
                <a:latin typeface="Calibri" pitchFamily="34" charset="0"/>
                <a:ea typeface="Calibri" pitchFamily="34" charset="-122"/>
                <a:cs typeface="Calibri" pitchFamily="34" charset="-120"/>
              </a:rPr>
              <a:t>Clustering</a:t>
            </a:r>
            <a:endParaRPr lang="en-US" sz="2400" dirty="0"/>
          </a:p>
        </p:txBody>
      </p:sp>
      <p:sp>
        <p:nvSpPr>
          <p:cNvPr id="26" name="Text 24"/>
          <p:cNvSpPr txBox="1"/>
          <p:nvPr/>
        </p:nvSpPr>
        <p:spPr>
          <a:xfrm>
            <a:off x="8284464" y="3200400"/>
            <a:ext cx="3172968" cy="320040"/>
          </a:xfrm>
          <a:prstGeom prst="rect">
            <a:avLst/>
          </a:prstGeom>
          <a:noFill/>
          <a:ln/>
        </p:spPr>
        <p:txBody>
          <a:bodyPr wrap="square" lIns="0" tIns="0" rIns="0" bIns="0" rtlCol="0" anchor="ctr"/>
          <a:lstStyle/>
          <a:p>
            <a:pPr marL="0" indent="0">
              <a:buNone/>
            </a:pPr>
            <a:r>
              <a:rPr lang="en-US" sz="1400" dirty="0">
                <a:solidFill>
                  <a:srgbClr val="5B6B87"/>
                </a:solidFill>
                <a:latin typeface="Calibri" pitchFamily="34" charset="0"/>
                <a:ea typeface="Calibri" pitchFamily="34" charset="-122"/>
                <a:cs typeface="Calibri" pitchFamily="34" charset="-120"/>
              </a:rPr>
              <a:t>predice </a:t>
            </a:r>
            <a:r>
              <a:rPr lang="en-US" sz="1400" b="1" dirty="0">
                <a:solidFill>
                  <a:srgbClr val="0A2559"/>
                </a:solidFill>
                <a:latin typeface="Calibri" pitchFamily="34" charset="0"/>
                <a:ea typeface="Calibri" pitchFamily="34" charset="-122"/>
                <a:cs typeface="Calibri" pitchFamily="34" charset="-120"/>
              </a:rPr>
              <a:t>GRUPOS</a:t>
            </a:r>
            <a:endParaRPr lang="en-US" sz="1400" dirty="0"/>
          </a:p>
        </p:txBody>
      </p:sp>
      <p:sp>
        <p:nvSpPr>
          <p:cNvPr id="27" name="Shape 25"/>
          <p:cNvSpPr/>
          <p:nvPr/>
        </p:nvSpPr>
        <p:spPr>
          <a:xfrm>
            <a:off x="8284464" y="3657600"/>
            <a:ext cx="3172968" cy="1051560"/>
          </a:xfrm>
          <a:prstGeom prst="roundRect">
            <a:avLst>
              <a:gd name="adj" fmla="val 5217"/>
            </a:avLst>
          </a:prstGeom>
          <a:solidFill>
            <a:srgbClr val="E9EEF8"/>
          </a:solidFill>
          <a:ln w="9525">
            <a:solidFill>
              <a:srgbClr val="D2DBEC"/>
            </a:solidFill>
            <a:prstDash val="solid"/>
          </a:ln>
        </p:spPr>
      </p:sp>
      <p:sp>
        <p:nvSpPr>
          <p:cNvPr id="28" name="Text 26"/>
          <p:cNvSpPr txBox="1"/>
          <p:nvPr/>
        </p:nvSpPr>
        <p:spPr>
          <a:xfrm>
            <a:off x="8421624" y="3749040"/>
            <a:ext cx="2898648" cy="914400"/>
          </a:xfrm>
          <a:prstGeom prst="rect">
            <a:avLst/>
          </a:prstGeom>
          <a:noFill/>
          <a:ln/>
        </p:spPr>
        <p:txBody>
          <a:bodyPr wrap="square" lIns="0" tIns="0" rIns="0" bIns="0" rtlCol="0" anchor="ctr"/>
          <a:lstStyle/>
          <a:p>
            <a:pPr marL="0" indent="0">
              <a:spcAft>
                <a:spcPts val="400"/>
              </a:spcAft>
              <a:buNone/>
            </a:pPr>
            <a:r>
              <a:rPr lang="en-US" sz="1250" i="1" dirty="0">
                <a:solidFill>
                  <a:srgbClr val="2C3A55"/>
                </a:solidFill>
                <a:latin typeface="Calibri" pitchFamily="34" charset="0"/>
                <a:ea typeface="Calibri" pitchFamily="34" charset="-122"/>
                <a:cs typeface="Calibri" pitchFamily="34" charset="-120"/>
              </a:rPr>
              <a:t>¿Qué segmentos naturales hay en mi cartera, sin definirlos antes?</a:t>
            </a:r>
            <a:endParaRPr lang="en-US" sz="1250" dirty="0"/>
          </a:p>
        </p:txBody>
      </p:sp>
      <p:sp>
        <p:nvSpPr>
          <p:cNvPr id="29" name="Text 27"/>
          <p:cNvSpPr txBox="1"/>
          <p:nvPr/>
        </p:nvSpPr>
        <p:spPr>
          <a:xfrm>
            <a:off x="8284464" y="4846320"/>
            <a:ext cx="3172968" cy="320040"/>
          </a:xfrm>
          <a:prstGeom prst="rect">
            <a:avLst/>
          </a:prstGeom>
          <a:noFill/>
          <a:ln/>
        </p:spPr>
        <p:txBody>
          <a:bodyPr wrap="square" lIns="0" tIns="0" rIns="0" bIns="0" rtlCol="0" anchor="ctr"/>
          <a:lstStyle/>
          <a:p>
            <a:pPr marL="0" indent="0">
              <a:buNone/>
            </a:pPr>
            <a:r>
              <a:rPr lang="en-US" sz="1200" b="1" dirty="0">
                <a:solidFill>
                  <a:srgbClr val="0A2559"/>
                </a:solidFill>
                <a:latin typeface="Calibri" pitchFamily="34" charset="0"/>
                <a:ea typeface="Calibri" pitchFamily="34" charset="-122"/>
                <a:cs typeface="Calibri" pitchFamily="34" charset="-120"/>
              </a:rPr>
              <a:t>no supervisado · NO hay y</a:t>
            </a:r>
            <a:endParaRPr lang="en-US" sz="1200" dirty="0"/>
          </a:p>
        </p:txBody>
      </p:sp>
      <p:sp>
        <p:nvSpPr>
          <p:cNvPr id="30" name="Shape 28"/>
          <p:cNvSpPr/>
          <p:nvPr/>
        </p:nvSpPr>
        <p:spPr>
          <a:xfrm>
            <a:off x="502920" y="5577840"/>
            <a:ext cx="11183112" cy="685800"/>
          </a:xfrm>
          <a:prstGeom prst="roundRect">
            <a:avLst>
              <a:gd name="adj" fmla="val 8000"/>
            </a:avLst>
          </a:prstGeom>
          <a:solidFill>
            <a:srgbClr val="E9EEF8"/>
          </a:solidFill>
          <a:ln w="9525">
            <a:solidFill>
              <a:srgbClr val="D2DBEC"/>
            </a:solidFill>
            <a:prstDash val="solid"/>
          </a:ln>
        </p:spPr>
      </p:sp>
      <p:sp>
        <p:nvSpPr>
          <p:cNvPr id="31" name="Text 29"/>
          <p:cNvSpPr txBox="1"/>
          <p:nvPr/>
        </p:nvSpPr>
        <p:spPr>
          <a:xfrm>
            <a:off x="731520" y="5650992"/>
            <a:ext cx="10789920" cy="548640"/>
          </a:xfrm>
          <a:prstGeom prst="rect">
            <a:avLst/>
          </a:prstGeom>
          <a:noFill/>
          <a:ln/>
        </p:spPr>
        <p:txBody>
          <a:bodyPr wrap="square" lIns="0" tIns="0" rIns="0" bIns="0" rtlCol="0" anchor="ctr"/>
          <a:lstStyle/>
          <a:p>
            <a:pPr marL="0" indent="0">
              <a:spcAft>
                <a:spcPts val="400"/>
              </a:spcAft>
              <a:buNone/>
            </a:pPr>
            <a:r>
              <a:rPr lang="en-US" sz="1250" b="1" dirty="0">
                <a:solidFill>
                  <a:srgbClr val="0A2559"/>
                </a:solidFill>
                <a:latin typeface="Calibri" pitchFamily="34" charset="0"/>
                <a:ea typeface="Calibri" pitchFamily="34" charset="-122"/>
                <a:cs typeface="Calibri" pitchFamily="34" charset="-120"/>
              </a:rPr>
              <a:t>¿Y el Módulo 4? </a:t>
            </a:r>
            <a:r>
              <a:rPr lang="en-US" sz="1250" dirty="0">
                <a:solidFill>
                  <a:srgbClr val="2C3A55"/>
                </a:solidFill>
                <a:latin typeface="Calibri" pitchFamily="34" charset="0"/>
                <a:ea typeface="Calibri" pitchFamily="34" charset="-122"/>
                <a:cs typeface="Calibri" pitchFamily="34" charset="-120"/>
              </a:rPr>
              <a:t>No es otro tipo de problema: son técnicas para que los modelos de los módulos 1 y 2 rindan más (ajuste de hiperparámetros, ensembles, boosting) y para ponerlos en producción.</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BLOQUE 2</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¿Qué tipo de problema es?</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Respóndelas en voz alta antes de mirar la columna de la derecha. Son el ejercicio 2.2 del notebook.</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2103120"/>
          <a:ext cx="11183112" cy="914400"/>
        </p:xfrm>
        <a:graphic>
          <a:graphicData uri="http://schemas.openxmlformats.org/drawingml/2006/table">
            <a:tbl>
              <a:tblPr/>
              <a:tblGrid>
                <a:gridCol w="457200">
                  <a:extLst>
                    <a:ext uri="{9D8B030D-6E8A-4147-A177-3AD203B41FA5}">
                      <a16:colId xmlns:a16="http://schemas.microsoft.com/office/drawing/2014/main" val="20000"/>
                    </a:ext>
                  </a:extLst>
                </a:gridCol>
                <a:gridCol w="630936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2816352">
                  <a:extLst>
                    <a:ext uri="{9D8B030D-6E8A-4147-A177-3AD203B41FA5}">
                      <a16:colId xmlns:a16="http://schemas.microsoft.com/office/drawing/2014/main" val="20003"/>
                    </a:ext>
                  </a:extLst>
                </a:gridCol>
              </a:tblGrid>
              <a:tr h="457200">
                <a:tc>
                  <a:txBody>
                    <a:bodyPr/>
                    <a:lstStyle/>
                    <a:p>
                      <a:pPr marL="0" indent="0">
                        <a:buNone/>
                      </a:pP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Situación</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Tipo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Por qué</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457200">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a</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Cuántos soles gastará un cliente con su tarjeta el próximo mes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b="1" dirty="0">
                          <a:solidFill>
                            <a:srgbClr val="1A56E8"/>
                          </a:solidFill>
                          <a:latin typeface="Calibri" pitchFamily="34" charset="0"/>
                          <a:ea typeface="Calibri" pitchFamily="34" charset="-122"/>
                          <a:cs typeface="Calibri" pitchFamily="34" charset="-120"/>
                        </a:rPr>
                        <a:t>Regresión</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i="1" dirty="0">
                          <a:solidFill>
                            <a:srgbClr val="5B6B87"/>
                          </a:solidFill>
                          <a:latin typeface="Calibri" pitchFamily="34" charset="0"/>
                          <a:ea typeface="Calibri" pitchFamily="34" charset="-122"/>
                          <a:cs typeface="Calibri" pitchFamily="34" charset="-120"/>
                        </a:rPr>
                        <a:t>es un número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b</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Si una transacción con tarjeta es fraude o no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b="1" dirty="0">
                          <a:solidFill>
                            <a:srgbClr val="E6115E"/>
                          </a:solidFill>
                          <a:latin typeface="Calibri" pitchFamily="34" charset="0"/>
                          <a:ea typeface="Calibri" pitchFamily="34" charset="-122"/>
                          <a:cs typeface="Calibri" pitchFamily="34" charset="-120"/>
                        </a:rPr>
                        <a:t>Clasificación</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i="1" dirty="0">
                          <a:solidFill>
                            <a:srgbClr val="5B6B87"/>
                          </a:solidFill>
                          <a:latin typeface="Calibri" pitchFamily="34" charset="0"/>
                          <a:ea typeface="Calibri" pitchFamily="34" charset="-122"/>
                          <a:cs typeface="Calibri" pitchFamily="34" charset="-120"/>
                        </a:rPr>
                        <a:t>sí / no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Separar a los clientes en segmentos parecidos, sin etiquetas previas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b="1" dirty="0">
                          <a:solidFill>
                            <a:srgbClr val="0A2559"/>
                          </a:solidFill>
                          <a:latin typeface="Calibri" pitchFamily="34" charset="0"/>
                          <a:ea typeface="Calibri" pitchFamily="34" charset="-122"/>
                          <a:cs typeface="Calibri" pitchFamily="34" charset="-120"/>
                        </a:rPr>
                        <a:t>Clustering</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i="1" dirty="0">
                          <a:solidFill>
                            <a:srgbClr val="5B6B87"/>
                          </a:solidFill>
                          <a:latin typeface="Calibri" pitchFamily="34" charset="0"/>
                          <a:ea typeface="Calibri" pitchFamily="34" charset="-122"/>
                          <a:cs typeface="Calibri" pitchFamily="34" charset="-120"/>
                        </a:rPr>
                        <a:t>no hay y</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d</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Qué porcentaje de la deuda se perderá si el cliente no paga (LGD)</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b="1" dirty="0">
                          <a:solidFill>
                            <a:srgbClr val="1A56E8"/>
                          </a:solidFill>
                          <a:latin typeface="Calibri" pitchFamily="34" charset="0"/>
                          <a:ea typeface="Calibri" pitchFamily="34" charset="-122"/>
                          <a:cs typeface="Calibri" pitchFamily="34" charset="-120"/>
                        </a:rPr>
                        <a:t>Regresión</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i="1" dirty="0">
                          <a:solidFill>
                            <a:srgbClr val="5B6B87"/>
                          </a:solidFill>
                          <a:latin typeface="Calibri" pitchFamily="34" charset="0"/>
                          <a:ea typeface="Calibri" pitchFamily="34" charset="-122"/>
                          <a:cs typeface="Calibri" pitchFamily="34" charset="-120"/>
                        </a:rPr>
                        <a:t>un % también es un número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Si un cliente caerá en mora en los próximos 12 meses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b="1" dirty="0">
                          <a:solidFill>
                            <a:srgbClr val="E6115E"/>
                          </a:solidFill>
                          <a:latin typeface="Calibri" pitchFamily="34" charset="0"/>
                          <a:ea typeface="Calibri" pitchFamily="34" charset="-122"/>
                          <a:cs typeface="Calibri" pitchFamily="34" charset="-120"/>
                        </a:rPr>
                        <a:t>Clasificación</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i="1" dirty="0">
                          <a:solidFill>
                            <a:srgbClr val="5B6B87"/>
                          </a:solidFill>
                          <a:latin typeface="Calibri" pitchFamily="34" charset="0"/>
                          <a:ea typeface="Calibri" pitchFamily="34" charset="-122"/>
                          <a:cs typeface="Calibri" pitchFamily="34" charset="-120"/>
                        </a:rPr>
                        <a:t>el problema de hoy</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f</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Agrupar cajeros automáticos según su patrón de retiros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b="1" dirty="0">
                          <a:solidFill>
                            <a:srgbClr val="0A2559"/>
                          </a:solidFill>
                          <a:latin typeface="Calibri" pitchFamily="34" charset="0"/>
                          <a:ea typeface="Calibri" pitchFamily="34" charset="-122"/>
                          <a:cs typeface="Calibri" pitchFamily="34" charset="-120"/>
                        </a:rPr>
                        <a:t>Clustering</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i="1" dirty="0">
                          <a:solidFill>
                            <a:srgbClr val="5B6B87"/>
                          </a:solidFill>
                          <a:latin typeface="Calibri" pitchFamily="34" charset="0"/>
                          <a:ea typeface="Calibri" pitchFamily="34" charset="-122"/>
                          <a:cs typeface="Calibri" pitchFamily="34" charset="-120"/>
                        </a:rPr>
                        <a:t>nadie definió los grupos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7" name="Shape 4"/>
          <p:cNvSpPr/>
          <p:nvPr/>
        </p:nvSpPr>
        <p:spPr>
          <a:xfrm>
            <a:off x="502920" y="5486400"/>
            <a:ext cx="11183112" cy="777240"/>
          </a:xfrm>
          <a:prstGeom prst="roundRect">
            <a:avLst>
              <a:gd name="adj" fmla="val 7059"/>
            </a:avLst>
          </a:prstGeom>
          <a:solidFill>
            <a:srgbClr val="0A2559"/>
          </a:solidFill>
          <a:ln w="9525">
            <a:solidFill>
              <a:srgbClr val="0A2559"/>
            </a:solidFill>
            <a:prstDash val="solid"/>
          </a:ln>
        </p:spPr>
      </p:sp>
      <p:sp>
        <p:nvSpPr>
          <p:cNvPr id="8" name="Text 5"/>
          <p:cNvSpPr txBox="1"/>
          <p:nvPr/>
        </p:nvSpPr>
        <p:spPr>
          <a:xfrm>
            <a:off x="731520" y="5559552"/>
            <a:ext cx="10789920" cy="640080"/>
          </a:xfrm>
          <a:prstGeom prst="rect">
            <a:avLst/>
          </a:prstGeom>
          <a:noFill/>
          <a:ln/>
        </p:spPr>
        <p:txBody>
          <a:bodyPr wrap="square" lIns="0" tIns="0" rIns="0" bIns="0" rtlCol="0" anchor="ctr"/>
          <a:lstStyle/>
          <a:p>
            <a:pPr marL="0" indent="0">
              <a:spcAft>
                <a:spcPts val="400"/>
              </a:spcAft>
              <a:buNone/>
            </a:pPr>
            <a:r>
              <a:rPr lang="en-US" sz="1300" b="1" dirty="0">
                <a:solidFill>
                  <a:srgbClr val="FFFFFF"/>
                </a:solidFill>
                <a:latin typeface="Calibri" pitchFamily="34" charset="0"/>
                <a:ea typeface="Calibri" pitchFamily="34" charset="-122"/>
                <a:cs typeface="Calibri" pitchFamily="34" charset="-120"/>
              </a:rPr>
              <a:t>La que más se falla es la (d). </a:t>
            </a:r>
            <a:r>
              <a:rPr lang="en-US" sz="1300" dirty="0">
                <a:solidFill>
                  <a:srgbClr val="C9D4EA"/>
                </a:solidFill>
                <a:latin typeface="Calibri" pitchFamily="34" charset="0"/>
                <a:ea typeface="Calibri" pitchFamily="34" charset="-122"/>
                <a:cs typeface="Calibri" pitchFamily="34" charset="-120"/>
              </a:rPr>
              <a:t>Que el resultado esté entre 0 y 100 no lo convierte en clasificación: si puede tomar cualquier valor en un rango, es regresión.</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BLOQUE 2</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El modelo es solo un paso de seis</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El flujo estándar de un proyecto de datos se llama CRISP-DM. Y casi nunca se recorre en línea recta.</a:t>
            </a:r>
            <a:endParaRPr lang="en-US" sz="1400" dirty="0"/>
          </a:p>
        </p:txBody>
      </p:sp>
      <p:sp>
        <p:nvSpPr>
          <p:cNvPr id="6" name="Shape 4"/>
          <p:cNvSpPr/>
          <p:nvPr/>
        </p:nvSpPr>
        <p:spPr>
          <a:xfrm>
            <a:off x="502920" y="2148840"/>
            <a:ext cx="1737360" cy="2377440"/>
          </a:xfrm>
          <a:prstGeom prst="roundRect">
            <a:avLst>
              <a:gd name="adj" fmla="val 3158"/>
            </a:avLst>
          </a:prstGeom>
          <a:solidFill>
            <a:srgbClr val="FFFFFF"/>
          </a:solidFill>
          <a:ln w="9525">
            <a:solidFill>
              <a:srgbClr val="D2DBEC"/>
            </a:solidFill>
            <a:prstDash val="solid"/>
          </a:ln>
        </p:spPr>
      </p:sp>
      <p:sp>
        <p:nvSpPr>
          <p:cNvPr id="7" name="Shape 5"/>
          <p:cNvSpPr/>
          <p:nvPr/>
        </p:nvSpPr>
        <p:spPr>
          <a:xfrm>
            <a:off x="731520" y="2331720"/>
            <a:ext cx="384048" cy="384048"/>
          </a:xfrm>
          <a:prstGeom prst="ellipse">
            <a:avLst/>
          </a:prstGeom>
          <a:solidFill>
            <a:srgbClr val="1A56E8"/>
          </a:solidFill>
          <a:ln w="12700">
            <a:solidFill>
              <a:srgbClr val="1A56E8"/>
            </a:solidFill>
            <a:prstDash val="solid"/>
          </a:ln>
        </p:spPr>
      </p:sp>
      <p:sp>
        <p:nvSpPr>
          <p:cNvPr id="8" name="Text 6"/>
          <p:cNvSpPr txBox="1"/>
          <p:nvPr/>
        </p:nvSpPr>
        <p:spPr>
          <a:xfrm>
            <a:off x="731520" y="233172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685800" y="2834640"/>
            <a:ext cx="1371600" cy="640080"/>
          </a:xfrm>
          <a:prstGeom prst="rect">
            <a:avLst/>
          </a:prstGeom>
          <a:noFill/>
          <a:ln/>
        </p:spPr>
        <p:txBody>
          <a:bodyPr wrap="square" lIns="0" tIns="0" rIns="0" bIns="0" rtlCol="0" anchor="t"/>
          <a:lstStyle/>
          <a:p>
            <a:pPr marL="0" indent="0">
              <a:buNone/>
            </a:pPr>
            <a:r>
              <a:rPr lang="en-US" sz="1400" b="1" dirty="0">
                <a:solidFill>
                  <a:srgbClr val="0A2559"/>
                </a:solidFill>
                <a:latin typeface="Calibri" pitchFamily="34" charset="0"/>
                <a:ea typeface="Calibri" pitchFamily="34" charset="-122"/>
                <a:cs typeface="Calibri" pitchFamily="34" charset="-120"/>
              </a:rPr>
              <a:t>Entender el negocio</a:t>
            </a:r>
            <a:endParaRPr lang="en-US" sz="1400" dirty="0"/>
          </a:p>
        </p:txBody>
      </p:sp>
      <p:sp>
        <p:nvSpPr>
          <p:cNvPr id="10" name="Text 8"/>
          <p:cNvSpPr txBox="1"/>
          <p:nvPr/>
        </p:nvSpPr>
        <p:spPr>
          <a:xfrm>
            <a:off x="685800" y="3520440"/>
            <a:ext cx="1371600" cy="914400"/>
          </a:xfrm>
          <a:prstGeom prst="rect">
            <a:avLst/>
          </a:prstGeom>
          <a:noFill/>
          <a:ln/>
        </p:spPr>
        <p:txBody>
          <a:bodyPr wrap="square" lIns="0" tIns="0" rIns="0" bIns="0" rtlCol="0" anchor="t"/>
          <a:lstStyle/>
          <a:p>
            <a:pPr marL="0" indent="0">
              <a:spcAft>
                <a:spcPts val="400"/>
              </a:spcAft>
              <a:buNone/>
            </a:pPr>
            <a:r>
              <a:rPr lang="en-US" sz="1150" dirty="0">
                <a:solidFill>
                  <a:srgbClr val="2C3A55"/>
                </a:solidFill>
                <a:latin typeface="Calibri" pitchFamily="34" charset="0"/>
                <a:ea typeface="Calibri" pitchFamily="34" charset="-122"/>
                <a:cs typeface="Calibri" pitchFamily="34" charset="-120"/>
              </a:rPr>
              <a:t>¿Qué decisión va a cambiar el modelo? ¿Cuál es P?</a:t>
            </a:r>
            <a:endParaRPr lang="en-US" sz="1150" dirty="0"/>
          </a:p>
        </p:txBody>
      </p:sp>
      <p:sp>
        <p:nvSpPr>
          <p:cNvPr id="11" name="Shape 9"/>
          <p:cNvSpPr/>
          <p:nvPr/>
        </p:nvSpPr>
        <p:spPr>
          <a:xfrm>
            <a:off x="2249424" y="3337560"/>
            <a:ext cx="133502" cy="0"/>
          </a:xfrm>
          <a:prstGeom prst="line">
            <a:avLst/>
          </a:prstGeom>
          <a:noFill/>
          <a:ln w="15875">
            <a:solidFill>
              <a:srgbClr val="5B6B87"/>
            </a:solidFill>
            <a:prstDash val="solid"/>
            <a:tailEnd type="triangle"/>
          </a:ln>
        </p:spPr>
      </p:sp>
      <p:sp>
        <p:nvSpPr>
          <p:cNvPr id="12" name="Shape 10"/>
          <p:cNvSpPr/>
          <p:nvPr/>
        </p:nvSpPr>
        <p:spPr>
          <a:xfrm>
            <a:off x="2392070" y="2148840"/>
            <a:ext cx="1737360" cy="2377440"/>
          </a:xfrm>
          <a:prstGeom prst="roundRect">
            <a:avLst>
              <a:gd name="adj" fmla="val 3158"/>
            </a:avLst>
          </a:prstGeom>
          <a:solidFill>
            <a:srgbClr val="FFFFFF"/>
          </a:solidFill>
          <a:ln w="9525">
            <a:solidFill>
              <a:srgbClr val="D2DBEC"/>
            </a:solidFill>
            <a:prstDash val="solid"/>
          </a:ln>
        </p:spPr>
      </p:sp>
      <p:sp>
        <p:nvSpPr>
          <p:cNvPr id="13" name="Shape 11"/>
          <p:cNvSpPr/>
          <p:nvPr/>
        </p:nvSpPr>
        <p:spPr>
          <a:xfrm>
            <a:off x="2620670" y="2331720"/>
            <a:ext cx="384048" cy="384048"/>
          </a:xfrm>
          <a:prstGeom prst="ellipse">
            <a:avLst/>
          </a:prstGeom>
          <a:solidFill>
            <a:srgbClr val="1A56E8"/>
          </a:solidFill>
          <a:ln w="12700">
            <a:solidFill>
              <a:srgbClr val="1A56E8"/>
            </a:solidFill>
            <a:prstDash val="solid"/>
          </a:ln>
        </p:spPr>
      </p:sp>
      <p:sp>
        <p:nvSpPr>
          <p:cNvPr id="14" name="Text 12"/>
          <p:cNvSpPr txBox="1"/>
          <p:nvPr/>
        </p:nvSpPr>
        <p:spPr>
          <a:xfrm>
            <a:off x="2620670" y="233172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txBox="1"/>
          <p:nvPr/>
        </p:nvSpPr>
        <p:spPr>
          <a:xfrm>
            <a:off x="2574950" y="2834640"/>
            <a:ext cx="1371600" cy="640080"/>
          </a:xfrm>
          <a:prstGeom prst="rect">
            <a:avLst/>
          </a:prstGeom>
          <a:noFill/>
          <a:ln/>
        </p:spPr>
        <p:txBody>
          <a:bodyPr wrap="square" lIns="0" tIns="0" rIns="0" bIns="0" rtlCol="0" anchor="t"/>
          <a:lstStyle/>
          <a:p>
            <a:pPr marL="0" indent="0">
              <a:buNone/>
            </a:pPr>
            <a:r>
              <a:rPr lang="en-US" sz="1400" b="1" dirty="0">
                <a:solidFill>
                  <a:srgbClr val="0A2559"/>
                </a:solidFill>
                <a:latin typeface="Calibri" pitchFamily="34" charset="0"/>
                <a:ea typeface="Calibri" pitchFamily="34" charset="-122"/>
                <a:cs typeface="Calibri" pitchFamily="34" charset="-120"/>
              </a:rPr>
              <a:t>Entender los datos</a:t>
            </a:r>
            <a:endParaRPr lang="en-US" sz="1400" dirty="0"/>
          </a:p>
        </p:txBody>
      </p:sp>
      <p:sp>
        <p:nvSpPr>
          <p:cNvPr id="16" name="Text 14"/>
          <p:cNvSpPr txBox="1"/>
          <p:nvPr/>
        </p:nvSpPr>
        <p:spPr>
          <a:xfrm>
            <a:off x="2574950" y="3520440"/>
            <a:ext cx="1371600" cy="914400"/>
          </a:xfrm>
          <a:prstGeom prst="rect">
            <a:avLst/>
          </a:prstGeom>
          <a:noFill/>
          <a:ln/>
        </p:spPr>
        <p:txBody>
          <a:bodyPr wrap="square" lIns="0" tIns="0" rIns="0" bIns="0" rtlCol="0" anchor="t"/>
          <a:lstStyle/>
          <a:p>
            <a:pPr marL="0" indent="0">
              <a:spcAft>
                <a:spcPts val="400"/>
              </a:spcAft>
              <a:buNone/>
            </a:pPr>
            <a:r>
              <a:rPr lang="en-US" sz="1150" dirty="0">
                <a:solidFill>
                  <a:srgbClr val="2C3A55"/>
                </a:solidFill>
                <a:latin typeface="Calibri" pitchFamily="34" charset="0"/>
                <a:ea typeface="Calibri" pitchFamily="34" charset="-122"/>
                <a:cs typeface="Calibri" pitchFamily="34" charset="-120"/>
              </a:rPr>
              <a:t>Qué hay, qué falta, qué está mal</a:t>
            </a:r>
            <a:endParaRPr lang="en-US" sz="1150" dirty="0"/>
          </a:p>
        </p:txBody>
      </p:sp>
      <p:sp>
        <p:nvSpPr>
          <p:cNvPr id="17" name="Shape 15"/>
          <p:cNvSpPr/>
          <p:nvPr/>
        </p:nvSpPr>
        <p:spPr>
          <a:xfrm>
            <a:off x="4138574" y="3337560"/>
            <a:ext cx="133502" cy="0"/>
          </a:xfrm>
          <a:prstGeom prst="line">
            <a:avLst/>
          </a:prstGeom>
          <a:noFill/>
          <a:ln w="15875">
            <a:solidFill>
              <a:srgbClr val="5B6B87"/>
            </a:solidFill>
            <a:prstDash val="solid"/>
            <a:tailEnd type="triangle"/>
          </a:ln>
        </p:spPr>
      </p:sp>
      <p:sp>
        <p:nvSpPr>
          <p:cNvPr id="18" name="Shape 16"/>
          <p:cNvSpPr/>
          <p:nvPr/>
        </p:nvSpPr>
        <p:spPr>
          <a:xfrm>
            <a:off x="4281221" y="2148840"/>
            <a:ext cx="1737360" cy="2377440"/>
          </a:xfrm>
          <a:prstGeom prst="roundRect">
            <a:avLst>
              <a:gd name="adj" fmla="val 3158"/>
            </a:avLst>
          </a:prstGeom>
          <a:solidFill>
            <a:srgbClr val="FFFFFF"/>
          </a:solidFill>
          <a:ln w="9525">
            <a:solidFill>
              <a:srgbClr val="D2DBEC"/>
            </a:solidFill>
            <a:prstDash val="solid"/>
          </a:ln>
        </p:spPr>
      </p:sp>
      <p:sp>
        <p:nvSpPr>
          <p:cNvPr id="19" name="Shape 17"/>
          <p:cNvSpPr/>
          <p:nvPr/>
        </p:nvSpPr>
        <p:spPr>
          <a:xfrm>
            <a:off x="4509821" y="2331720"/>
            <a:ext cx="384048" cy="384048"/>
          </a:xfrm>
          <a:prstGeom prst="ellipse">
            <a:avLst/>
          </a:prstGeom>
          <a:solidFill>
            <a:srgbClr val="1A56E8"/>
          </a:solidFill>
          <a:ln w="12700">
            <a:solidFill>
              <a:srgbClr val="1A56E8"/>
            </a:solidFill>
            <a:prstDash val="solid"/>
          </a:ln>
        </p:spPr>
      </p:sp>
      <p:sp>
        <p:nvSpPr>
          <p:cNvPr id="20" name="Text 18"/>
          <p:cNvSpPr txBox="1"/>
          <p:nvPr/>
        </p:nvSpPr>
        <p:spPr>
          <a:xfrm>
            <a:off x="4509821" y="233172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1" name="Text 19"/>
          <p:cNvSpPr txBox="1"/>
          <p:nvPr/>
        </p:nvSpPr>
        <p:spPr>
          <a:xfrm>
            <a:off x="4464101" y="2834640"/>
            <a:ext cx="1371600" cy="640080"/>
          </a:xfrm>
          <a:prstGeom prst="rect">
            <a:avLst/>
          </a:prstGeom>
          <a:noFill/>
          <a:ln/>
        </p:spPr>
        <p:txBody>
          <a:bodyPr wrap="square" lIns="0" tIns="0" rIns="0" bIns="0" rtlCol="0" anchor="t"/>
          <a:lstStyle/>
          <a:p>
            <a:pPr marL="0" indent="0">
              <a:buNone/>
            </a:pPr>
            <a:r>
              <a:rPr lang="en-US" sz="1400" b="1" dirty="0">
                <a:solidFill>
                  <a:srgbClr val="0A2559"/>
                </a:solidFill>
                <a:latin typeface="Calibri" pitchFamily="34" charset="0"/>
                <a:ea typeface="Calibri" pitchFamily="34" charset="-122"/>
                <a:cs typeface="Calibri" pitchFamily="34" charset="-120"/>
              </a:rPr>
              <a:t>Preparar los datos</a:t>
            </a:r>
            <a:endParaRPr lang="en-US" sz="1400" dirty="0"/>
          </a:p>
        </p:txBody>
      </p:sp>
      <p:sp>
        <p:nvSpPr>
          <p:cNvPr id="22" name="Text 20"/>
          <p:cNvSpPr txBox="1"/>
          <p:nvPr/>
        </p:nvSpPr>
        <p:spPr>
          <a:xfrm>
            <a:off x="4464101" y="3520440"/>
            <a:ext cx="1371600" cy="914400"/>
          </a:xfrm>
          <a:prstGeom prst="rect">
            <a:avLst/>
          </a:prstGeom>
          <a:noFill/>
          <a:ln/>
        </p:spPr>
        <p:txBody>
          <a:bodyPr wrap="square" lIns="0" tIns="0" rIns="0" bIns="0" rtlCol="0" anchor="t"/>
          <a:lstStyle/>
          <a:p>
            <a:pPr marL="0" indent="0">
              <a:spcAft>
                <a:spcPts val="400"/>
              </a:spcAft>
              <a:buNone/>
            </a:pPr>
            <a:r>
              <a:rPr lang="en-US" sz="1150" dirty="0">
                <a:solidFill>
                  <a:srgbClr val="2C3A55"/>
                </a:solidFill>
                <a:latin typeface="Calibri" pitchFamily="34" charset="0"/>
                <a:ea typeface="Calibri" pitchFamily="34" charset="-122"/>
                <a:cs typeface="Calibri" pitchFamily="34" charset="-120"/>
              </a:rPr>
              <a:t>Limpiar, transformar, crear variables</a:t>
            </a:r>
            <a:endParaRPr lang="en-US" sz="1150" dirty="0"/>
          </a:p>
        </p:txBody>
      </p:sp>
      <p:sp>
        <p:nvSpPr>
          <p:cNvPr id="23" name="Shape 21"/>
          <p:cNvSpPr/>
          <p:nvPr/>
        </p:nvSpPr>
        <p:spPr>
          <a:xfrm>
            <a:off x="6027725" y="3337560"/>
            <a:ext cx="133502" cy="0"/>
          </a:xfrm>
          <a:prstGeom prst="line">
            <a:avLst/>
          </a:prstGeom>
          <a:noFill/>
          <a:ln w="15875">
            <a:solidFill>
              <a:srgbClr val="5B6B87"/>
            </a:solidFill>
            <a:prstDash val="solid"/>
            <a:tailEnd type="triangle"/>
          </a:ln>
        </p:spPr>
      </p:sp>
      <p:sp>
        <p:nvSpPr>
          <p:cNvPr id="24" name="Shape 22"/>
          <p:cNvSpPr/>
          <p:nvPr/>
        </p:nvSpPr>
        <p:spPr>
          <a:xfrm>
            <a:off x="6170371" y="2148840"/>
            <a:ext cx="1737360" cy="2377440"/>
          </a:xfrm>
          <a:prstGeom prst="roundRect">
            <a:avLst>
              <a:gd name="adj" fmla="val 3158"/>
            </a:avLst>
          </a:prstGeom>
          <a:solidFill>
            <a:srgbClr val="0A2559"/>
          </a:solidFill>
          <a:ln w="9525">
            <a:solidFill>
              <a:srgbClr val="0A2559"/>
            </a:solidFill>
            <a:prstDash val="solid"/>
          </a:ln>
        </p:spPr>
      </p:sp>
      <p:sp>
        <p:nvSpPr>
          <p:cNvPr id="25" name="Shape 23"/>
          <p:cNvSpPr/>
          <p:nvPr/>
        </p:nvSpPr>
        <p:spPr>
          <a:xfrm>
            <a:off x="6398971" y="2331720"/>
            <a:ext cx="384048" cy="384048"/>
          </a:xfrm>
          <a:prstGeom prst="ellipse">
            <a:avLst/>
          </a:prstGeom>
          <a:solidFill>
            <a:srgbClr val="E6115E"/>
          </a:solidFill>
          <a:ln w="12700">
            <a:solidFill>
              <a:srgbClr val="E6115E"/>
            </a:solidFill>
            <a:prstDash val="solid"/>
          </a:ln>
        </p:spPr>
      </p:sp>
      <p:sp>
        <p:nvSpPr>
          <p:cNvPr id="26" name="Text 24"/>
          <p:cNvSpPr txBox="1"/>
          <p:nvPr/>
        </p:nvSpPr>
        <p:spPr>
          <a:xfrm>
            <a:off x="6398971" y="233172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7" name="Text 25"/>
          <p:cNvSpPr txBox="1"/>
          <p:nvPr/>
        </p:nvSpPr>
        <p:spPr>
          <a:xfrm>
            <a:off x="6353251" y="2834640"/>
            <a:ext cx="1371600" cy="64008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Modelar</a:t>
            </a:r>
            <a:endParaRPr lang="en-US" sz="1400" dirty="0"/>
          </a:p>
        </p:txBody>
      </p:sp>
      <p:sp>
        <p:nvSpPr>
          <p:cNvPr id="28" name="Text 26"/>
          <p:cNvSpPr txBox="1"/>
          <p:nvPr/>
        </p:nvSpPr>
        <p:spPr>
          <a:xfrm>
            <a:off x="6353251" y="3520440"/>
            <a:ext cx="1371600" cy="914400"/>
          </a:xfrm>
          <a:prstGeom prst="rect">
            <a:avLst/>
          </a:prstGeom>
          <a:noFill/>
          <a:ln/>
        </p:spPr>
        <p:txBody>
          <a:bodyPr wrap="square" lIns="0" tIns="0" rIns="0" bIns="0" rtlCol="0" anchor="t"/>
          <a:lstStyle/>
          <a:p>
            <a:pPr marL="0" indent="0">
              <a:spcAft>
                <a:spcPts val="400"/>
              </a:spcAft>
              <a:buNone/>
            </a:pPr>
            <a:r>
              <a:rPr lang="en-US" sz="1150" dirty="0">
                <a:solidFill>
                  <a:srgbClr val="C9D4EA"/>
                </a:solidFill>
                <a:latin typeface="Calibri" pitchFamily="34" charset="0"/>
                <a:ea typeface="Calibri" pitchFamily="34" charset="-122"/>
                <a:cs typeface="Calibri" pitchFamily="34" charset="-120"/>
              </a:rPr>
              <a:t>Entrenar y ajustar hiperparámetros</a:t>
            </a:r>
            <a:endParaRPr lang="en-US" sz="1150" dirty="0"/>
          </a:p>
        </p:txBody>
      </p:sp>
      <p:sp>
        <p:nvSpPr>
          <p:cNvPr id="29" name="Shape 27"/>
          <p:cNvSpPr/>
          <p:nvPr/>
        </p:nvSpPr>
        <p:spPr>
          <a:xfrm>
            <a:off x="7916875" y="3337560"/>
            <a:ext cx="133502" cy="0"/>
          </a:xfrm>
          <a:prstGeom prst="line">
            <a:avLst/>
          </a:prstGeom>
          <a:noFill/>
          <a:ln w="15875">
            <a:solidFill>
              <a:srgbClr val="5B6B87"/>
            </a:solidFill>
            <a:prstDash val="solid"/>
            <a:tailEnd type="triangle"/>
          </a:ln>
        </p:spPr>
      </p:sp>
      <p:sp>
        <p:nvSpPr>
          <p:cNvPr id="30" name="Shape 28"/>
          <p:cNvSpPr/>
          <p:nvPr/>
        </p:nvSpPr>
        <p:spPr>
          <a:xfrm>
            <a:off x="8059522" y="2148840"/>
            <a:ext cx="1737360" cy="2377440"/>
          </a:xfrm>
          <a:prstGeom prst="roundRect">
            <a:avLst>
              <a:gd name="adj" fmla="val 3158"/>
            </a:avLst>
          </a:prstGeom>
          <a:solidFill>
            <a:srgbClr val="0A2559"/>
          </a:solidFill>
          <a:ln w="9525">
            <a:solidFill>
              <a:srgbClr val="0A2559"/>
            </a:solidFill>
            <a:prstDash val="solid"/>
          </a:ln>
        </p:spPr>
      </p:sp>
      <p:sp>
        <p:nvSpPr>
          <p:cNvPr id="31" name="Shape 29"/>
          <p:cNvSpPr/>
          <p:nvPr/>
        </p:nvSpPr>
        <p:spPr>
          <a:xfrm>
            <a:off x="8288122" y="2331720"/>
            <a:ext cx="384048" cy="384048"/>
          </a:xfrm>
          <a:prstGeom prst="ellipse">
            <a:avLst/>
          </a:prstGeom>
          <a:solidFill>
            <a:srgbClr val="E6115E"/>
          </a:solidFill>
          <a:ln w="12700">
            <a:solidFill>
              <a:srgbClr val="E6115E"/>
            </a:solidFill>
            <a:prstDash val="solid"/>
          </a:ln>
        </p:spPr>
      </p:sp>
      <p:sp>
        <p:nvSpPr>
          <p:cNvPr id="32" name="Text 30"/>
          <p:cNvSpPr txBox="1"/>
          <p:nvPr/>
        </p:nvSpPr>
        <p:spPr>
          <a:xfrm>
            <a:off x="8288122" y="233172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3" name="Text 31"/>
          <p:cNvSpPr txBox="1"/>
          <p:nvPr/>
        </p:nvSpPr>
        <p:spPr>
          <a:xfrm>
            <a:off x="8242402" y="2834640"/>
            <a:ext cx="1371600" cy="64008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Evaluar</a:t>
            </a:r>
            <a:endParaRPr lang="en-US" sz="1400" dirty="0"/>
          </a:p>
        </p:txBody>
      </p:sp>
      <p:sp>
        <p:nvSpPr>
          <p:cNvPr id="34" name="Text 32"/>
          <p:cNvSpPr txBox="1"/>
          <p:nvPr/>
        </p:nvSpPr>
        <p:spPr>
          <a:xfrm>
            <a:off x="8242402" y="3520440"/>
            <a:ext cx="1371600" cy="914400"/>
          </a:xfrm>
          <a:prstGeom prst="rect">
            <a:avLst/>
          </a:prstGeom>
          <a:noFill/>
          <a:ln/>
        </p:spPr>
        <p:txBody>
          <a:bodyPr wrap="square" lIns="0" tIns="0" rIns="0" bIns="0" rtlCol="0" anchor="t"/>
          <a:lstStyle/>
          <a:p>
            <a:pPr marL="0" indent="0">
              <a:spcAft>
                <a:spcPts val="400"/>
              </a:spcAft>
              <a:buNone/>
            </a:pPr>
            <a:r>
              <a:rPr lang="en-US" sz="1150" dirty="0">
                <a:solidFill>
                  <a:srgbClr val="C9D4EA"/>
                </a:solidFill>
                <a:latin typeface="Calibri" pitchFamily="34" charset="0"/>
                <a:ea typeface="Calibri" pitchFamily="34" charset="-122"/>
                <a:cs typeface="Calibri" pitchFamily="34" charset="-120"/>
              </a:rPr>
              <a:t>¿Sirve para el negocio, con datos nuevos?</a:t>
            </a:r>
            <a:endParaRPr lang="en-US" sz="1150" dirty="0"/>
          </a:p>
        </p:txBody>
      </p:sp>
      <p:sp>
        <p:nvSpPr>
          <p:cNvPr id="35" name="Shape 33"/>
          <p:cNvSpPr/>
          <p:nvPr/>
        </p:nvSpPr>
        <p:spPr>
          <a:xfrm>
            <a:off x="9806026" y="3337560"/>
            <a:ext cx="133502" cy="0"/>
          </a:xfrm>
          <a:prstGeom prst="line">
            <a:avLst/>
          </a:prstGeom>
          <a:noFill/>
          <a:ln w="15875">
            <a:solidFill>
              <a:srgbClr val="5B6B87"/>
            </a:solidFill>
            <a:prstDash val="solid"/>
            <a:tailEnd type="triangle"/>
          </a:ln>
        </p:spPr>
      </p:sp>
      <p:sp>
        <p:nvSpPr>
          <p:cNvPr id="36" name="Shape 34"/>
          <p:cNvSpPr/>
          <p:nvPr/>
        </p:nvSpPr>
        <p:spPr>
          <a:xfrm>
            <a:off x="9948672" y="2148840"/>
            <a:ext cx="1737360" cy="2377440"/>
          </a:xfrm>
          <a:prstGeom prst="roundRect">
            <a:avLst>
              <a:gd name="adj" fmla="val 3158"/>
            </a:avLst>
          </a:prstGeom>
          <a:solidFill>
            <a:srgbClr val="FFFFFF"/>
          </a:solidFill>
          <a:ln w="9525">
            <a:solidFill>
              <a:srgbClr val="D2DBEC"/>
            </a:solidFill>
            <a:prstDash val="solid"/>
          </a:ln>
        </p:spPr>
      </p:sp>
      <p:sp>
        <p:nvSpPr>
          <p:cNvPr id="37" name="Shape 35"/>
          <p:cNvSpPr/>
          <p:nvPr/>
        </p:nvSpPr>
        <p:spPr>
          <a:xfrm>
            <a:off x="10177272" y="2331720"/>
            <a:ext cx="384048" cy="384048"/>
          </a:xfrm>
          <a:prstGeom prst="ellipse">
            <a:avLst/>
          </a:prstGeom>
          <a:solidFill>
            <a:srgbClr val="1A56E8"/>
          </a:solidFill>
          <a:ln w="12700">
            <a:solidFill>
              <a:srgbClr val="1A56E8"/>
            </a:solidFill>
            <a:prstDash val="solid"/>
          </a:ln>
        </p:spPr>
      </p:sp>
      <p:sp>
        <p:nvSpPr>
          <p:cNvPr id="38" name="Text 36"/>
          <p:cNvSpPr txBox="1"/>
          <p:nvPr/>
        </p:nvSpPr>
        <p:spPr>
          <a:xfrm>
            <a:off x="10177272" y="233172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9" name="Text 37"/>
          <p:cNvSpPr txBox="1"/>
          <p:nvPr/>
        </p:nvSpPr>
        <p:spPr>
          <a:xfrm>
            <a:off x="10131552" y="2834640"/>
            <a:ext cx="1371600" cy="640080"/>
          </a:xfrm>
          <a:prstGeom prst="rect">
            <a:avLst/>
          </a:prstGeom>
          <a:noFill/>
          <a:ln/>
        </p:spPr>
        <p:txBody>
          <a:bodyPr wrap="square" lIns="0" tIns="0" rIns="0" bIns="0" rtlCol="0" anchor="t"/>
          <a:lstStyle/>
          <a:p>
            <a:pPr marL="0" indent="0">
              <a:buNone/>
            </a:pPr>
            <a:r>
              <a:rPr lang="en-US" sz="1400" b="1" dirty="0">
                <a:solidFill>
                  <a:srgbClr val="0A2559"/>
                </a:solidFill>
                <a:latin typeface="Calibri" pitchFamily="34" charset="0"/>
                <a:ea typeface="Calibri" pitchFamily="34" charset="-122"/>
                <a:cs typeface="Calibri" pitchFamily="34" charset="-120"/>
              </a:rPr>
              <a:t>Desplegar</a:t>
            </a:r>
            <a:endParaRPr lang="en-US" sz="1400" dirty="0"/>
          </a:p>
        </p:txBody>
      </p:sp>
      <p:sp>
        <p:nvSpPr>
          <p:cNvPr id="40" name="Text 38"/>
          <p:cNvSpPr txBox="1"/>
          <p:nvPr/>
        </p:nvSpPr>
        <p:spPr>
          <a:xfrm>
            <a:off x="10131552" y="3520440"/>
            <a:ext cx="1371600" cy="914400"/>
          </a:xfrm>
          <a:prstGeom prst="rect">
            <a:avLst/>
          </a:prstGeom>
          <a:noFill/>
          <a:ln/>
        </p:spPr>
        <p:txBody>
          <a:bodyPr wrap="square" lIns="0" tIns="0" rIns="0" bIns="0" rtlCol="0" anchor="t"/>
          <a:lstStyle/>
          <a:p>
            <a:pPr marL="0" indent="0">
              <a:spcAft>
                <a:spcPts val="400"/>
              </a:spcAft>
              <a:buNone/>
            </a:pPr>
            <a:r>
              <a:rPr lang="en-US" sz="1150" dirty="0">
                <a:solidFill>
                  <a:srgbClr val="2C3A55"/>
                </a:solidFill>
                <a:latin typeface="Calibri" pitchFamily="34" charset="0"/>
                <a:ea typeface="Calibri" pitchFamily="34" charset="-122"/>
                <a:cs typeface="Calibri" pitchFamily="34" charset="-120"/>
              </a:rPr>
              <a:t>Ponerlo a trabajar y vigilarlo</a:t>
            </a:r>
            <a:endParaRPr lang="en-US" sz="1150" dirty="0"/>
          </a:p>
        </p:txBody>
      </p:sp>
      <p:sp>
        <p:nvSpPr>
          <p:cNvPr id="41" name="Shape 39"/>
          <p:cNvSpPr/>
          <p:nvPr/>
        </p:nvSpPr>
        <p:spPr>
          <a:xfrm>
            <a:off x="8928202" y="4681728"/>
            <a:ext cx="0" cy="0"/>
          </a:xfrm>
          <a:prstGeom prst="line">
            <a:avLst/>
          </a:prstGeom>
          <a:noFill/>
          <a:ln w="15875">
            <a:solidFill>
              <a:srgbClr val="E6115E"/>
            </a:solidFill>
            <a:prstDash val="dash"/>
            <a:tailEnd type="triangle"/>
          </a:ln>
        </p:spPr>
      </p:sp>
      <p:sp>
        <p:nvSpPr>
          <p:cNvPr id="42" name="Text 40"/>
          <p:cNvSpPr txBox="1"/>
          <p:nvPr/>
        </p:nvSpPr>
        <p:spPr>
          <a:xfrm>
            <a:off x="1371600" y="4754880"/>
            <a:ext cx="7556602" cy="274320"/>
          </a:xfrm>
          <a:prstGeom prst="rect">
            <a:avLst/>
          </a:prstGeom>
          <a:noFill/>
          <a:ln/>
        </p:spPr>
        <p:txBody>
          <a:bodyPr wrap="square" lIns="0" tIns="0" rIns="0" bIns="0" rtlCol="0" anchor="ctr"/>
          <a:lstStyle/>
          <a:p>
            <a:pPr marL="0" indent="0" algn="ctr">
              <a:buNone/>
            </a:pPr>
            <a:r>
              <a:rPr lang="en-US" sz="1100" i="1" dirty="0">
                <a:solidFill>
                  <a:srgbClr val="E6115E"/>
                </a:solidFill>
                <a:latin typeface="Calibri" pitchFamily="34" charset="0"/>
                <a:ea typeface="Calibri" pitchFamily="34" charset="-122"/>
                <a:cs typeface="Calibri" pitchFamily="34" charset="-120"/>
              </a:rPr>
              <a:t>si la evaluación falla, se vuelve atrás (a veces, hasta el principio)</a:t>
            </a:r>
            <a:endParaRPr lang="en-US" sz="1100" dirty="0"/>
          </a:p>
        </p:txBody>
      </p:sp>
      <p:sp>
        <p:nvSpPr>
          <p:cNvPr id="43" name="Shape 41"/>
          <p:cNvSpPr/>
          <p:nvPr/>
        </p:nvSpPr>
        <p:spPr>
          <a:xfrm>
            <a:off x="502920" y="5212080"/>
            <a:ext cx="11183112" cy="1005840"/>
          </a:xfrm>
          <a:prstGeom prst="roundRect">
            <a:avLst>
              <a:gd name="adj" fmla="val 5455"/>
            </a:avLst>
          </a:prstGeom>
          <a:solidFill>
            <a:srgbClr val="E9EEF8"/>
          </a:solidFill>
          <a:ln w="9525">
            <a:solidFill>
              <a:srgbClr val="D2DBEC"/>
            </a:solidFill>
            <a:prstDash val="solid"/>
          </a:ln>
        </p:spPr>
      </p:sp>
      <p:sp>
        <p:nvSpPr>
          <p:cNvPr id="44" name="Shape 42"/>
          <p:cNvSpPr/>
          <p:nvPr/>
        </p:nvSpPr>
        <p:spPr>
          <a:xfrm>
            <a:off x="731520" y="5458968"/>
            <a:ext cx="128016" cy="128016"/>
          </a:xfrm>
          <a:prstGeom prst="roundRect">
            <a:avLst>
              <a:gd name="adj" fmla="val 21429"/>
            </a:avLst>
          </a:prstGeom>
          <a:solidFill>
            <a:srgbClr val="1A56E8"/>
          </a:solidFill>
          <a:ln w="12700">
            <a:solidFill>
              <a:srgbClr val="1A56E8"/>
            </a:solidFill>
            <a:prstDash val="solid"/>
          </a:ln>
        </p:spPr>
      </p:sp>
      <p:sp>
        <p:nvSpPr>
          <p:cNvPr id="45" name="Text 43"/>
          <p:cNvSpPr txBox="1"/>
          <p:nvPr/>
        </p:nvSpPr>
        <p:spPr>
          <a:xfrm>
            <a:off x="960120" y="5349240"/>
            <a:ext cx="10543032"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Dónde está cada paso en el curso</a:t>
            </a:r>
            <a:endParaRPr lang="en-US" sz="1400" dirty="0"/>
          </a:p>
        </p:txBody>
      </p:sp>
      <p:sp>
        <p:nvSpPr>
          <p:cNvPr id="46" name="Text 44"/>
          <p:cNvSpPr txBox="1"/>
          <p:nvPr/>
        </p:nvSpPr>
        <p:spPr>
          <a:xfrm>
            <a:off x="731520" y="5687568"/>
            <a:ext cx="10789920" cy="502920"/>
          </a:xfrm>
          <a:prstGeom prst="rect">
            <a:avLst/>
          </a:prstGeom>
          <a:noFill/>
          <a:ln/>
        </p:spPr>
        <p:txBody>
          <a:bodyPr wrap="square" lIns="0" tIns="0" rIns="0" bIns="0" rtlCol="0" anchor="t"/>
          <a:lstStyle/>
          <a:p>
            <a:pPr marL="0" indent="0">
              <a:spcAft>
                <a:spcPts val="400"/>
              </a:spcAft>
              <a:buNone/>
            </a:pPr>
            <a:r>
              <a:rPr lang="en-US" sz="1200" dirty="0">
                <a:solidFill>
                  <a:srgbClr val="2C3A55"/>
                </a:solidFill>
                <a:latin typeface="Calibri" pitchFamily="34" charset="0"/>
                <a:ea typeface="Calibri" pitchFamily="34" charset="-122"/>
                <a:cs typeface="Calibri" pitchFamily="34" charset="-120"/>
              </a:rPr>
              <a:t>Los pasos 4 y 5 (en azul oscuro) son el corazón de las 16 clases. El paso 6 lo tocamos en la Clase 16 con despliegue básico y Databricks. Los pasos 1 a 3 aparecen en cada laboratorio y, sobre todo, en el proyecto final.</a:t>
            </a:r>
            <a:endParaRPr lang="en-US" sz="1200" dirty="0"/>
          </a:p>
        </p:txBody>
      </p:sp>
      <p:sp>
        <p:nvSpPr>
          <p:cNvPr id="47" name="Text 45"/>
          <p:cNvSpPr txBox="1"/>
          <p:nvPr/>
        </p:nvSpPr>
        <p:spPr>
          <a:xfrm>
            <a:off x="502920" y="6419088"/>
            <a:ext cx="11155680" cy="274320"/>
          </a:xfrm>
          <a:prstGeom prst="rect">
            <a:avLst/>
          </a:prstGeom>
          <a:noFill/>
          <a:ln/>
        </p:spPr>
        <p:txBody>
          <a:bodyPr wrap="square" lIns="0" tIns="0" rIns="0" bIns="0" rtlCol="0" anchor="ctr"/>
          <a:lstStyle/>
          <a:p>
            <a:pPr marL="0" indent="0">
              <a:buNone/>
            </a:pPr>
            <a:r>
              <a:rPr lang="en-US" sz="950" i="1" dirty="0">
                <a:solidFill>
                  <a:srgbClr val="5B6B87"/>
                </a:solidFill>
                <a:latin typeface="Calibri" pitchFamily="34" charset="0"/>
                <a:ea typeface="Calibri" pitchFamily="34" charset="-122"/>
                <a:cs typeface="Calibri" pitchFamily="34" charset="-120"/>
              </a:rPr>
              <a:t>Chapman, P. et al. (2000). CRISP-DM 1.0: Step-by-step data mining guide. Consorcio CRISP-DM (Cross-Industry Standard Process for Data Mining).</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BLOQUE 3</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Tres alumnos preparando el mismo examen</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20 puntos para estudiar y 500 puntos nuevos para el examen. Ajustamos polinomios de grado 1 a 15.</a:t>
            </a:r>
            <a:endParaRPr lang="en-US" sz="1400" dirty="0"/>
          </a:p>
        </p:txBody>
      </p:sp>
      <p:graphicFrame>
        <p:nvGraphicFramePr>
          <p:cNvPr id="6" name="Chart 0"/>
          <p:cNvGraphicFramePr/>
          <p:nvPr/>
        </p:nvGraphicFramePr>
        <p:xfrm>
          <a:off x="502920" y="2057400"/>
          <a:ext cx="667512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txBox="1"/>
          <p:nvPr/>
        </p:nvSpPr>
        <p:spPr>
          <a:xfrm>
            <a:off x="502920" y="5394960"/>
            <a:ext cx="6675120" cy="274320"/>
          </a:xfrm>
          <a:prstGeom prst="rect">
            <a:avLst/>
          </a:prstGeom>
          <a:noFill/>
          <a:ln/>
        </p:spPr>
        <p:txBody>
          <a:bodyPr wrap="square" lIns="0" tIns="0" rIns="0" bIns="0" rtlCol="0" anchor="t"/>
          <a:lstStyle/>
          <a:p>
            <a:pPr marL="0" indent="0">
              <a:spcAft>
                <a:spcPts val="400"/>
              </a:spcAft>
              <a:buNone/>
            </a:pPr>
            <a:r>
              <a:rPr lang="en-US" sz="1050" i="1" dirty="0">
                <a:solidFill>
                  <a:srgbClr val="5B6B87"/>
                </a:solidFill>
                <a:latin typeface="Calibri" pitchFamily="34" charset="0"/>
                <a:ea typeface="Calibri" pitchFamily="34" charset="-122"/>
                <a:cs typeface="Calibri" pitchFamily="34" charset="-120"/>
              </a:rPr>
              <a:t>El eje muestra hasta grado 11. Del 12 en adelante, el error con datos nuevos se sale del gráfico.</a:t>
            </a:r>
            <a:endParaRPr lang="en-US" sz="1050" dirty="0"/>
          </a:p>
        </p:txBody>
      </p:sp>
      <p:sp>
        <p:nvSpPr>
          <p:cNvPr id="8" name="Shape 5"/>
          <p:cNvSpPr/>
          <p:nvPr/>
        </p:nvSpPr>
        <p:spPr>
          <a:xfrm>
            <a:off x="7452360" y="2057400"/>
            <a:ext cx="4233672" cy="1005840"/>
          </a:xfrm>
          <a:prstGeom prst="roundRect">
            <a:avLst>
              <a:gd name="adj" fmla="val 5455"/>
            </a:avLst>
          </a:prstGeom>
          <a:solidFill>
            <a:srgbClr val="FFFFFF"/>
          </a:solidFill>
          <a:ln w="9525">
            <a:solidFill>
              <a:srgbClr val="D2DBEC"/>
            </a:solidFill>
            <a:prstDash val="solid"/>
          </a:ln>
        </p:spPr>
      </p:sp>
      <p:sp>
        <p:nvSpPr>
          <p:cNvPr id="9" name="Shape 6"/>
          <p:cNvSpPr/>
          <p:nvPr/>
        </p:nvSpPr>
        <p:spPr>
          <a:xfrm>
            <a:off x="7680960" y="2258568"/>
            <a:ext cx="128016" cy="128016"/>
          </a:xfrm>
          <a:prstGeom prst="roundRect">
            <a:avLst>
              <a:gd name="adj" fmla="val 21429"/>
            </a:avLst>
          </a:prstGeom>
          <a:solidFill>
            <a:srgbClr val="1A56E8"/>
          </a:solidFill>
          <a:ln w="12700">
            <a:solidFill>
              <a:srgbClr val="1A56E8"/>
            </a:solidFill>
            <a:prstDash val="solid"/>
          </a:ln>
        </p:spPr>
      </p:sp>
      <p:sp>
        <p:nvSpPr>
          <p:cNvPr id="10" name="Text 7"/>
          <p:cNvSpPr txBox="1"/>
          <p:nvPr/>
        </p:nvSpPr>
        <p:spPr>
          <a:xfrm>
            <a:off x="7909560" y="2148840"/>
            <a:ext cx="2103120" cy="347472"/>
          </a:xfrm>
          <a:prstGeom prst="rect">
            <a:avLst/>
          </a:prstGeom>
          <a:noFill/>
          <a:ln/>
        </p:spPr>
        <p:txBody>
          <a:bodyPr wrap="square" lIns="0" tIns="0" rIns="0" bIns="0" rtlCol="0" anchor="ctr"/>
          <a:lstStyle/>
          <a:p>
            <a:pPr marL="0" indent="0">
              <a:buNone/>
            </a:pPr>
            <a:r>
              <a:rPr lang="en-US" sz="1300" b="1" dirty="0">
                <a:solidFill>
                  <a:srgbClr val="0A2559"/>
                </a:solidFill>
                <a:latin typeface="Calibri" pitchFamily="34" charset="0"/>
                <a:ea typeface="Calibri" pitchFamily="34" charset="-122"/>
                <a:cs typeface="Calibri" pitchFamily="34" charset="-120"/>
              </a:rPr>
              <a:t>Grado 1 · no estudió</a:t>
            </a:r>
            <a:endParaRPr lang="en-US" sz="1300" dirty="0"/>
          </a:p>
        </p:txBody>
      </p:sp>
      <p:sp>
        <p:nvSpPr>
          <p:cNvPr id="11" name="Text 8"/>
          <p:cNvSpPr txBox="1"/>
          <p:nvPr/>
        </p:nvSpPr>
        <p:spPr>
          <a:xfrm>
            <a:off x="9966960" y="2148840"/>
            <a:ext cx="1554480" cy="347472"/>
          </a:xfrm>
          <a:prstGeom prst="rect">
            <a:avLst/>
          </a:prstGeom>
          <a:noFill/>
          <a:ln/>
        </p:spPr>
        <p:txBody>
          <a:bodyPr wrap="square" lIns="0" tIns="0" rIns="0" bIns="0" rtlCol="0" anchor="ctr"/>
          <a:lstStyle/>
          <a:p>
            <a:pPr marL="0" indent="0" algn="r">
              <a:buNone/>
            </a:pPr>
            <a:r>
              <a:rPr lang="en-US" sz="1400" b="1" dirty="0">
                <a:solidFill>
                  <a:srgbClr val="1A56E8"/>
                </a:solidFill>
                <a:latin typeface="Calibri" pitchFamily="34" charset="0"/>
                <a:ea typeface="Calibri" pitchFamily="34" charset="-122"/>
                <a:cs typeface="Calibri" pitchFamily="34" charset="-120"/>
              </a:rPr>
              <a:t>0.512 → 0.531</a:t>
            </a:r>
            <a:endParaRPr lang="en-US" sz="1400" dirty="0"/>
          </a:p>
        </p:txBody>
      </p:sp>
      <p:sp>
        <p:nvSpPr>
          <p:cNvPr id="12" name="Text 9"/>
          <p:cNvSpPr txBox="1"/>
          <p:nvPr/>
        </p:nvSpPr>
        <p:spPr>
          <a:xfrm>
            <a:off x="7680960" y="2542032"/>
            <a:ext cx="3840480" cy="457200"/>
          </a:xfrm>
          <a:prstGeom prst="rect">
            <a:avLst/>
          </a:prstGeom>
          <a:noFill/>
          <a:ln/>
        </p:spPr>
        <p:txBody>
          <a:bodyPr wrap="square" lIns="0" tIns="0" rIns="0" bIns="0" rtlCol="0" anchor="t"/>
          <a:lstStyle/>
          <a:p>
            <a:pPr marL="0" indent="0">
              <a:spcAft>
                <a:spcPts val="400"/>
              </a:spcAft>
              <a:buNone/>
            </a:pPr>
            <a:r>
              <a:rPr lang="en-US" sz="1150" dirty="0">
                <a:solidFill>
                  <a:srgbClr val="2C3A55"/>
                </a:solidFill>
                <a:latin typeface="Calibri" pitchFamily="34" charset="0"/>
                <a:ea typeface="Calibri" pitchFamily="34" charset="-122"/>
                <a:cs typeface="Calibri" pitchFamily="34" charset="-120"/>
              </a:rPr>
              <a:t>Malo en los dos. Demasiado simple: underfitting.</a:t>
            </a:r>
            <a:endParaRPr lang="en-US" sz="1150" dirty="0"/>
          </a:p>
        </p:txBody>
      </p:sp>
      <p:sp>
        <p:nvSpPr>
          <p:cNvPr id="13" name="Shape 10"/>
          <p:cNvSpPr/>
          <p:nvPr/>
        </p:nvSpPr>
        <p:spPr>
          <a:xfrm>
            <a:off x="7452360" y="3200400"/>
            <a:ext cx="4233672" cy="1005840"/>
          </a:xfrm>
          <a:prstGeom prst="roundRect">
            <a:avLst>
              <a:gd name="adj" fmla="val 5455"/>
            </a:avLst>
          </a:prstGeom>
          <a:solidFill>
            <a:srgbClr val="FFFFFF"/>
          </a:solidFill>
          <a:ln w="9525">
            <a:solidFill>
              <a:srgbClr val="D2DBEC"/>
            </a:solidFill>
            <a:prstDash val="solid"/>
          </a:ln>
        </p:spPr>
      </p:sp>
      <p:sp>
        <p:nvSpPr>
          <p:cNvPr id="14" name="Shape 11"/>
          <p:cNvSpPr/>
          <p:nvPr/>
        </p:nvSpPr>
        <p:spPr>
          <a:xfrm>
            <a:off x="7680960" y="3401568"/>
            <a:ext cx="128016" cy="128016"/>
          </a:xfrm>
          <a:prstGeom prst="roundRect">
            <a:avLst>
              <a:gd name="adj" fmla="val 21429"/>
            </a:avLst>
          </a:prstGeom>
          <a:solidFill>
            <a:srgbClr val="12B886"/>
          </a:solidFill>
          <a:ln w="12700">
            <a:solidFill>
              <a:srgbClr val="12B886"/>
            </a:solidFill>
            <a:prstDash val="solid"/>
          </a:ln>
        </p:spPr>
      </p:sp>
      <p:sp>
        <p:nvSpPr>
          <p:cNvPr id="15" name="Text 12"/>
          <p:cNvSpPr txBox="1"/>
          <p:nvPr/>
        </p:nvSpPr>
        <p:spPr>
          <a:xfrm>
            <a:off x="7909560" y="3291840"/>
            <a:ext cx="2103120" cy="347472"/>
          </a:xfrm>
          <a:prstGeom prst="rect">
            <a:avLst/>
          </a:prstGeom>
          <a:noFill/>
          <a:ln/>
        </p:spPr>
        <p:txBody>
          <a:bodyPr wrap="square" lIns="0" tIns="0" rIns="0" bIns="0" rtlCol="0" anchor="ctr"/>
          <a:lstStyle/>
          <a:p>
            <a:pPr marL="0" indent="0">
              <a:buNone/>
            </a:pPr>
            <a:r>
              <a:rPr lang="en-US" sz="1300" b="1" dirty="0">
                <a:solidFill>
                  <a:srgbClr val="0A2559"/>
                </a:solidFill>
                <a:latin typeface="Calibri" pitchFamily="34" charset="0"/>
                <a:ea typeface="Calibri" pitchFamily="34" charset="-122"/>
                <a:cs typeface="Calibri" pitchFamily="34" charset="-120"/>
              </a:rPr>
              <a:t>Grado 3 · entendió</a:t>
            </a:r>
            <a:endParaRPr lang="en-US" sz="1300" dirty="0"/>
          </a:p>
        </p:txBody>
      </p:sp>
      <p:sp>
        <p:nvSpPr>
          <p:cNvPr id="16" name="Text 13"/>
          <p:cNvSpPr txBox="1"/>
          <p:nvPr/>
        </p:nvSpPr>
        <p:spPr>
          <a:xfrm>
            <a:off x="9966960" y="3291840"/>
            <a:ext cx="1554480" cy="347472"/>
          </a:xfrm>
          <a:prstGeom prst="rect">
            <a:avLst/>
          </a:prstGeom>
          <a:noFill/>
          <a:ln/>
        </p:spPr>
        <p:txBody>
          <a:bodyPr wrap="square" lIns="0" tIns="0" rIns="0" bIns="0" rtlCol="0" anchor="ctr"/>
          <a:lstStyle/>
          <a:p>
            <a:pPr marL="0" indent="0" algn="r">
              <a:buNone/>
            </a:pPr>
            <a:r>
              <a:rPr lang="en-US" sz="1400" b="1" dirty="0">
                <a:solidFill>
                  <a:srgbClr val="12B886"/>
                </a:solidFill>
                <a:latin typeface="Calibri" pitchFamily="34" charset="0"/>
                <a:ea typeface="Calibri" pitchFamily="34" charset="-122"/>
                <a:cs typeface="Calibri" pitchFamily="34" charset="-120"/>
              </a:rPr>
              <a:t>0.220 → 0.342</a:t>
            </a:r>
            <a:endParaRPr lang="en-US" sz="1400" dirty="0"/>
          </a:p>
        </p:txBody>
      </p:sp>
      <p:sp>
        <p:nvSpPr>
          <p:cNvPr id="17" name="Text 14"/>
          <p:cNvSpPr txBox="1"/>
          <p:nvPr/>
        </p:nvSpPr>
        <p:spPr>
          <a:xfrm>
            <a:off x="7680960" y="3685032"/>
            <a:ext cx="3840480" cy="457200"/>
          </a:xfrm>
          <a:prstGeom prst="rect">
            <a:avLst/>
          </a:prstGeom>
          <a:noFill/>
          <a:ln/>
        </p:spPr>
        <p:txBody>
          <a:bodyPr wrap="square" lIns="0" tIns="0" rIns="0" bIns="0" rtlCol="0" anchor="t"/>
          <a:lstStyle/>
          <a:p>
            <a:pPr marL="0" indent="0">
              <a:spcAft>
                <a:spcPts val="400"/>
              </a:spcAft>
              <a:buNone/>
            </a:pPr>
            <a:r>
              <a:rPr lang="en-US" sz="1150" dirty="0">
                <a:solidFill>
                  <a:srgbClr val="2C3A55"/>
                </a:solidFill>
                <a:latin typeface="Calibri" pitchFamily="34" charset="0"/>
                <a:ea typeface="Calibri" pitchFamily="34" charset="-122"/>
                <a:cs typeface="Calibri" pitchFamily="34" charset="-120"/>
              </a:rPr>
              <a:t>El menor error con datos nuevos. Generaliza.</a:t>
            </a:r>
            <a:endParaRPr lang="en-US" sz="1150" dirty="0"/>
          </a:p>
        </p:txBody>
      </p:sp>
      <p:sp>
        <p:nvSpPr>
          <p:cNvPr id="18" name="Shape 15"/>
          <p:cNvSpPr/>
          <p:nvPr/>
        </p:nvSpPr>
        <p:spPr>
          <a:xfrm>
            <a:off x="7452360" y="4343400"/>
            <a:ext cx="4233672" cy="1005840"/>
          </a:xfrm>
          <a:prstGeom prst="roundRect">
            <a:avLst>
              <a:gd name="adj" fmla="val 5455"/>
            </a:avLst>
          </a:prstGeom>
          <a:solidFill>
            <a:srgbClr val="0A2559"/>
          </a:solidFill>
          <a:ln w="9525">
            <a:solidFill>
              <a:srgbClr val="0A2559"/>
            </a:solidFill>
            <a:prstDash val="solid"/>
          </a:ln>
        </p:spPr>
      </p:sp>
      <p:sp>
        <p:nvSpPr>
          <p:cNvPr id="19" name="Shape 16"/>
          <p:cNvSpPr/>
          <p:nvPr/>
        </p:nvSpPr>
        <p:spPr>
          <a:xfrm>
            <a:off x="7680960" y="4544568"/>
            <a:ext cx="128016" cy="128016"/>
          </a:xfrm>
          <a:prstGeom prst="roundRect">
            <a:avLst>
              <a:gd name="adj" fmla="val 21429"/>
            </a:avLst>
          </a:prstGeom>
          <a:solidFill>
            <a:srgbClr val="E6115E"/>
          </a:solidFill>
          <a:ln w="12700">
            <a:solidFill>
              <a:srgbClr val="E6115E"/>
            </a:solidFill>
            <a:prstDash val="solid"/>
          </a:ln>
        </p:spPr>
      </p:sp>
      <p:sp>
        <p:nvSpPr>
          <p:cNvPr id="20" name="Text 17"/>
          <p:cNvSpPr txBox="1"/>
          <p:nvPr/>
        </p:nvSpPr>
        <p:spPr>
          <a:xfrm>
            <a:off x="7909560" y="4434840"/>
            <a:ext cx="2103120"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Grado 15 · memorizó</a:t>
            </a:r>
            <a:endParaRPr lang="en-US" sz="1300" dirty="0"/>
          </a:p>
        </p:txBody>
      </p:sp>
      <p:sp>
        <p:nvSpPr>
          <p:cNvPr id="21" name="Text 18"/>
          <p:cNvSpPr txBox="1"/>
          <p:nvPr/>
        </p:nvSpPr>
        <p:spPr>
          <a:xfrm>
            <a:off x="9966960" y="4434840"/>
            <a:ext cx="1554480" cy="347472"/>
          </a:xfrm>
          <a:prstGeom prst="rect">
            <a:avLst/>
          </a:prstGeom>
          <a:noFill/>
          <a:ln/>
        </p:spPr>
        <p:txBody>
          <a:bodyPr wrap="square" lIns="0" tIns="0" rIns="0" bIns="0" rtlCol="0" anchor="ctr"/>
          <a:lstStyle/>
          <a:p>
            <a:pPr marL="0" indent="0" algn="r">
              <a:buNone/>
            </a:pPr>
            <a:r>
              <a:rPr lang="en-US" sz="1400" b="1" dirty="0">
                <a:solidFill>
                  <a:srgbClr val="FF6B9A"/>
                </a:solidFill>
                <a:latin typeface="Calibri" pitchFamily="34" charset="0"/>
                <a:ea typeface="Calibri" pitchFamily="34" charset="-122"/>
                <a:cs typeface="Calibri" pitchFamily="34" charset="-120"/>
              </a:rPr>
              <a:t>0.080 → 547</a:t>
            </a:r>
            <a:endParaRPr lang="en-US" sz="1400" dirty="0"/>
          </a:p>
        </p:txBody>
      </p:sp>
      <p:sp>
        <p:nvSpPr>
          <p:cNvPr id="22" name="Text 19"/>
          <p:cNvSpPr txBox="1"/>
          <p:nvPr/>
        </p:nvSpPr>
        <p:spPr>
          <a:xfrm>
            <a:off x="7680960" y="4828032"/>
            <a:ext cx="3840480" cy="457200"/>
          </a:xfrm>
          <a:prstGeom prst="rect">
            <a:avLst/>
          </a:prstGeom>
          <a:noFill/>
          <a:ln/>
        </p:spPr>
        <p:txBody>
          <a:bodyPr wrap="square" lIns="0" tIns="0" rIns="0" bIns="0" rtlCol="0" anchor="t"/>
          <a:lstStyle/>
          <a:p>
            <a:pPr marL="0" indent="0">
              <a:spcAft>
                <a:spcPts val="400"/>
              </a:spcAft>
              <a:buNone/>
            </a:pPr>
            <a:r>
              <a:rPr lang="en-US" sz="1150" dirty="0">
                <a:solidFill>
                  <a:srgbClr val="C9D4EA"/>
                </a:solidFill>
                <a:latin typeface="Calibri" pitchFamily="34" charset="0"/>
                <a:ea typeface="Calibri" pitchFamily="34" charset="-122"/>
                <a:cs typeface="Calibri" pitchFamily="34" charset="-120"/>
              </a:rPr>
              <a:t>Casi perfecto estudiando, desastroso en el examen: overfitting.</a:t>
            </a:r>
            <a:endParaRPr lang="en-US" sz="1150" dirty="0"/>
          </a:p>
        </p:txBody>
      </p:sp>
      <p:sp>
        <p:nvSpPr>
          <p:cNvPr id="23" name="Text 20"/>
          <p:cNvSpPr txBox="1"/>
          <p:nvPr/>
        </p:nvSpPr>
        <p:spPr>
          <a:xfrm>
            <a:off x="9418320" y="5504688"/>
            <a:ext cx="2267712" cy="228600"/>
          </a:xfrm>
          <a:prstGeom prst="rect">
            <a:avLst/>
          </a:prstGeom>
          <a:noFill/>
          <a:ln/>
        </p:spPr>
        <p:txBody>
          <a:bodyPr wrap="square" lIns="0" tIns="0" rIns="0" bIns="0" rtlCol="0" anchor="t"/>
          <a:lstStyle/>
          <a:p>
            <a:pPr marL="0" indent="0" algn="r">
              <a:spcAft>
                <a:spcPts val="400"/>
              </a:spcAft>
              <a:buNone/>
            </a:pPr>
            <a:r>
              <a:rPr lang="en-US" sz="1000" i="1" dirty="0">
                <a:solidFill>
                  <a:srgbClr val="5B6B87"/>
                </a:solidFill>
                <a:latin typeface="Calibri" pitchFamily="34" charset="0"/>
                <a:ea typeface="Calibri" pitchFamily="34" charset="-122"/>
                <a:cs typeface="Calibri" pitchFamily="34" charset="-120"/>
              </a:rPr>
              <a:t>entrenamiento → datos nuevos</a:t>
            </a:r>
            <a:endParaRPr lang="en-US" sz="1000" dirty="0"/>
          </a:p>
        </p:txBody>
      </p:sp>
      <p:sp>
        <p:nvSpPr>
          <p:cNvPr id="24" name="Shape 21"/>
          <p:cNvSpPr/>
          <p:nvPr/>
        </p:nvSpPr>
        <p:spPr>
          <a:xfrm>
            <a:off x="502920" y="5760720"/>
            <a:ext cx="11183112" cy="530352"/>
          </a:xfrm>
          <a:prstGeom prst="roundRect">
            <a:avLst>
              <a:gd name="adj" fmla="val 10345"/>
            </a:avLst>
          </a:prstGeom>
          <a:solidFill>
            <a:srgbClr val="0A2559"/>
          </a:solidFill>
          <a:ln w="9525">
            <a:solidFill>
              <a:srgbClr val="0A2559"/>
            </a:solidFill>
            <a:prstDash val="solid"/>
          </a:ln>
        </p:spPr>
      </p:sp>
      <p:sp>
        <p:nvSpPr>
          <p:cNvPr id="25" name="Text 22"/>
          <p:cNvSpPr txBox="1"/>
          <p:nvPr/>
        </p:nvSpPr>
        <p:spPr>
          <a:xfrm>
            <a:off x="731520" y="5760720"/>
            <a:ext cx="10789920" cy="530352"/>
          </a:xfrm>
          <a:prstGeom prst="rect">
            <a:avLst/>
          </a:prstGeom>
          <a:noFill/>
          <a:ln/>
        </p:spPr>
        <p:txBody>
          <a:bodyPr wrap="square" lIns="0" tIns="0" rIns="0" bIns="0" rtlCol="0" anchor="ctr"/>
          <a:lstStyle/>
          <a:p>
            <a:pPr marL="0" indent="0">
              <a:spcAft>
                <a:spcPts val="400"/>
              </a:spcAft>
              <a:buNone/>
            </a:pPr>
            <a:r>
              <a:rPr lang="en-US" sz="1300" b="1" dirty="0">
                <a:solidFill>
                  <a:srgbClr val="FFFFFF"/>
                </a:solidFill>
                <a:latin typeface="Calibri" pitchFamily="34" charset="0"/>
                <a:ea typeface="Calibri" pitchFamily="34" charset="-122"/>
                <a:cs typeface="Calibri" pitchFamily="34" charset="-120"/>
              </a:rPr>
              <a:t>La señal de alarma: </a:t>
            </a:r>
            <a:r>
              <a:rPr lang="en-US" sz="1300" dirty="0">
                <a:solidFill>
                  <a:srgbClr val="C9D4EA"/>
                </a:solidFill>
                <a:latin typeface="Calibri" pitchFamily="34" charset="0"/>
                <a:ea typeface="Calibri" pitchFamily="34" charset="-122"/>
                <a:cs typeface="Calibri" pitchFamily="34" charset="-120"/>
              </a:rPr>
              <a:t>una distancia grande entre el error de entrenamiento y el de datos nuevos.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BLOQUE 3</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Entrenamiento, validación y prueba</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La única forma de saber si un modelo generaliza es esconderle datos mientras aprende.</a:t>
            </a:r>
            <a:endParaRPr lang="en-US" sz="1400" dirty="0"/>
          </a:p>
        </p:txBody>
      </p:sp>
      <p:sp>
        <p:nvSpPr>
          <p:cNvPr id="6" name="Shape 4"/>
          <p:cNvSpPr/>
          <p:nvPr/>
        </p:nvSpPr>
        <p:spPr>
          <a:xfrm>
            <a:off x="502920" y="2103120"/>
            <a:ext cx="6655003" cy="960120"/>
          </a:xfrm>
          <a:prstGeom prst="roundRect">
            <a:avLst>
              <a:gd name="adj" fmla="val 5714"/>
            </a:avLst>
          </a:prstGeom>
          <a:solidFill>
            <a:srgbClr val="0A2559"/>
          </a:solidFill>
          <a:ln w="12700">
            <a:solidFill>
              <a:srgbClr val="0A2559"/>
            </a:solidFill>
            <a:prstDash val="solid"/>
          </a:ln>
        </p:spPr>
      </p:sp>
      <p:sp>
        <p:nvSpPr>
          <p:cNvPr id="7" name="Text 5"/>
          <p:cNvSpPr txBox="1"/>
          <p:nvPr/>
        </p:nvSpPr>
        <p:spPr>
          <a:xfrm>
            <a:off x="502920" y="2176272"/>
            <a:ext cx="6655003" cy="411480"/>
          </a:xfrm>
          <a:prstGeom prst="rect">
            <a:avLst/>
          </a:prstGeom>
          <a:noFill/>
          <a:ln/>
        </p:spPr>
        <p:txBody>
          <a:bodyPr wrap="square" lIns="0" tIns="0" rIns="0" bIns="0" rtlCol="0" anchor="ctr"/>
          <a:lstStyle/>
          <a:p>
            <a:pPr marL="0" indent="0" algn="ctr">
              <a:buNone/>
            </a:pPr>
            <a:r>
              <a:rPr lang="en-US" sz="1400" b="1" kern="0" spc="100" dirty="0">
                <a:solidFill>
                  <a:srgbClr val="FFFFFF"/>
                </a:solidFill>
                <a:latin typeface="Calibri" pitchFamily="34" charset="0"/>
                <a:ea typeface="Calibri" pitchFamily="34" charset="-122"/>
                <a:cs typeface="Calibri" pitchFamily="34" charset="-120"/>
              </a:rPr>
              <a:t>ENTRENAMIENTO · 60 %</a:t>
            </a:r>
            <a:endParaRPr lang="en-US" sz="1400" dirty="0"/>
          </a:p>
        </p:txBody>
      </p:sp>
      <p:sp>
        <p:nvSpPr>
          <p:cNvPr id="8" name="Text 6"/>
          <p:cNvSpPr txBox="1"/>
          <p:nvPr/>
        </p:nvSpPr>
        <p:spPr>
          <a:xfrm>
            <a:off x="502920" y="2560320"/>
            <a:ext cx="6655003" cy="365760"/>
          </a:xfrm>
          <a:prstGeom prst="rect">
            <a:avLst/>
          </a:prstGeom>
          <a:noFill/>
          <a:ln/>
        </p:spPr>
        <p:txBody>
          <a:bodyPr wrap="square" lIns="0" tIns="0" rIns="0" bIns="0" rtlCol="0" anchor="ctr"/>
          <a:lstStyle/>
          <a:p>
            <a:pPr marL="0" indent="0" algn="ctr">
              <a:buNone/>
            </a:pPr>
            <a:r>
              <a:rPr lang="en-US" sz="1200" i="1" dirty="0">
                <a:solidFill>
                  <a:srgbClr val="DCE4F5"/>
                </a:solidFill>
                <a:latin typeface="Calibri" pitchFamily="34" charset="0"/>
                <a:ea typeface="Calibri" pitchFamily="34" charset="-122"/>
                <a:cs typeface="Calibri" pitchFamily="34" charset="-120"/>
              </a:rPr>
              <a:t>las prácticas · 1200 clientes</a:t>
            </a:r>
            <a:endParaRPr lang="en-US" sz="1200" dirty="0"/>
          </a:p>
        </p:txBody>
      </p:sp>
      <p:sp>
        <p:nvSpPr>
          <p:cNvPr id="9" name="Shape 7"/>
          <p:cNvSpPr/>
          <p:nvPr/>
        </p:nvSpPr>
        <p:spPr>
          <a:xfrm>
            <a:off x="7212787" y="2103120"/>
            <a:ext cx="2181758" cy="960120"/>
          </a:xfrm>
          <a:prstGeom prst="roundRect">
            <a:avLst>
              <a:gd name="adj" fmla="val 5714"/>
            </a:avLst>
          </a:prstGeom>
          <a:solidFill>
            <a:srgbClr val="1A56E8"/>
          </a:solidFill>
          <a:ln w="12700">
            <a:solidFill>
              <a:srgbClr val="1A56E8"/>
            </a:solidFill>
            <a:prstDash val="solid"/>
          </a:ln>
        </p:spPr>
      </p:sp>
      <p:sp>
        <p:nvSpPr>
          <p:cNvPr id="10" name="Text 8"/>
          <p:cNvSpPr txBox="1"/>
          <p:nvPr/>
        </p:nvSpPr>
        <p:spPr>
          <a:xfrm>
            <a:off x="7212787" y="2176272"/>
            <a:ext cx="2181758" cy="411480"/>
          </a:xfrm>
          <a:prstGeom prst="rect">
            <a:avLst/>
          </a:prstGeom>
          <a:noFill/>
          <a:ln/>
        </p:spPr>
        <p:txBody>
          <a:bodyPr wrap="square" lIns="0" tIns="0" rIns="0" bIns="0" rtlCol="0" anchor="ctr"/>
          <a:lstStyle/>
          <a:p>
            <a:pPr marL="0" indent="0" algn="ctr">
              <a:buNone/>
            </a:pPr>
            <a:r>
              <a:rPr lang="en-US" sz="1400" b="1" kern="0" spc="100" dirty="0">
                <a:solidFill>
                  <a:srgbClr val="FFFFFF"/>
                </a:solidFill>
                <a:latin typeface="Calibri" pitchFamily="34" charset="0"/>
                <a:ea typeface="Calibri" pitchFamily="34" charset="-122"/>
                <a:cs typeface="Calibri" pitchFamily="34" charset="-120"/>
              </a:rPr>
              <a:t>VALIDACIÓN · 20 %</a:t>
            </a:r>
            <a:endParaRPr lang="en-US" sz="1400" dirty="0"/>
          </a:p>
        </p:txBody>
      </p:sp>
      <p:sp>
        <p:nvSpPr>
          <p:cNvPr id="11" name="Text 9"/>
          <p:cNvSpPr txBox="1"/>
          <p:nvPr/>
        </p:nvSpPr>
        <p:spPr>
          <a:xfrm>
            <a:off x="7212787" y="2560320"/>
            <a:ext cx="2181758" cy="365760"/>
          </a:xfrm>
          <a:prstGeom prst="rect">
            <a:avLst/>
          </a:prstGeom>
          <a:noFill/>
          <a:ln/>
        </p:spPr>
        <p:txBody>
          <a:bodyPr wrap="square" lIns="0" tIns="0" rIns="0" bIns="0" rtlCol="0" anchor="ctr"/>
          <a:lstStyle/>
          <a:p>
            <a:pPr marL="0" indent="0" algn="ctr">
              <a:buNone/>
            </a:pPr>
            <a:r>
              <a:rPr lang="en-US" sz="1200" i="1" dirty="0">
                <a:solidFill>
                  <a:srgbClr val="DCE4F5"/>
                </a:solidFill>
                <a:latin typeface="Calibri" pitchFamily="34" charset="0"/>
                <a:ea typeface="Calibri" pitchFamily="34" charset="-122"/>
                <a:cs typeface="Calibri" pitchFamily="34" charset="-120"/>
              </a:rPr>
              <a:t>el simulacro · 400 clientes</a:t>
            </a:r>
            <a:endParaRPr lang="en-US" sz="1200" dirty="0"/>
          </a:p>
        </p:txBody>
      </p:sp>
      <p:sp>
        <p:nvSpPr>
          <p:cNvPr id="12" name="Shape 10"/>
          <p:cNvSpPr/>
          <p:nvPr/>
        </p:nvSpPr>
        <p:spPr>
          <a:xfrm>
            <a:off x="9449410" y="2103120"/>
            <a:ext cx="2181758" cy="960120"/>
          </a:xfrm>
          <a:prstGeom prst="roundRect">
            <a:avLst>
              <a:gd name="adj" fmla="val 5714"/>
            </a:avLst>
          </a:prstGeom>
          <a:solidFill>
            <a:srgbClr val="E6115E"/>
          </a:solidFill>
          <a:ln w="12700">
            <a:solidFill>
              <a:srgbClr val="E6115E"/>
            </a:solidFill>
            <a:prstDash val="solid"/>
          </a:ln>
        </p:spPr>
      </p:sp>
      <p:sp>
        <p:nvSpPr>
          <p:cNvPr id="13" name="Text 11"/>
          <p:cNvSpPr txBox="1"/>
          <p:nvPr/>
        </p:nvSpPr>
        <p:spPr>
          <a:xfrm>
            <a:off x="9449410" y="2176272"/>
            <a:ext cx="2181758" cy="411480"/>
          </a:xfrm>
          <a:prstGeom prst="rect">
            <a:avLst/>
          </a:prstGeom>
          <a:noFill/>
          <a:ln/>
        </p:spPr>
        <p:txBody>
          <a:bodyPr wrap="square" lIns="0" tIns="0" rIns="0" bIns="0" rtlCol="0" anchor="ctr"/>
          <a:lstStyle/>
          <a:p>
            <a:pPr marL="0" indent="0" algn="ctr">
              <a:buNone/>
            </a:pPr>
            <a:r>
              <a:rPr lang="en-US" sz="1400" b="1" kern="0" spc="100" dirty="0">
                <a:solidFill>
                  <a:srgbClr val="FFFFFF"/>
                </a:solidFill>
                <a:latin typeface="Calibri" pitchFamily="34" charset="0"/>
                <a:ea typeface="Calibri" pitchFamily="34" charset="-122"/>
                <a:cs typeface="Calibri" pitchFamily="34" charset="-120"/>
              </a:rPr>
              <a:t>PRUEBA · 20 %</a:t>
            </a:r>
            <a:endParaRPr lang="en-US" sz="1400" dirty="0"/>
          </a:p>
        </p:txBody>
      </p:sp>
      <p:sp>
        <p:nvSpPr>
          <p:cNvPr id="14" name="Text 12"/>
          <p:cNvSpPr txBox="1"/>
          <p:nvPr/>
        </p:nvSpPr>
        <p:spPr>
          <a:xfrm>
            <a:off x="9449410" y="2560320"/>
            <a:ext cx="2181758" cy="365760"/>
          </a:xfrm>
          <a:prstGeom prst="rect">
            <a:avLst/>
          </a:prstGeom>
          <a:noFill/>
          <a:ln/>
        </p:spPr>
        <p:txBody>
          <a:bodyPr wrap="square" lIns="0" tIns="0" rIns="0" bIns="0" rtlCol="0" anchor="ctr"/>
          <a:lstStyle/>
          <a:p>
            <a:pPr marL="0" indent="0" algn="ctr">
              <a:buNone/>
            </a:pPr>
            <a:r>
              <a:rPr lang="en-US" sz="1200" i="1" dirty="0">
                <a:solidFill>
                  <a:srgbClr val="DCE4F5"/>
                </a:solidFill>
                <a:latin typeface="Calibri" pitchFamily="34" charset="0"/>
                <a:ea typeface="Calibri" pitchFamily="34" charset="-122"/>
                <a:cs typeface="Calibri" pitchFamily="34" charset="-120"/>
              </a:rPr>
              <a:t>el examen final · 400 clientes</a:t>
            </a:r>
            <a:endParaRPr lang="en-US" sz="1200" dirty="0"/>
          </a:p>
        </p:txBody>
      </p:sp>
      <p:sp>
        <p:nvSpPr>
          <p:cNvPr id="15" name="Shape 13"/>
          <p:cNvSpPr/>
          <p:nvPr/>
        </p:nvSpPr>
        <p:spPr>
          <a:xfrm>
            <a:off x="502920" y="3337560"/>
            <a:ext cx="3630168" cy="2011680"/>
          </a:xfrm>
          <a:prstGeom prst="roundRect">
            <a:avLst>
              <a:gd name="adj" fmla="val 2727"/>
            </a:avLst>
          </a:prstGeom>
          <a:solidFill>
            <a:srgbClr val="FFFFFF"/>
          </a:solidFill>
          <a:ln w="9525">
            <a:solidFill>
              <a:srgbClr val="D2DBEC"/>
            </a:solidFill>
            <a:prstDash val="solid"/>
          </a:ln>
        </p:spPr>
      </p:sp>
      <p:sp>
        <p:nvSpPr>
          <p:cNvPr id="16" name="Shape 14"/>
          <p:cNvSpPr/>
          <p:nvPr/>
        </p:nvSpPr>
        <p:spPr>
          <a:xfrm>
            <a:off x="731520" y="3584448"/>
            <a:ext cx="128016" cy="128016"/>
          </a:xfrm>
          <a:prstGeom prst="roundRect">
            <a:avLst>
              <a:gd name="adj" fmla="val 21429"/>
            </a:avLst>
          </a:prstGeom>
          <a:solidFill>
            <a:srgbClr val="0A2559"/>
          </a:solidFill>
          <a:ln w="12700">
            <a:solidFill>
              <a:srgbClr val="0A2559"/>
            </a:solidFill>
            <a:prstDash val="solid"/>
          </a:ln>
        </p:spPr>
      </p:sp>
      <p:sp>
        <p:nvSpPr>
          <p:cNvPr id="17" name="Text 15"/>
          <p:cNvSpPr txBox="1"/>
          <p:nvPr/>
        </p:nvSpPr>
        <p:spPr>
          <a:xfrm>
            <a:off x="960120" y="3474720"/>
            <a:ext cx="2990088"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El modelo aprende</a:t>
            </a:r>
            <a:endParaRPr lang="en-US" sz="1400" dirty="0"/>
          </a:p>
        </p:txBody>
      </p:sp>
      <p:sp>
        <p:nvSpPr>
          <p:cNvPr id="18" name="Text 16"/>
          <p:cNvSpPr txBox="1"/>
          <p:nvPr/>
        </p:nvSpPr>
        <p:spPr>
          <a:xfrm>
            <a:off x="731520" y="3840480"/>
            <a:ext cx="3200400" cy="1417320"/>
          </a:xfrm>
          <a:prstGeom prst="rect">
            <a:avLst/>
          </a:prstGeom>
          <a:noFill/>
          <a:ln/>
        </p:spPr>
        <p:txBody>
          <a:bodyPr wrap="square" lIns="0" tIns="0" rIns="0" bIns="0" rtlCol="0" anchor="t"/>
          <a:lstStyle/>
          <a:p>
            <a:pPr marL="0" indent="0">
              <a:spcAft>
                <a:spcPts val="400"/>
              </a:spcAft>
              <a:buNone/>
            </a:pPr>
            <a:r>
              <a:rPr lang="en-US" sz="1250" dirty="0">
                <a:solidFill>
                  <a:srgbClr val="2C3A55"/>
                </a:solidFill>
                <a:latin typeface="Calibri" pitchFamily="34" charset="0"/>
                <a:ea typeface="Calibri" pitchFamily="34" charset="-122"/>
                <a:cs typeface="Calibri" pitchFamily="34" charset="-120"/>
              </a:rPr>
              <a:t>Aquí se ajustan los parámetros: los cortes del árbol, los coeficientes de la recta. El modelo ve estos datos todas las veces que quiera.</a:t>
            </a:r>
            <a:endParaRPr lang="en-US" sz="1250" dirty="0"/>
          </a:p>
        </p:txBody>
      </p:sp>
      <p:sp>
        <p:nvSpPr>
          <p:cNvPr id="19" name="Shape 17"/>
          <p:cNvSpPr/>
          <p:nvPr/>
        </p:nvSpPr>
        <p:spPr>
          <a:xfrm>
            <a:off x="4279392" y="3337560"/>
            <a:ext cx="3630168" cy="2011680"/>
          </a:xfrm>
          <a:prstGeom prst="roundRect">
            <a:avLst>
              <a:gd name="adj" fmla="val 2727"/>
            </a:avLst>
          </a:prstGeom>
          <a:solidFill>
            <a:srgbClr val="FFFFFF"/>
          </a:solidFill>
          <a:ln w="9525">
            <a:solidFill>
              <a:srgbClr val="D2DBEC"/>
            </a:solidFill>
            <a:prstDash val="solid"/>
          </a:ln>
        </p:spPr>
      </p:sp>
      <p:sp>
        <p:nvSpPr>
          <p:cNvPr id="20" name="Shape 18"/>
          <p:cNvSpPr/>
          <p:nvPr/>
        </p:nvSpPr>
        <p:spPr>
          <a:xfrm>
            <a:off x="4507992" y="3584448"/>
            <a:ext cx="128016" cy="128016"/>
          </a:xfrm>
          <a:prstGeom prst="roundRect">
            <a:avLst>
              <a:gd name="adj" fmla="val 21429"/>
            </a:avLst>
          </a:prstGeom>
          <a:solidFill>
            <a:srgbClr val="1A56E8"/>
          </a:solidFill>
          <a:ln w="12700">
            <a:solidFill>
              <a:srgbClr val="1A56E8"/>
            </a:solidFill>
            <a:prstDash val="solid"/>
          </a:ln>
        </p:spPr>
      </p:sp>
      <p:sp>
        <p:nvSpPr>
          <p:cNvPr id="21" name="Text 19"/>
          <p:cNvSpPr txBox="1"/>
          <p:nvPr/>
        </p:nvSpPr>
        <p:spPr>
          <a:xfrm>
            <a:off x="4736592" y="3474720"/>
            <a:ext cx="2990088"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Tú eliges</a:t>
            </a:r>
            <a:endParaRPr lang="en-US" sz="1400" dirty="0"/>
          </a:p>
        </p:txBody>
      </p:sp>
      <p:sp>
        <p:nvSpPr>
          <p:cNvPr id="22" name="Text 20"/>
          <p:cNvSpPr txBox="1"/>
          <p:nvPr/>
        </p:nvSpPr>
        <p:spPr>
          <a:xfrm>
            <a:off x="4507992" y="3840480"/>
            <a:ext cx="3200400" cy="1417320"/>
          </a:xfrm>
          <a:prstGeom prst="rect">
            <a:avLst/>
          </a:prstGeom>
          <a:noFill/>
          <a:ln/>
        </p:spPr>
        <p:txBody>
          <a:bodyPr wrap="square" lIns="0" tIns="0" rIns="0" bIns="0" rtlCol="0" anchor="t"/>
          <a:lstStyle/>
          <a:p>
            <a:pPr marL="0" indent="0">
              <a:spcAft>
                <a:spcPts val="400"/>
              </a:spcAft>
              <a:buNone/>
            </a:pPr>
            <a:r>
              <a:rPr lang="en-US" sz="1250" dirty="0">
                <a:solidFill>
                  <a:srgbClr val="2C3A55"/>
                </a:solidFill>
                <a:latin typeface="Calibri" pitchFamily="34" charset="0"/>
                <a:ea typeface="Calibri" pitchFamily="34" charset="-122"/>
                <a:cs typeface="Calibri" pitchFamily="34" charset="-120"/>
              </a:rPr>
              <a:t>Pruebas varios hiperparámetros (profundidad 1, 2, 3…) y te quedas con el que mejor sale AQUÍ. El modelo no aprende de estos datos, pero tus decisiones sí.</a:t>
            </a:r>
            <a:endParaRPr lang="en-US" sz="1250" dirty="0"/>
          </a:p>
        </p:txBody>
      </p:sp>
      <p:sp>
        <p:nvSpPr>
          <p:cNvPr id="23" name="Shape 21"/>
          <p:cNvSpPr/>
          <p:nvPr/>
        </p:nvSpPr>
        <p:spPr>
          <a:xfrm>
            <a:off x="8055864" y="3337560"/>
            <a:ext cx="3630168" cy="2011680"/>
          </a:xfrm>
          <a:prstGeom prst="roundRect">
            <a:avLst>
              <a:gd name="adj" fmla="val 2727"/>
            </a:avLst>
          </a:prstGeom>
          <a:solidFill>
            <a:srgbClr val="FFFFFF"/>
          </a:solidFill>
          <a:ln w="9525">
            <a:solidFill>
              <a:srgbClr val="D2DBEC"/>
            </a:solidFill>
            <a:prstDash val="solid"/>
          </a:ln>
        </p:spPr>
      </p:sp>
      <p:sp>
        <p:nvSpPr>
          <p:cNvPr id="24" name="Shape 22"/>
          <p:cNvSpPr/>
          <p:nvPr/>
        </p:nvSpPr>
        <p:spPr>
          <a:xfrm>
            <a:off x="8284464" y="3584448"/>
            <a:ext cx="128016" cy="128016"/>
          </a:xfrm>
          <a:prstGeom prst="roundRect">
            <a:avLst>
              <a:gd name="adj" fmla="val 21429"/>
            </a:avLst>
          </a:prstGeom>
          <a:solidFill>
            <a:srgbClr val="E6115E"/>
          </a:solidFill>
          <a:ln w="12700">
            <a:solidFill>
              <a:srgbClr val="E6115E"/>
            </a:solidFill>
            <a:prstDash val="solid"/>
          </a:ln>
        </p:spPr>
      </p:sp>
      <p:sp>
        <p:nvSpPr>
          <p:cNvPr id="25" name="Text 23"/>
          <p:cNvSpPr txBox="1"/>
          <p:nvPr/>
        </p:nvSpPr>
        <p:spPr>
          <a:xfrm>
            <a:off x="8513064" y="3474720"/>
            <a:ext cx="2990088"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Se mira una sola vez</a:t>
            </a:r>
            <a:endParaRPr lang="en-US" sz="1400" dirty="0"/>
          </a:p>
        </p:txBody>
      </p:sp>
      <p:sp>
        <p:nvSpPr>
          <p:cNvPr id="26" name="Text 24"/>
          <p:cNvSpPr txBox="1"/>
          <p:nvPr/>
        </p:nvSpPr>
        <p:spPr>
          <a:xfrm>
            <a:off x="8284464" y="3840480"/>
            <a:ext cx="3200400" cy="1417320"/>
          </a:xfrm>
          <a:prstGeom prst="rect">
            <a:avLst/>
          </a:prstGeom>
          <a:noFill/>
          <a:ln/>
        </p:spPr>
        <p:txBody>
          <a:bodyPr wrap="square" lIns="0" tIns="0" rIns="0" bIns="0" rtlCol="0" anchor="t"/>
          <a:lstStyle/>
          <a:p>
            <a:pPr marL="0" indent="0">
              <a:spcAft>
                <a:spcPts val="400"/>
              </a:spcAft>
              <a:buNone/>
            </a:pPr>
            <a:r>
              <a:rPr lang="en-US" sz="1250" dirty="0">
                <a:solidFill>
                  <a:srgbClr val="2C3A55"/>
                </a:solidFill>
                <a:latin typeface="Calibri" pitchFamily="34" charset="0"/>
                <a:ea typeface="Calibri" pitchFamily="34" charset="-122"/>
                <a:cs typeface="Calibri" pitchFamily="34" charset="-120"/>
              </a:rPr>
              <a:t>Al final, con todo decidido. Si después de ver la prueba cambias algo y vuelves a medir, ya no es un examen: es otra práctica.</a:t>
            </a:r>
            <a:endParaRPr lang="en-US" sz="1250" dirty="0"/>
          </a:p>
        </p:txBody>
      </p:sp>
      <p:sp>
        <p:nvSpPr>
          <p:cNvPr id="27" name="Shape 25"/>
          <p:cNvSpPr/>
          <p:nvPr/>
        </p:nvSpPr>
        <p:spPr>
          <a:xfrm>
            <a:off x="502920" y="5577840"/>
            <a:ext cx="11183112" cy="685800"/>
          </a:xfrm>
          <a:prstGeom prst="roundRect">
            <a:avLst>
              <a:gd name="adj" fmla="val 8000"/>
            </a:avLst>
          </a:prstGeom>
          <a:solidFill>
            <a:srgbClr val="E9EEF8"/>
          </a:solidFill>
          <a:ln w="9525">
            <a:solidFill>
              <a:srgbClr val="D2DBEC"/>
            </a:solidFill>
            <a:prstDash val="solid"/>
          </a:ln>
        </p:spPr>
      </p:sp>
      <p:sp>
        <p:nvSpPr>
          <p:cNvPr id="28" name="Text 26"/>
          <p:cNvSpPr txBox="1"/>
          <p:nvPr/>
        </p:nvSpPr>
        <p:spPr>
          <a:xfrm>
            <a:off x="731520" y="5650992"/>
            <a:ext cx="10789920" cy="548640"/>
          </a:xfrm>
          <a:prstGeom prst="rect">
            <a:avLst/>
          </a:prstGeom>
          <a:noFill/>
          <a:ln/>
        </p:spPr>
        <p:txBody>
          <a:bodyPr wrap="square" lIns="0" tIns="0" rIns="0" bIns="0" rtlCol="0" anchor="ctr"/>
          <a:lstStyle/>
          <a:p>
            <a:pPr marL="0" indent="0">
              <a:spcAft>
                <a:spcPts val="400"/>
              </a:spcAft>
              <a:buNone/>
            </a:pPr>
            <a:r>
              <a:rPr lang="en-US" sz="1250" b="1" dirty="0">
                <a:solidFill>
                  <a:srgbClr val="0A2559"/>
                </a:solidFill>
                <a:latin typeface="Calibri" pitchFamily="34" charset="0"/>
                <a:ea typeface="Calibri" pitchFamily="34" charset="-122"/>
                <a:cs typeface="Calibri" pitchFamily="34" charset="-120"/>
              </a:rPr>
              <a:t>¿Y si tengo pocos datos? </a:t>
            </a:r>
            <a:r>
              <a:rPr lang="en-US" sz="1250" dirty="0">
                <a:solidFill>
                  <a:srgbClr val="2C3A55"/>
                </a:solidFill>
                <a:latin typeface="Calibri" pitchFamily="34" charset="0"/>
                <a:ea typeface="Calibri" pitchFamily="34" charset="-122"/>
                <a:cs typeface="Calibri" pitchFamily="34" charset="-120"/>
              </a:rPr>
              <a:t>Sacrificar el 40 % duele. Para eso existe la validación cruzada, que usa todos los datos para validar por turnos. La vemos en la Clase 13.</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BLOQUE 3</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La curva que vas a ver en todo el curso</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Árboles de profundidad 1 a 12 con nuestros clientes. Entrenamiento sube siempre; validación sube y luego baja.</a:t>
            </a:r>
            <a:endParaRPr lang="en-US" sz="1400" dirty="0"/>
          </a:p>
        </p:txBody>
      </p:sp>
      <p:graphicFrame>
        <p:nvGraphicFramePr>
          <p:cNvPr id="6" name="Chart 0"/>
          <p:cNvGraphicFramePr/>
          <p:nvPr/>
        </p:nvGraphicFramePr>
        <p:xfrm>
          <a:off x="502920" y="2057400"/>
          <a:ext cx="667512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7452360" y="2057400"/>
            <a:ext cx="4233672" cy="1325880"/>
          </a:xfrm>
          <a:prstGeom prst="roundRect">
            <a:avLst>
              <a:gd name="adj" fmla="val 4138"/>
            </a:avLst>
          </a:prstGeom>
          <a:solidFill>
            <a:srgbClr val="FFFFFF"/>
          </a:solidFill>
          <a:ln w="9525">
            <a:solidFill>
              <a:srgbClr val="D2DBEC"/>
            </a:solidFill>
            <a:prstDash val="solid"/>
          </a:ln>
        </p:spPr>
      </p:sp>
      <p:sp>
        <p:nvSpPr>
          <p:cNvPr id="8" name="Text 5"/>
          <p:cNvSpPr txBox="1"/>
          <p:nvPr/>
        </p:nvSpPr>
        <p:spPr>
          <a:xfrm>
            <a:off x="7680960" y="2148840"/>
            <a:ext cx="914400" cy="1097280"/>
          </a:xfrm>
          <a:prstGeom prst="rect">
            <a:avLst/>
          </a:prstGeom>
          <a:noFill/>
          <a:ln/>
        </p:spPr>
        <p:txBody>
          <a:bodyPr wrap="square" lIns="0" tIns="0" rIns="0" bIns="0" rtlCol="0" anchor="ctr"/>
          <a:lstStyle/>
          <a:p>
            <a:pPr marL="0" indent="0">
              <a:buNone/>
            </a:pPr>
            <a:r>
              <a:rPr lang="en-US" sz="5400" b="1" dirty="0">
                <a:solidFill>
                  <a:srgbClr val="E6115E"/>
                </a:solidFill>
                <a:latin typeface="Calibri" pitchFamily="34" charset="0"/>
                <a:ea typeface="Calibri" pitchFamily="34" charset="-122"/>
                <a:cs typeface="Calibri" pitchFamily="34" charset="-120"/>
              </a:rPr>
              <a:t>5</a:t>
            </a:r>
            <a:endParaRPr lang="en-US" sz="5400" dirty="0"/>
          </a:p>
        </p:txBody>
      </p:sp>
      <p:sp>
        <p:nvSpPr>
          <p:cNvPr id="9" name="Text 6"/>
          <p:cNvSpPr txBox="1"/>
          <p:nvPr/>
        </p:nvSpPr>
        <p:spPr>
          <a:xfrm>
            <a:off x="8641080" y="2286000"/>
            <a:ext cx="2926080" cy="1005840"/>
          </a:xfrm>
          <a:prstGeom prst="rect">
            <a:avLst/>
          </a:prstGeom>
          <a:noFill/>
          <a:ln/>
        </p:spPr>
        <p:txBody>
          <a:bodyPr wrap="square" lIns="0" tIns="0" rIns="0" bIns="0" rtlCol="0" anchor="t"/>
          <a:lstStyle/>
          <a:p>
            <a:pPr marL="0" indent="0">
              <a:spcAft>
                <a:spcPts val="400"/>
              </a:spcAft>
              <a:buNone/>
            </a:pPr>
            <a:r>
              <a:rPr lang="en-US" sz="1250" b="1" dirty="0">
                <a:solidFill>
                  <a:srgbClr val="0A2559"/>
                </a:solidFill>
                <a:latin typeface="Calibri" pitchFamily="34" charset="0"/>
                <a:ea typeface="Calibri" pitchFamily="34" charset="-122"/>
                <a:cs typeface="Calibri" pitchFamily="34" charset="-120"/>
              </a:rPr>
              <a:t>profundidad elegida</a:t>
            </a:r>
            <a:endParaRPr lang="en-US" sz="1250" dirty="0"/>
          </a:p>
          <a:p>
            <a:pPr marL="0" indent="0">
              <a:spcAft>
                <a:spcPts val="400"/>
              </a:spcAft>
              <a:buNone/>
            </a:pPr>
            <a:r>
              <a:rPr lang="en-US" sz="1250" dirty="0">
                <a:solidFill>
                  <a:srgbClr val="2C3A55"/>
                </a:solidFill>
                <a:latin typeface="Calibri" pitchFamily="34" charset="0"/>
                <a:ea typeface="Calibri" pitchFamily="34" charset="-122"/>
                <a:cs typeface="Calibri" pitchFamily="34" charset="-120"/>
              </a:rPr>
              <a:t>mejor validación: 0.880</a:t>
            </a:r>
            <a:endParaRPr lang="en-US" sz="1250" dirty="0"/>
          </a:p>
          <a:p>
            <a:pPr marL="0" indent="0">
              <a:spcAft>
                <a:spcPts val="400"/>
              </a:spcAft>
              <a:buNone/>
            </a:pPr>
            <a:r>
              <a:rPr lang="en-US" sz="1250" dirty="0">
                <a:solidFill>
                  <a:srgbClr val="2C3A55"/>
                </a:solidFill>
                <a:latin typeface="Calibri" pitchFamily="34" charset="0"/>
                <a:ea typeface="Calibri" pitchFamily="34" charset="-122"/>
                <a:cs typeface="Calibri" pitchFamily="34" charset="-120"/>
              </a:rPr>
              <a:t>prueba, mirada una vez: 0.887</a:t>
            </a:r>
            <a:endParaRPr lang="en-US" sz="1250" dirty="0"/>
          </a:p>
        </p:txBody>
      </p:sp>
      <p:sp>
        <p:nvSpPr>
          <p:cNvPr id="10" name="Shape 7"/>
          <p:cNvSpPr/>
          <p:nvPr/>
        </p:nvSpPr>
        <p:spPr>
          <a:xfrm>
            <a:off x="7452360" y="3566160"/>
            <a:ext cx="4233672" cy="1234440"/>
          </a:xfrm>
          <a:prstGeom prst="roundRect">
            <a:avLst>
              <a:gd name="adj" fmla="val 4444"/>
            </a:avLst>
          </a:prstGeom>
          <a:solidFill>
            <a:srgbClr val="E9EEF8"/>
          </a:solidFill>
          <a:ln w="9525">
            <a:solidFill>
              <a:srgbClr val="D2DBEC"/>
            </a:solidFill>
            <a:prstDash val="solid"/>
          </a:ln>
        </p:spPr>
      </p:sp>
      <p:sp>
        <p:nvSpPr>
          <p:cNvPr id="11" name="Shape 8"/>
          <p:cNvSpPr/>
          <p:nvPr/>
        </p:nvSpPr>
        <p:spPr>
          <a:xfrm>
            <a:off x="7680960" y="3813048"/>
            <a:ext cx="128016" cy="128016"/>
          </a:xfrm>
          <a:prstGeom prst="roundRect">
            <a:avLst>
              <a:gd name="adj" fmla="val 21429"/>
            </a:avLst>
          </a:prstGeom>
          <a:solidFill>
            <a:srgbClr val="1A56E8"/>
          </a:solidFill>
          <a:ln w="12700">
            <a:solidFill>
              <a:srgbClr val="1A56E8"/>
            </a:solidFill>
            <a:prstDash val="solid"/>
          </a:ln>
        </p:spPr>
      </p:sp>
      <p:sp>
        <p:nvSpPr>
          <p:cNvPr id="12" name="Text 9"/>
          <p:cNvSpPr txBox="1"/>
          <p:nvPr/>
        </p:nvSpPr>
        <p:spPr>
          <a:xfrm>
            <a:off x="7909560" y="3703320"/>
            <a:ext cx="3593592"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A la izquierda: underfitting</a:t>
            </a:r>
            <a:endParaRPr lang="en-US" sz="1400" dirty="0"/>
          </a:p>
        </p:txBody>
      </p:sp>
      <p:sp>
        <p:nvSpPr>
          <p:cNvPr id="13" name="Text 10"/>
          <p:cNvSpPr txBox="1"/>
          <p:nvPr/>
        </p:nvSpPr>
        <p:spPr>
          <a:xfrm>
            <a:off x="7680960" y="4069080"/>
            <a:ext cx="3840480" cy="685800"/>
          </a:xfrm>
          <a:prstGeom prst="rect">
            <a:avLst/>
          </a:prstGeom>
          <a:noFill/>
          <a:ln/>
        </p:spPr>
        <p:txBody>
          <a:bodyPr wrap="square" lIns="0" tIns="0" rIns="0" bIns="0" rtlCol="0" anchor="t"/>
          <a:lstStyle/>
          <a:p>
            <a:pPr marL="0" indent="0">
              <a:spcAft>
                <a:spcPts val="400"/>
              </a:spcAft>
              <a:buNone/>
            </a:pPr>
            <a:r>
              <a:rPr lang="en-US" sz="1200" dirty="0">
                <a:solidFill>
                  <a:srgbClr val="2C3A55"/>
                </a:solidFill>
                <a:latin typeface="Calibri" pitchFamily="34" charset="0"/>
                <a:ea typeface="Calibri" pitchFamily="34" charset="-122"/>
                <a:cs typeface="Calibri" pitchFamily="34" charset="-120"/>
              </a:rPr>
              <a:t>Con 1 o 2 preguntas el árbol no alcanza a capturar el patrón. Malo en los dos.</a:t>
            </a:r>
            <a:endParaRPr lang="en-US" sz="1200" dirty="0"/>
          </a:p>
        </p:txBody>
      </p:sp>
      <p:sp>
        <p:nvSpPr>
          <p:cNvPr id="14" name="Shape 11"/>
          <p:cNvSpPr/>
          <p:nvPr/>
        </p:nvSpPr>
        <p:spPr>
          <a:xfrm>
            <a:off x="7452360" y="4983480"/>
            <a:ext cx="4233672" cy="1234440"/>
          </a:xfrm>
          <a:prstGeom prst="roundRect">
            <a:avLst>
              <a:gd name="adj" fmla="val 4444"/>
            </a:avLst>
          </a:prstGeom>
          <a:solidFill>
            <a:srgbClr val="0A2559"/>
          </a:solidFill>
          <a:ln w="9525">
            <a:solidFill>
              <a:srgbClr val="0A2559"/>
            </a:solidFill>
            <a:prstDash val="solid"/>
          </a:ln>
        </p:spPr>
      </p:sp>
      <p:sp>
        <p:nvSpPr>
          <p:cNvPr id="15" name="Shape 12"/>
          <p:cNvSpPr/>
          <p:nvPr/>
        </p:nvSpPr>
        <p:spPr>
          <a:xfrm>
            <a:off x="7680960" y="5230368"/>
            <a:ext cx="128016" cy="128016"/>
          </a:xfrm>
          <a:prstGeom prst="roundRect">
            <a:avLst>
              <a:gd name="adj" fmla="val 21429"/>
            </a:avLst>
          </a:prstGeom>
          <a:solidFill>
            <a:srgbClr val="E6115E"/>
          </a:solidFill>
          <a:ln w="12700">
            <a:solidFill>
              <a:srgbClr val="E6115E"/>
            </a:solidFill>
            <a:prstDash val="solid"/>
          </a:ln>
        </p:spPr>
      </p:sp>
      <p:sp>
        <p:nvSpPr>
          <p:cNvPr id="16" name="Text 13"/>
          <p:cNvSpPr txBox="1"/>
          <p:nvPr/>
        </p:nvSpPr>
        <p:spPr>
          <a:xfrm>
            <a:off x="7909560" y="5120640"/>
            <a:ext cx="3593592" cy="3474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 la derecha: overfitting</a:t>
            </a:r>
            <a:endParaRPr lang="en-US" sz="1400" dirty="0"/>
          </a:p>
        </p:txBody>
      </p:sp>
      <p:sp>
        <p:nvSpPr>
          <p:cNvPr id="17" name="Text 14"/>
          <p:cNvSpPr txBox="1"/>
          <p:nvPr/>
        </p:nvSpPr>
        <p:spPr>
          <a:xfrm>
            <a:off x="7680960" y="5486400"/>
            <a:ext cx="3840480" cy="685800"/>
          </a:xfrm>
          <a:prstGeom prst="rect">
            <a:avLst/>
          </a:prstGeom>
          <a:noFill/>
          <a:ln/>
        </p:spPr>
        <p:txBody>
          <a:bodyPr wrap="square" lIns="0" tIns="0" rIns="0" bIns="0" rtlCol="0" anchor="t"/>
          <a:lstStyle/>
          <a:p>
            <a:pPr marL="0" indent="0">
              <a:spcAft>
                <a:spcPts val="400"/>
              </a:spcAft>
              <a:buNone/>
            </a:pPr>
            <a:r>
              <a:rPr lang="en-US" sz="1200" dirty="0">
                <a:solidFill>
                  <a:srgbClr val="C9D4EA"/>
                </a:solidFill>
                <a:latin typeface="Calibri" pitchFamily="34" charset="0"/>
                <a:ea typeface="Calibri" pitchFamily="34" charset="-122"/>
                <a:cs typeface="Calibri" pitchFamily="34" charset="-120"/>
              </a:rPr>
              <a:t>Sin límite, el árbol llega a 180 hojas y acierta el 100 % en entrenamiento… y 0.860 en prueba.</a:t>
            </a:r>
            <a:endParaRPr lang="en-US" sz="1200" dirty="0"/>
          </a:p>
        </p:txBody>
      </p:sp>
      <p:sp>
        <p:nvSpPr>
          <p:cNvPr id="18" name="Text 15"/>
          <p:cNvSpPr txBox="1"/>
          <p:nvPr/>
        </p:nvSpPr>
        <p:spPr>
          <a:xfrm>
            <a:off x="502920" y="5852160"/>
            <a:ext cx="6675120" cy="365760"/>
          </a:xfrm>
          <a:prstGeom prst="rect">
            <a:avLst/>
          </a:prstGeom>
          <a:noFill/>
          <a:ln/>
        </p:spPr>
        <p:txBody>
          <a:bodyPr wrap="square" lIns="0" tIns="0" rIns="0" bIns="0" rtlCol="0" anchor="t"/>
          <a:lstStyle/>
          <a:p>
            <a:pPr marL="0" indent="0">
              <a:spcAft>
                <a:spcPts val="400"/>
              </a:spcAft>
              <a:buNone/>
            </a:pPr>
            <a:r>
              <a:rPr lang="en-US" sz="1100" i="1" dirty="0">
                <a:solidFill>
                  <a:srgbClr val="5B6B87"/>
                </a:solidFill>
                <a:latin typeface="Calibri" pitchFamily="34" charset="0"/>
                <a:ea typeface="Calibri" pitchFamily="34" charset="-122"/>
                <a:cs typeface="Calibri" pitchFamily="34" charset="-120"/>
              </a:rPr>
              <a:t>Lo que cambia de un módulo a otro es el eje horizontal: grado, profundidad, número de vecinos, regularización…</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E6115E"/>
          </a:solidFill>
          <a:ln w="12700">
            <a:solidFill>
              <a:srgbClr val="E6115E"/>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BLOQUE 3</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Caso real: el modelo que confundió la gripe con el invierno</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Google Flu Trends, 2008–2015. Mucha data, un ajuste espectacular… y un modelo que no generalizaba.</a:t>
            </a:r>
            <a:endParaRPr lang="en-US" sz="1400" dirty="0"/>
          </a:p>
        </p:txBody>
      </p:sp>
      <p:sp>
        <p:nvSpPr>
          <p:cNvPr id="6" name="Shape 4"/>
          <p:cNvSpPr/>
          <p:nvPr/>
        </p:nvSpPr>
        <p:spPr>
          <a:xfrm>
            <a:off x="502920" y="2103120"/>
            <a:ext cx="3474720" cy="1920240"/>
          </a:xfrm>
          <a:prstGeom prst="roundRect">
            <a:avLst>
              <a:gd name="adj" fmla="val 2857"/>
            </a:avLst>
          </a:prstGeom>
          <a:solidFill>
            <a:srgbClr val="FFFFFF"/>
          </a:solidFill>
          <a:ln w="9525">
            <a:solidFill>
              <a:srgbClr val="D2DBEC"/>
            </a:solidFill>
            <a:prstDash val="solid"/>
          </a:ln>
        </p:spPr>
      </p:sp>
      <p:sp>
        <p:nvSpPr>
          <p:cNvPr id="7" name="Text 5"/>
          <p:cNvSpPr txBox="1"/>
          <p:nvPr/>
        </p:nvSpPr>
        <p:spPr>
          <a:xfrm>
            <a:off x="731520" y="2194560"/>
            <a:ext cx="3017520" cy="868680"/>
          </a:xfrm>
          <a:prstGeom prst="rect">
            <a:avLst/>
          </a:prstGeom>
          <a:noFill/>
          <a:ln/>
        </p:spPr>
        <p:txBody>
          <a:bodyPr wrap="square" lIns="0" tIns="0" rIns="0" bIns="0" rtlCol="0" anchor="ctr"/>
          <a:lstStyle/>
          <a:p>
            <a:pPr marL="0" indent="0">
              <a:buNone/>
            </a:pPr>
            <a:r>
              <a:rPr lang="en-US" sz="5400" b="1" dirty="0">
                <a:solidFill>
                  <a:srgbClr val="1A56E8"/>
                </a:solidFill>
                <a:latin typeface="Calibri" pitchFamily="34" charset="0"/>
                <a:ea typeface="Calibri" pitchFamily="34" charset="-122"/>
                <a:cs typeface="Calibri" pitchFamily="34" charset="-120"/>
              </a:rPr>
              <a:t>45</a:t>
            </a:r>
            <a:endParaRPr lang="en-US" sz="5400" dirty="0"/>
          </a:p>
        </p:txBody>
      </p:sp>
      <p:sp>
        <p:nvSpPr>
          <p:cNvPr id="8" name="Text 6"/>
          <p:cNvSpPr txBox="1"/>
          <p:nvPr/>
        </p:nvSpPr>
        <p:spPr>
          <a:xfrm>
            <a:off x="731520" y="3063240"/>
            <a:ext cx="3017520" cy="914400"/>
          </a:xfrm>
          <a:prstGeom prst="rect">
            <a:avLst/>
          </a:prstGeom>
          <a:noFill/>
          <a:ln/>
        </p:spPr>
        <p:txBody>
          <a:bodyPr wrap="square" lIns="0" tIns="0" rIns="0" bIns="0" rtlCol="0" anchor="t"/>
          <a:lstStyle/>
          <a:p>
            <a:pPr marL="0" indent="0">
              <a:spcAft>
                <a:spcPts val="400"/>
              </a:spcAft>
              <a:buNone/>
            </a:pPr>
            <a:r>
              <a:rPr lang="en-US" sz="1200" dirty="0">
                <a:solidFill>
                  <a:srgbClr val="2C3A55"/>
                </a:solidFill>
                <a:latin typeface="Calibri" pitchFamily="34" charset="0"/>
                <a:ea typeface="Calibri" pitchFamily="34" charset="-122"/>
                <a:cs typeface="Calibri" pitchFamily="34" charset="-120"/>
              </a:rPr>
              <a:t>búsquedas elegidas entre 50 millones de candidatas para predecir las consultas médicas por gripe en EE. UU.</a:t>
            </a:r>
            <a:endParaRPr lang="en-US" sz="1200" dirty="0"/>
          </a:p>
        </p:txBody>
      </p:sp>
      <p:sp>
        <p:nvSpPr>
          <p:cNvPr id="9" name="Shape 7"/>
          <p:cNvSpPr/>
          <p:nvPr/>
        </p:nvSpPr>
        <p:spPr>
          <a:xfrm>
            <a:off x="4160520" y="2103120"/>
            <a:ext cx="3474720" cy="1920240"/>
          </a:xfrm>
          <a:prstGeom prst="roundRect">
            <a:avLst>
              <a:gd name="adj" fmla="val 2857"/>
            </a:avLst>
          </a:prstGeom>
          <a:solidFill>
            <a:srgbClr val="FFFFFF"/>
          </a:solidFill>
          <a:ln w="9525">
            <a:solidFill>
              <a:srgbClr val="D2DBEC"/>
            </a:solidFill>
            <a:prstDash val="solid"/>
          </a:ln>
        </p:spPr>
      </p:sp>
      <p:sp>
        <p:nvSpPr>
          <p:cNvPr id="10" name="Text 8"/>
          <p:cNvSpPr txBox="1"/>
          <p:nvPr/>
        </p:nvSpPr>
        <p:spPr>
          <a:xfrm>
            <a:off x="4389120" y="2194560"/>
            <a:ext cx="3017520" cy="868680"/>
          </a:xfrm>
          <a:prstGeom prst="rect">
            <a:avLst/>
          </a:prstGeom>
          <a:noFill/>
          <a:ln/>
        </p:spPr>
        <p:txBody>
          <a:bodyPr wrap="square" lIns="0" tIns="0" rIns="0" bIns="0" rtlCol="0" anchor="ctr"/>
          <a:lstStyle/>
          <a:p>
            <a:pPr marL="0" indent="0">
              <a:buNone/>
            </a:pPr>
            <a:r>
              <a:rPr lang="en-US" sz="5400" b="1" dirty="0">
                <a:solidFill>
                  <a:srgbClr val="E6115E"/>
                </a:solidFill>
                <a:latin typeface="Calibri" pitchFamily="34" charset="0"/>
                <a:ea typeface="Calibri" pitchFamily="34" charset="-122"/>
                <a:cs typeface="Calibri" pitchFamily="34" charset="-120"/>
              </a:rPr>
              <a:t>2×</a:t>
            </a:r>
            <a:endParaRPr lang="en-US" sz="5400" dirty="0"/>
          </a:p>
        </p:txBody>
      </p:sp>
      <p:sp>
        <p:nvSpPr>
          <p:cNvPr id="11" name="Text 9"/>
          <p:cNvSpPr txBox="1"/>
          <p:nvPr/>
        </p:nvSpPr>
        <p:spPr>
          <a:xfrm>
            <a:off x="4389120" y="3063240"/>
            <a:ext cx="3017520" cy="914400"/>
          </a:xfrm>
          <a:prstGeom prst="rect">
            <a:avLst/>
          </a:prstGeom>
          <a:noFill/>
          <a:ln/>
        </p:spPr>
        <p:txBody>
          <a:bodyPr wrap="square" lIns="0" tIns="0" rIns="0" bIns="0" rtlCol="0" anchor="t"/>
          <a:lstStyle/>
          <a:p>
            <a:pPr marL="0" indent="0">
              <a:spcAft>
                <a:spcPts val="400"/>
              </a:spcAft>
              <a:buNone/>
            </a:pPr>
            <a:r>
              <a:rPr lang="en-US" sz="1200" dirty="0">
                <a:solidFill>
                  <a:srgbClr val="2C3A55"/>
                </a:solidFill>
                <a:latin typeface="Calibri" pitchFamily="34" charset="0"/>
                <a:ea typeface="Calibri" pitchFamily="34" charset="-122"/>
                <a:cs typeface="Calibri" pitchFamily="34" charset="-120"/>
              </a:rPr>
              <a:t>en febrero de 2013 estimó más del doble de consultas por gripe de las que reportó el CDC.</a:t>
            </a:r>
            <a:endParaRPr lang="en-US" sz="1200" dirty="0"/>
          </a:p>
        </p:txBody>
      </p:sp>
      <p:sp>
        <p:nvSpPr>
          <p:cNvPr id="12" name="Shape 10"/>
          <p:cNvSpPr/>
          <p:nvPr/>
        </p:nvSpPr>
        <p:spPr>
          <a:xfrm>
            <a:off x="7818120" y="2103120"/>
            <a:ext cx="3867912" cy="1920240"/>
          </a:xfrm>
          <a:prstGeom prst="roundRect">
            <a:avLst>
              <a:gd name="adj" fmla="val 2857"/>
            </a:avLst>
          </a:prstGeom>
          <a:solidFill>
            <a:srgbClr val="FFFFFF"/>
          </a:solidFill>
          <a:ln w="9525">
            <a:solidFill>
              <a:srgbClr val="D2DBEC"/>
            </a:solidFill>
            <a:prstDash val="solid"/>
          </a:ln>
        </p:spPr>
      </p:sp>
      <p:sp>
        <p:nvSpPr>
          <p:cNvPr id="13" name="Text 11"/>
          <p:cNvSpPr txBox="1"/>
          <p:nvPr/>
        </p:nvSpPr>
        <p:spPr>
          <a:xfrm>
            <a:off x="8046720" y="2194560"/>
            <a:ext cx="3474720" cy="868680"/>
          </a:xfrm>
          <a:prstGeom prst="rect">
            <a:avLst/>
          </a:prstGeom>
          <a:noFill/>
          <a:ln/>
        </p:spPr>
        <p:txBody>
          <a:bodyPr wrap="square" lIns="0" tIns="0" rIns="0" bIns="0" rtlCol="0" anchor="ctr"/>
          <a:lstStyle/>
          <a:p>
            <a:pPr marL="0" indent="0">
              <a:buNone/>
            </a:pPr>
            <a:r>
              <a:rPr lang="en-US" sz="4400" b="1" dirty="0">
                <a:solidFill>
                  <a:srgbClr val="0A2559"/>
                </a:solidFill>
                <a:latin typeface="Calibri" pitchFamily="34" charset="0"/>
                <a:ea typeface="Calibri" pitchFamily="34" charset="-122"/>
                <a:cs typeface="Calibri" pitchFamily="34" charset="-120"/>
              </a:rPr>
              <a:t>100 / 108</a:t>
            </a:r>
            <a:endParaRPr lang="en-US" sz="4400" dirty="0"/>
          </a:p>
        </p:txBody>
      </p:sp>
      <p:sp>
        <p:nvSpPr>
          <p:cNvPr id="14" name="Text 12"/>
          <p:cNvSpPr txBox="1"/>
          <p:nvPr/>
        </p:nvSpPr>
        <p:spPr>
          <a:xfrm>
            <a:off x="8046720" y="3063240"/>
            <a:ext cx="3474720" cy="914400"/>
          </a:xfrm>
          <a:prstGeom prst="rect">
            <a:avLst/>
          </a:prstGeom>
          <a:noFill/>
          <a:ln/>
        </p:spPr>
        <p:txBody>
          <a:bodyPr wrap="square" lIns="0" tIns="0" rIns="0" bIns="0" rtlCol="0" anchor="t"/>
          <a:lstStyle/>
          <a:p>
            <a:pPr marL="0" indent="0">
              <a:spcAft>
                <a:spcPts val="400"/>
              </a:spcAft>
              <a:buNone/>
            </a:pPr>
            <a:r>
              <a:rPr lang="en-US" sz="1200" dirty="0">
                <a:solidFill>
                  <a:srgbClr val="2C3A55"/>
                </a:solidFill>
                <a:latin typeface="Calibri" pitchFamily="34" charset="0"/>
                <a:ea typeface="Calibri" pitchFamily="34" charset="-122"/>
                <a:cs typeface="Calibri" pitchFamily="34" charset="-120"/>
              </a:rPr>
              <a:t>semanas en que sobreestimó, desde agosto de 2011. No era mala suerte: era un sesgo sistemático.</a:t>
            </a:r>
            <a:endParaRPr lang="en-US" sz="1200" dirty="0"/>
          </a:p>
        </p:txBody>
      </p:sp>
      <p:sp>
        <p:nvSpPr>
          <p:cNvPr id="15" name="Shape 13"/>
          <p:cNvSpPr/>
          <p:nvPr/>
        </p:nvSpPr>
        <p:spPr>
          <a:xfrm>
            <a:off x="502920" y="4251960"/>
            <a:ext cx="5486400" cy="1965960"/>
          </a:xfrm>
          <a:prstGeom prst="roundRect">
            <a:avLst>
              <a:gd name="adj" fmla="val 2791"/>
            </a:avLst>
          </a:prstGeom>
          <a:solidFill>
            <a:srgbClr val="0A2559"/>
          </a:solidFill>
          <a:ln w="9525">
            <a:solidFill>
              <a:srgbClr val="0A2559"/>
            </a:solidFill>
            <a:prstDash val="solid"/>
          </a:ln>
        </p:spPr>
      </p:sp>
      <p:sp>
        <p:nvSpPr>
          <p:cNvPr id="16" name="Shape 14"/>
          <p:cNvSpPr/>
          <p:nvPr/>
        </p:nvSpPr>
        <p:spPr>
          <a:xfrm>
            <a:off x="731520" y="4498848"/>
            <a:ext cx="128016" cy="128016"/>
          </a:xfrm>
          <a:prstGeom prst="roundRect">
            <a:avLst>
              <a:gd name="adj" fmla="val 21429"/>
            </a:avLst>
          </a:prstGeom>
          <a:solidFill>
            <a:srgbClr val="E6115E"/>
          </a:solidFill>
          <a:ln w="12700">
            <a:solidFill>
              <a:srgbClr val="E6115E"/>
            </a:solidFill>
            <a:prstDash val="solid"/>
          </a:ln>
        </p:spPr>
      </p:sp>
      <p:sp>
        <p:nvSpPr>
          <p:cNvPr id="17" name="Text 15"/>
          <p:cNvSpPr txBox="1"/>
          <p:nvPr/>
        </p:nvSpPr>
        <p:spPr>
          <a:xfrm>
            <a:off x="960120" y="4389120"/>
            <a:ext cx="4846320" cy="3474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Qué salió mal</a:t>
            </a:r>
            <a:endParaRPr lang="en-US" sz="1400" dirty="0"/>
          </a:p>
        </p:txBody>
      </p:sp>
      <p:sp>
        <p:nvSpPr>
          <p:cNvPr id="18" name="Text 16"/>
          <p:cNvSpPr txBox="1"/>
          <p:nvPr/>
        </p:nvSpPr>
        <p:spPr>
          <a:xfrm>
            <a:off x="731520" y="4754880"/>
            <a:ext cx="5029200" cy="1371600"/>
          </a:xfrm>
          <a:prstGeom prst="rect">
            <a:avLst/>
          </a:prstGeom>
          <a:noFill/>
          <a:ln/>
        </p:spPr>
        <p:txBody>
          <a:bodyPr wrap="square" lIns="0" tIns="0" rIns="0" bIns="0" rtlCol="0" anchor="t"/>
          <a:lstStyle/>
          <a:p>
            <a:pPr marL="0" indent="0">
              <a:spcAft>
                <a:spcPts val="400"/>
              </a:spcAft>
              <a:buNone/>
            </a:pPr>
            <a:r>
              <a:rPr lang="en-US" sz="1250" dirty="0">
                <a:solidFill>
                  <a:srgbClr val="C9D4EA"/>
                </a:solidFill>
                <a:latin typeface="Calibri" pitchFamily="34" charset="0"/>
                <a:ea typeface="Calibri" pitchFamily="34" charset="-122"/>
                <a:cs typeface="Calibri" pitchFamily="34" charset="-120"/>
              </a:rPr>
              <a:t>Con tantas búsquedas candidatas, algunas se correlacionaban con la gripe solo porque ambas suben en invierno. El modelo era, en parte, un detector de estaciones. Cuando la gripe no siguió el calendario, falló.</a:t>
            </a:r>
            <a:endParaRPr lang="en-US" sz="1250" dirty="0"/>
          </a:p>
        </p:txBody>
      </p:sp>
      <p:sp>
        <p:nvSpPr>
          <p:cNvPr id="19" name="Shape 17"/>
          <p:cNvSpPr/>
          <p:nvPr/>
        </p:nvSpPr>
        <p:spPr>
          <a:xfrm>
            <a:off x="6199632" y="4251960"/>
            <a:ext cx="5486400" cy="1965960"/>
          </a:xfrm>
          <a:prstGeom prst="roundRect">
            <a:avLst>
              <a:gd name="adj" fmla="val 2791"/>
            </a:avLst>
          </a:prstGeom>
          <a:solidFill>
            <a:srgbClr val="E9EEF8"/>
          </a:solidFill>
          <a:ln w="9525">
            <a:solidFill>
              <a:srgbClr val="D2DBEC"/>
            </a:solidFill>
            <a:prstDash val="solid"/>
          </a:ln>
        </p:spPr>
      </p:sp>
      <p:sp>
        <p:nvSpPr>
          <p:cNvPr id="20" name="Shape 18"/>
          <p:cNvSpPr/>
          <p:nvPr/>
        </p:nvSpPr>
        <p:spPr>
          <a:xfrm>
            <a:off x="6428232" y="4498848"/>
            <a:ext cx="128016" cy="128016"/>
          </a:xfrm>
          <a:prstGeom prst="roundRect">
            <a:avLst>
              <a:gd name="adj" fmla="val 21429"/>
            </a:avLst>
          </a:prstGeom>
          <a:solidFill>
            <a:srgbClr val="1A56E8"/>
          </a:solidFill>
          <a:ln w="12700">
            <a:solidFill>
              <a:srgbClr val="1A56E8"/>
            </a:solidFill>
            <a:prstDash val="solid"/>
          </a:ln>
        </p:spPr>
      </p:sp>
      <p:sp>
        <p:nvSpPr>
          <p:cNvPr id="21" name="Text 19"/>
          <p:cNvSpPr txBox="1"/>
          <p:nvPr/>
        </p:nvSpPr>
        <p:spPr>
          <a:xfrm>
            <a:off x="6656832" y="4389120"/>
            <a:ext cx="4846320"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La lección para el curso</a:t>
            </a:r>
            <a:endParaRPr lang="en-US" sz="1400" dirty="0"/>
          </a:p>
        </p:txBody>
      </p:sp>
      <p:sp>
        <p:nvSpPr>
          <p:cNvPr id="22" name="Text 20"/>
          <p:cNvSpPr txBox="1"/>
          <p:nvPr/>
        </p:nvSpPr>
        <p:spPr>
          <a:xfrm>
            <a:off x="6428232" y="4754880"/>
            <a:ext cx="5029200" cy="1371600"/>
          </a:xfrm>
          <a:prstGeom prst="rect">
            <a:avLst/>
          </a:prstGeom>
          <a:noFill/>
          <a:ln/>
        </p:spPr>
        <p:txBody>
          <a:bodyPr wrap="square" lIns="0" tIns="0" rIns="0" bIns="0" rtlCol="0" anchor="t"/>
          <a:lstStyle/>
          <a:p>
            <a:pPr marL="0" indent="0">
              <a:spcAft>
                <a:spcPts val="400"/>
              </a:spcAft>
              <a:buNone/>
            </a:pPr>
            <a:r>
              <a:rPr lang="en-US" sz="1250" dirty="0">
                <a:solidFill>
                  <a:srgbClr val="2C3A55"/>
                </a:solidFill>
                <a:latin typeface="Calibri" pitchFamily="34" charset="0"/>
                <a:ea typeface="Calibri" pitchFamily="34" charset="-122"/>
                <a:cs typeface="Calibri" pitchFamily="34" charset="-120"/>
              </a:rPr>
              <a:t>Ajustar muy bien el pasado no garantiza nada. Muchas variables y pocos casos de verdad es la receta del overfitting. Y el mundo cambia: un modelo desplegado hay que vigilarlo (paso 6 de CRISP-DM).</a:t>
            </a:r>
            <a:endParaRPr lang="en-US" sz="1250" dirty="0"/>
          </a:p>
        </p:txBody>
      </p:sp>
      <p:sp>
        <p:nvSpPr>
          <p:cNvPr id="23" name="Text 21"/>
          <p:cNvSpPr txBox="1"/>
          <p:nvPr/>
        </p:nvSpPr>
        <p:spPr>
          <a:xfrm>
            <a:off x="502920" y="6419088"/>
            <a:ext cx="11155680" cy="274320"/>
          </a:xfrm>
          <a:prstGeom prst="rect">
            <a:avLst/>
          </a:prstGeom>
          <a:noFill/>
          <a:ln/>
        </p:spPr>
        <p:txBody>
          <a:bodyPr wrap="square" lIns="0" tIns="0" rIns="0" bIns="0" rtlCol="0" anchor="ctr"/>
          <a:lstStyle/>
          <a:p>
            <a:pPr marL="0" indent="0">
              <a:buNone/>
            </a:pPr>
            <a:r>
              <a:rPr lang="en-US" sz="950" i="1" dirty="0">
                <a:solidFill>
                  <a:srgbClr val="5B6B87"/>
                </a:solidFill>
                <a:latin typeface="Calibri" pitchFamily="34" charset="0"/>
                <a:ea typeface="Calibri" pitchFamily="34" charset="-122"/>
                <a:cs typeface="Calibri" pitchFamily="34" charset="-120"/>
              </a:rPr>
              <a:t>Ginsberg, J. et al. (2009). Detecting influenza epidemics using search engine query data. Nature, 457, 1012–1014 · Lazer, D. et al. (2014). The parable of Google Flu: traps in big data analysis. Science, 343(6176), 1203–1205.</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BLOQUE 4</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Cuatro métodos para usar cualquier modelo</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En scikit-learn todos los modelos se usan igual. Cambias una línea y cambias de algoritmo.</a:t>
            </a:r>
            <a:endParaRPr lang="en-US" sz="1400" dirty="0"/>
          </a:p>
        </p:txBody>
      </p:sp>
      <p:sp>
        <p:nvSpPr>
          <p:cNvPr id="6" name="Shape 4"/>
          <p:cNvSpPr/>
          <p:nvPr/>
        </p:nvSpPr>
        <p:spPr>
          <a:xfrm>
            <a:off x="502920" y="2103120"/>
            <a:ext cx="5760720" cy="2743200"/>
          </a:xfrm>
          <a:prstGeom prst="roundRect">
            <a:avLst>
              <a:gd name="adj" fmla="val 2000"/>
            </a:avLst>
          </a:prstGeom>
          <a:solidFill>
            <a:srgbClr val="061834"/>
          </a:solidFill>
          <a:ln w="9525">
            <a:solidFill>
              <a:srgbClr val="061834"/>
            </a:solidFill>
            <a:prstDash val="solid"/>
          </a:ln>
        </p:spPr>
      </p:sp>
      <p:sp>
        <p:nvSpPr>
          <p:cNvPr id="7" name="Text 5"/>
          <p:cNvSpPr txBox="1"/>
          <p:nvPr/>
        </p:nvSpPr>
        <p:spPr>
          <a:xfrm>
            <a:off x="777240" y="2331720"/>
            <a:ext cx="5394960" cy="2286000"/>
          </a:xfrm>
          <a:prstGeom prst="rect">
            <a:avLst/>
          </a:prstGeom>
          <a:noFill/>
          <a:ln/>
        </p:spPr>
        <p:txBody>
          <a:bodyPr wrap="square" lIns="0" tIns="0" rIns="0" bIns="0" rtlCol="0" anchor="t"/>
          <a:lstStyle/>
          <a:p>
            <a:pPr marL="0" indent="0">
              <a:spcAft>
                <a:spcPts val="600"/>
              </a:spcAft>
              <a:buNone/>
            </a:pPr>
            <a:r>
              <a:rPr lang="en-US" sz="1250" dirty="0">
                <a:solidFill>
                  <a:srgbClr val="C9D4EA"/>
                </a:solidFill>
                <a:latin typeface="Courier New" pitchFamily="34" charset="0"/>
                <a:ea typeface="Courier New" pitchFamily="34" charset="-122"/>
                <a:cs typeface="Courier New" pitchFamily="34" charset="-120"/>
              </a:rPr>
              <a:t>modelo = LogisticRegression()</a:t>
            </a:r>
            <a:endParaRPr lang="en-US" sz="1250" dirty="0"/>
          </a:p>
          <a:p>
            <a:pPr marL="0" indent="0">
              <a:spcAft>
                <a:spcPts val="600"/>
              </a:spcAft>
              <a:buNone/>
            </a:pPr>
            <a:r>
              <a:rPr lang="en-US" sz="600" dirty="0">
                <a:solidFill>
                  <a:srgbClr val="000000"/>
                </a:solidFill>
                <a:latin typeface="Courier New" pitchFamily="34" charset="0"/>
                <a:ea typeface="Courier New" pitchFamily="34" charset="-122"/>
                <a:cs typeface="Courier New" pitchFamily="34" charset="-120"/>
              </a:rPr>
              <a:t> </a:t>
            </a:r>
            <a:endParaRPr lang="en-US" sz="1250" dirty="0"/>
          </a:p>
          <a:p>
            <a:pPr marL="0" indent="0">
              <a:spcAft>
                <a:spcPts val="600"/>
              </a:spcAft>
              <a:buNone/>
            </a:pPr>
            <a:r>
              <a:rPr lang="en-US" sz="1250" b="1" dirty="0">
                <a:solidFill>
                  <a:srgbClr val="FFFFFF"/>
                </a:solidFill>
                <a:latin typeface="Courier New" pitchFamily="34" charset="0"/>
                <a:ea typeface="Courier New" pitchFamily="34" charset="-122"/>
                <a:cs typeface="Courier New" pitchFamily="34" charset="-120"/>
              </a:rPr>
              <a:t>modelo.fit(X_train, y_train)</a:t>
            </a:r>
            <a:r>
              <a:rPr lang="en-US" sz="1250" dirty="0">
                <a:solidFill>
                  <a:srgbClr val="6F86B8"/>
                </a:solidFill>
                <a:latin typeface="Courier New" pitchFamily="34" charset="0"/>
                <a:ea typeface="Courier New" pitchFamily="34" charset="-122"/>
                <a:cs typeface="Courier New" pitchFamily="34" charset="-120"/>
              </a:rPr>
              <a:t>        # aprende</a:t>
            </a:r>
            <a:endParaRPr lang="en-US" sz="1250" dirty="0"/>
          </a:p>
          <a:p>
            <a:pPr marL="0" indent="0">
              <a:spcAft>
                <a:spcPts val="600"/>
              </a:spcAft>
              <a:buNone/>
            </a:pPr>
            <a:r>
              <a:rPr lang="en-US" sz="1250" b="1" dirty="0">
                <a:solidFill>
                  <a:srgbClr val="FFFFFF"/>
                </a:solidFill>
                <a:latin typeface="Courier New" pitchFamily="34" charset="0"/>
                <a:ea typeface="Courier New" pitchFamily="34" charset="-122"/>
                <a:cs typeface="Courier New" pitchFamily="34" charset="-120"/>
              </a:rPr>
              <a:t>modelo.predict(X_nuevo)</a:t>
            </a:r>
            <a:r>
              <a:rPr lang="en-US" sz="1250" dirty="0">
                <a:solidFill>
                  <a:srgbClr val="6F86B8"/>
                </a:solidFill>
                <a:latin typeface="Courier New" pitchFamily="34" charset="0"/>
                <a:ea typeface="Courier New" pitchFamily="34" charset="-122"/>
                <a:cs typeface="Courier New" pitchFamily="34" charset="-120"/>
              </a:rPr>
              <a:t>             # ŷ: 0 o 1</a:t>
            </a:r>
            <a:endParaRPr lang="en-US" sz="1250" dirty="0"/>
          </a:p>
          <a:p>
            <a:pPr marL="0" indent="0">
              <a:spcAft>
                <a:spcPts val="600"/>
              </a:spcAft>
              <a:buNone/>
            </a:pPr>
            <a:r>
              <a:rPr lang="en-US" sz="1250" b="1" dirty="0">
                <a:solidFill>
                  <a:srgbClr val="FFFFFF"/>
                </a:solidFill>
                <a:latin typeface="Courier New" pitchFamily="34" charset="0"/>
                <a:ea typeface="Courier New" pitchFamily="34" charset="-122"/>
                <a:cs typeface="Courier New" pitchFamily="34" charset="-120"/>
              </a:rPr>
              <a:t>modelo.predict_proba(X_nuevo)</a:t>
            </a:r>
            <a:r>
              <a:rPr lang="en-US" sz="1250" dirty="0">
                <a:solidFill>
                  <a:srgbClr val="6F86B8"/>
                </a:solidFill>
                <a:latin typeface="Courier New" pitchFamily="34" charset="0"/>
                <a:ea typeface="Courier New" pitchFamily="34" charset="-122"/>
                <a:cs typeface="Courier New" pitchFamily="34" charset="-120"/>
              </a:rPr>
              <a:t>       # probabilidad</a:t>
            </a:r>
            <a:endParaRPr lang="en-US" sz="1250" dirty="0"/>
          </a:p>
          <a:p>
            <a:pPr marL="0" indent="0">
              <a:spcAft>
                <a:spcPts val="600"/>
              </a:spcAft>
              <a:buNone/>
            </a:pPr>
            <a:r>
              <a:rPr lang="en-US" sz="1250" b="1" dirty="0">
                <a:solidFill>
                  <a:srgbClr val="FFFFFF"/>
                </a:solidFill>
                <a:latin typeface="Courier New" pitchFamily="34" charset="0"/>
                <a:ea typeface="Courier New" pitchFamily="34" charset="-122"/>
                <a:cs typeface="Courier New" pitchFamily="34" charset="-120"/>
              </a:rPr>
              <a:t>modelo.score(X_test, y_test)</a:t>
            </a:r>
            <a:r>
              <a:rPr lang="en-US" sz="1250" dirty="0">
                <a:solidFill>
                  <a:srgbClr val="6F86B8"/>
                </a:solidFill>
                <a:latin typeface="Courier New" pitchFamily="34" charset="0"/>
                <a:ea typeface="Courier New" pitchFamily="34" charset="-122"/>
                <a:cs typeface="Courier New" pitchFamily="34" charset="-120"/>
              </a:rPr>
              <a:t>        # qué tan bien</a:t>
            </a:r>
            <a:endParaRPr lang="en-US" sz="12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537960" y="2103120"/>
          <a:ext cx="5148072" cy="914400"/>
        </p:xfrm>
        <a:graphic>
          <a:graphicData uri="http://schemas.openxmlformats.org/drawingml/2006/table">
            <a:tbl>
              <a:tblPr/>
              <a:tblGrid>
                <a:gridCol w="3108960">
                  <a:extLst>
                    <a:ext uri="{9D8B030D-6E8A-4147-A177-3AD203B41FA5}">
                      <a16:colId xmlns:a16="http://schemas.microsoft.com/office/drawing/2014/main" val="20000"/>
                    </a:ext>
                  </a:extLst>
                </a:gridCol>
                <a:gridCol w="2039112">
                  <a:extLst>
                    <a:ext uri="{9D8B030D-6E8A-4147-A177-3AD203B41FA5}">
                      <a16:colId xmlns:a16="http://schemas.microsoft.com/office/drawing/2014/main" val="20001"/>
                    </a:ext>
                  </a:extLst>
                </a:gridCol>
              </a:tblGrid>
              <a:tr h="420624">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Modelo (mismo código)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Exactitud en prueba</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420624">
                <a:tc>
                  <a:txBody>
                    <a:bodyPr/>
                    <a:lstStyle/>
                    <a:p>
                      <a:pPr marL="0" indent="0">
                        <a:buNone/>
                      </a:pPr>
                      <a:r>
                        <a:rPr lang="en-US" sz="1150" b="1" dirty="0">
                          <a:solidFill>
                            <a:srgbClr val="E6115E"/>
                          </a:solidFill>
                          <a:latin typeface="Calibri" pitchFamily="34" charset="0"/>
                          <a:ea typeface="Calibri" pitchFamily="34" charset="-122"/>
                          <a:cs typeface="Calibri" pitchFamily="34" charset="-120"/>
                        </a:rPr>
                        <a:t>regresión logística</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0.920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árbol (prof. 5)</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0.877</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624">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KNN (k = 15)</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0.802</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buNone/>
                      </a:pPr>
                      <a:r>
                        <a:rPr lang="en-US" sz="1150" i="1" dirty="0">
                          <a:solidFill>
                            <a:srgbClr val="5B6B87"/>
                          </a:solidFill>
                          <a:latin typeface="Calibri" pitchFamily="34" charset="0"/>
                          <a:ea typeface="Calibri" pitchFamily="34" charset="-122"/>
                          <a:cs typeface="Calibri" pitchFamily="34" charset="-120"/>
                        </a:rPr>
                        <a:t>siempre «no cae»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i="1" dirty="0">
                          <a:solidFill>
                            <a:srgbClr val="5B6B87"/>
                          </a:solidFill>
                          <a:latin typeface="Calibri" pitchFamily="34" charset="0"/>
                          <a:ea typeface="Calibri" pitchFamily="34" charset="-122"/>
                          <a:cs typeface="Calibri" pitchFamily="34" charset="-120"/>
                        </a:rPr>
                        <a:t>0.802</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9" name="Shape 6"/>
          <p:cNvSpPr/>
          <p:nvPr/>
        </p:nvSpPr>
        <p:spPr>
          <a:xfrm>
            <a:off x="6537960" y="4434840"/>
            <a:ext cx="5148072" cy="1783080"/>
          </a:xfrm>
          <a:prstGeom prst="roundRect">
            <a:avLst>
              <a:gd name="adj" fmla="val 3077"/>
            </a:avLst>
          </a:prstGeom>
          <a:solidFill>
            <a:srgbClr val="E9EEF8"/>
          </a:solidFill>
          <a:ln w="9525">
            <a:solidFill>
              <a:srgbClr val="D2DBEC"/>
            </a:solidFill>
            <a:prstDash val="solid"/>
          </a:ln>
        </p:spPr>
      </p:sp>
      <p:sp>
        <p:nvSpPr>
          <p:cNvPr id="10" name="Shape 7"/>
          <p:cNvSpPr/>
          <p:nvPr/>
        </p:nvSpPr>
        <p:spPr>
          <a:xfrm>
            <a:off x="6766560" y="4681728"/>
            <a:ext cx="128016" cy="128016"/>
          </a:xfrm>
          <a:prstGeom prst="roundRect">
            <a:avLst>
              <a:gd name="adj" fmla="val 21429"/>
            </a:avLst>
          </a:prstGeom>
          <a:solidFill>
            <a:srgbClr val="1A56E8"/>
          </a:solidFill>
          <a:ln w="12700">
            <a:solidFill>
              <a:srgbClr val="1A56E8"/>
            </a:solidFill>
            <a:prstDash val="solid"/>
          </a:ln>
        </p:spPr>
      </p:sp>
      <p:sp>
        <p:nvSpPr>
          <p:cNvPr id="11" name="Text 8"/>
          <p:cNvSpPr txBox="1"/>
          <p:nvPr/>
        </p:nvSpPr>
        <p:spPr>
          <a:xfrm>
            <a:off x="6995160" y="4572000"/>
            <a:ext cx="4507992"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¿KNN empata con no hacer nada?</a:t>
            </a:r>
            <a:endParaRPr lang="en-US" sz="1400" dirty="0"/>
          </a:p>
        </p:txBody>
      </p:sp>
      <p:sp>
        <p:nvSpPr>
          <p:cNvPr id="12" name="Text 9"/>
          <p:cNvSpPr txBox="1"/>
          <p:nvPr/>
        </p:nvSpPr>
        <p:spPr>
          <a:xfrm>
            <a:off x="6766560" y="4937760"/>
            <a:ext cx="4709160" cy="1234440"/>
          </a:xfrm>
          <a:prstGeom prst="rect">
            <a:avLst/>
          </a:prstGeom>
          <a:noFill/>
          <a:ln/>
        </p:spPr>
        <p:txBody>
          <a:bodyPr wrap="square" lIns="0" tIns="0" rIns="0" bIns="0" rtlCol="0" anchor="t"/>
          <a:lstStyle/>
          <a:p>
            <a:pPr marL="0" indent="0">
              <a:spcAft>
                <a:spcPts val="400"/>
              </a:spcAft>
              <a:buNone/>
            </a:pPr>
            <a:r>
              <a:rPr lang="en-US" sz="1200" dirty="0">
                <a:solidFill>
                  <a:srgbClr val="2C3A55"/>
                </a:solidFill>
                <a:latin typeface="Calibri" pitchFamily="34" charset="0"/>
                <a:ea typeface="Calibri" pitchFamily="34" charset="-122"/>
                <a:cs typeface="Calibri" pitchFamily="34" charset="-120"/>
              </a:rPr>
              <a:t>KNN mide distancias, y el ingreso (miles de soles) aplasta al ratio de deuda (entre 0 y 1). Se arregla escalando las variables: Clase 6. Primera lección: las escalas importan.</a:t>
            </a:r>
            <a:endParaRPr lang="en-US" sz="1200" dirty="0"/>
          </a:p>
        </p:txBody>
      </p:sp>
      <p:sp>
        <p:nvSpPr>
          <p:cNvPr id="13" name="Shape 10"/>
          <p:cNvSpPr/>
          <p:nvPr/>
        </p:nvSpPr>
        <p:spPr>
          <a:xfrm>
            <a:off x="502920" y="5074920"/>
            <a:ext cx="5760720" cy="1143000"/>
          </a:xfrm>
          <a:prstGeom prst="roundRect">
            <a:avLst>
              <a:gd name="adj" fmla="val 4800"/>
            </a:avLst>
          </a:prstGeom>
          <a:solidFill>
            <a:srgbClr val="FFFFFF"/>
          </a:solidFill>
          <a:ln w="9525">
            <a:solidFill>
              <a:srgbClr val="D2DBEC"/>
            </a:solidFill>
            <a:prstDash val="solid"/>
          </a:ln>
        </p:spPr>
      </p:sp>
      <p:sp>
        <p:nvSpPr>
          <p:cNvPr id="14" name="Shape 11"/>
          <p:cNvSpPr/>
          <p:nvPr/>
        </p:nvSpPr>
        <p:spPr>
          <a:xfrm>
            <a:off x="731520" y="5321808"/>
            <a:ext cx="128016" cy="128016"/>
          </a:xfrm>
          <a:prstGeom prst="roundRect">
            <a:avLst>
              <a:gd name="adj" fmla="val 21429"/>
            </a:avLst>
          </a:prstGeom>
          <a:solidFill>
            <a:srgbClr val="E6115E"/>
          </a:solidFill>
          <a:ln w="12700">
            <a:solidFill>
              <a:srgbClr val="E6115E"/>
            </a:solidFill>
            <a:prstDash val="solid"/>
          </a:ln>
        </p:spPr>
      </p:sp>
      <p:sp>
        <p:nvSpPr>
          <p:cNvPr id="15" name="Text 12"/>
          <p:cNvSpPr txBox="1"/>
          <p:nvPr/>
        </p:nvSpPr>
        <p:spPr>
          <a:xfrm>
            <a:off x="960120" y="5212080"/>
            <a:ext cx="5120640"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Un cliente nuevo</a:t>
            </a:r>
            <a:endParaRPr lang="en-US" sz="1400" dirty="0"/>
          </a:p>
        </p:txBody>
      </p:sp>
      <p:sp>
        <p:nvSpPr>
          <p:cNvPr id="8" name="Text 13"/>
          <p:cNvSpPr txBox="1"/>
          <p:nvPr/>
        </p:nvSpPr>
        <p:spPr>
          <a:xfrm>
            <a:off x="731520" y="5559552"/>
            <a:ext cx="5349240" cy="594360"/>
          </a:xfrm>
          <a:prstGeom prst="rect">
            <a:avLst/>
          </a:prstGeom>
          <a:noFill/>
          <a:ln/>
        </p:spPr>
        <p:txBody>
          <a:bodyPr wrap="square" lIns="0" tIns="0" rIns="0" bIns="0" rtlCol="0" anchor="t"/>
          <a:lstStyle/>
          <a:p>
            <a:pPr marL="0" indent="0">
              <a:spcAft>
                <a:spcPts val="400"/>
              </a:spcAft>
              <a:buNone/>
            </a:pPr>
            <a:r>
              <a:rPr lang="en-US" sz="1250" dirty="0">
                <a:solidFill>
                  <a:srgbClr val="2C3A55"/>
                </a:solidFill>
                <a:latin typeface="Calibri" pitchFamily="34" charset="0"/>
                <a:ea typeface="Calibri" pitchFamily="34" charset="-122"/>
                <a:cs typeface="Calibri" pitchFamily="34" charset="-120"/>
              </a:rPr>
              <a:t>S/ 2 800 de ingreso, debe el 55 %, 2 años de cliente, 2 atrasos → </a:t>
            </a:r>
            <a:r>
              <a:rPr lang="en-US" sz="1250" b="1" dirty="0">
                <a:solidFill>
                  <a:srgbClr val="E6115E"/>
                </a:solidFill>
                <a:latin typeface="Calibri" pitchFamily="34" charset="0"/>
                <a:ea typeface="Calibri" pitchFamily="34" charset="-122"/>
                <a:cs typeface="Calibri" pitchFamily="34" charset="-120"/>
              </a:rPr>
              <a:t>probabilidad de mora 91.7 %</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E6115E"/>
          </a:solidFill>
          <a:ln w="12700">
            <a:solidFill>
              <a:srgbClr val="E6115E"/>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LABORATORIO · 60 MIN</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Lo que vas a hacer en Colab</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Todos los datos se generan dentro del notebook: no hay nada que descargar. Semilla 42, así tus números coinciden con estas slides.</a:t>
            </a:r>
            <a:endParaRPr lang="en-US" sz="1400" dirty="0"/>
          </a:p>
        </p:txBody>
      </p:sp>
      <p:sp>
        <p:nvSpPr>
          <p:cNvPr id="6" name="Shape 4"/>
          <p:cNvSpPr/>
          <p:nvPr/>
        </p:nvSpPr>
        <p:spPr>
          <a:xfrm>
            <a:off x="502920" y="2103120"/>
            <a:ext cx="11183112" cy="621792"/>
          </a:xfrm>
          <a:prstGeom prst="roundRect">
            <a:avLst>
              <a:gd name="adj" fmla="val 8824"/>
            </a:avLst>
          </a:prstGeom>
          <a:solidFill>
            <a:srgbClr val="FFFFFF"/>
          </a:solidFill>
          <a:ln w="9525">
            <a:solidFill>
              <a:srgbClr val="D2DBEC"/>
            </a:solidFill>
            <a:prstDash val="solid"/>
          </a:ln>
        </p:spPr>
      </p:sp>
      <p:sp>
        <p:nvSpPr>
          <p:cNvPr id="7" name="Shape 5"/>
          <p:cNvSpPr/>
          <p:nvPr/>
        </p:nvSpPr>
        <p:spPr>
          <a:xfrm>
            <a:off x="685800" y="2221992"/>
            <a:ext cx="384048" cy="384048"/>
          </a:xfrm>
          <a:prstGeom prst="ellipse">
            <a:avLst/>
          </a:prstGeom>
          <a:solidFill>
            <a:srgbClr val="0A2559"/>
          </a:solidFill>
          <a:ln w="12700">
            <a:solidFill>
              <a:srgbClr val="0A2559"/>
            </a:solidFill>
            <a:prstDash val="solid"/>
          </a:ln>
        </p:spPr>
      </p:sp>
      <p:sp>
        <p:nvSpPr>
          <p:cNvPr id="8" name="Text 6"/>
          <p:cNvSpPr txBox="1"/>
          <p:nvPr/>
        </p:nvSpPr>
        <p:spPr>
          <a:xfrm>
            <a:off x="685800" y="222199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a:t>
            </a:r>
            <a:endParaRPr lang="en-US" sz="1300" dirty="0"/>
          </a:p>
        </p:txBody>
      </p:sp>
      <p:sp>
        <p:nvSpPr>
          <p:cNvPr id="9" name="Text 7"/>
          <p:cNvSpPr txBox="1"/>
          <p:nvPr/>
        </p:nvSpPr>
        <p:spPr>
          <a:xfrm>
            <a:off x="1234440" y="2103120"/>
            <a:ext cx="3566160" cy="621792"/>
          </a:xfrm>
          <a:prstGeom prst="rect">
            <a:avLst/>
          </a:prstGeom>
          <a:noFill/>
          <a:ln/>
        </p:spPr>
        <p:txBody>
          <a:bodyPr wrap="square" lIns="0" tIns="0" rIns="0" bIns="0" rtlCol="0" anchor="ctr"/>
          <a:lstStyle/>
          <a:p>
            <a:pPr marL="0" indent="0">
              <a:buNone/>
            </a:pPr>
            <a:r>
              <a:rPr lang="en-US" sz="1350" b="1" dirty="0">
                <a:solidFill>
                  <a:srgbClr val="0A2559"/>
                </a:solidFill>
                <a:latin typeface="Calibri" pitchFamily="34" charset="0"/>
                <a:ea typeface="Calibri" pitchFamily="34" charset="-122"/>
                <a:cs typeface="Calibri" pitchFamily="34" charset="-120"/>
              </a:rPr>
              <a:t>Preparación</a:t>
            </a:r>
            <a:endParaRPr lang="en-US" sz="1350" dirty="0"/>
          </a:p>
        </p:txBody>
      </p:sp>
      <p:sp>
        <p:nvSpPr>
          <p:cNvPr id="10" name="Text 8"/>
          <p:cNvSpPr txBox="1"/>
          <p:nvPr/>
        </p:nvSpPr>
        <p:spPr>
          <a:xfrm>
            <a:off x="4754880" y="2103120"/>
            <a:ext cx="914400" cy="621792"/>
          </a:xfrm>
          <a:prstGeom prst="rect">
            <a:avLst/>
          </a:prstGeom>
          <a:noFill/>
          <a:ln/>
        </p:spPr>
        <p:txBody>
          <a:bodyPr wrap="square" lIns="0" tIns="0" rIns="0" bIns="0" rtlCol="0" anchor="ctr"/>
          <a:lstStyle/>
          <a:p>
            <a:pPr marL="0" indent="0">
              <a:buNone/>
            </a:pPr>
            <a:r>
              <a:rPr lang="en-US" sz="1250" b="1" dirty="0">
                <a:solidFill>
                  <a:srgbClr val="E6115E"/>
                </a:solidFill>
                <a:latin typeface="Calibri" pitchFamily="34" charset="0"/>
                <a:ea typeface="Calibri" pitchFamily="34" charset="-122"/>
                <a:cs typeface="Calibri" pitchFamily="34" charset="-120"/>
              </a:rPr>
              <a:t>8 min</a:t>
            </a:r>
            <a:endParaRPr lang="en-US" sz="1250" dirty="0"/>
          </a:p>
        </p:txBody>
      </p:sp>
      <p:sp>
        <p:nvSpPr>
          <p:cNvPr id="11" name="Text 9"/>
          <p:cNvSpPr txBox="1"/>
          <p:nvPr/>
        </p:nvSpPr>
        <p:spPr>
          <a:xfrm>
            <a:off x="5760720" y="2103120"/>
            <a:ext cx="5760720" cy="621792"/>
          </a:xfrm>
          <a:prstGeom prst="rect">
            <a:avLst/>
          </a:prstGeom>
          <a:noFill/>
          <a:ln/>
        </p:spPr>
        <p:txBody>
          <a:bodyPr wrap="square" lIns="0" tIns="0" rIns="0" bIns="0" rtlCol="0" anchor="ctr"/>
          <a:lstStyle/>
          <a:p>
            <a:pPr marL="0" indent="0">
              <a:buNone/>
            </a:pPr>
            <a:r>
              <a:rPr lang="en-US" sz="1200" dirty="0">
                <a:solidFill>
                  <a:srgbClr val="2C3A55"/>
                </a:solidFill>
                <a:latin typeface="Calibri" pitchFamily="34" charset="0"/>
                <a:ea typeface="Calibri" pitchFamily="34" charset="-122"/>
                <a:cs typeface="Calibri" pitchFamily="34" charset="-120"/>
              </a:rPr>
              <a:t>Librerías, funciones de verificación y los 2 000 clientes simulados.</a:t>
            </a:r>
            <a:endParaRPr lang="en-US" sz="1200" dirty="0"/>
          </a:p>
        </p:txBody>
      </p:sp>
      <p:sp>
        <p:nvSpPr>
          <p:cNvPr id="12" name="Shape 10"/>
          <p:cNvSpPr/>
          <p:nvPr/>
        </p:nvSpPr>
        <p:spPr>
          <a:xfrm>
            <a:off x="502920" y="2834640"/>
            <a:ext cx="11183112" cy="621792"/>
          </a:xfrm>
          <a:prstGeom prst="roundRect">
            <a:avLst>
              <a:gd name="adj" fmla="val 8824"/>
            </a:avLst>
          </a:prstGeom>
          <a:solidFill>
            <a:srgbClr val="FFFFFF"/>
          </a:solidFill>
          <a:ln w="9525">
            <a:solidFill>
              <a:srgbClr val="D2DBEC"/>
            </a:solidFill>
            <a:prstDash val="solid"/>
          </a:ln>
        </p:spPr>
      </p:sp>
      <p:sp>
        <p:nvSpPr>
          <p:cNvPr id="13" name="Shape 11"/>
          <p:cNvSpPr/>
          <p:nvPr/>
        </p:nvSpPr>
        <p:spPr>
          <a:xfrm>
            <a:off x="685800" y="2953512"/>
            <a:ext cx="384048" cy="384048"/>
          </a:xfrm>
          <a:prstGeom prst="ellipse">
            <a:avLst/>
          </a:prstGeom>
          <a:solidFill>
            <a:srgbClr val="0A2559"/>
          </a:solidFill>
          <a:ln w="12700">
            <a:solidFill>
              <a:srgbClr val="0A2559"/>
            </a:solidFill>
            <a:prstDash val="solid"/>
          </a:ln>
        </p:spPr>
      </p:sp>
      <p:sp>
        <p:nvSpPr>
          <p:cNvPr id="14" name="Text 12"/>
          <p:cNvSpPr txBox="1"/>
          <p:nvPr/>
        </p:nvSpPr>
        <p:spPr>
          <a:xfrm>
            <a:off x="685800" y="295351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5" name="Text 13"/>
          <p:cNvSpPr txBox="1"/>
          <p:nvPr/>
        </p:nvSpPr>
        <p:spPr>
          <a:xfrm>
            <a:off x="1234440" y="2834640"/>
            <a:ext cx="3566160" cy="621792"/>
          </a:xfrm>
          <a:prstGeom prst="rect">
            <a:avLst/>
          </a:prstGeom>
          <a:noFill/>
          <a:ln/>
        </p:spPr>
        <p:txBody>
          <a:bodyPr wrap="square" lIns="0" tIns="0" rIns="0" bIns="0" rtlCol="0" anchor="ctr"/>
          <a:lstStyle/>
          <a:p>
            <a:pPr marL="0" indent="0">
              <a:buNone/>
            </a:pPr>
            <a:r>
              <a:rPr lang="en-US" sz="1350" b="1" dirty="0">
                <a:solidFill>
                  <a:srgbClr val="0A2559"/>
                </a:solidFill>
                <a:latin typeface="Calibri" pitchFamily="34" charset="0"/>
                <a:ea typeface="Calibri" pitchFamily="34" charset="-122"/>
                <a:cs typeface="Calibri" pitchFamily="34" charset="-120"/>
              </a:rPr>
              <a:t>Reglas escritas vs aprendidas</a:t>
            </a:r>
            <a:endParaRPr lang="en-US" sz="1350" dirty="0"/>
          </a:p>
        </p:txBody>
      </p:sp>
      <p:sp>
        <p:nvSpPr>
          <p:cNvPr id="16" name="Text 14"/>
          <p:cNvSpPr txBox="1"/>
          <p:nvPr/>
        </p:nvSpPr>
        <p:spPr>
          <a:xfrm>
            <a:off x="4754880" y="2834640"/>
            <a:ext cx="914400" cy="621792"/>
          </a:xfrm>
          <a:prstGeom prst="rect">
            <a:avLst/>
          </a:prstGeom>
          <a:noFill/>
          <a:ln/>
        </p:spPr>
        <p:txBody>
          <a:bodyPr wrap="square" lIns="0" tIns="0" rIns="0" bIns="0" rtlCol="0" anchor="ctr"/>
          <a:lstStyle/>
          <a:p>
            <a:pPr marL="0" indent="0">
              <a:buNone/>
            </a:pPr>
            <a:r>
              <a:rPr lang="en-US" sz="1250" b="1" dirty="0">
                <a:solidFill>
                  <a:srgbClr val="E6115E"/>
                </a:solidFill>
                <a:latin typeface="Calibri" pitchFamily="34" charset="0"/>
                <a:ea typeface="Calibri" pitchFamily="34" charset="-122"/>
                <a:cs typeface="Calibri" pitchFamily="34" charset="-120"/>
              </a:rPr>
              <a:t>12 min</a:t>
            </a:r>
            <a:endParaRPr lang="en-US" sz="1250" dirty="0"/>
          </a:p>
        </p:txBody>
      </p:sp>
      <p:sp>
        <p:nvSpPr>
          <p:cNvPr id="17" name="Text 15"/>
          <p:cNvSpPr txBox="1"/>
          <p:nvPr/>
        </p:nvSpPr>
        <p:spPr>
          <a:xfrm>
            <a:off x="5760720" y="2834640"/>
            <a:ext cx="5760720" cy="621792"/>
          </a:xfrm>
          <a:prstGeom prst="rect">
            <a:avLst/>
          </a:prstGeom>
          <a:noFill/>
          <a:ln/>
        </p:spPr>
        <p:txBody>
          <a:bodyPr wrap="square" lIns="0" tIns="0" rIns="0" bIns="0" rtlCol="0" anchor="ctr"/>
          <a:lstStyle/>
          <a:p>
            <a:pPr marL="0" indent="0">
              <a:buNone/>
            </a:pPr>
            <a:r>
              <a:rPr lang="en-US" sz="1200" dirty="0">
                <a:solidFill>
                  <a:srgbClr val="2C3A55"/>
                </a:solidFill>
                <a:latin typeface="Calibri" pitchFamily="34" charset="0"/>
                <a:ea typeface="Calibri" pitchFamily="34" charset="-122"/>
                <a:cs typeface="Calibri" pitchFamily="34" charset="-120"/>
              </a:rPr>
              <a:t>Regla trivial, regla del analista y el árbol que encuentra sus propios cortes.</a:t>
            </a:r>
            <a:endParaRPr lang="en-US" sz="1200" dirty="0"/>
          </a:p>
        </p:txBody>
      </p:sp>
      <p:sp>
        <p:nvSpPr>
          <p:cNvPr id="18" name="Shape 16"/>
          <p:cNvSpPr/>
          <p:nvPr/>
        </p:nvSpPr>
        <p:spPr>
          <a:xfrm>
            <a:off x="502920" y="3566160"/>
            <a:ext cx="11183112" cy="621792"/>
          </a:xfrm>
          <a:prstGeom prst="roundRect">
            <a:avLst>
              <a:gd name="adj" fmla="val 8824"/>
            </a:avLst>
          </a:prstGeom>
          <a:solidFill>
            <a:srgbClr val="FFFFFF"/>
          </a:solidFill>
          <a:ln w="9525">
            <a:solidFill>
              <a:srgbClr val="D2DBEC"/>
            </a:solidFill>
            <a:prstDash val="solid"/>
          </a:ln>
        </p:spPr>
      </p:sp>
      <p:sp>
        <p:nvSpPr>
          <p:cNvPr id="19" name="Shape 17"/>
          <p:cNvSpPr/>
          <p:nvPr/>
        </p:nvSpPr>
        <p:spPr>
          <a:xfrm>
            <a:off x="685800" y="3685032"/>
            <a:ext cx="384048" cy="384048"/>
          </a:xfrm>
          <a:prstGeom prst="ellipse">
            <a:avLst/>
          </a:prstGeom>
          <a:solidFill>
            <a:srgbClr val="0A2559"/>
          </a:solidFill>
          <a:ln w="12700">
            <a:solidFill>
              <a:srgbClr val="0A2559"/>
            </a:solidFill>
            <a:prstDash val="solid"/>
          </a:ln>
        </p:spPr>
      </p:sp>
      <p:sp>
        <p:nvSpPr>
          <p:cNvPr id="20" name="Text 18"/>
          <p:cNvSpPr txBox="1"/>
          <p:nvPr/>
        </p:nvSpPr>
        <p:spPr>
          <a:xfrm>
            <a:off x="685800" y="368503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1" name="Text 19"/>
          <p:cNvSpPr txBox="1"/>
          <p:nvPr/>
        </p:nvSpPr>
        <p:spPr>
          <a:xfrm>
            <a:off x="1234440" y="3566160"/>
            <a:ext cx="3566160" cy="621792"/>
          </a:xfrm>
          <a:prstGeom prst="rect">
            <a:avLst/>
          </a:prstGeom>
          <a:noFill/>
          <a:ln/>
        </p:spPr>
        <p:txBody>
          <a:bodyPr wrap="square" lIns="0" tIns="0" rIns="0" bIns="0" rtlCol="0" anchor="ctr"/>
          <a:lstStyle/>
          <a:p>
            <a:pPr marL="0" indent="0">
              <a:buNone/>
            </a:pPr>
            <a:r>
              <a:rPr lang="en-US" sz="1350" b="1" dirty="0">
                <a:solidFill>
                  <a:srgbClr val="0A2559"/>
                </a:solidFill>
                <a:latin typeface="Calibri" pitchFamily="34" charset="0"/>
                <a:ea typeface="Calibri" pitchFamily="34" charset="-122"/>
                <a:cs typeface="Calibri" pitchFamily="34" charset="-120"/>
              </a:rPr>
              <a:t>Vocabulario y tipos de problema</a:t>
            </a:r>
            <a:endParaRPr lang="en-US" sz="1350" dirty="0"/>
          </a:p>
        </p:txBody>
      </p:sp>
      <p:sp>
        <p:nvSpPr>
          <p:cNvPr id="22" name="Text 20"/>
          <p:cNvSpPr txBox="1"/>
          <p:nvPr/>
        </p:nvSpPr>
        <p:spPr>
          <a:xfrm>
            <a:off x="4754880" y="3566160"/>
            <a:ext cx="914400" cy="621792"/>
          </a:xfrm>
          <a:prstGeom prst="rect">
            <a:avLst/>
          </a:prstGeom>
          <a:noFill/>
          <a:ln/>
        </p:spPr>
        <p:txBody>
          <a:bodyPr wrap="square" lIns="0" tIns="0" rIns="0" bIns="0" rtlCol="0" anchor="ctr"/>
          <a:lstStyle/>
          <a:p>
            <a:pPr marL="0" indent="0">
              <a:buNone/>
            </a:pPr>
            <a:r>
              <a:rPr lang="en-US" sz="1250" b="1" dirty="0">
                <a:solidFill>
                  <a:srgbClr val="E6115E"/>
                </a:solidFill>
                <a:latin typeface="Calibri" pitchFamily="34" charset="0"/>
                <a:ea typeface="Calibri" pitchFamily="34" charset="-122"/>
                <a:cs typeface="Calibri" pitchFamily="34" charset="-120"/>
              </a:rPr>
              <a:t>10 min</a:t>
            </a:r>
            <a:endParaRPr lang="en-US" sz="1250" dirty="0"/>
          </a:p>
        </p:txBody>
      </p:sp>
      <p:sp>
        <p:nvSpPr>
          <p:cNvPr id="23" name="Text 21"/>
          <p:cNvSpPr txBox="1"/>
          <p:nvPr/>
        </p:nvSpPr>
        <p:spPr>
          <a:xfrm>
            <a:off x="5760720" y="3566160"/>
            <a:ext cx="5760720" cy="621792"/>
          </a:xfrm>
          <a:prstGeom prst="rect">
            <a:avLst/>
          </a:prstGeom>
          <a:noFill/>
          <a:ln/>
        </p:spPr>
        <p:txBody>
          <a:bodyPr wrap="square" lIns="0" tIns="0" rIns="0" bIns="0" rtlCol="0" anchor="ctr"/>
          <a:lstStyle/>
          <a:p>
            <a:pPr marL="0" indent="0">
              <a:buNone/>
            </a:pPr>
            <a:r>
              <a:rPr lang="en-US" sz="1200" dirty="0">
                <a:solidFill>
                  <a:srgbClr val="2C3A55"/>
                </a:solidFill>
                <a:latin typeface="Calibri" pitchFamily="34" charset="0"/>
                <a:ea typeface="Calibri" pitchFamily="34" charset="-122"/>
                <a:cs typeface="Calibri" pitchFamily="34" charset="-120"/>
              </a:rPr>
              <a:t>Separar X de y. Clasificar seis situaciones de banca.</a:t>
            </a:r>
            <a:endParaRPr lang="en-US" sz="1200" dirty="0"/>
          </a:p>
        </p:txBody>
      </p:sp>
      <p:sp>
        <p:nvSpPr>
          <p:cNvPr id="24" name="Shape 22"/>
          <p:cNvSpPr/>
          <p:nvPr/>
        </p:nvSpPr>
        <p:spPr>
          <a:xfrm>
            <a:off x="502920" y="4297680"/>
            <a:ext cx="11183112" cy="621792"/>
          </a:xfrm>
          <a:prstGeom prst="roundRect">
            <a:avLst>
              <a:gd name="adj" fmla="val 8824"/>
            </a:avLst>
          </a:prstGeom>
          <a:solidFill>
            <a:srgbClr val="0A2559"/>
          </a:solidFill>
          <a:ln w="9525">
            <a:solidFill>
              <a:srgbClr val="0A2559"/>
            </a:solidFill>
            <a:prstDash val="solid"/>
          </a:ln>
        </p:spPr>
      </p:sp>
      <p:sp>
        <p:nvSpPr>
          <p:cNvPr id="25" name="Shape 23"/>
          <p:cNvSpPr/>
          <p:nvPr/>
        </p:nvSpPr>
        <p:spPr>
          <a:xfrm>
            <a:off x="685800" y="4416552"/>
            <a:ext cx="384048" cy="384048"/>
          </a:xfrm>
          <a:prstGeom prst="ellipse">
            <a:avLst/>
          </a:prstGeom>
          <a:solidFill>
            <a:srgbClr val="E6115E"/>
          </a:solidFill>
          <a:ln w="12700">
            <a:solidFill>
              <a:srgbClr val="E6115E"/>
            </a:solidFill>
            <a:prstDash val="solid"/>
          </a:ln>
        </p:spPr>
      </p:sp>
      <p:sp>
        <p:nvSpPr>
          <p:cNvPr id="26" name="Text 24"/>
          <p:cNvSpPr txBox="1"/>
          <p:nvPr/>
        </p:nvSpPr>
        <p:spPr>
          <a:xfrm>
            <a:off x="685800" y="441655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7" name="Text 25"/>
          <p:cNvSpPr txBox="1"/>
          <p:nvPr/>
        </p:nvSpPr>
        <p:spPr>
          <a:xfrm>
            <a:off x="1234440" y="4297680"/>
            <a:ext cx="3566160" cy="621792"/>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Memorizar no es aprender</a:t>
            </a:r>
            <a:endParaRPr lang="en-US" sz="1350" dirty="0"/>
          </a:p>
        </p:txBody>
      </p:sp>
      <p:sp>
        <p:nvSpPr>
          <p:cNvPr id="28" name="Text 26"/>
          <p:cNvSpPr txBox="1"/>
          <p:nvPr/>
        </p:nvSpPr>
        <p:spPr>
          <a:xfrm>
            <a:off x="4754880" y="4297680"/>
            <a:ext cx="914400" cy="621792"/>
          </a:xfrm>
          <a:prstGeom prst="rect">
            <a:avLst/>
          </a:prstGeom>
          <a:noFill/>
          <a:ln/>
        </p:spPr>
        <p:txBody>
          <a:bodyPr wrap="square" lIns="0" tIns="0" rIns="0" bIns="0" rtlCol="0" anchor="ctr"/>
          <a:lstStyle/>
          <a:p>
            <a:pPr marL="0" indent="0">
              <a:buNone/>
            </a:pPr>
            <a:r>
              <a:rPr lang="en-US" sz="1250" b="1" dirty="0">
                <a:solidFill>
                  <a:srgbClr val="E6115E"/>
                </a:solidFill>
                <a:latin typeface="Calibri" pitchFamily="34" charset="0"/>
                <a:ea typeface="Calibri" pitchFamily="34" charset="-122"/>
                <a:cs typeface="Calibri" pitchFamily="34" charset="-120"/>
              </a:rPr>
              <a:t>20 min</a:t>
            </a:r>
            <a:endParaRPr lang="en-US" sz="1250" dirty="0"/>
          </a:p>
        </p:txBody>
      </p:sp>
      <p:sp>
        <p:nvSpPr>
          <p:cNvPr id="29" name="Text 27"/>
          <p:cNvSpPr txBox="1"/>
          <p:nvPr/>
        </p:nvSpPr>
        <p:spPr>
          <a:xfrm>
            <a:off x="5760720" y="4297680"/>
            <a:ext cx="5760720" cy="621792"/>
          </a:xfrm>
          <a:prstGeom prst="rect">
            <a:avLst/>
          </a:prstGeom>
          <a:noFill/>
          <a:ln/>
        </p:spPr>
        <p:txBody>
          <a:bodyPr wrap="square" lIns="0" tIns="0" rIns="0" bIns="0" rtlCol="0" anchor="ctr"/>
          <a:lstStyle/>
          <a:p>
            <a:pPr marL="0" indent="0">
              <a:buNone/>
            </a:pPr>
            <a:r>
              <a:rPr lang="en-US" sz="1200" dirty="0">
                <a:solidFill>
                  <a:srgbClr val="C9D4EA"/>
                </a:solidFill>
                <a:latin typeface="Calibri" pitchFamily="34" charset="0"/>
                <a:ea typeface="Calibri" pitchFamily="34" charset="-122"/>
                <a:cs typeface="Calibri" pitchFamily="34" charset="-120"/>
              </a:rPr>
              <a:t>Polinomios, train/test, el árbol sin límite y elegir profundidad con validación.</a:t>
            </a:r>
            <a:endParaRPr lang="en-US" sz="1200" dirty="0"/>
          </a:p>
        </p:txBody>
      </p:sp>
      <p:sp>
        <p:nvSpPr>
          <p:cNvPr id="30" name="Shape 28"/>
          <p:cNvSpPr/>
          <p:nvPr/>
        </p:nvSpPr>
        <p:spPr>
          <a:xfrm>
            <a:off x="502920" y="5029200"/>
            <a:ext cx="11183112" cy="621792"/>
          </a:xfrm>
          <a:prstGeom prst="roundRect">
            <a:avLst>
              <a:gd name="adj" fmla="val 8824"/>
            </a:avLst>
          </a:prstGeom>
          <a:solidFill>
            <a:srgbClr val="FFFFFF"/>
          </a:solidFill>
          <a:ln w="9525">
            <a:solidFill>
              <a:srgbClr val="D2DBEC"/>
            </a:solidFill>
            <a:prstDash val="solid"/>
          </a:ln>
        </p:spPr>
      </p:sp>
      <p:sp>
        <p:nvSpPr>
          <p:cNvPr id="31" name="Shape 29"/>
          <p:cNvSpPr/>
          <p:nvPr/>
        </p:nvSpPr>
        <p:spPr>
          <a:xfrm>
            <a:off x="685800" y="5148072"/>
            <a:ext cx="384048" cy="384048"/>
          </a:xfrm>
          <a:prstGeom prst="ellipse">
            <a:avLst/>
          </a:prstGeom>
          <a:solidFill>
            <a:srgbClr val="0A2559"/>
          </a:solidFill>
          <a:ln w="12700">
            <a:solidFill>
              <a:srgbClr val="0A2559"/>
            </a:solidFill>
            <a:prstDash val="solid"/>
          </a:ln>
        </p:spPr>
      </p:sp>
      <p:sp>
        <p:nvSpPr>
          <p:cNvPr id="32" name="Text 30"/>
          <p:cNvSpPr txBox="1"/>
          <p:nvPr/>
        </p:nvSpPr>
        <p:spPr>
          <a:xfrm>
            <a:off x="685800" y="514807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3" name="Text 31"/>
          <p:cNvSpPr txBox="1"/>
          <p:nvPr/>
        </p:nvSpPr>
        <p:spPr>
          <a:xfrm>
            <a:off x="1234440" y="5029200"/>
            <a:ext cx="3566160" cy="621792"/>
          </a:xfrm>
          <a:prstGeom prst="rect">
            <a:avLst/>
          </a:prstGeom>
          <a:noFill/>
          <a:ln/>
        </p:spPr>
        <p:txBody>
          <a:bodyPr wrap="square" lIns="0" tIns="0" rIns="0" bIns="0" rtlCol="0" anchor="ctr"/>
          <a:lstStyle/>
          <a:p>
            <a:pPr marL="0" indent="0">
              <a:buNone/>
            </a:pPr>
            <a:r>
              <a:rPr lang="en-US" sz="1350" b="1" dirty="0">
                <a:solidFill>
                  <a:srgbClr val="0A2559"/>
                </a:solidFill>
                <a:latin typeface="Calibri" pitchFamily="34" charset="0"/>
                <a:ea typeface="Calibri" pitchFamily="34" charset="-122"/>
                <a:cs typeface="Calibri" pitchFamily="34" charset="-120"/>
              </a:rPr>
              <a:t>La API de scikit-learn</a:t>
            </a:r>
            <a:endParaRPr lang="en-US" sz="1350" dirty="0"/>
          </a:p>
        </p:txBody>
      </p:sp>
      <p:sp>
        <p:nvSpPr>
          <p:cNvPr id="34" name="Text 32"/>
          <p:cNvSpPr txBox="1"/>
          <p:nvPr/>
        </p:nvSpPr>
        <p:spPr>
          <a:xfrm>
            <a:off x="4754880" y="5029200"/>
            <a:ext cx="914400" cy="621792"/>
          </a:xfrm>
          <a:prstGeom prst="rect">
            <a:avLst/>
          </a:prstGeom>
          <a:noFill/>
          <a:ln/>
        </p:spPr>
        <p:txBody>
          <a:bodyPr wrap="square" lIns="0" tIns="0" rIns="0" bIns="0" rtlCol="0" anchor="ctr"/>
          <a:lstStyle/>
          <a:p>
            <a:pPr marL="0" indent="0">
              <a:buNone/>
            </a:pPr>
            <a:r>
              <a:rPr lang="en-US" sz="1250" b="1" dirty="0">
                <a:solidFill>
                  <a:srgbClr val="E6115E"/>
                </a:solidFill>
                <a:latin typeface="Calibri" pitchFamily="34" charset="0"/>
                <a:ea typeface="Calibri" pitchFamily="34" charset="-122"/>
                <a:cs typeface="Calibri" pitchFamily="34" charset="-120"/>
              </a:rPr>
              <a:t>10 min</a:t>
            </a:r>
            <a:endParaRPr lang="en-US" sz="1250" dirty="0"/>
          </a:p>
        </p:txBody>
      </p:sp>
      <p:sp>
        <p:nvSpPr>
          <p:cNvPr id="35" name="Text 33"/>
          <p:cNvSpPr txBox="1"/>
          <p:nvPr/>
        </p:nvSpPr>
        <p:spPr>
          <a:xfrm>
            <a:off x="5760720" y="5029200"/>
            <a:ext cx="5760720" cy="621792"/>
          </a:xfrm>
          <a:prstGeom prst="rect">
            <a:avLst/>
          </a:prstGeom>
          <a:noFill/>
          <a:ln/>
        </p:spPr>
        <p:txBody>
          <a:bodyPr wrap="square" lIns="0" tIns="0" rIns="0" bIns="0" rtlCol="0" anchor="ctr"/>
          <a:lstStyle/>
          <a:p>
            <a:pPr marL="0" indent="0">
              <a:buNone/>
            </a:pPr>
            <a:r>
              <a:rPr lang="en-US" sz="1200" dirty="0">
                <a:solidFill>
                  <a:srgbClr val="2C3A55"/>
                </a:solidFill>
                <a:latin typeface="Calibri" pitchFamily="34" charset="0"/>
                <a:ea typeface="Calibri" pitchFamily="34" charset="-122"/>
                <a:cs typeface="Calibri" pitchFamily="34" charset="-120"/>
              </a:rPr>
              <a:t>Tres modelos con el mismo código. Predecir la probabilidad de un cliente nuevo.</a:t>
            </a:r>
            <a:endParaRPr lang="en-US" sz="1200" dirty="0"/>
          </a:p>
        </p:txBody>
      </p:sp>
      <p:sp>
        <p:nvSpPr>
          <p:cNvPr id="36" name="Shape 34"/>
          <p:cNvSpPr/>
          <p:nvPr/>
        </p:nvSpPr>
        <p:spPr>
          <a:xfrm>
            <a:off x="502920" y="5852160"/>
            <a:ext cx="11183112" cy="457200"/>
          </a:xfrm>
          <a:prstGeom prst="roundRect">
            <a:avLst>
              <a:gd name="adj" fmla="val 12000"/>
            </a:avLst>
          </a:prstGeom>
          <a:solidFill>
            <a:srgbClr val="E9EEF8"/>
          </a:solidFill>
          <a:ln w="9525">
            <a:solidFill>
              <a:srgbClr val="D2DBEC"/>
            </a:solidFill>
            <a:prstDash val="solid"/>
          </a:ln>
        </p:spPr>
      </p:sp>
      <p:sp>
        <p:nvSpPr>
          <p:cNvPr id="37" name="Text 35"/>
          <p:cNvSpPr txBox="1"/>
          <p:nvPr/>
        </p:nvSpPr>
        <p:spPr>
          <a:xfrm>
            <a:off x="731520" y="5852160"/>
            <a:ext cx="10789920" cy="457200"/>
          </a:xfrm>
          <a:prstGeom prst="rect">
            <a:avLst/>
          </a:prstGeom>
          <a:noFill/>
          <a:ln/>
        </p:spPr>
        <p:txBody>
          <a:bodyPr wrap="square" lIns="0" tIns="0" rIns="0" bIns="0" rtlCol="0" anchor="ctr"/>
          <a:lstStyle/>
          <a:p>
            <a:pPr marL="0" indent="0">
              <a:spcAft>
                <a:spcPts val="400"/>
              </a:spcAft>
              <a:buNone/>
            </a:pPr>
            <a:r>
              <a:rPr lang="en-US" sz="1200" b="1" dirty="0">
                <a:solidFill>
                  <a:srgbClr val="0A2559"/>
                </a:solidFill>
                <a:latin typeface="Calibri" pitchFamily="34" charset="0"/>
                <a:ea typeface="Calibri" pitchFamily="34" charset="-122"/>
                <a:cs typeface="Calibri" pitchFamily="34" charset="-120"/>
              </a:rPr>
              <a:t>Cómo funciona: </a:t>
            </a:r>
            <a:r>
              <a:rPr lang="en-US" sz="1200" dirty="0">
                <a:solidFill>
                  <a:srgbClr val="2C3A55"/>
                </a:solidFill>
                <a:latin typeface="Calibri" pitchFamily="34" charset="0"/>
                <a:ea typeface="Calibri" pitchFamily="34" charset="-122"/>
                <a:cs typeface="Calibri" pitchFamily="34" charset="-120"/>
              </a:rPr>
              <a:t>completa las celdas «TU CÓDIGO» (donde dice None) y ejecuta la «VERIFICACIÓN» de abajo. [OK] = sigue; [X] = revisa.</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2559"/>
        </a:solidFill>
        <a:effectLst/>
      </p:bgPr>
    </p:bg>
    <p:spTree>
      <p:nvGrpSpPr>
        <p:cNvPr id="1" name=""/>
        <p:cNvGrpSpPr/>
        <p:nvPr/>
      </p:nvGrpSpPr>
      <p:grpSpPr>
        <a:xfrm>
          <a:off x="0" y="0"/>
          <a:ext cx="0" cy="0"/>
          <a:chOff x="0" y="0"/>
          <a:chExt cx="0" cy="0"/>
        </a:xfrm>
      </p:grpSpPr>
      <p:sp>
        <p:nvSpPr>
          <p:cNvPr id="2" name="Shape 0"/>
          <p:cNvSpPr/>
          <p:nvPr/>
        </p:nvSpPr>
        <p:spPr>
          <a:xfrm>
            <a:off x="502920" y="411480"/>
            <a:ext cx="2011680" cy="347472"/>
          </a:xfrm>
          <a:prstGeom prst="roundRect">
            <a:avLst>
              <a:gd name="adj" fmla="val 50000"/>
            </a:avLst>
          </a:prstGeom>
          <a:solidFill>
            <a:srgbClr val="E6115E"/>
          </a:solidFill>
          <a:ln w="12700">
            <a:solidFill>
              <a:srgbClr val="E6115E"/>
            </a:solidFill>
            <a:prstDash val="solid"/>
          </a:ln>
        </p:spPr>
      </p:sp>
      <p:sp>
        <p:nvSpPr>
          <p:cNvPr id="3" name="Text 1"/>
          <p:cNvSpPr txBox="1"/>
          <p:nvPr/>
        </p:nvSpPr>
        <p:spPr>
          <a:xfrm>
            <a:off x="502920" y="411480"/>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CIERRE · 10 MIN</a:t>
            </a:r>
            <a:endParaRPr lang="en-US" sz="1100" dirty="0"/>
          </a:p>
        </p:txBody>
      </p:sp>
      <p:sp>
        <p:nvSpPr>
          <p:cNvPr id="4" name="Text 2"/>
          <p:cNvSpPr txBox="1"/>
          <p:nvPr/>
        </p:nvSpPr>
        <p:spPr>
          <a:xfrm>
            <a:off x="502920" y="914400"/>
            <a:ext cx="10972800" cy="64008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Si te llevas una sola cosa</a:t>
            </a:r>
            <a:endParaRPr lang="en-US" sz="3200" dirty="0"/>
          </a:p>
        </p:txBody>
      </p:sp>
      <p:sp>
        <p:nvSpPr>
          <p:cNvPr id="5" name="Text 3"/>
          <p:cNvSpPr txBox="1"/>
          <p:nvPr/>
        </p:nvSpPr>
        <p:spPr>
          <a:xfrm>
            <a:off x="502920" y="1554480"/>
            <a:ext cx="10972800" cy="411480"/>
          </a:xfrm>
          <a:prstGeom prst="rect">
            <a:avLst/>
          </a:prstGeom>
          <a:noFill/>
          <a:ln/>
        </p:spPr>
        <p:txBody>
          <a:bodyPr wrap="square" lIns="0" tIns="0" rIns="0" bIns="0" rtlCol="0" anchor="ctr"/>
          <a:lstStyle/>
          <a:p>
            <a:pPr marL="0" indent="0">
              <a:buNone/>
            </a:pPr>
            <a:r>
              <a:rPr lang="en-US" sz="1500" i="1" dirty="0">
                <a:solidFill>
                  <a:srgbClr val="C9D4EA"/>
                </a:solidFill>
                <a:latin typeface="Calibri" pitchFamily="34" charset="0"/>
                <a:ea typeface="Calibri" pitchFamily="34" charset="-122"/>
                <a:cs typeface="Calibri" pitchFamily="34" charset="-120"/>
              </a:rPr>
              <a:t>Un modelo vale por cómo le va con datos que nunca vio. Todo lo demás del curso son formas de medir y mejorar eso.</a:t>
            </a:r>
            <a:endParaRPr lang="en-US" sz="1500" dirty="0"/>
          </a:p>
        </p:txBody>
      </p:sp>
      <p:sp>
        <p:nvSpPr>
          <p:cNvPr id="6" name="Shape 4"/>
          <p:cNvSpPr/>
          <p:nvPr/>
        </p:nvSpPr>
        <p:spPr>
          <a:xfrm>
            <a:off x="502920" y="2240280"/>
            <a:ext cx="5760720" cy="3611880"/>
          </a:xfrm>
          <a:prstGeom prst="roundRect">
            <a:avLst>
              <a:gd name="adj" fmla="val 1519"/>
            </a:avLst>
          </a:prstGeom>
          <a:solidFill>
            <a:srgbClr val="0F2F6B"/>
          </a:solidFill>
          <a:ln w="9525">
            <a:solidFill>
              <a:srgbClr val="1E3F7F"/>
            </a:solidFill>
            <a:prstDash val="solid"/>
          </a:ln>
        </p:spPr>
      </p:sp>
      <p:sp>
        <p:nvSpPr>
          <p:cNvPr id="7" name="Shape 5"/>
          <p:cNvSpPr/>
          <p:nvPr/>
        </p:nvSpPr>
        <p:spPr>
          <a:xfrm>
            <a:off x="731520" y="2487168"/>
            <a:ext cx="128016" cy="128016"/>
          </a:xfrm>
          <a:prstGeom prst="roundRect">
            <a:avLst>
              <a:gd name="adj" fmla="val 21429"/>
            </a:avLst>
          </a:prstGeom>
          <a:solidFill>
            <a:srgbClr val="E6115E"/>
          </a:solidFill>
          <a:ln w="12700">
            <a:solidFill>
              <a:srgbClr val="E6115E"/>
            </a:solidFill>
            <a:prstDash val="solid"/>
          </a:ln>
        </p:spPr>
      </p:sp>
      <p:sp>
        <p:nvSpPr>
          <p:cNvPr id="8" name="Text 6"/>
          <p:cNvSpPr txBox="1"/>
          <p:nvPr/>
        </p:nvSpPr>
        <p:spPr>
          <a:xfrm>
            <a:off x="960120" y="2377440"/>
            <a:ext cx="5120640" cy="3474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Los números del día</a:t>
            </a:r>
            <a:endParaRPr lang="en-US" sz="1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31520" y="2743200"/>
          <a:ext cx="5303520" cy="914400"/>
        </p:xfrm>
        <a:graphic>
          <a:graphicData uri="http://schemas.openxmlformats.org/drawingml/2006/table">
            <a:tbl>
              <a:tblPr/>
              <a:tblGrid>
                <a:gridCol w="356616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tblGrid>
              <a:tr h="393192">
                <a:tc>
                  <a:txBody>
                    <a:bodyPr/>
                    <a:lstStyle/>
                    <a:p>
                      <a:pPr marL="0" indent="0">
                        <a:buNone/>
                      </a:pPr>
                      <a:r>
                        <a:rPr lang="en-US" sz="1200" dirty="0">
                          <a:solidFill>
                            <a:srgbClr val="C9D4EA"/>
                          </a:solidFill>
                          <a:latin typeface="Calibri" pitchFamily="34" charset="0"/>
                          <a:ea typeface="Calibri" pitchFamily="34" charset="-122"/>
                          <a:cs typeface="Calibri" pitchFamily="34" charset="-120"/>
                        </a:rPr>
                        <a:t>Tasa de mora</a:t>
                      </a:r>
                      <a:endParaRPr lang="en-US" sz="12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250" b="1" dirty="0">
                          <a:solidFill>
                            <a:srgbClr val="FFFFFF"/>
                          </a:solidFill>
                          <a:latin typeface="Calibri" pitchFamily="34" charset="0"/>
                          <a:ea typeface="Calibri" pitchFamily="34" charset="-122"/>
                          <a:cs typeface="Calibri" pitchFamily="34" charset="-120"/>
                        </a:rPr>
                        <a:t>19.8 %</a:t>
                      </a:r>
                      <a:endParaRPr lang="en-US" sz="125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extLst>
                  <a:ext uri="{0D108BD9-81ED-4DB2-BD59-A6C34878D82A}">
                    <a16:rowId xmlns:a16="http://schemas.microsoft.com/office/drawing/2014/main" val="10000"/>
                  </a:ext>
                </a:extLst>
              </a:tr>
              <a:tr h="393192">
                <a:tc>
                  <a:txBody>
                    <a:bodyPr/>
                    <a:lstStyle/>
                    <a:p>
                      <a:pPr marL="0" indent="0">
                        <a:buNone/>
                      </a:pPr>
                      <a:r>
                        <a:rPr lang="en-US" sz="1200" dirty="0">
                          <a:solidFill>
                            <a:srgbClr val="C9D4EA"/>
                          </a:solidFill>
                          <a:latin typeface="Calibri" pitchFamily="34" charset="0"/>
                          <a:ea typeface="Calibri" pitchFamily="34" charset="-122"/>
                          <a:cs typeface="Calibri" pitchFamily="34" charset="-120"/>
                        </a:rPr>
                        <a:t>Exactitud de no hacer nada</a:t>
                      </a:r>
                      <a:endParaRPr lang="en-US" sz="12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250" b="1" dirty="0">
                          <a:solidFill>
                            <a:srgbClr val="FFFFFF"/>
                          </a:solidFill>
                          <a:latin typeface="Calibri" pitchFamily="34" charset="0"/>
                          <a:ea typeface="Calibri" pitchFamily="34" charset="-122"/>
                          <a:cs typeface="Calibri" pitchFamily="34" charset="-120"/>
                        </a:rPr>
                        <a:t>0.802</a:t>
                      </a:r>
                      <a:endParaRPr lang="en-US" sz="125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extLst>
                  <a:ext uri="{0D108BD9-81ED-4DB2-BD59-A6C34878D82A}">
                    <a16:rowId xmlns:a16="http://schemas.microsoft.com/office/drawing/2014/main" val="10001"/>
                  </a:ext>
                </a:extLst>
              </a:tr>
              <a:tr h="393192">
                <a:tc>
                  <a:txBody>
                    <a:bodyPr/>
                    <a:lstStyle/>
                    <a:p>
                      <a:pPr marL="0" indent="0">
                        <a:buNone/>
                      </a:pPr>
                      <a:r>
                        <a:rPr lang="en-US" sz="1200" dirty="0">
                          <a:solidFill>
                            <a:srgbClr val="C9D4EA"/>
                          </a:solidFill>
                          <a:latin typeface="Calibri" pitchFamily="34" charset="0"/>
                          <a:ea typeface="Calibri" pitchFamily="34" charset="-122"/>
                          <a:cs typeface="Calibri" pitchFamily="34" charset="-120"/>
                        </a:rPr>
                        <a:t>Regla del analista</a:t>
                      </a:r>
                      <a:endParaRPr lang="en-US" sz="12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250" b="1" dirty="0">
                          <a:solidFill>
                            <a:srgbClr val="FFFFFF"/>
                          </a:solidFill>
                          <a:latin typeface="Calibri" pitchFamily="34" charset="0"/>
                          <a:ea typeface="Calibri" pitchFamily="34" charset="-122"/>
                          <a:cs typeface="Calibri" pitchFamily="34" charset="-120"/>
                        </a:rPr>
                        <a:t>0.841</a:t>
                      </a:r>
                      <a:endParaRPr lang="en-US" sz="125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extLst>
                  <a:ext uri="{0D108BD9-81ED-4DB2-BD59-A6C34878D82A}">
                    <a16:rowId xmlns:a16="http://schemas.microsoft.com/office/drawing/2014/main" val="10002"/>
                  </a:ext>
                </a:extLst>
              </a:tr>
              <a:tr h="393192">
                <a:tc>
                  <a:txBody>
                    <a:bodyPr/>
                    <a:lstStyle/>
                    <a:p>
                      <a:pPr marL="0" indent="0">
                        <a:buNone/>
                      </a:pPr>
                      <a:r>
                        <a:rPr lang="en-US" sz="1200" dirty="0">
                          <a:solidFill>
                            <a:srgbClr val="C9D4EA"/>
                          </a:solidFill>
                          <a:latin typeface="Calibri" pitchFamily="34" charset="0"/>
                          <a:ea typeface="Calibri" pitchFamily="34" charset="-122"/>
                          <a:cs typeface="Calibri" pitchFamily="34" charset="-120"/>
                        </a:rPr>
                        <a:t>Árbol sin límite: entrenamiento → prueba</a:t>
                      </a:r>
                      <a:endParaRPr lang="en-US" sz="12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250" b="1" dirty="0">
                          <a:solidFill>
                            <a:srgbClr val="FF6B9A"/>
                          </a:solidFill>
                          <a:latin typeface="Calibri" pitchFamily="34" charset="0"/>
                          <a:ea typeface="Calibri" pitchFamily="34" charset="-122"/>
                          <a:cs typeface="Calibri" pitchFamily="34" charset="-120"/>
                        </a:rPr>
                        <a:t>1.000 → 0.860</a:t>
                      </a:r>
                      <a:endParaRPr lang="en-US" sz="125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extLst>
                  <a:ext uri="{0D108BD9-81ED-4DB2-BD59-A6C34878D82A}">
                    <a16:rowId xmlns:a16="http://schemas.microsoft.com/office/drawing/2014/main" val="10003"/>
                  </a:ext>
                </a:extLst>
              </a:tr>
              <a:tr h="393192">
                <a:tc>
                  <a:txBody>
                    <a:bodyPr/>
                    <a:lstStyle/>
                    <a:p>
                      <a:pPr marL="0" indent="0">
                        <a:buNone/>
                      </a:pPr>
                      <a:r>
                        <a:rPr lang="en-US" sz="1200" dirty="0">
                          <a:solidFill>
                            <a:srgbClr val="C9D4EA"/>
                          </a:solidFill>
                          <a:latin typeface="Calibri" pitchFamily="34" charset="0"/>
                          <a:ea typeface="Calibri" pitchFamily="34" charset="-122"/>
                          <a:cs typeface="Calibri" pitchFamily="34" charset="-120"/>
                        </a:rPr>
                        <a:t>Grado 15: error entrenamiento → nuevos</a:t>
                      </a:r>
                      <a:endParaRPr lang="en-US" sz="12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250" b="1" dirty="0">
                          <a:solidFill>
                            <a:srgbClr val="FF6B9A"/>
                          </a:solidFill>
                          <a:latin typeface="Calibri" pitchFamily="34" charset="0"/>
                          <a:ea typeface="Calibri" pitchFamily="34" charset="-122"/>
                          <a:cs typeface="Calibri" pitchFamily="34" charset="-120"/>
                        </a:rPr>
                        <a:t>0.080 → 547</a:t>
                      </a:r>
                      <a:endParaRPr lang="en-US" sz="125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extLst>
                  <a:ext uri="{0D108BD9-81ED-4DB2-BD59-A6C34878D82A}">
                    <a16:rowId xmlns:a16="http://schemas.microsoft.com/office/drawing/2014/main" val="10004"/>
                  </a:ext>
                </a:extLst>
              </a:tr>
              <a:tr h="393192">
                <a:tc>
                  <a:txBody>
                    <a:bodyPr/>
                    <a:lstStyle/>
                    <a:p>
                      <a:pPr marL="0" indent="0">
                        <a:buNone/>
                      </a:pPr>
                      <a:r>
                        <a:rPr lang="en-US" sz="1200" dirty="0">
                          <a:solidFill>
                            <a:srgbClr val="C9D4EA"/>
                          </a:solidFill>
                          <a:latin typeface="Calibri" pitchFamily="34" charset="0"/>
                          <a:ea typeface="Calibri" pitchFamily="34" charset="-122"/>
                          <a:cs typeface="Calibri" pitchFamily="34" charset="-120"/>
                        </a:rPr>
                        <a:t>Profundidad elegida por validación</a:t>
                      </a:r>
                      <a:endParaRPr lang="en-US" sz="12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250" b="1" dirty="0">
                          <a:solidFill>
                            <a:srgbClr val="FFFFFF"/>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extLst>
                  <a:ext uri="{0D108BD9-81ED-4DB2-BD59-A6C34878D82A}">
                    <a16:rowId xmlns:a16="http://schemas.microsoft.com/office/drawing/2014/main" val="10005"/>
                  </a:ext>
                </a:extLst>
              </a:tr>
              <a:tr h="393192">
                <a:tc>
                  <a:txBody>
                    <a:bodyPr/>
                    <a:lstStyle/>
                    <a:p>
                      <a:pPr marL="0" indent="0">
                        <a:buNone/>
                      </a:pPr>
                      <a:r>
                        <a:rPr lang="en-US" sz="1200" dirty="0">
                          <a:solidFill>
                            <a:srgbClr val="C9D4EA"/>
                          </a:solidFill>
                          <a:latin typeface="Calibri" pitchFamily="34" charset="0"/>
                          <a:ea typeface="Calibri" pitchFamily="34" charset="-122"/>
                          <a:cs typeface="Calibri" pitchFamily="34" charset="-120"/>
                        </a:rPr>
                        <a:t>Mejor en prueba: regresión logística</a:t>
                      </a:r>
                      <a:endParaRPr lang="en-US" sz="12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250" b="1" dirty="0">
                          <a:solidFill>
                            <a:srgbClr val="FFFFFF"/>
                          </a:solidFill>
                          <a:latin typeface="Calibri" pitchFamily="34" charset="0"/>
                          <a:ea typeface="Calibri" pitchFamily="34" charset="-122"/>
                          <a:cs typeface="Calibri" pitchFamily="34" charset="-120"/>
                        </a:rPr>
                        <a:t>0.920</a:t>
                      </a:r>
                      <a:endParaRPr lang="en-US" sz="125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extLst>
                  <a:ext uri="{0D108BD9-81ED-4DB2-BD59-A6C34878D82A}">
                    <a16:rowId xmlns:a16="http://schemas.microsoft.com/office/drawing/2014/main" val="10006"/>
                  </a:ext>
                </a:extLst>
              </a:tr>
            </a:tbl>
          </a:graphicData>
        </a:graphic>
      </p:graphicFrame>
      <p:sp>
        <p:nvSpPr>
          <p:cNvPr id="10" name="Shape 7"/>
          <p:cNvSpPr/>
          <p:nvPr/>
        </p:nvSpPr>
        <p:spPr>
          <a:xfrm>
            <a:off x="6537960" y="2240280"/>
            <a:ext cx="5148072" cy="1737360"/>
          </a:xfrm>
          <a:prstGeom prst="roundRect">
            <a:avLst>
              <a:gd name="adj" fmla="val 3158"/>
            </a:avLst>
          </a:prstGeom>
          <a:solidFill>
            <a:srgbClr val="FFFFFF"/>
          </a:solidFill>
          <a:ln w="9525">
            <a:solidFill>
              <a:srgbClr val="FFFFFF"/>
            </a:solidFill>
            <a:prstDash val="solid"/>
          </a:ln>
        </p:spPr>
      </p:sp>
      <p:sp>
        <p:nvSpPr>
          <p:cNvPr id="11" name="Shape 8"/>
          <p:cNvSpPr/>
          <p:nvPr/>
        </p:nvSpPr>
        <p:spPr>
          <a:xfrm>
            <a:off x="6766560" y="2487168"/>
            <a:ext cx="128016" cy="128016"/>
          </a:xfrm>
          <a:prstGeom prst="roundRect">
            <a:avLst>
              <a:gd name="adj" fmla="val 21429"/>
            </a:avLst>
          </a:prstGeom>
          <a:solidFill>
            <a:srgbClr val="E6115E"/>
          </a:solidFill>
          <a:ln w="12700">
            <a:solidFill>
              <a:srgbClr val="E6115E"/>
            </a:solidFill>
            <a:prstDash val="solid"/>
          </a:ln>
        </p:spPr>
      </p:sp>
      <p:sp>
        <p:nvSpPr>
          <p:cNvPr id="12" name="Text 9"/>
          <p:cNvSpPr txBox="1"/>
          <p:nvPr/>
        </p:nvSpPr>
        <p:spPr>
          <a:xfrm>
            <a:off x="6995160" y="2377440"/>
            <a:ext cx="4507992"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Próxima clase · miércoles 30/9</a:t>
            </a:r>
            <a:endParaRPr lang="en-US" sz="1400" dirty="0"/>
          </a:p>
        </p:txBody>
      </p:sp>
      <p:sp>
        <p:nvSpPr>
          <p:cNvPr id="13" name="Text 10"/>
          <p:cNvSpPr txBox="1"/>
          <p:nvPr/>
        </p:nvSpPr>
        <p:spPr>
          <a:xfrm>
            <a:off x="6766560" y="2743200"/>
            <a:ext cx="4709160" cy="1188720"/>
          </a:xfrm>
          <a:prstGeom prst="rect">
            <a:avLst/>
          </a:prstGeom>
          <a:noFill/>
          <a:ln/>
        </p:spPr>
        <p:txBody>
          <a:bodyPr wrap="square" lIns="0" tIns="0" rIns="0" bIns="0" rtlCol="0" anchor="t"/>
          <a:lstStyle/>
          <a:p>
            <a:pPr marL="0" indent="0">
              <a:spcAft>
                <a:spcPts val="400"/>
              </a:spcAft>
              <a:buNone/>
            </a:pPr>
            <a:r>
              <a:rPr lang="en-US" sz="1250" b="1" dirty="0">
                <a:solidFill>
                  <a:srgbClr val="0A2559"/>
                </a:solidFill>
                <a:latin typeface="Calibri" pitchFamily="34" charset="0"/>
                <a:ea typeface="Calibri" pitchFamily="34" charset="-122"/>
                <a:cs typeface="Calibri" pitchFamily="34" charset="-120"/>
              </a:rPr>
              <a:t>Clase 2 · Métricas de regresión y regresión lineal</a:t>
            </a:r>
            <a:endParaRPr lang="en-US" sz="1250" dirty="0"/>
          </a:p>
          <a:p>
            <a:pPr marL="0" indent="0">
              <a:spcAft>
                <a:spcPts val="400"/>
              </a:spcAft>
              <a:buNone/>
            </a:pPr>
            <a:r>
              <a:rPr lang="en-US" sz="1250" dirty="0">
                <a:solidFill>
                  <a:srgbClr val="2C3A55"/>
                </a:solidFill>
                <a:latin typeface="Calibri" pitchFamily="34" charset="0"/>
                <a:ea typeface="Calibri" pitchFamily="34" charset="-122"/>
                <a:cs typeface="Calibri" pitchFamily="34" charset="-120"/>
              </a:rPr>
              <a:t>Cuando se predice un número hace falta otra vara: MAE, RMSE, R². Y empezamos con el modelo más importante de todos: la recta.</a:t>
            </a:r>
            <a:endParaRPr lang="en-US" sz="1250" dirty="0"/>
          </a:p>
        </p:txBody>
      </p:sp>
      <p:sp>
        <p:nvSpPr>
          <p:cNvPr id="14" name="Shape 11"/>
          <p:cNvSpPr/>
          <p:nvPr/>
        </p:nvSpPr>
        <p:spPr>
          <a:xfrm>
            <a:off x="6537960" y="4160520"/>
            <a:ext cx="5148072" cy="1691640"/>
          </a:xfrm>
          <a:prstGeom prst="roundRect">
            <a:avLst>
              <a:gd name="adj" fmla="val 3243"/>
            </a:avLst>
          </a:prstGeom>
          <a:solidFill>
            <a:srgbClr val="0F2F6B"/>
          </a:solidFill>
          <a:ln w="9525">
            <a:solidFill>
              <a:srgbClr val="1E3F7F"/>
            </a:solidFill>
            <a:prstDash val="solid"/>
          </a:ln>
        </p:spPr>
      </p:sp>
      <p:sp>
        <p:nvSpPr>
          <p:cNvPr id="15" name="Shape 12"/>
          <p:cNvSpPr/>
          <p:nvPr/>
        </p:nvSpPr>
        <p:spPr>
          <a:xfrm>
            <a:off x="6766560" y="4407408"/>
            <a:ext cx="128016" cy="128016"/>
          </a:xfrm>
          <a:prstGeom prst="roundRect">
            <a:avLst>
              <a:gd name="adj" fmla="val 21429"/>
            </a:avLst>
          </a:prstGeom>
          <a:solidFill>
            <a:srgbClr val="4A82FF"/>
          </a:solidFill>
          <a:ln w="12700">
            <a:solidFill>
              <a:srgbClr val="4A82FF"/>
            </a:solidFill>
            <a:prstDash val="solid"/>
          </a:ln>
        </p:spPr>
      </p:sp>
      <p:sp>
        <p:nvSpPr>
          <p:cNvPr id="16" name="Text 13"/>
          <p:cNvSpPr txBox="1"/>
          <p:nvPr/>
        </p:nvSpPr>
        <p:spPr>
          <a:xfrm>
            <a:off x="6995160" y="4297680"/>
            <a:ext cx="4507992" cy="3474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Checklist de salida</a:t>
            </a:r>
            <a:endParaRPr lang="en-US" sz="1400" dirty="0"/>
          </a:p>
        </p:txBody>
      </p:sp>
      <p:sp>
        <p:nvSpPr>
          <p:cNvPr id="17" name="Text 14"/>
          <p:cNvSpPr txBox="1"/>
          <p:nvPr/>
        </p:nvSpPr>
        <p:spPr>
          <a:xfrm>
            <a:off x="6766560" y="4617720"/>
            <a:ext cx="4754880" cy="11887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C9D4EA"/>
                </a:solidFill>
                <a:latin typeface="Calibri" pitchFamily="34" charset="0"/>
                <a:ea typeface="Calibri" pitchFamily="34" charset="-122"/>
                <a:cs typeface="Calibri" pitchFamily="34" charset="-120"/>
              </a:rPr>
              <a:t>Distingo regresión, clasificación y clustering</a:t>
            </a:r>
            <a:endParaRPr lang="en-US" sz="1200" dirty="0"/>
          </a:p>
          <a:p>
            <a:pPr marL="342900" indent="-342900">
              <a:spcAft>
                <a:spcPts val="300"/>
              </a:spcAft>
              <a:buSzPct val="100000"/>
              <a:buChar char="•"/>
            </a:pPr>
            <a:r>
              <a:rPr lang="en-US" sz="1200" dirty="0">
                <a:solidFill>
                  <a:srgbClr val="C9D4EA"/>
                </a:solidFill>
                <a:latin typeface="Calibri" pitchFamily="34" charset="0"/>
                <a:ea typeface="Calibri" pitchFamily="34" charset="-122"/>
                <a:cs typeface="Calibri" pitchFamily="34" charset="-120"/>
              </a:rPr>
              <a:t>Comparo siempre contra la regla trivial</a:t>
            </a:r>
            <a:endParaRPr lang="en-US" sz="1200" dirty="0"/>
          </a:p>
          <a:p>
            <a:pPr marL="342900" indent="-342900">
              <a:spcAft>
                <a:spcPts val="300"/>
              </a:spcAft>
              <a:buSzPct val="100000"/>
              <a:buChar char="•"/>
            </a:pPr>
            <a:r>
              <a:rPr lang="en-US" sz="1200" dirty="0">
                <a:solidFill>
                  <a:srgbClr val="C9D4EA"/>
                </a:solidFill>
                <a:latin typeface="Calibri" pitchFamily="34" charset="0"/>
                <a:ea typeface="Calibri" pitchFamily="34" charset="-122"/>
                <a:cs typeface="Calibri" pitchFamily="34" charset="-120"/>
              </a:rPr>
              <a:t>Sé para qué sirve cada parte: train, validación, test</a:t>
            </a:r>
            <a:endParaRPr lang="en-US" sz="1200" dirty="0"/>
          </a:p>
          <a:p>
            <a:pPr marL="342900" indent="-342900">
              <a:spcAft>
                <a:spcPts val="300"/>
              </a:spcAft>
              <a:buSzPct val="100000"/>
              <a:buChar char="•"/>
            </a:pPr>
            <a:r>
              <a:rPr lang="en-US" sz="1200" dirty="0">
                <a:solidFill>
                  <a:srgbClr val="C9D4EA"/>
                </a:solidFill>
                <a:latin typeface="Calibri" pitchFamily="34" charset="0"/>
                <a:ea typeface="Calibri" pitchFamily="34" charset="-122"/>
                <a:cs typeface="Calibri" pitchFamily="34" charset="-120"/>
              </a:rPr>
              <a:t>Reconozco el overfitting por la brecha</a:t>
            </a:r>
            <a:endParaRPr lang="en-US" sz="1200" dirty="0"/>
          </a:p>
        </p:txBody>
      </p:sp>
      <p:sp>
        <p:nvSpPr>
          <p:cNvPr id="9" name="Text 15"/>
          <p:cNvSpPr txBox="1"/>
          <p:nvPr/>
        </p:nvSpPr>
        <p:spPr>
          <a:xfrm>
            <a:off x="502920" y="6217920"/>
            <a:ext cx="10972800" cy="274320"/>
          </a:xfrm>
          <a:prstGeom prst="rect">
            <a:avLst/>
          </a:prstGeom>
          <a:noFill/>
          <a:ln/>
        </p:spPr>
        <p:txBody>
          <a:bodyPr wrap="square" lIns="0" tIns="0" rIns="0" bIns="0" rtlCol="0" anchor="ctr"/>
          <a:lstStyle/>
          <a:p>
            <a:pPr marL="0" indent="0">
              <a:buNone/>
            </a:pPr>
            <a:r>
              <a:rPr lang="en-US" sz="1050" i="1" dirty="0">
                <a:solidFill>
                  <a:srgbClr val="8595B5"/>
                </a:solidFill>
                <a:latin typeface="Calibri" pitchFamily="34" charset="0"/>
                <a:ea typeface="Calibri" pitchFamily="34" charset="-122"/>
                <a:cs typeface="Calibri" pitchFamily="34" charset="-120"/>
              </a:rPr>
              <a:t>Machine Learning · Curso 7 · Clase 1 de 16 · Docente: Josef Renato Rodriguez</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3878</Words>
  <Application>Microsoft Macintosh PowerPoint</Application>
  <PresentationFormat>Widescreen</PresentationFormat>
  <Paragraphs>457</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Clase 1 · Introducción al Machine Learning</dc:title>
  <dc:subject>PptxGenJS Presentation</dc:subject>
  <dc:creator>Josef Renato Rodriguez</dc:creator>
  <cp:lastModifiedBy>Josef Rodriguez</cp:lastModifiedBy>
  <cp:revision>2</cp:revision>
  <dcterms:created xsi:type="dcterms:W3CDTF">2026-09-29T00:30:34Z</dcterms:created>
  <dcterms:modified xsi:type="dcterms:W3CDTF">2026-09-29T00:37:45Z</dcterms:modified>
</cp:coreProperties>
</file>