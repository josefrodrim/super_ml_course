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4.xml" ContentType="application/vnd.openxmlformats-officedocument.drawingml.chart+xml"/>
  <Override PartName="/ppt/notesSlides/notesSlide12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7.xml" ContentType="application/vnd.openxmlformats-officedocument.drawingml.chart+xml"/>
  <Override PartName="/ppt/notesSlides/notesSlide15.xml" ContentType="application/vnd.openxmlformats-officedocument.presentationml.notesSlide+xml"/>
  <Override PartName="/ppt/charts/chart8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53F63C3-151E-EB2C-C85E-9FF4206A7AED}">
          <p14:sldIdLst>
            <p14:sldId id="256"/>
            <p14:sldId id="257"/>
            <p14:sldId id="258"/>
          </p14:sldIdLst>
        </p14:section>
        <p14:section name="Bloque 1 · Datos" id="{AE7036CE-2BEB-2E23-0491-6B1500CFB013}">
          <p14:sldIdLst>
            <p14:sldId id="259"/>
            <p14:sldId id="260"/>
          </p14:sldIdLst>
        </p14:section>
        <p14:section name="Bloque 2 · Boostings" id="{7116EF81-16E4-40F5-D1F8-BA37ACB1B6C0}">
          <p14:sldIdLst>
            <p14:sldId id="261"/>
            <p14:sldId id="262"/>
            <p14:sldId id="263"/>
          </p14:sldIdLst>
        </p14:section>
        <p14:section name="Bloque 3 · Lift" id="{1C6C4626-4CDA-0F39-FBDD-BFFF4EC0EEB8}">
          <p14:sldIdLst>
            <p14:sldId id="264"/>
            <p14:sldId id="265"/>
            <p14:sldId id="266"/>
            <p14:sldId id="267"/>
            <p14:sldId id="268"/>
          </p14:sldIdLst>
        </p14:section>
        <p14:section name="Bloque 4 · Monitoreo" id="{63AB17A0-E5D8-48F4-1700-2A68516F04C5}">
          <p14:sldIdLst>
            <p14:sldId id="269"/>
            <p14:sldId id="270"/>
            <p14:sldId id="271"/>
          </p14:sldIdLst>
        </p14:section>
        <p14:section name="Cierre" id="{9EDA0D22-53BE-603B-D0B8-B48D57C6DAE7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65"/>
    <p:restoredTop sz="94610"/>
  </p:normalViewPr>
  <p:slideViewPr>
    <p:cSldViewPr snapToGrid="0" snapToObjects="1">
      <p:cViewPr varScale="1">
        <p:scale>
          <a:sx n="222" d="100"/>
          <a:sy n="222" d="100"/>
        </p:scale>
        <p:origin x="7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FFFFFF"/>
                </a:solidFill>
                <a:latin typeface="+mn-lt"/>
              </a:rPr>
              <a:t>Tasa de default a 3 meses por grupo de riesgo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entrenamiento 2024</c:v>
                </c:pt>
              </c:strCache>
            </c:strRef>
          </c:tx>
          <c:spPr>
            <a:solidFill>
              <a:srgbClr val="5B6B87"/>
            </a:solidFill>
            <a:effectLst/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C9D4EA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Muy alto</c:v>
                </c:pt>
                <c:pt idx="1">
                  <c:v>Alto</c:v>
                </c:pt>
                <c:pt idx="2">
                  <c:v>Medio</c:v>
                </c:pt>
                <c:pt idx="3">
                  <c:v>Bajo</c:v>
                </c:pt>
                <c:pt idx="4">
                  <c:v>Muy bajo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0.2101851851851852</c:v>
                </c:pt>
                <c:pt idx="1">
                  <c:v>5.1620370370370372E-2</c:v>
                </c:pt>
                <c:pt idx="2">
                  <c:v>2.1522795649155289E-2</c:v>
                </c:pt>
                <c:pt idx="3">
                  <c:v>1.4123639731419311E-2</c:v>
                </c:pt>
                <c:pt idx="4">
                  <c:v>6.9444444444444441E-3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4E-354F-9DCD-90838E27C4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2025</c:v>
                </c:pt>
              </c:strCache>
            </c:strRef>
          </c:tx>
          <c:spPr>
            <a:solidFill>
              <a:srgbClr val="1A56E8"/>
            </a:solidFill>
            <a:effectLst/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C9D4EA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Muy alto</c:v>
                </c:pt>
                <c:pt idx="1">
                  <c:v>Alto</c:v>
                </c:pt>
                <c:pt idx="2">
                  <c:v>Medio</c:v>
                </c:pt>
                <c:pt idx="3">
                  <c:v>Bajo</c:v>
                </c:pt>
                <c:pt idx="4">
                  <c:v>Muy bajo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0.21849126034958602</c:v>
                </c:pt>
                <c:pt idx="1">
                  <c:v>5.2358490566037738E-2</c:v>
                </c:pt>
                <c:pt idx="2">
                  <c:v>2.2071733132681213E-2</c:v>
                </c:pt>
                <c:pt idx="3">
                  <c:v>1.3636363636363636E-2</c:v>
                </c:pt>
                <c:pt idx="4">
                  <c:v>7.7837837837837834E-3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94E-354F-9DCD-90838E27C4A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OOT 2026</c:v>
                </c:pt>
              </c:strCache>
            </c:strRef>
          </c:tx>
          <c:spPr>
            <a:solidFill>
              <a:srgbClr val="E6115E"/>
            </a:solidFill>
            <a:effectLst/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C9D4EA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Muy alto</c:v>
                </c:pt>
                <c:pt idx="1">
                  <c:v>Alto</c:v>
                </c:pt>
                <c:pt idx="2">
                  <c:v>Medio</c:v>
                </c:pt>
                <c:pt idx="3">
                  <c:v>Bajo</c:v>
                </c:pt>
                <c:pt idx="4">
                  <c:v>Muy bajo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0.27200529450694905</c:v>
                </c:pt>
                <c:pt idx="1">
                  <c:v>6.963329213020189E-2</c:v>
                </c:pt>
                <c:pt idx="2">
                  <c:v>2.557915057915058E-2</c:v>
                </c:pt>
                <c:pt idx="3">
                  <c:v>1.5151515151515152E-2</c:v>
                </c:pt>
                <c:pt idx="4">
                  <c:v>1.5271195365982097E-2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94E-354F-9DCD-90838E27C4A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9D4E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3"/>
          <c:min val="0"/>
        </c:scaling>
        <c:delete val="0"/>
        <c:axPos val="l"/>
        <c:majorGridlines>
          <c:spPr>
            <a:ln w="6350" cap="flat">
              <a:solidFill>
                <a:srgbClr val="233A70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9D4E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C9D4E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255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A2559"/>
                </a:solidFill>
                <a:latin typeface="+mn-lt"/>
              </a:rPr>
              <a:t>Tasa de default a 3 meses, por mes de la foto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mensual</c:v>
                </c:pt>
              </c:strCache>
            </c:strRef>
          </c:tx>
          <c:spPr>
            <a:ln w="25400" cap="flat">
              <a:solidFill>
                <a:srgbClr val="0A255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0A2559"/>
              </a:solidFill>
              <a:ln w="9525" cap="flat">
                <a:solidFill>
                  <a:srgbClr val="0A2559"/>
                </a:solidFill>
                <a:prstDash val="solid"/>
                <a:round/>
              </a:ln>
              <a:effectLst/>
            </c:spPr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6">
                  <c:v>2024-07</c:v>
                </c:pt>
                <c:pt idx="12">
                  <c:v>2025-01</c:v>
                </c:pt>
                <c:pt idx="18">
                  <c:v>2025-07</c:v>
                </c:pt>
                <c:pt idx="24">
                  <c:v>2026-01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7.0559999999999998E-2</c:v>
                </c:pt>
                <c:pt idx="1">
                  <c:v>0.06</c:v>
                </c:pt>
                <c:pt idx="2">
                  <c:v>6.3890000000000002E-2</c:v>
                </c:pt>
                <c:pt idx="3">
                  <c:v>5.944E-2</c:v>
                </c:pt>
                <c:pt idx="4">
                  <c:v>5.4440000000000002E-2</c:v>
                </c:pt>
                <c:pt idx="5">
                  <c:v>5.8889999999999998E-2</c:v>
                </c:pt>
                <c:pt idx="6">
                  <c:v>6.5559999999999993E-2</c:v>
                </c:pt>
                <c:pt idx="7">
                  <c:v>7.0000000000000007E-2</c:v>
                </c:pt>
                <c:pt idx="8">
                  <c:v>6.2780000000000002E-2</c:v>
                </c:pt>
                <c:pt idx="9">
                  <c:v>5.389E-2</c:v>
                </c:pt>
                <c:pt idx="10">
                  <c:v>5.5559999999999998E-2</c:v>
                </c:pt>
                <c:pt idx="11">
                  <c:v>5.5559999999999998E-2</c:v>
                </c:pt>
                <c:pt idx="12">
                  <c:v>7.3330000000000006E-2</c:v>
                </c:pt>
                <c:pt idx="13">
                  <c:v>6.2780000000000002E-2</c:v>
                </c:pt>
                <c:pt idx="14">
                  <c:v>5.611E-2</c:v>
                </c:pt>
                <c:pt idx="15">
                  <c:v>6.5559999999999993E-2</c:v>
                </c:pt>
                <c:pt idx="16">
                  <c:v>6.7780000000000007E-2</c:v>
                </c:pt>
                <c:pt idx="17">
                  <c:v>5.2220000000000003E-2</c:v>
                </c:pt>
                <c:pt idx="18">
                  <c:v>7.1110000000000007E-2</c:v>
                </c:pt>
                <c:pt idx="19">
                  <c:v>6.2219999999999998E-2</c:v>
                </c:pt>
                <c:pt idx="20">
                  <c:v>5.611E-2</c:v>
                </c:pt>
                <c:pt idx="21">
                  <c:v>6.2219999999999998E-2</c:v>
                </c:pt>
                <c:pt idx="22">
                  <c:v>6.0560000000000003E-2</c:v>
                </c:pt>
                <c:pt idx="23">
                  <c:v>6.3329999999999997E-2</c:v>
                </c:pt>
                <c:pt idx="24">
                  <c:v>0.10263</c:v>
                </c:pt>
                <c:pt idx="25">
                  <c:v>0.1</c:v>
                </c:pt>
                <c:pt idx="26">
                  <c:v>0.10105</c:v>
                </c:pt>
                <c:pt idx="27">
                  <c:v>8.7889999999999996E-2</c:v>
                </c:pt>
                <c:pt idx="28">
                  <c:v>9.4210000000000002E-2</c:v>
                </c:pt>
                <c:pt idx="29">
                  <c:v>9.4740000000000005E-2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F10-714B-B952-0A84D06DF3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6350" cap="flat">
              <a:solidFill>
                <a:srgbClr val="E3E8F2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2559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0A2559"/>
                </a:solidFill>
                <a:latin typeface="+mn-lt"/>
              </a:rPr>
              <a:t>Gini por modelo · el eje empieza en 0.60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Gini test 2025</c:v>
                </c:pt>
              </c:strCache>
            </c:strRef>
          </c:tx>
          <c:spPr>
            <a:solidFill>
              <a:srgbClr val="1A56E8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Logística</c:v>
                </c:pt>
                <c:pt idx="1">
                  <c:v>XGBoost</c:v>
                </c:pt>
                <c:pt idx="2">
                  <c:v>LightGBM</c:v>
                </c:pt>
                <c:pt idx="3">
                  <c:v>CatBoost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0.64436245066821929</c:v>
                </c:pt>
                <c:pt idx="1">
                  <c:v>0.68248274444112234</c:v>
                </c:pt>
                <c:pt idx="2">
                  <c:v>0.68083583817252524</c:v>
                </c:pt>
                <c:pt idx="3">
                  <c:v>0.68224825273259171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6F-894D-8635-1A2187C05AA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Gini OOT 2026</c:v>
                </c:pt>
              </c:strCache>
            </c:strRef>
          </c:tx>
          <c:spPr>
            <a:solidFill>
              <a:srgbClr val="E6115E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Logística</c:v>
                </c:pt>
                <c:pt idx="1">
                  <c:v>XGBoost</c:v>
                </c:pt>
                <c:pt idx="2">
                  <c:v>LightGBM</c:v>
                </c:pt>
                <c:pt idx="3">
                  <c:v>CatBoost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0.63679428146338446</c:v>
                </c:pt>
                <c:pt idx="1">
                  <c:v>0.6765859062894588</c:v>
                </c:pt>
                <c:pt idx="2">
                  <c:v>0.6726858715021522</c:v>
                </c:pt>
                <c:pt idx="3">
                  <c:v>0.67288168767478962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A6F-894D-8635-1A2187C05AA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"/>
          <c:min val="0.6"/>
        </c:scaling>
        <c:delete val="0"/>
        <c:axPos val="l"/>
        <c:majorGridlines>
          <c:spPr>
            <a:ln w="6350" cap="flat">
              <a:solidFill>
                <a:srgbClr val="E3E8F2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A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2559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0A2559"/>
                </a:solidFill>
                <a:latin typeface="+mn-lt"/>
              </a:rPr>
              <a:t>Tasa de default por grupo · test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</c:v>
                </c:pt>
              </c:strCache>
            </c:strRef>
          </c:tx>
          <c:spPr>
            <a:solidFill>
              <a:srgbClr val="E6115E"/>
            </a:solidFill>
            <a:effectLst/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Muy alto</c:v>
                </c:pt>
                <c:pt idx="1">
                  <c:v>Alto</c:v>
                </c:pt>
                <c:pt idx="2">
                  <c:v>Medio</c:v>
                </c:pt>
                <c:pt idx="3">
                  <c:v>Bajo</c:v>
                </c:pt>
                <c:pt idx="4">
                  <c:v>Muy bajo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0.21849126034958602</c:v>
                </c:pt>
                <c:pt idx="1">
                  <c:v>5.2358490566037738E-2</c:v>
                </c:pt>
                <c:pt idx="2">
                  <c:v>2.2071733132681213E-2</c:v>
                </c:pt>
                <c:pt idx="3">
                  <c:v>1.3636363636363636E-2</c:v>
                </c:pt>
                <c:pt idx="4">
                  <c:v>7.7837837837837834E-3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4B-B047-B24F-7A7CFA3B7AF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25"/>
          <c:min val="0"/>
        </c:scaling>
        <c:delete val="0"/>
        <c:axPos val="l"/>
        <c:majorGridlines>
          <c:spPr>
            <a:ln w="6350" cap="flat">
              <a:solidFill>
                <a:srgbClr val="E3E8F2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2559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0A2559"/>
                </a:solidFill>
                <a:latin typeface="+mn-lt"/>
              </a:rPr>
              <a:t>% de defaults capturados según % de clientes revisados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OOT 2026</c:v>
                </c:pt>
              </c:strCache>
            </c:strRef>
          </c:tx>
          <c:spPr>
            <a:ln w="31750" cap="flat">
              <a:solidFill>
                <a:srgbClr val="E6115E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E6115E"/>
              </a:solidFill>
              <a:ln w="9525" cap="flat">
                <a:solidFill>
                  <a:srgbClr val="E6115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0 %</c:v>
                </c:pt>
                <c:pt idx="1">
                  <c:v>27 %</c:v>
                </c:pt>
                <c:pt idx="2">
                  <c:v>48 %</c:v>
                </c:pt>
                <c:pt idx="3">
                  <c:v>66 %</c:v>
                </c:pt>
                <c:pt idx="4">
                  <c:v>83 %</c:v>
                </c:pt>
                <c:pt idx="5">
                  <c:v>100 %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0.74524025385312787</c:v>
                </c:pt>
                <c:pt idx="2">
                  <c:v>0.89845874886672705</c:v>
                </c:pt>
                <c:pt idx="3">
                  <c:v>0.94650951949229378</c:v>
                </c:pt>
                <c:pt idx="4">
                  <c:v>0.97370806890299189</c:v>
                </c:pt>
                <c:pt idx="5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02C-CF4E-B716-8808F41BE35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 azar</c:v>
                </c:pt>
              </c:strCache>
            </c:strRef>
          </c:tx>
          <c:spPr>
            <a:ln w="31750" cap="flat">
              <a:solidFill>
                <a:srgbClr val="5B6B87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5B6B87"/>
              </a:solidFill>
              <a:ln w="9525" cap="flat">
                <a:solidFill>
                  <a:srgbClr val="5B6B87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0 %</c:v>
                </c:pt>
                <c:pt idx="1">
                  <c:v>27 %</c:v>
                </c:pt>
                <c:pt idx="2">
                  <c:v>48 %</c:v>
                </c:pt>
                <c:pt idx="3">
                  <c:v>66 %</c:v>
                </c:pt>
                <c:pt idx="4">
                  <c:v>83 %</c:v>
                </c:pt>
                <c:pt idx="5">
                  <c:v>100 %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0.26508771929824559</c:v>
                </c:pt>
                <c:pt idx="2">
                  <c:v>0.47798245614035084</c:v>
                </c:pt>
                <c:pt idx="3">
                  <c:v>0.65973684210526318</c:v>
                </c:pt>
                <c:pt idx="4">
                  <c:v>0.83342105263157895</c:v>
                </c:pt>
                <c:pt idx="5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02C-CF4E-B716-8808F41BE3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87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5B6B87"/>
                    </a:solidFill>
                    <a:latin typeface="Arial"/>
                  </a:rPr>
                  <a:t>% de clientes revisados, desde Muy alto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F2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A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2559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0A2559"/>
                </a:solidFill>
                <a:latin typeface="+mn-lt"/>
              </a:rPr>
              <a:t>Captura del grupo Muy alto · OOT 2026 · el eje empieza en 60 %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captura Muy alto</c:v>
                </c:pt>
              </c:strCache>
            </c:strRef>
          </c:tx>
          <c:spPr>
            <a:solidFill>
              <a:srgbClr val="1A56E8"/>
            </a:solidFill>
            <a:effectLst/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Logística</c:v>
                </c:pt>
                <c:pt idx="1">
                  <c:v>XGBoost</c:v>
                </c:pt>
                <c:pt idx="2">
                  <c:v>LightGBM</c:v>
                </c:pt>
                <c:pt idx="3">
                  <c:v>CatBoost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0.71169537624660018</c:v>
                </c:pt>
                <c:pt idx="1">
                  <c:v>0.74524025385312787</c:v>
                </c:pt>
                <c:pt idx="2">
                  <c:v>0.75339981867633721</c:v>
                </c:pt>
                <c:pt idx="3">
                  <c:v>0.73980054397098827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AB-ED47-9793-23656EC280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.6"/>
        </c:scaling>
        <c:delete val="0"/>
        <c:axPos val="t"/>
        <c:majorGridlines>
          <c:spPr>
            <a:ln w="6350" cap="flat">
              <a:solidFill>
                <a:srgbClr val="E3E8F2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2559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0A2559"/>
                </a:solidFill>
                <a:latin typeface="+mn-lt"/>
              </a:rPr>
              <a:t>% de clientes en cada grupo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entrenamiento 2024</c:v>
                </c:pt>
              </c:strCache>
            </c:strRef>
          </c:tx>
          <c:spPr>
            <a:solidFill>
              <a:srgbClr val="5B6B87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Muy alto</c:v>
                </c:pt>
                <c:pt idx="1">
                  <c:v>Alto</c:v>
                </c:pt>
                <c:pt idx="2">
                  <c:v>Medio</c:v>
                </c:pt>
                <c:pt idx="3">
                  <c:v>Bajo</c:v>
                </c:pt>
                <c:pt idx="4">
                  <c:v>Muy bajo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</c:v>
                </c:pt>
                <c:pt idx="1">
                  <c:v>0.2</c:v>
                </c:pt>
                <c:pt idx="2">
                  <c:v>0.20004629629629631</c:v>
                </c:pt>
                <c:pt idx="3">
                  <c:v>0.19995370370370372</c:v>
                </c:pt>
                <c:pt idx="4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9B-6B44-9503-8C3C670930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2025</c:v>
                </c:pt>
              </c:strCache>
            </c:strRef>
          </c:tx>
          <c:spPr>
            <a:solidFill>
              <a:srgbClr val="1A56E8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Muy alto</c:v>
                </c:pt>
                <c:pt idx="1">
                  <c:v>Alto</c:v>
                </c:pt>
                <c:pt idx="2">
                  <c:v>Medio</c:v>
                </c:pt>
                <c:pt idx="3">
                  <c:v>Bajo</c:v>
                </c:pt>
                <c:pt idx="4">
                  <c:v>Muy bajo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0.20129629629629631</c:v>
                </c:pt>
                <c:pt idx="1">
                  <c:v>0.1962962962962963</c:v>
                </c:pt>
                <c:pt idx="2">
                  <c:v>0.18458333333333332</c:v>
                </c:pt>
                <c:pt idx="3">
                  <c:v>0.20370370370370369</c:v>
                </c:pt>
                <c:pt idx="4">
                  <c:v>0.21412037037037038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59B-6B44-9503-8C3C670930A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OOT 2026</c:v>
                </c:pt>
              </c:strCache>
            </c:strRef>
          </c:tx>
          <c:spPr>
            <a:solidFill>
              <a:srgbClr val="E6115E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Muy alto</c:v>
                </c:pt>
                <c:pt idx="1">
                  <c:v>Alto</c:v>
                </c:pt>
                <c:pt idx="2">
                  <c:v>Medio</c:v>
                </c:pt>
                <c:pt idx="3">
                  <c:v>Bajo</c:v>
                </c:pt>
                <c:pt idx="4">
                  <c:v>Muy bajo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0.26508771929824559</c:v>
                </c:pt>
                <c:pt idx="1">
                  <c:v>0.21289473684210528</c:v>
                </c:pt>
                <c:pt idx="2">
                  <c:v>0.18175438596491228</c:v>
                </c:pt>
                <c:pt idx="3">
                  <c:v>0.1736842105263158</c:v>
                </c:pt>
                <c:pt idx="4">
                  <c:v>0.16657894736842105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59B-6B44-9503-8C3C670930A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3"/>
          <c:min val="0"/>
        </c:scaling>
        <c:delete val="0"/>
        <c:axPos val="l"/>
        <c:majorGridlines>
          <c:spPr>
            <a:ln w="6350" cap="flat">
              <a:solidFill>
                <a:srgbClr val="E3E8F2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A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2559"/>
                </a:solidFill>
                <a:latin typeface="+mn-lt"/>
              </a:defRPr>
            </a:pPr>
            <a:r>
              <a:rPr lang="en-US" sz="1200" b="0" i="0" u="none" strike="noStrike">
                <a:solidFill>
                  <a:srgbClr val="0A2559"/>
                </a:solidFill>
                <a:latin typeface="+mn-lt"/>
              </a:rPr>
              <a:t>OOT 2026 · lo que el modelo esperaba y lo que pasó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probabilidad media del modelo</c:v>
                </c:pt>
              </c:strCache>
            </c:strRef>
          </c:tx>
          <c:spPr>
            <a:solidFill>
              <a:srgbClr val="1A56E8"/>
            </a:solidFill>
            <a:effectLst/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Muy alto</c:v>
                </c:pt>
                <c:pt idx="1">
                  <c:v>Alto</c:v>
                </c:pt>
                <c:pt idx="2">
                  <c:v>Medio</c:v>
                </c:pt>
                <c:pt idx="3">
                  <c:v>Bajo</c:v>
                </c:pt>
                <c:pt idx="4">
                  <c:v>Muy bajo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0.20963208377361298</c:v>
                </c:pt>
                <c:pt idx="1">
                  <c:v>5.289909616112709E-2</c:v>
                </c:pt>
                <c:pt idx="2">
                  <c:v>2.3999147117137909E-2</c:v>
                </c:pt>
                <c:pt idx="3">
                  <c:v>1.6679814085364342E-2</c:v>
                </c:pt>
                <c:pt idx="4">
                  <c:v>1.1356332339346409E-2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D2-A344-9CB6-601CB070B7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tasa observada 2026</c:v>
                </c:pt>
              </c:strCache>
            </c:strRef>
          </c:tx>
          <c:spPr>
            <a:solidFill>
              <a:srgbClr val="E6115E"/>
            </a:solidFill>
            <a:effectLst/>
          </c:spPr>
          <c:invertIfNegative val="0"/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Muy alto</c:v>
                </c:pt>
                <c:pt idx="1">
                  <c:v>Alto</c:v>
                </c:pt>
                <c:pt idx="2">
                  <c:v>Medio</c:v>
                </c:pt>
                <c:pt idx="3">
                  <c:v>Bajo</c:v>
                </c:pt>
                <c:pt idx="4">
                  <c:v>Muy bajo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0.27200529450694905</c:v>
                </c:pt>
                <c:pt idx="1">
                  <c:v>6.963329213020189E-2</c:v>
                </c:pt>
                <c:pt idx="2">
                  <c:v>2.557915057915058E-2</c:v>
                </c:pt>
                <c:pt idx="3">
                  <c:v>1.5151515151515152E-2</c:v>
                </c:pt>
                <c:pt idx="4">
                  <c:v>1.5271195365982097E-2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3D2-A344-9CB6-601CB070B7D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3"/>
          <c:min val="0"/>
        </c:scaling>
        <c:delete val="0"/>
        <c:axPos val="l"/>
        <c:majorGridlines>
          <c:spPr>
            <a:ln w="6350" cap="flat">
              <a:solidFill>
                <a:srgbClr val="E3E8F2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A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7207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Apertura. Caso nuevo: el modelo de comportamiento de una cartera de tarjetas, el que todo banco tiene en producción. El gráfico es el resultado del día: el score de XGBoost ordena a los clientes en cinco grupos y la tasa de default baja de grupo en grupo en los tres años. En 2026 todos los grupos caen más, y eso es lo que discutimos en el Bloque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notebook corre completo en menos de un minuto. La primera vez la Celda 0 instala CatBoost. Antes de clase hay que subir cartera_tarjetas.csv a Clase_9/Data del repositorio; si la descarga falla, los alumnos lo suben a mano a Colab.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minutos. Pregunta a la clase: después de la Clase 8, ¿descartarían los boostings? Anota las respuestas. Hoy la cartera tiene curvas e interacciones, y la respuesta cambia.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 las diez variables. id_cliente y periodo organizan la base, pero no son variables: si el id entrara, el árbol aprendería «el cliente 104 377 cae» y no serviría para nadie nuevo. Insiste en la maduración del target: es una de las preguntas más comunes en entrevistas de riesgos. El diccionario completo está en Clase_9/Data.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Ejercicios 1.1 y 1.3 y demostración 1.2. El mismo cliente aparece en unos 6 meses. Eso no es un problema en sí: el problema es mezclar meses en el corte. En 2026 entran más independientes e informales y sube la utilización; volvemos a esto en el Bloque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Ejercicios 2.1 a 2.3. Los tres eligen árboles chicos. Las diferencias entre configuraciones son de milésimas, así que en Colab puede salir otra profundidad: lo importante es el patrón, no el número exacto. Recuerda que desde aquí el test ya se usó para elegir: el OOT es el único juez justo.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2.4. Gini = 2·AUC − 1 y KS: las métricas que pide un área de riesgos. Los boostings ganan unos 4 puntos de Gini, y entre ellos la diferencia es de milésimas. Elegimos XGBoost por estándar y documentación, no por el tercer decimal. Ojo con el eje del gráfico: empieza en 0.60.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conecta las dos clases. Los datos son sintéticos y el riesgo verdadero tiene un codo en la utilización y una interacción deuda × informal: por eso sabemos que hay estructura no lineal. En la Clase 10 la vamos a encontrar con PDP y SHAP sin mirar cómo se generaron los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3.1. Los cortes se calculan en el entrenamiento, la muestra de desarrollo, como en cualquier banco, y se aplican sin tocar a 2025 y 2026. Los infinitos en los bordes garantizan que cualquier probabilidad futura caiga en algún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slide central de la pregunta del día: cómo deben ordenar las probabilidades. Ordenar es lo primero (Gini, KS y la tasa por grupo). Concentrar es lo que le da valor de negocio. Calibrar solo importa si la probabilidad se usa como número, por ejemplo en provisiones o en el precio de un crédito.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3.2. Lee la tabla en voz alta. Revisar al 20 % de los clientes encuentra al 70 % de los defaults. De Muy alto a Alto la tasa cae a la cuarta parte: el riesgo vive en la cola. Muy bajo: 8 defaults por cada mil clientes, el grupo donde el banco puede crecer. Calcula el lift a mano: 21.8 / 6.3.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Demostración 3.3 y ejercicio 3.6. En el OOT, Muy alto ya no tiene el 20 % de los clientes sino el 26.5 %: por eso el eje de la curva va con el porcentaje real acumulado. Los tres boostings capturan entre 74 % y 75 %; la logística, 71 %.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3.4 y demostración 3.5. La función ordena dice «no» en 2026 por una diferencia de 0.01 puntos entre Bajo y Muy bajo. Pregunta a la clase si eso significa que el modelo se rompió. La respuesta está en los intervalos. Esta es la pregunta 4 del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4.1. El PSI mide si cambió la composición de la cartera respecto del desarrollo. En 2026 entraron más independientes e informales y subió la utilización, pero el efecto sobre el reparto entre grupos es chico. Hasta aquí todo parece estable. La siguiente slide muestra lo que el PSI no 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4.2. En el test, la probabilidad media y la tasa se parecían. En 2026 el modelo se queda corto en todos los grupos: en Muy alto la tasa real es 1.30 veces la probabilidad. Para ordenar clientes no importa; para provisiones o para el precio de un crédito,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del Bloque 4. Recalibrar es mucho más barato que reentrenar: se ajusta, por ejemplo, el intercepto en log-odds con los meses recientes. En la Clase 14, cuando publiquemos el modelo, el monitoreo mensual va a incluir los tres indicadores.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 que respondan antes de mostrar la respuesta, que está completa en el notebook. La 2 es de calculadora; la 5 es la más importante para el parcial. Las que no alcancen quedan de tarea.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Repasa la checklist de salida del notebook. La Clase 10 explica este mismo XGBoost: guarden el notebook de hoy.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i="1" dirty="0">
                <a:solidFill>
                  <a:schemeClr val="accent4"/>
                </a:solidFill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1143000"/>
            <a:ext cx="51206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548640"/>
            <a:ext cx="292608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5486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chemeClr val="bg1"/>
                </a:solidFill>
              </a:rPr>
              <a:t>RIESGO DE CRÉDITO · CLASE 9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11430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Boostings y lift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en cinco grupos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69748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Una cartera de tarjetas, un target de default a 3 meses y un corte 2024 · 2025 · 2026. XGBoost, LightGBM y CatBoost contra la logística, y los cinco grupos de riesgo, de «Muy alto» a «Muy bajo».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9319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0.677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4622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Gini de XGBoost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2026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9319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75 %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44622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de los defaults de 2026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el grupo Muy alto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069080" y="39319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1.30×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44622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tasa real / probabilidad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Muy alto, 2026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53492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Docente  </a:t>
            </a:r>
            <a:r>
              <a:rPr lang="en-US" sz="1200" b="1" dirty="0">
                <a:solidFill>
                  <a:schemeClr val="bg1"/>
                </a:solidFill>
              </a:rPr>
              <a:t>Josef Renato Rodriguez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172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Machine Learning · Programa de Especialización Data Scientist · Sesión 9 de 14</a:t>
            </a:r>
            <a:endParaRPr lang="en-US" sz="1000" dirty="0"/>
          </a:p>
        </p:txBody>
      </p:sp>
      <p:graphicFrame>
        <p:nvGraphicFramePr>
          <p:cNvPr id="14" name="Chart 0"/>
          <p:cNvGraphicFramePr/>
          <p:nvPr/>
        </p:nvGraphicFramePr>
        <p:xfrm>
          <a:off x="6172200" y="914400"/>
          <a:ext cx="5486400" cy="4937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AGENDA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Cómo repartimos los 120 minutos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Un caso nuevo de riesgo de crédito, los tres boostings de la Clase 8 y los cinco grupos de riesgo.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57400"/>
          <a:ext cx="6949440" cy="274320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cartera, el target a 3 meses y el corte temporal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XGBoost, LightGBM y CatBoost contra la logística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lift en cinco grupos: cortes, tabla y orden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¿Los grupos se mantienen en 2026? PSI y calibración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Cierre: los números del día y preguntas tipo examen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arjeta"/>
          <p:cNvSpPr/>
          <p:nvPr/>
        </p:nvSpPr>
        <p:spPr>
          <a:xfrm>
            <a:off x="7726680" y="2057400"/>
            <a:ext cx="3959352" cy="2606040"/>
          </a:xfrm>
          <a:prstGeom prst="roundRect">
            <a:avLst>
              <a:gd name="adj" fmla="val 210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09560" y="21945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Qué te llevas hoy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578608"/>
            <a:ext cx="3611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Armar una base de comportamiento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Comparar tres boostings con Gini y KS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Cortar el score en cinco grupos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Leer una tabla de lift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Separar orden, estabilidad y calibración</a:t>
            </a:r>
            <a:endParaRPr lang="en-US" sz="1200" dirty="0"/>
          </a:p>
        </p:txBody>
      </p:sp>
      <p:sp>
        <p:nvSpPr>
          <p:cNvPr id="10" name="tarjeta"/>
          <p:cNvSpPr/>
          <p:nvPr/>
        </p:nvSpPr>
        <p:spPr>
          <a:xfrm>
            <a:off x="7726680" y="4846320"/>
            <a:ext cx="3959352" cy="146304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5010912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bg1"/>
                </a:solidFill>
              </a:rPr>
              <a:t>El Bloque 3 es el importante: cómo se cortan los grupos y cómo debe ordenar la tasa de default de uno a otro.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LA CLASE 8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Dónde quedamos, y por qué cambiamos de caso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En el banco, ningún boosting le ganó a la logística. ¿Es una regla, o era ese caso?</a:t>
            </a:r>
            <a:endParaRPr lang="en-US" sz="1400" dirty="0"/>
          </a:p>
        </p:txBody>
      </p:sp>
      <p:sp>
        <p:nvSpPr>
          <p:cNvPr id="6" name="tarjeta"/>
          <p:cNvSpPr/>
          <p:nvPr/>
        </p:nvSpPr>
        <p:spPr>
          <a:xfrm>
            <a:off x="502920" y="2057400"/>
            <a:ext cx="3611880" cy="187452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4088" y="222199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0 de 4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80720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modelos de árboles que le ganaron a la logística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3118104"/>
            <a:ext cx="3209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En la campaña del banco, la señal estaba casi toda en «¿ya lo contactamos antes?».</a:t>
            </a:r>
            <a:endParaRPr lang="en-US" sz="1150" dirty="0"/>
          </a:p>
        </p:txBody>
      </p:sp>
      <p:sp>
        <p:nvSpPr>
          <p:cNvPr id="10" name="tarjeta"/>
          <p:cNvSpPr/>
          <p:nvPr/>
        </p:nvSpPr>
        <p:spPr>
          <a:xfrm>
            <a:off x="4288536" y="2057400"/>
            <a:ext cx="3611880" cy="187452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9704" y="222199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4 a 11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489704" y="280720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árboles eligió la parada temprana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489704" y="3118104"/>
            <a:ext cx="3209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Había poco que exprimir: los primeros árboles ya encontraban todo.</a:t>
            </a:r>
            <a:endParaRPr lang="en-US" sz="1150" dirty="0"/>
          </a:p>
        </p:txBody>
      </p:sp>
      <p:sp>
        <p:nvSpPr>
          <p:cNvPr id="14" name="tarjeta"/>
          <p:cNvSpPr/>
          <p:nvPr/>
        </p:nvSpPr>
        <p:spPr>
          <a:xfrm>
            <a:off x="8074152" y="2057400"/>
            <a:ext cx="3611880" cy="187452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222199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Hoy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80720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un modelo de riesgo de crédito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3118104"/>
            <a:ext cx="3209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Default a 3 meses en una cartera de tarjetas: el modelo que todo banco tiene en producción.</a:t>
            </a:r>
            <a:endParaRPr lang="en-US" sz="1150" dirty="0"/>
          </a:p>
        </p:txBody>
      </p:sp>
      <p:sp>
        <p:nvSpPr>
          <p:cNvPr id="18" name="tarjeta"/>
          <p:cNvSpPr/>
          <p:nvPr/>
        </p:nvSpPr>
        <p:spPr>
          <a:xfrm>
            <a:off x="502920" y="4160520"/>
            <a:ext cx="3611880" cy="160020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30682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Pregunta 1 · ¿Cómo se arma la base?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654296"/>
            <a:ext cx="324612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Una foto por cliente y mes, un target que mira al futuro y un corte 2024 · 2025 · 2026.</a:t>
            </a:r>
            <a:endParaRPr lang="en-US" sz="1200" dirty="0"/>
          </a:p>
        </p:txBody>
      </p:sp>
      <p:sp>
        <p:nvSpPr>
          <p:cNvPr id="21" name="tarjeta"/>
          <p:cNvSpPr/>
          <p:nvPr/>
        </p:nvSpPr>
        <p:spPr>
          <a:xfrm>
            <a:off x="4288536" y="4160520"/>
            <a:ext cx="3611880" cy="160020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71416" y="430682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Pregunta 2 · ¿Aquí sí ganan los boostings?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71416" y="4654296"/>
            <a:ext cx="324612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XGBoost, LightGBM y CatBoost contra la logística, con Gini y KS en un OOT intacto.</a:t>
            </a:r>
            <a:endParaRPr lang="en-US" sz="1200" dirty="0"/>
          </a:p>
        </p:txBody>
      </p:sp>
      <p:sp>
        <p:nvSpPr>
          <p:cNvPr id="24" name="tarjeta"/>
          <p:cNvSpPr/>
          <p:nvPr/>
        </p:nvSpPr>
        <p:spPr>
          <a:xfrm>
            <a:off x="8074152" y="4160520"/>
            <a:ext cx="3611880" cy="16002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57032" y="430682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Pregunta 3 · ¿El score ordena?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57032" y="4654296"/>
            <a:ext cx="324612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Cinco grupos, de Muy alto a Muy bajo: cómo se cortan y cómo debe bajar la tasa de uno a otro.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1 · DATOS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Una foto por cliente y mes, diez variables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54 600 filas, 8 986 clientes, de 2024-01 a 2026-06. Datos sintéticos con reglas de riesgo realistas.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57400"/>
          <a:ext cx="6675120" cy="412394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B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id_cliente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identificador · no entra al modelo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B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periodo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 de la foto · para cortar, no para predecir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edad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ingreso_mensual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soles · 5.2 % vacío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antiguedad_meses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con el banco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utilizacion_tc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/ línea de la tarjeta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dias_atraso_max_6m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peor atraso de los últimos 6 meses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num_consultas_3m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consultas en la central de riesgos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ratio_deuda_ingreso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deuda total / ingreso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tipo_empleo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dependiente · independiente · informal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arjeta"/>
          <p:cNvSpPr/>
          <p:nvPr/>
        </p:nvSpPr>
        <p:spPr>
          <a:xfrm>
            <a:off x="7406640" y="2057400"/>
            <a:ext cx="4279392" cy="219456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9520" y="21945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El target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2560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default_3m = 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31089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si el cliente llega a 90 o más días de atraso en alguno de los 3 meses siguientes a la foto.</a:t>
            </a:r>
            <a:endParaRPr lang="en-US" sz="1250" dirty="0"/>
          </a:p>
        </p:txBody>
      </p:sp>
      <p:sp>
        <p:nvSpPr>
          <p:cNvPr id="11" name="tarjeta"/>
          <p:cNvSpPr/>
          <p:nvPr/>
        </p:nvSpPr>
        <p:spPr>
          <a:xfrm>
            <a:off x="7406640" y="4434840"/>
            <a:ext cx="4279392" cy="18288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4581144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Por qué termina en 2026-06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4928616"/>
            <a:ext cx="39136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Hoy es octubre de 2026. La foto de junio necesita julio, agosto y septiembre para saber si cayó: las fotos de julio en adelante todavía no tienen target.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1 · DATOS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El corte temporal: 2024 · 2025 · 2026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La tasa ronda el 6 % dos años y salta en 2026. El OOT es un año más difícil.</a:t>
            </a:r>
            <a:endParaRPr lang="en-US" sz="14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2011680"/>
          <a:ext cx="694944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arjeta"/>
          <p:cNvSpPr/>
          <p:nvPr/>
        </p:nvSpPr>
        <p:spPr>
          <a:xfrm>
            <a:off x="502920" y="5120640"/>
            <a:ext cx="2240280" cy="1143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" y="5212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Entrenamiento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67512" y="550468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2024-01 a 2024-12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21 600 filas · 6.1 %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ajustar modelos y fijar los cortes</a:t>
            </a:r>
            <a:endParaRPr lang="en-US" sz="1050" dirty="0"/>
          </a:p>
        </p:txBody>
      </p:sp>
      <p:sp>
        <p:nvSpPr>
          <p:cNvPr id="10" name="tarjeta"/>
          <p:cNvSpPr/>
          <p:nvPr/>
        </p:nvSpPr>
        <p:spPr>
          <a:xfrm>
            <a:off x="2880360" y="5120640"/>
            <a:ext cx="2240280" cy="1143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44952" y="5212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Test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044952" y="550468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2025-01 a 2025-12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21 600 filas · 6.3 %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parada temprana e hiperparámetros</a:t>
            </a:r>
            <a:endParaRPr lang="en-US" sz="1050" dirty="0"/>
          </a:p>
        </p:txBody>
      </p:sp>
      <p:sp>
        <p:nvSpPr>
          <p:cNvPr id="13" name="tarjeta"/>
          <p:cNvSpPr/>
          <p:nvPr/>
        </p:nvSpPr>
        <p:spPr>
          <a:xfrm>
            <a:off x="5257800" y="5120640"/>
            <a:ext cx="2240280" cy="1143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22392" y="5212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OOT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22392" y="550468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2026-01 a 2026-06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11 400 filas · 9.7 %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</a:rPr>
              <a:t>el juez final: se mira una vez</a:t>
            </a:r>
            <a:endParaRPr lang="en-US" sz="1050" dirty="0"/>
          </a:p>
        </p:txBody>
      </p:sp>
      <p:sp>
        <p:nvSpPr>
          <p:cNvPr id="16" name="tarjeta"/>
          <p:cNvSpPr/>
          <p:nvPr/>
        </p:nvSpPr>
        <p:spPr>
          <a:xfrm>
            <a:off x="7680960" y="2057400"/>
            <a:ext cx="4005072" cy="18288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82128" y="2221992"/>
            <a:ext cx="3602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93 %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7882128" y="2807208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de las filas del test son de clientes ya vistos en 2024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7882128" y="3118104"/>
            <a:ext cx="3602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Es normal en un modelo de comportamiento.</a:t>
            </a:r>
            <a:endParaRPr lang="en-US" sz="1150" dirty="0"/>
          </a:p>
        </p:txBody>
      </p:sp>
      <p:sp>
        <p:nvSpPr>
          <p:cNvPr id="20" name="tarjeta"/>
          <p:cNvSpPr/>
          <p:nvPr/>
        </p:nvSpPr>
        <p:spPr>
          <a:xfrm>
            <a:off x="7680960" y="4069080"/>
            <a:ext cx="4005072" cy="219456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0" y="4206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Por qué no un corte aleatorio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572000"/>
            <a:ext cx="3657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Con train_test_split, la foto de marzo de un cliente quedaría en entrenamiento y la de abril en test. El modelo «predice» a un cliente que acaba de ver, y el test se ve mejor de lo que va a funcionar en el futuro.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2 · MODELAR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Tres boostings, cada uno con parada temprana en 2025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Se entrena en 2024; el test de 2025 decide cuándo parar y qué hiperparámetro usar.</a:t>
            </a:r>
            <a:endParaRPr lang="en-US" sz="1400" dirty="0"/>
          </a:p>
        </p:txBody>
      </p:sp>
      <p:sp>
        <p:nvSpPr>
          <p:cNvPr id="6" name="tarjeta"/>
          <p:cNvSpPr/>
          <p:nvPr/>
        </p:nvSpPr>
        <p:spPr>
          <a:xfrm>
            <a:off x="502920" y="2057400"/>
            <a:ext cx="3611880" cy="4206240"/>
          </a:xfrm>
          <a:prstGeom prst="roundRect">
            <a:avLst>
              <a:gd name="adj" fmla="val 151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4088" y="2194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XGBoost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6517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crece por niveles · one-hot de tipo_empleo · NaN nativos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" y="3383280"/>
          <a:ext cx="3200400" cy="164592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max_depth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04088" y="53492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Gana con árboles de 2 niveles: con 6, el entrenamiento sube y el test baja.</a:t>
            </a:r>
            <a:endParaRPr lang="en-US" sz="1200" dirty="0"/>
          </a:p>
        </p:txBody>
      </p:sp>
      <p:sp>
        <p:nvSpPr>
          <p:cNvPr id="11" name="tarjeta"/>
          <p:cNvSpPr/>
          <p:nvPr/>
        </p:nvSpPr>
        <p:spPr>
          <a:xfrm>
            <a:off x="4288536" y="2057400"/>
            <a:ext cx="3611880" cy="4206240"/>
          </a:xfrm>
          <a:prstGeom prst="roundRect">
            <a:avLst>
              <a:gd name="adj" fmla="val 151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89704" y="2194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LightGBM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489704" y="26517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4"/>
                </a:solidFill>
              </a:rPr>
              <a:t>crece por hojas · min_child_samples = 50 · el más rápido</a:t>
            </a:r>
            <a:endParaRPr lang="en-US" sz="1150" dirty="0"/>
          </a:p>
        </p:txBody>
      </p:sp>
      <p:graphicFrame>
        <p:nvGraphicFramePr>
          <p:cNvPr id="1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9704" y="3383280"/>
          <a:ext cx="3200400" cy="1316736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num_leaves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4489704" y="53492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31 hojas (el valor por defecto) memoriza más y generaliza menos.</a:t>
            </a:r>
            <a:endParaRPr lang="en-US" sz="1200" dirty="0"/>
          </a:p>
        </p:txBody>
      </p:sp>
      <p:sp>
        <p:nvSpPr>
          <p:cNvPr id="16" name="tarjeta"/>
          <p:cNvSpPr/>
          <p:nvPr/>
        </p:nvSpPr>
        <p:spPr>
          <a:xfrm>
            <a:off x="8074152" y="2057400"/>
            <a:ext cx="3611880" cy="4206240"/>
          </a:xfrm>
          <a:prstGeom prst="roundRect">
            <a:avLst>
              <a:gd name="adj" fmla="val 151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75320" y="2194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CatBoost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8275320" y="26517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4"/>
                </a:solidFill>
              </a:rPr>
              <a:t>árboles simétricos · tipo_empleo en texto · estadísticas ordenadas</a:t>
            </a:r>
            <a:endParaRPr lang="en-US" sz="115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75320" y="3383280"/>
          <a:ext cx="3200400" cy="987552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Text 15"/>
          <p:cNvSpPr txBox="1"/>
          <p:nvPr/>
        </p:nvSpPr>
        <p:spPr>
          <a:xfrm>
            <a:off x="8275320" y="53492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Más lento, pero sin codificar nada.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2 · EVALUAR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Aquí sí: los boostings le ganan a la logística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Unos 4 puntos de Gini en 2026. Y los tres boostings empatan entre sí.</a:t>
            </a:r>
            <a:endParaRPr lang="en-US" sz="14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2011680"/>
          <a:ext cx="6675120" cy="4251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2057400"/>
          <a:ext cx="4279392" cy="1920240"/>
        </p:xfrm>
        <a:graphic>
          <a:graphicData uri="http://schemas.openxmlformats.org/drawingml/2006/table">
            <a:tbl>
              <a:tblPr/>
              <a:tblGrid>
                <a:gridCol w="1719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95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OOT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 OOT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OOT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logística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arjeta"/>
          <p:cNvSpPr/>
          <p:nvPr/>
        </p:nvSpPr>
        <p:spPr>
          <a:xfrm>
            <a:off x="7406640" y="4160520"/>
            <a:ext cx="4279392" cy="96012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589520" y="4306824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El Gini casi no baja en 2026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589520" y="4654296"/>
            <a:ext cx="391363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XGBoost: 0.682 en 2025, 0.677 en 2026. El score sigue ordenando aunque la tasa subió.</a:t>
            </a:r>
            <a:endParaRPr lang="en-US" sz="1200" dirty="0"/>
          </a:p>
        </p:txBody>
      </p:sp>
      <p:sp>
        <p:nvSpPr>
          <p:cNvPr id="11" name="tarjeta"/>
          <p:cNvSpPr/>
          <p:nvPr/>
        </p:nvSpPr>
        <p:spPr>
          <a:xfrm>
            <a:off x="7406640" y="5303520"/>
            <a:ext cx="4279392" cy="96012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589520" y="5303520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Campeón: XGBoost. LightGBM y CatBoost quedan como retadores.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2 · POR QUÉ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¿Por qué aquí sí y en la Clase 8 no?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Un modelo más complejo solo gana si hay estructura que el simple no ve.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57400"/>
          <a:ext cx="11183112" cy="2743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del banco (Clase 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Tarjetas de crédito (hoy)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señal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casi toda en una variable binaria: ¿ya lo contactamos?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curvas e interacciones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ejemplo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contactado antes: 75 % de éxito contra 40 %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riesgo se dispara cuando la utilización pasa de ~60 %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ejemplo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deuda alta pesa más en los informales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 (AUC OOT)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boosting (AUC OOT)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0.704: empate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2B8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0.838: +4 puntos de Gini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arjeta"/>
          <p:cNvSpPr/>
          <p:nvPr/>
        </p:nvSpPr>
        <p:spPr>
          <a:xfrm>
            <a:off x="502920" y="5120640"/>
            <a:ext cx="5486400" cy="1143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526694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La logística no ve curvas</a:t>
            </a:r>
            <a:endParaRPr lang="en-US" sz="1300" dirty="0"/>
          </a:p>
        </p:txBody>
      </p:sp>
      <p:sp>
        <p:nvSpPr>
          <p:cNvPr id="6" name="Text 6"/>
          <p:cNvSpPr txBox="1"/>
          <p:nvPr/>
        </p:nvSpPr>
        <p:spPr>
          <a:xfrm>
            <a:off x="685800" y="5614416"/>
            <a:ext cx="5120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Con las variables tal cual, cada una suma una recta en log-odds. Para ver el codo de la utilización habría que crear tramos a mano.</a:t>
            </a:r>
            <a:endParaRPr lang="en-US" sz="1200" dirty="0"/>
          </a:p>
        </p:txBody>
      </p:sp>
      <p:sp>
        <p:nvSpPr>
          <p:cNvPr id="10" name="tarjeta"/>
          <p:cNvSpPr/>
          <p:nvPr/>
        </p:nvSpPr>
        <p:spPr>
          <a:xfrm>
            <a:off x="6199632" y="5120640"/>
            <a:ext cx="5486400" cy="1143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82512" y="521208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bg1"/>
                </a:solidFill>
              </a:rPr>
              <a:t>En riesgos, ganar 4 puntos de Gini con las mismas variables justifica un modelo de árboles, si se puede explicar. Eso es la Clase 10.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3 · CORTES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Cinco grupos: los quintiles de 2024, fijos para siempre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Cada grupo tiene el 20 % de los clientes del entrenamiento. Los cortes se guardan con el modelo.</a:t>
            </a:r>
            <a:endParaRPr lang="en-US" sz="1400" dirty="0"/>
          </a:p>
        </p:txBody>
      </p:sp>
      <p:sp>
        <p:nvSpPr>
          <p:cNvPr id="6" name="grupo-0"/>
          <p:cNvSpPr/>
          <p:nvPr/>
        </p:nvSpPr>
        <p:spPr>
          <a:xfrm>
            <a:off x="502920" y="2057400"/>
            <a:ext cx="1737360" cy="658368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0574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Muy alto</a:t>
            </a:r>
            <a:endParaRPr lang="en-US" sz="1500" dirty="0"/>
          </a:p>
        </p:txBody>
      </p:sp>
      <p:sp>
        <p:nvSpPr>
          <p:cNvPr id="8" name="tarjeta"/>
          <p:cNvSpPr/>
          <p:nvPr/>
        </p:nvSpPr>
        <p:spPr>
          <a:xfrm>
            <a:off x="2377440" y="2057400"/>
            <a:ext cx="3657600" cy="658368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20574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probabilidad </a:t>
            </a:r>
            <a:r>
              <a:rPr lang="en-US" sz="1300" b="1" dirty="0">
                <a:solidFill>
                  <a:schemeClr val="tx2"/>
                </a:solidFill>
              </a:rPr>
              <a:t>p ≥ 0.0897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2057400"/>
            <a:ext cx="1143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accent4"/>
                </a:solidFill>
              </a:rPr>
              <a:t>20 % en 2024</a:t>
            </a:r>
            <a:endParaRPr lang="en-US" sz="1100" dirty="0"/>
          </a:p>
        </p:txBody>
      </p:sp>
      <p:sp>
        <p:nvSpPr>
          <p:cNvPr id="11" name="grupo-1"/>
          <p:cNvSpPr/>
          <p:nvPr/>
        </p:nvSpPr>
        <p:spPr>
          <a:xfrm>
            <a:off x="502920" y="2843784"/>
            <a:ext cx="1737360" cy="658368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84378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Alto</a:t>
            </a:r>
            <a:endParaRPr lang="en-US" sz="1500" dirty="0"/>
          </a:p>
        </p:txBody>
      </p:sp>
      <p:sp>
        <p:nvSpPr>
          <p:cNvPr id="13" name="tarjeta"/>
          <p:cNvSpPr/>
          <p:nvPr/>
        </p:nvSpPr>
        <p:spPr>
          <a:xfrm>
            <a:off x="2377440" y="2843784"/>
            <a:ext cx="3657600" cy="658368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560320" y="284378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probabilidad </a:t>
            </a:r>
            <a:r>
              <a:rPr lang="en-US" sz="1300" b="1" dirty="0">
                <a:solidFill>
                  <a:schemeClr val="tx2"/>
                </a:solidFill>
              </a:rPr>
              <a:t>0.0298 a 0.0897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843784"/>
            <a:ext cx="1143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accent4"/>
                </a:solidFill>
              </a:rPr>
              <a:t>20 % en 2024</a:t>
            </a:r>
            <a:endParaRPr lang="en-US" sz="1100" dirty="0"/>
          </a:p>
        </p:txBody>
      </p:sp>
      <p:sp>
        <p:nvSpPr>
          <p:cNvPr id="16" name="grupo-2"/>
          <p:cNvSpPr/>
          <p:nvPr/>
        </p:nvSpPr>
        <p:spPr>
          <a:xfrm>
            <a:off x="502920" y="3630168"/>
            <a:ext cx="1737360" cy="658368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363016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Medio</a:t>
            </a:r>
            <a:endParaRPr lang="en-US" sz="1500" dirty="0"/>
          </a:p>
        </p:txBody>
      </p:sp>
      <p:sp>
        <p:nvSpPr>
          <p:cNvPr id="18" name="tarjeta"/>
          <p:cNvSpPr/>
          <p:nvPr/>
        </p:nvSpPr>
        <p:spPr>
          <a:xfrm>
            <a:off x="2377440" y="3630168"/>
            <a:ext cx="3657600" cy="658368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60320" y="363016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probabilidad </a:t>
            </a:r>
            <a:r>
              <a:rPr lang="en-US" sz="1300" b="1" dirty="0">
                <a:solidFill>
                  <a:schemeClr val="tx2"/>
                </a:solidFill>
              </a:rPr>
              <a:t>0.0195 a 0.0298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754880" y="3630168"/>
            <a:ext cx="1143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accent4"/>
                </a:solidFill>
              </a:rPr>
              <a:t>20 % en 2024</a:t>
            </a:r>
            <a:endParaRPr lang="en-US" sz="1100" dirty="0"/>
          </a:p>
        </p:txBody>
      </p:sp>
      <p:sp>
        <p:nvSpPr>
          <p:cNvPr id="21" name="grupo-3"/>
          <p:cNvSpPr/>
          <p:nvPr/>
        </p:nvSpPr>
        <p:spPr>
          <a:xfrm>
            <a:off x="502920" y="4416552"/>
            <a:ext cx="1737360" cy="658368"/>
          </a:xfrm>
          <a:prstGeom prst="roundRect">
            <a:avLst>
              <a:gd name="adj" fmla="val 8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441655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Bajo</a:t>
            </a:r>
            <a:endParaRPr lang="en-US" sz="1500" dirty="0"/>
          </a:p>
        </p:txBody>
      </p:sp>
      <p:sp>
        <p:nvSpPr>
          <p:cNvPr id="23" name="tarjeta"/>
          <p:cNvSpPr/>
          <p:nvPr/>
        </p:nvSpPr>
        <p:spPr>
          <a:xfrm>
            <a:off x="2377440" y="4416552"/>
            <a:ext cx="3657600" cy="658368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60320" y="4416552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probabilidad </a:t>
            </a:r>
            <a:r>
              <a:rPr lang="en-US" sz="1300" b="1" dirty="0">
                <a:solidFill>
                  <a:schemeClr val="tx2"/>
                </a:solidFill>
              </a:rPr>
              <a:t>0.0142 a 0.0195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754880" y="4416552"/>
            <a:ext cx="1143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accent4"/>
                </a:solidFill>
              </a:rPr>
              <a:t>20 % en 2024</a:t>
            </a:r>
            <a:endParaRPr lang="en-US" sz="1100" dirty="0"/>
          </a:p>
        </p:txBody>
      </p:sp>
      <p:sp>
        <p:nvSpPr>
          <p:cNvPr id="26" name="grupo-4"/>
          <p:cNvSpPr/>
          <p:nvPr/>
        </p:nvSpPr>
        <p:spPr>
          <a:xfrm>
            <a:off x="502920" y="5202936"/>
            <a:ext cx="1737360" cy="658368"/>
          </a:xfrm>
          <a:prstGeom prst="roundRect">
            <a:avLst>
              <a:gd name="adj" fmla="val 8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520293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Muy bajo</a:t>
            </a:r>
            <a:endParaRPr lang="en-US" sz="1500" dirty="0"/>
          </a:p>
        </p:txBody>
      </p:sp>
      <p:sp>
        <p:nvSpPr>
          <p:cNvPr id="28" name="tarjeta"/>
          <p:cNvSpPr/>
          <p:nvPr/>
        </p:nvSpPr>
        <p:spPr>
          <a:xfrm>
            <a:off x="2377440" y="5202936"/>
            <a:ext cx="3657600" cy="658368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560320" y="5202936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</a:rPr>
              <a:t>probabilidad </a:t>
            </a:r>
            <a:r>
              <a:rPr lang="en-US" sz="1300" b="1" dirty="0">
                <a:solidFill>
                  <a:schemeClr val="tx2"/>
                </a:solidFill>
              </a:rPr>
              <a:t>p &lt; 0.0142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5202936"/>
            <a:ext cx="1143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chemeClr val="accent4"/>
                </a:solidFill>
              </a:rPr>
              <a:t>20 % en 2024</a:t>
            </a:r>
            <a:endParaRPr lang="en-US" sz="1100" dirty="0"/>
          </a:p>
        </p:txBody>
      </p:sp>
      <p:sp>
        <p:nvSpPr>
          <p:cNvPr id="31" name="tarjeta"/>
          <p:cNvSpPr/>
          <p:nvPr/>
        </p:nvSpPr>
        <p:spPr>
          <a:xfrm>
            <a:off x="6355080" y="2057400"/>
            <a:ext cx="5330952" cy="178308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37960" y="21945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En código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25603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cortes = np.quantile(p_ent, [0.2, 0.4, 0.6, 0.8])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bordes = np.r_[-np.inf, cortes, np.inf]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  = pd.cut(p, bordes, labels=BANDAS, right=False)</a:t>
            </a:r>
            <a:endParaRPr lang="en-US" sz="1050" dirty="0"/>
          </a:p>
        </p:txBody>
      </p:sp>
      <p:sp>
        <p:nvSpPr>
          <p:cNvPr id="34" name="tarjeta"/>
          <p:cNvSpPr/>
          <p:nvPr/>
        </p:nvSpPr>
        <p:spPr>
          <a:xfrm>
            <a:off x="6355080" y="4023360"/>
            <a:ext cx="2560320" cy="196596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37960" y="41696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El riesgo vive en la cola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37960" y="4517136"/>
            <a:ext cx="2194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Los cuatro grupos de abajo caben entre 0 y 0.090. Muy alto va de 0.090 hasta casi 1.</a:t>
            </a:r>
            <a:endParaRPr lang="en-US" sz="1200" dirty="0"/>
          </a:p>
        </p:txBody>
      </p:sp>
      <p:sp>
        <p:nvSpPr>
          <p:cNvPr id="37" name="tarjeta"/>
          <p:cNvSpPr/>
          <p:nvPr/>
        </p:nvSpPr>
        <p:spPr>
          <a:xfrm>
            <a:off x="9098280" y="4023360"/>
            <a:ext cx="2587752" cy="196596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281160" y="4169664"/>
            <a:ext cx="2221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Nunca qcut cada mes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281160" y="4517136"/>
            <a:ext cx="222199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Cada grupo tendría siempre el 20 %: el cambio desaparece y el mismo cliente cambia de grupo sin razón.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3 · ORDEN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Cómo debe ordenar un buen score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Tres pruebas, de la más importante a la más fina. Las tres se miran en cada muestra.</a:t>
            </a:r>
            <a:endParaRPr lang="en-US" sz="1400" dirty="0"/>
          </a:p>
        </p:txBody>
      </p:sp>
      <p:sp>
        <p:nvSpPr>
          <p:cNvPr id="6" name="tarjeta"/>
          <p:cNvSpPr/>
          <p:nvPr/>
        </p:nvSpPr>
        <p:spPr>
          <a:xfrm>
            <a:off x="502920" y="2057400"/>
            <a:ext cx="3611880" cy="27432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prueba-1"/>
          <p:cNvSpPr/>
          <p:nvPr/>
        </p:nvSpPr>
        <p:spPr>
          <a:xfrm>
            <a:off x="704088" y="22402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240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2402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Orden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9718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La tasa de default baja de grupo en grupo: Muy alto &gt; Alto &gt; Medio &gt; Bajo &gt; Muy bajo.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38404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4"/>
                </a:solidFill>
              </a:rPr>
              <a:t>Si se invierte arriba, el score no sirve. Si se invierte abajo, con pocos defaults, se vigila.</a:t>
            </a:r>
            <a:endParaRPr lang="en-US" sz="1150" dirty="0"/>
          </a:p>
        </p:txBody>
      </p:sp>
      <p:sp>
        <p:nvSpPr>
          <p:cNvPr id="12" name="tarjeta"/>
          <p:cNvSpPr/>
          <p:nvPr/>
        </p:nvSpPr>
        <p:spPr>
          <a:xfrm>
            <a:off x="4288536" y="2057400"/>
            <a:ext cx="3611880" cy="27432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prueba-2"/>
          <p:cNvSpPr/>
          <p:nvPr/>
        </p:nvSpPr>
        <p:spPr>
          <a:xfrm>
            <a:off x="4489704" y="22402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89704" y="2240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202936" y="22402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Concentración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489704" y="29718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Muy alto junta la mayoría de los defaults: lift mucho mayor que 1 y captura alta.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489704" y="38404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4"/>
                </a:solidFill>
              </a:rPr>
              <a:t>Es lo que hace útil al modelo: revisar al 20 % y encontrar al 70 % de los que caen.</a:t>
            </a:r>
            <a:endParaRPr lang="en-US" sz="1150" dirty="0"/>
          </a:p>
        </p:txBody>
      </p:sp>
      <p:sp>
        <p:nvSpPr>
          <p:cNvPr id="18" name="tarjeta"/>
          <p:cNvSpPr/>
          <p:nvPr/>
        </p:nvSpPr>
        <p:spPr>
          <a:xfrm>
            <a:off x="8074152" y="2057400"/>
            <a:ext cx="3611880" cy="27432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prueba-3"/>
          <p:cNvSpPr/>
          <p:nvPr/>
        </p:nvSpPr>
        <p:spPr>
          <a:xfrm>
            <a:off x="8275320" y="224028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2240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988552" y="22402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Calibración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29718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La probabilidad media de cada grupo se parece a su tasa real.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38404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4"/>
                </a:solidFill>
              </a:rPr>
              <a:t>Necesaria si la PD se usa para provisiones o precios, no solo para ordenar.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983480"/>
          <a:ext cx="11183112" cy="12801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Probabilidad del modelo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 observada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alto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20 % con mayor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más alta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mucho mayor que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· Medio · 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 baja en cada grupo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1 o menos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20 % con menor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más baja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3 · LIFT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La tabla de lift del test 2025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Tasa de la cartera: 6.3 %. XGBoost con los cortes de 2024.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57400"/>
          <a:ext cx="6675120" cy="2523744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media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 acum.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alto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4 348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21.8 %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4 240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3 987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4 625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" name="Chart 0"/>
          <p:cNvGraphicFramePr/>
          <p:nvPr/>
        </p:nvGraphicFramePr>
        <p:xfrm>
          <a:off x="7360920" y="2011680"/>
          <a:ext cx="43434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arjeta"/>
          <p:cNvSpPr/>
          <p:nvPr/>
        </p:nvSpPr>
        <p:spPr>
          <a:xfrm>
            <a:off x="502920" y="4800600"/>
            <a:ext cx="2148840" cy="146304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04088" y="4965192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70 %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704088" y="5550408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de los defaults en Muy alto</a:t>
            </a:r>
            <a:endParaRPr lang="en-US" sz="1250" dirty="0"/>
          </a:p>
        </p:txBody>
      </p:sp>
      <p:sp>
        <p:nvSpPr>
          <p:cNvPr id="11" name="tarjeta"/>
          <p:cNvSpPr/>
          <p:nvPr/>
        </p:nvSpPr>
        <p:spPr>
          <a:xfrm>
            <a:off x="2788920" y="4800600"/>
            <a:ext cx="2148840" cy="146304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8"/>
          <p:cNvSpPr txBox="1"/>
          <p:nvPr/>
        </p:nvSpPr>
        <p:spPr>
          <a:xfrm>
            <a:off x="2990088" y="4965192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3.48</a:t>
            </a:r>
            <a:endParaRPr lang="en-US" sz="2800" dirty="0"/>
          </a:p>
        </p:txBody>
      </p:sp>
      <p:sp>
        <p:nvSpPr>
          <p:cNvPr id="13" name="Text 9"/>
          <p:cNvSpPr txBox="1"/>
          <p:nvPr/>
        </p:nvSpPr>
        <p:spPr>
          <a:xfrm>
            <a:off x="2990088" y="5550408"/>
            <a:ext cx="1746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lift de Muy alto</a:t>
            </a:r>
            <a:endParaRPr lang="en-US" sz="1250" dirty="0"/>
          </a:p>
        </p:txBody>
      </p:sp>
      <p:sp>
        <p:nvSpPr>
          <p:cNvPr id="14" name="tarjeta"/>
          <p:cNvSpPr/>
          <p:nvPr/>
        </p:nvSpPr>
        <p:spPr>
          <a:xfrm>
            <a:off x="5074920" y="4800600"/>
            <a:ext cx="2103120" cy="146304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276088" y="4965192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0.78 %</a:t>
            </a:r>
            <a:endParaRPr lang="en-US" sz="2800" dirty="0"/>
          </a:p>
        </p:txBody>
      </p:sp>
      <p:sp>
        <p:nvSpPr>
          <p:cNvPr id="16" name="Text 12"/>
          <p:cNvSpPr txBox="1"/>
          <p:nvPr/>
        </p:nvSpPr>
        <p:spPr>
          <a:xfrm>
            <a:off x="5276088" y="555040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tasa de Muy bajo</a:t>
            </a:r>
            <a:endParaRPr lang="en-US" sz="1250" dirty="0"/>
          </a:p>
        </p:txBody>
      </p:sp>
      <p:sp>
        <p:nvSpPr>
          <p:cNvPr id="17" name="tarjeta"/>
          <p:cNvSpPr/>
          <p:nvPr/>
        </p:nvSpPr>
        <p:spPr>
          <a:xfrm>
            <a:off x="7360920" y="4937760"/>
            <a:ext cx="4325112" cy="132588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543800" y="5029200"/>
            <a:ext cx="3977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bg1"/>
                </a:solidFill>
              </a:rPr>
              <a:t>Ordena: la tasa baja en cada grupo. Y la p media se parece a la tasa (20.0 % contra 21.8 % en Muy alto).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3 · CAPTURA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Curva de captura, y qué modelo concentra más riesgo arriba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Cada modelo con sus propios cortes de 2024, evaluado en el OOT 2026.</a:t>
            </a:r>
            <a:endParaRPr lang="en-US" sz="14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2011680"/>
          <a:ext cx="5669280" cy="4251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6400800" y="2011680"/>
          <a:ext cx="530352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arjeta"/>
          <p:cNvSpPr/>
          <p:nvPr/>
        </p:nvSpPr>
        <p:spPr>
          <a:xfrm>
            <a:off x="6400800" y="4937760"/>
            <a:ext cx="5285232" cy="132588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0" y="50292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bg1"/>
                </a:solidFill>
              </a:rPr>
              <a:t>De cada 100 clientes que caen en 2026, el boosting pone unos 3 más que la logística en el grupo que el banco vigila. Es el Gini del Bloque 2, en lenguaje de negocio.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3 · ORDEN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¿Ordena en 2026? Arriba sí; abajo, empate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Prueba estricta más intervalos del 90 %: una inversión con pocos defaults no es una falla.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57400"/>
          <a:ext cx="6675120" cy="27432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Intervalo del 90 %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alto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27.20 %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25.89 % a 28.55 %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2 427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6.96 %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6.16 % a 7.86 %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2 072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2.56 %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2.05 % a 3.19 %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1.13 % a 2.04 %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1 899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1.53 %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1.13 % a 2.06 %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arjeta"/>
          <p:cNvSpPr/>
          <p:nvPr/>
        </p:nvSpPr>
        <p:spPr>
          <a:xfrm>
            <a:off x="502920" y="4983480"/>
            <a:ext cx="3246120" cy="12801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51297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Prueba estricta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477256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Entrenamiento: ordena. Test: ordena. OOT: no, por una centésima.</a:t>
            </a:r>
            <a:endParaRPr lang="en-US" sz="1200" dirty="0"/>
          </a:p>
        </p:txBody>
      </p:sp>
      <p:sp>
        <p:nvSpPr>
          <p:cNvPr id="10" name="tarjeta"/>
          <p:cNvSpPr/>
          <p:nvPr/>
        </p:nvSpPr>
        <p:spPr>
          <a:xfrm>
            <a:off x="3931920" y="4983480"/>
            <a:ext cx="3246120" cy="12801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0" y="51297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Con intervalos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114800" y="5477256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Bajo y Muy bajo se solapan casi por completo: unos 30 defaults en cada uno.</a:t>
            </a:r>
            <a:endParaRPr lang="en-US" sz="1200" dirty="0"/>
          </a:p>
        </p:txBody>
      </p:sp>
      <p:sp>
        <p:nvSpPr>
          <p:cNvPr id="13" name="tarjeta"/>
          <p:cNvSpPr/>
          <p:nvPr/>
        </p:nvSpPr>
        <p:spPr>
          <a:xfrm>
            <a:off x="7406640" y="2057400"/>
            <a:ext cx="4279392" cy="4206240"/>
          </a:xfrm>
          <a:prstGeom prst="roundRect">
            <a:avLst>
              <a:gd name="adj" fmla="val 130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" name="Text 11"/>
          <p:cNvSpPr txBox="1"/>
          <p:nvPr/>
        </p:nvSpPr>
        <p:spPr>
          <a:xfrm>
            <a:off x="7589520" y="22128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chemeClr val="bg1"/>
                </a:solidFill>
              </a:rPr>
              <a:t>Cómo se reporta en un banco</a:t>
            </a:r>
            <a:endParaRPr lang="en-US" sz="1350" dirty="0"/>
          </a:p>
        </p:txBody>
      </p:sp>
      <p:sp>
        <p:nvSpPr>
          <p:cNvPr id="15" name="regla-0"/>
          <p:cNvSpPr/>
          <p:nvPr/>
        </p:nvSpPr>
        <p:spPr>
          <a:xfrm>
            <a:off x="7589520" y="278892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92440" y="27432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Inversión arriba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092440" y="315468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entre Muy alto y Alto: grave. Ahí están los defaults.</a:t>
            </a:r>
            <a:endParaRPr lang="en-US" sz="1200" dirty="0"/>
          </a:p>
        </p:txBody>
      </p:sp>
      <p:sp>
        <p:nvSpPr>
          <p:cNvPr id="18" name="regla-1"/>
          <p:cNvSpPr/>
          <p:nvPr/>
        </p:nvSpPr>
        <p:spPr>
          <a:xfrm>
            <a:off x="7589520" y="3931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92440" y="38862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Inversión abajo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429768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con pocos defaults: se anota y se vigila.</a:t>
            </a:r>
            <a:endParaRPr lang="en-US" sz="1200" dirty="0"/>
          </a:p>
        </p:txBody>
      </p:sp>
      <p:sp>
        <p:nvSpPr>
          <p:cNvPr id="21" name="regla-2"/>
          <p:cNvSpPr/>
          <p:nvPr/>
        </p:nvSpPr>
        <p:spPr>
          <a:xfrm>
            <a:off x="7589520" y="50749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092440" y="50292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Si se repite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092440" y="544068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se fusionan los dos grupos de abajo.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4 · PSI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PSI de los grupos en 2026: 0.031, estable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¿Cambió quién está en cada grupo? Se compara el reparto de clientes con el 20 % del entrenamiento.</a:t>
            </a:r>
            <a:endParaRPr lang="en-US" sz="14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2011680"/>
          <a:ext cx="6675120" cy="4251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arjeta"/>
          <p:cNvSpPr/>
          <p:nvPr/>
        </p:nvSpPr>
        <p:spPr>
          <a:xfrm>
            <a:off x="7406640" y="2057400"/>
            <a:ext cx="4279392" cy="15544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9520" y="22402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PSI = Σ (aᵢ − eᵢ) · ln(aᵢ / eᵢ)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28803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accent5"/>
                </a:solidFill>
              </a:rPr>
              <a:t>&lt; 0.10 estable · 0.10 a 0.25 vigilar · &gt; 0.25 revisar el modelo</a:t>
            </a:r>
            <a:endParaRPr lang="en-US" sz="1150" dirty="0"/>
          </a:p>
        </p:txBody>
      </p:sp>
      <p:sp>
        <p:nvSpPr>
          <p:cNvPr id="10" name="tarjeta"/>
          <p:cNvSpPr/>
          <p:nvPr/>
        </p:nvSpPr>
        <p:spPr>
          <a:xfrm>
            <a:off x="7406640" y="3794760"/>
            <a:ext cx="2048256" cy="13716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07808" y="395935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0.002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607808" y="45445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test 2025</a:t>
            </a:r>
            <a:endParaRPr lang="en-US" sz="1250" dirty="0"/>
          </a:p>
        </p:txBody>
      </p:sp>
      <p:sp>
        <p:nvSpPr>
          <p:cNvPr id="13" name="tarjeta"/>
          <p:cNvSpPr/>
          <p:nvPr/>
        </p:nvSpPr>
        <p:spPr>
          <a:xfrm>
            <a:off x="9637776" y="3794760"/>
            <a:ext cx="2048256" cy="13716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838944" y="395935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0.031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9838944" y="45445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OOT 2026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5349240"/>
            <a:ext cx="4279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En 2026 hay algo más de clientes en Muy alto (26.5 %), lejos del umbral de 0.10.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301752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4 · CALIBRACIÓN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Lo que el PSI no ve: las probabilidades se quedaron cortas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Probabilidad media del modelo contra tasa observada, grupo por grupo, en 2026.</a:t>
            </a:r>
            <a:endParaRPr lang="en-US" sz="14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02920" y="2011680"/>
          <a:ext cx="6675120" cy="4251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arjeta"/>
          <p:cNvSpPr/>
          <p:nvPr/>
        </p:nvSpPr>
        <p:spPr>
          <a:xfrm>
            <a:off x="7406640" y="2057400"/>
            <a:ext cx="4279392" cy="141732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07808" y="2221992"/>
            <a:ext cx="3877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21.0 % → 27.2 %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607808" y="2807208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Muy alto: esperado → real</a:t>
            </a:r>
            <a:endParaRPr lang="en-US" sz="1250" dirty="0"/>
          </a:p>
        </p:txBody>
      </p:sp>
      <p:sp>
        <p:nvSpPr>
          <p:cNvPr id="10" name="tarjeta"/>
          <p:cNvSpPr/>
          <p:nvPr/>
        </p:nvSpPr>
        <p:spPr>
          <a:xfrm>
            <a:off x="7406640" y="3611880"/>
            <a:ext cx="4279392" cy="141732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07808" y="3776472"/>
            <a:ext cx="3877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7.6 % → 9.7 %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607808" y="4361688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2"/>
                </a:solidFill>
              </a:rPr>
              <a:t>toda la cartera: esperado → real</a:t>
            </a:r>
            <a:endParaRPr lang="en-US" sz="1250" dirty="0"/>
          </a:p>
        </p:txBody>
      </p:sp>
      <p:sp>
        <p:nvSpPr>
          <p:cNvPr id="13" name="tarjeta"/>
          <p:cNvSpPr/>
          <p:nvPr/>
        </p:nvSpPr>
        <p:spPr>
          <a:xfrm>
            <a:off x="7406640" y="5166360"/>
            <a:ext cx="4279392" cy="109728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589520" y="52578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chemeClr val="bg1"/>
                </a:solidFill>
              </a:rPr>
              <a:t>El PSI mide quién está en cada grupo, no cuánto cae cada grupo. 2026 fue peor, sobre todo arriba.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6517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BLOQUE 4 · DIAGNÓSTICO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Tres preguntas distintas, tres indicadores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Mirar solo uno lleva a la conclusión equivocada. En 2026, la respuesta es recalibrar.</a:t>
            </a:r>
            <a:endParaRPr lang="en-US" sz="1400" dirty="0"/>
          </a:p>
        </p:txBody>
      </p:sp>
      <p:sp>
        <p:nvSpPr>
          <p:cNvPr id="6" name="tarjeta"/>
          <p:cNvSpPr/>
          <p:nvPr/>
        </p:nvSpPr>
        <p:spPr>
          <a:xfrm>
            <a:off x="502920" y="2103120"/>
            <a:ext cx="3611880" cy="210312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4088" y="2240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Gini · KS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¿El score ordena?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32004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0.677 en 2026, 0.682 en 2025: sí.</a:t>
            </a:r>
            <a:endParaRPr lang="en-US" sz="1250" dirty="0"/>
          </a:p>
        </p:txBody>
      </p:sp>
      <p:sp>
        <p:nvSpPr>
          <p:cNvPr id="10" name="tarjeta"/>
          <p:cNvSpPr/>
          <p:nvPr/>
        </p:nvSpPr>
        <p:spPr>
          <a:xfrm>
            <a:off x="4288536" y="2103120"/>
            <a:ext cx="3611880" cy="210312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9704" y="2240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PSI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489704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¿Cambió la población?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89704" y="32004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0.031: casi nada.</a:t>
            </a:r>
            <a:endParaRPr lang="en-US" sz="1250" dirty="0"/>
          </a:p>
        </p:txBody>
      </p:sp>
      <p:sp>
        <p:nvSpPr>
          <p:cNvPr id="14" name="tarjeta"/>
          <p:cNvSpPr/>
          <p:nvPr/>
        </p:nvSpPr>
        <p:spPr>
          <a:xfrm>
            <a:off x="8074152" y="2103120"/>
            <a:ext cx="3611880" cy="210312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2240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Tasa / p media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¿Acertaron las probabilidades?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32004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1.30 en Muy alto: no, se quedaron cortas.</a:t>
            </a:r>
            <a:endParaRPr lang="en-US" sz="1250" dirty="0"/>
          </a:p>
        </p:txBody>
      </p:sp>
      <p:sp>
        <p:nvSpPr>
          <p:cNvPr id="18" name="tarjeta"/>
          <p:cNvSpPr/>
          <p:nvPr/>
        </p:nvSpPr>
        <p:spPr>
          <a:xfrm>
            <a:off x="502920" y="4434840"/>
            <a:ext cx="3611880" cy="1828800"/>
          </a:xfrm>
          <a:prstGeom prst="roundRect">
            <a:avLst>
              <a:gd name="adj" fmla="val 3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58114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Ordena, población igual, p corta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928616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Recalibrar: ajustar el nivel sin tocar el orden. Es 2026.</a:t>
            </a:r>
            <a:endParaRPr lang="en-US" sz="1200" dirty="0"/>
          </a:p>
        </p:txBody>
      </p:sp>
      <p:sp>
        <p:nvSpPr>
          <p:cNvPr id="21" name="tarjeta"/>
          <p:cNvSpPr/>
          <p:nvPr/>
        </p:nvSpPr>
        <p:spPr>
          <a:xfrm>
            <a:off x="4288536" y="4434840"/>
            <a:ext cx="3611880" cy="18288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71416" y="458114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El orden se rompe arriba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71416" y="4928616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Reentrenar: el modelo ya no separa a los malos.</a:t>
            </a:r>
            <a:endParaRPr lang="en-US" sz="1200" dirty="0"/>
          </a:p>
        </p:txBody>
      </p:sp>
      <p:sp>
        <p:nvSpPr>
          <p:cNvPr id="24" name="tarjeta"/>
          <p:cNvSpPr/>
          <p:nvPr/>
        </p:nvSpPr>
        <p:spPr>
          <a:xfrm>
            <a:off x="8074152" y="4434840"/>
            <a:ext cx="3611880" cy="18288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57032" y="458114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PSI alto, orden y nivel bien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57032" y="4928616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Vigilar: la cartera cambió pero el modelo aguanta.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CIERRE · EXAMEN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Preguntas tipo examen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chemeClr val="accent4"/>
                </a:solidFill>
              </a:rPr>
              <a:t>Primero sin mirar el notebook. Las que piden una cuenta se hacen con calculadora.</a:t>
            </a:r>
            <a:endParaRPr lang="en-US" sz="1400" dirty="0"/>
          </a:p>
        </p:txBody>
      </p:sp>
      <p:sp>
        <p:nvSpPr>
          <p:cNvPr id="6" name="tarjeta"/>
          <p:cNvSpPr/>
          <p:nvPr/>
        </p:nvSpPr>
        <p:spPr>
          <a:xfrm>
            <a:off x="502920" y="2057400"/>
            <a:ext cx="3611880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1945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 · Maduración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53288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Hay fotos hasta 2026-09 y hoy es octubre. El target mira 3 meses. ¿Qué fotos sirven?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55848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3"/>
                </a:solidFill>
              </a:rPr>
              <a:t>Hasta 2026-06. Las demás todavía no tienen target completo.</a:t>
            </a:r>
            <a:endParaRPr lang="en-US" sz="1150" dirty="0"/>
          </a:p>
        </p:txBody>
      </p:sp>
      <p:sp>
        <p:nvSpPr>
          <p:cNvPr id="10" name="tarjeta"/>
          <p:cNvSpPr/>
          <p:nvPr/>
        </p:nvSpPr>
        <p:spPr>
          <a:xfrm>
            <a:off x="4288536" y="2057400"/>
            <a:ext cx="3611880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71416" y="21945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2 · Lift a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71416" y="253288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Muy alto: 4 348 clientes y 950 defaults. Cartera: 21 600 y 1 356. ¿Tasa, lift y captura?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71416" y="3355848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3"/>
                </a:solidFill>
              </a:rPr>
              <a:t>Tasa 21.8 % · lift 3.48 · captura 70 %.</a:t>
            </a:r>
            <a:endParaRPr lang="en-US" sz="1150" dirty="0"/>
          </a:p>
        </p:txBody>
      </p:sp>
      <p:sp>
        <p:nvSpPr>
          <p:cNvPr id="14" name="tarjeta"/>
          <p:cNvSpPr/>
          <p:nvPr/>
        </p:nvSpPr>
        <p:spPr>
          <a:xfrm>
            <a:off x="8074152" y="2057400"/>
            <a:ext cx="3611880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57032" y="219456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3 · Los cortes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57032" y="253288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¿Por qué los cortes se fijan en el entrenamiento y no cada mes?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257032" y="3355848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3"/>
                </a:solidFill>
              </a:rPr>
              <a:t>Recalculados, cada grupo tiene el 20 % siempre: el PSI da 0.</a:t>
            </a:r>
            <a:endParaRPr lang="en-US" sz="1150" dirty="0"/>
          </a:p>
        </p:txBody>
      </p:sp>
      <p:sp>
        <p:nvSpPr>
          <p:cNvPr id="18" name="tarjeta"/>
          <p:cNvSpPr/>
          <p:nvPr/>
        </p:nvSpPr>
        <p:spPr>
          <a:xfrm>
            <a:off x="502920" y="4206240"/>
            <a:ext cx="3611880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3434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 · Un empate abajo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6817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En 2026 Bajo tiene 1.52 % y Muy bajo 1.53 %. ¿Se rompió el modelo?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504688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3"/>
                </a:solidFill>
              </a:rPr>
              <a:t>No: ~30 defaults por grupo, intervalos solapados. Se vigila.</a:t>
            </a:r>
            <a:endParaRPr lang="en-US" sz="1150" dirty="0"/>
          </a:p>
        </p:txBody>
      </p:sp>
      <p:sp>
        <p:nvSpPr>
          <p:cNvPr id="22" name="tarjeta"/>
          <p:cNvSpPr/>
          <p:nvPr/>
        </p:nvSpPr>
        <p:spPr>
          <a:xfrm>
            <a:off x="4288536" y="4206240"/>
            <a:ext cx="3611880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71416" y="43434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 · ¿Qué se hace?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71416" y="46817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Gini igual, PSI 0.03, tasa real 30 % sobre la probabilidad. ¿Reentrenar o recalibrar?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471416" y="5504688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3"/>
                </a:solidFill>
              </a:rPr>
              <a:t>Recalibrar: el orden y la población están bien; falla el nivel.</a:t>
            </a:r>
            <a:endParaRPr lang="en-US" sz="1150" dirty="0"/>
          </a:p>
        </p:txBody>
      </p:sp>
      <p:sp>
        <p:nvSpPr>
          <p:cNvPr id="26" name="tarjeta"/>
          <p:cNvSpPr/>
          <p:nvPr/>
        </p:nvSpPr>
        <p:spPr>
          <a:xfrm>
            <a:off x="8074152" y="4206240"/>
            <a:ext cx="3611880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57032" y="434340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6 · Aquí sí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57032" y="46817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¿Por qué XGBoost le gana a la logística aquí y en la Clase 8 no?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57032" y="5504688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chemeClr val="accent3"/>
                </a:solidFill>
              </a:rPr>
              <a:t>Aquí hay curvas e interacciones; allá, una variable binaria.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chemeClr val="bg1"/>
                </a:solidFill>
              </a:rPr>
              <a:t>CIERRE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Lo que nos llevamos de la Clase 9</a:t>
            </a:r>
            <a:endParaRPr lang="en-US" sz="3000" dirty="0"/>
          </a:p>
        </p:txBody>
      </p:sp>
      <p:sp>
        <p:nvSpPr>
          <p:cNvPr id="5" name="idea-0"/>
          <p:cNvSpPr/>
          <p:nvPr/>
        </p:nvSpPr>
        <p:spPr>
          <a:xfrm>
            <a:off x="50292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Los boostings ganan cuando hay curvas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1671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+4 puntos de Gini sobre la logística. Entre XGBoost, LightGBM y CatBoost, empate.</a:t>
            </a:r>
            <a:endParaRPr lang="en-US" sz="1250" dirty="0"/>
          </a:p>
        </p:txBody>
      </p:sp>
      <p:sp>
        <p:nvSpPr>
          <p:cNvPr id="9" name="idea-1"/>
          <p:cNvSpPr/>
          <p:nvPr/>
        </p:nvSpPr>
        <p:spPr>
          <a:xfrm>
            <a:off x="502920" y="30632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017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Cinco grupos, cortes fijos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015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Quintiles del entrenamiento, que no se mueven. La tasa debe bajar de Muy alto a Muy bajo.</a:t>
            </a:r>
            <a:endParaRPr lang="en-US" sz="1250" dirty="0"/>
          </a:p>
        </p:txBody>
      </p:sp>
      <p:sp>
        <p:nvSpPr>
          <p:cNvPr id="13" name="idea-2"/>
          <p:cNvSpPr/>
          <p:nvPr/>
        </p:nvSpPr>
        <p:spPr>
          <a:xfrm>
            <a:off x="502920" y="4297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Ordenar no es acertar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63600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accent5"/>
                </a:solidFill>
              </a:rPr>
              <a:t>En 2026 el Gini y el PSI dicen «todo bien», pero la tasa real fue 1.30 veces la probabilidad.</a:t>
            </a:r>
            <a:endParaRPr lang="en-US" sz="1250" dirty="0"/>
          </a:p>
        </p:txBody>
      </p:sp>
      <p:sp>
        <p:nvSpPr>
          <p:cNvPr id="17" name="tarjeta-numeros"/>
          <p:cNvSpPr/>
          <p:nvPr/>
        </p:nvSpPr>
        <p:spPr>
          <a:xfrm>
            <a:off x="6766560" y="1783080"/>
            <a:ext cx="4919472" cy="2377440"/>
          </a:xfrm>
          <a:prstGeom prst="roundRect">
            <a:avLst>
              <a:gd name="adj" fmla="val 2308"/>
            </a:avLst>
          </a:prstGeom>
          <a:solidFill>
            <a:srgbClr val="13306E"/>
          </a:solidFill>
          <a:ln w="12700">
            <a:solidFill>
              <a:srgbClr val="1330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19202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Los números del día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2331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0.637 → 0.677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918972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Gini 2026: logística → XGBoost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9352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75 % · 2.81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293522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captura y lift de Muy alto en 2026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3538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0.031 · 1.30×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35387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PSI 2026 · tasa real / probabilidad</a:t>
            </a:r>
            <a:endParaRPr lang="en-US" sz="1100" dirty="0"/>
          </a:p>
        </p:txBody>
      </p:sp>
      <p:sp>
        <p:nvSpPr>
          <p:cNvPr id="25" name="tarjeta-sigue"/>
          <p:cNvSpPr/>
          <p:nvPr/>
        </p:nvSpPr>
        <p:spPr>
          <a:xfrm>
            <a:off x="6766560" y="4343400"/>
            <a:ext cx="4919472" cy="173736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49440" y="4480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Lo que sigue · Clase 10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4828032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Explicabilidad e interpretabilidad. Hoy vimos qué tan bien ordena XGBoost; ahora, por qué: permutación, PDP e ICE (¿dónde se dispara el riesgo con la utilización?) y SHAP para un cliente en Muy alto.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Machine Learning · Programa de Especialización Data Scientist · Sesión 9 de 14 · Josef Renato Rodriguez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se 9 ML">
  <a:themeElements>
    <a:clrScheme name="Clase 9 ML">
      <a:dk1>
        <a:srgbClr val="2C3A55"/>
      </a:dk1>
      <a:lt1>
        <a:srgbClr val="FFFFFF"/>
      </a:lt1>
      <a:dk2>
        <a:srgbClr val="0A2559"/>
      </a:dk2>
      <a:lt2>
        <a:srgbClr val="F5F7FB"/>
      </a:lt2>
      <a:accent1>
        <a:srgbClr val="1A56E8"/>
      </a:accent1>
      <a:accent2>
        <a:srgbClr val="E6115E"/>
      </a:accent2>
      <a:accent3>
        <a:srgbClr val="12B886"/>
      </a:accent3>
      <a:accent4>
        <a:srgbClr val="5B6B87"/>
      </a:accent4>
      <a:accent5>
        <a:srgbClr val="D2DBEC"/>
      </a:accent5>
      <a:accent6>
        <a:srgbClr val="E9EEF8"/>
      </a:accent6>
      <a:hlink>
        <a:srgbClr val="1A56E8"/>
      </a:hlink>
      <a:folHlink>
        <a:srgbClr val="5B6B87"/>
      </a:folHlink>
    </a:clrScheme>
    <a:fontScheme name="Clase 9 M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3855</Words>
  <Application>Microsoft Macintosh PowerPoint</Application>
  <PresentationFormat>Widescreen</PresentationFormat>
  <Paragraphs>510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Courier New</vt:lpstr>
      <vt:lpstr>Clase 9 ML</vt:lpstr>
      <vt:lpstr>Boostings y lift en cinco grupos</vt:lpstr>
      <vt:lpstr>Cómo repartimos los 120 minutos</vt:lpstr>
      <vt:lpstr>Dónde quedamos, y por qué cambiamos de caso</vt:lpstr>
      <vt:lpstr>Una foto por cliente y mes, diez variables</vt:lpstr>
      <vt:lpstr>El corte temporal: 2024 · 2025 · 2026</vt:lpstr>
      <vt:lpstr>Tres boostings, cada uno con parada temprana en 2025</vt:lpstr>
      <vt:lpstr>Aquí sí: los boostings le ganan a la logística</vt:lpstr>
      <vt:lpstr>¿Por qué aquí sí y en la Clase 8 no?</vt:lpstr>
      <vt:lpstr>Cinco grupos: los quintiles de 2024, fijos para siempre</vt:lpstr>
      <vt:lpstr>Cómo debe ordenar un buen score</vt:lpstr>
      <vt:lpstr>La tabla de lift del test 2025</vt:lpstr>
      <vt:lpstr>Curva de captura, y qué modelo concentra más riesgo arriba</vt:lpstr>
      <vt:lpstr>¿Ordena en 2026? Arriba sí; abajo, empate</vt:lpstr>
      <vt:lpstr>PSI de los grupos en 2026: 0.031, estable</vt:lpstr>
      <vt:lpstr>Lo que el PSI no ve: las probabilidades se quedaron cortas</vt:lpstr>
      <vt:lpstr>Tres preguntas distintas, tres indicadores</vt:lpstr>
      <vt:lpstr>Preguntas tipo examen</vt:lpstr>
      <vt:lpstr>Lo que nos llevamos de la Clase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9 · Riesgo de crédito: boostings y lift en cinco grupos</dc:title>
  <dc:subject>PptxGenJS Presentation</dc:subject>
  <dc:creator>Josef Renato Rodriguez</dc:creator>
  <cp:lastModifiedBy>Josef Rodriguez</cp:lastModifiedBy>
  <cp:revision>1</cp:revision>
  <dcterms:created xsi:type="dcterms:W3CDTF">2026-10-27T00:15:06Z</dcterms:created>
  <dcterms:modified xsi:type="dcterms:W3CDTF">2026-10-27T00:27:48Z</dcterms:modified>
</cp:coreProperties>
</file>