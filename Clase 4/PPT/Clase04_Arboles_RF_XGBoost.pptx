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entrenamiento</c:v>
                </c:pt>
              </c:strCache>
            </c:strRef>
          </c:tx>
          <c:spPr>
            <a:solidFill>
              <a:srgbClr val="0A2559"/>
            </a:solidFill>
            <a:ln w="28575" cap="flat">
              <a:solidFill>
                <a:srgbClr val="0A255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A2559"/>
              </a:solidFill>
              <a:ln w="9525" cap="flat">
                <a:solidFill>
                  <a:srgbClr val="0A255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0.309</c:v>
                </c:pt>
                <c:pt idx="1">
                  <c:v>0.494</c:v>
                </c:pt>
                <c:pt idx="2">
                  <c:v>0.567</c:v>
                </c:pt>
                <c:pt idx="3">
                  <c:v>0.607</c:v>
                </c:pt>
                <c:pt idx="4">
                  <c:v>0.638</c:v>
                </c:pt>
                <c:pt idx="5">
                  <c:v>0.678</c:v>
                </c:pt>
                <c:pt idx="6">
                  <c:v>0.718</c:v>
                </c:pt>
                <c:pt idx="7">
                  <c:v>0.761</c:v>
                </c:pt>
                <c:pt idx="8">
                  <c:v>0.799</c:v>
                </c:pt>
                <c:pt idx="9">
                  <c:v>0.834</c:v>
                </c:pt>
                <c:pt idx="10">
                  <c:v>0.867</c:v>
                </c:pt>
                <c:pt idx="11">
                  <c:v>0.897</c:v>
                </c:pt>
                <c:pt idx="12">
                  <c:v>0.92</c:v>
                </c:pt>
                <c:pt idx="13">
                  <c:v>0.94</c:v>
                </c:pt>
                <c:pt idx="14">
                  <c:v>0.957</c:v>
                </c:pt>
                <c:pt idx="15">
                  <c:v>0.97</c:v>
                </c:pt>
                <c:pt idx="16">
                  <c:v>0.979</c:v>
                </c:pt>
                <c:pt idx="17">
                  <c:v>0.987</c:v>
                </c:pt>
                <c:pt idx="18">
                  <c:v>0.992</c:v>
                </c:pt>
                <c:pt idx="19">
                  <c:v>0.995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validación</c:v>
                </c:pt>
              </c:strCache>
            </c:strRef>
          </c:tx>
          <c:spPr>
            <a:solidFill>
              <a:srgbClr val="E6115E"/>
            </a:solidFill>
            <a:ln w="28575" cap="flat">
              <a:solidFill>
                <a:srgbClr val="E6115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6115E"/>
              </a:solidFill>
              <a:ln w="9525" cap="flat">
                <a:solidFill>
                  <a:srgbClr val="E6115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0.309</c:v>
                </c:pt>
                <c:pt idx="1">
                  <c:v>0.489</c:v>
                </c:pt>
                <c:pt idx="2">
                  <c:v>0.561</c:v>
                </c:pt>
                <c:pt idx="3">
                  <c:v>0.6</c:v>
                </c:pt>
                <c:pt idx="4">
                  <c:v>0.63</c:v>
                </c:pt>
                <c:pt idx="5">
                  <c:v>0.656</c:v>
                </c:pt>
                <c:pt idx="6">
                  <c:v>0.678</c:v>
                </c:pt>
                <c:pt idx="7">
                  <c:v>0.698</c:v>
                </c:pt>
                <c:pt idx="8">
                  <c:v>0.716</c:v>
                </c:pt>
                <c:pt idx="9">
                  <c:v>0.694</c:v>
                </c:pt>
                <c:pt idx="10">
                  <c:v>0.677</c:v>
                </c:pt>
                <c:pt idx="11">
                  <c:v>0.673</c:v>
                </c:pt>
                <c:pt idx="12">
                  <c:v>0.655</c:v>
                </c:pt>
                <c:pt idx="13">
                  <c:v>0.645</c:v>
                </c:pt>
                <c:pt idx="14">
                  <c:v>0.629</c:v>
                </c:pt>
                <c:pt idx="15">
                  <c:v>0.635</c:v>
                </c:pt>
                <c:pt idx="16">
                  <c:v>0.616</c:v>
                </c:pt>
                <c:pt idx="17">
                  <c:v>0.607</c:v>
                </c:pt>
                <c:pt idx="18">
                  <c:v>0.621</c:v>
                </c:pt>
                <c:pt idx="19">
                  <c:v>0.612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50" b="0" i="0" u="none" strike="noStrike">
                    <a:solidFill>
                      <a:srgbClr val="5B6B87"/>
                    </a:solidFill>
                    <a:latin typeface="Arial"/>
                  </a:defRPr>
                </a:pPr>
                <a:r>
                  <a:rPr sz="1050" b="0" i="0" u="none" strike="noStrike">
                    <a:solidFill>
                      <a:srgbClr val="5B6B87"/>
                    </a:solidFill>
                    <a:latin typeface="Arial"/>
                  </a:rPr>
                  <a:t>profundidad del árbol (complejidad →)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6B8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3"/>
        </c:scaling>
        <c:delete val="0"/>
        <c:axPos val="l"/>
        <c:majorGridlines>
          <c:spPr>
            <a:ln w="6350" cap="flat">
              <a:solidFill>
                <a:srgbClr val="E3E8F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50" b="0" i="0" u="none" strike="noStrike">
                    <a:solidFill>
                      <a:srgbClr val="5B6B87"/>
                    </a:solidFill>
                    <a:latin typeface="Arial"/>
                  </a:defRPr>
                </a:pPr>
                <a:r>
                  <a:rPr sz="1050" b="0" i="0" u="none" strike="noStrike">
                    <a:solidFill>
                      <a:srgbClr val="5B6B87"/>
                    </a:solidFill>
                    <a:latin typeface="Arial"/>
                  </a:rPr>
                  <a:t>R²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6B8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OOB</c:v>
                </c:pt>
              </c:strCache>
            </c:strRef>
          </c:tx>
          <c:spPr>
            <a:solidFill>
              <a:srgbClr val="12B886"/>
            </a:solidFill>
            <a:ln w="31750" cap="flat">
              <a:solidFill>
                <a:srgbClr val="12B886"/>
              </a:solidFill>
              <a:prstDash val="solid"/>
              <a:round/>
            </a:ln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5B6B87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2B886"/>
              </a:solidFill>
              <a:ln w="9525" cap="flat">
                <a:solidFill>
                  <a:srgbClr val="12B88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10</c:v>
                  </c:pt>
                  <c:pt idx="1">
                    <c:v>25</c:v>
                  </c:pt>
                  <c:pt idx="2">
                    <c:v>50</c:v>
                  </c:pt>
                  <c:pt idx="3">
                    <c:v>100</c:v>
                  </c:pt>
                  <c:pt idx="4">
                    <c:v>150</c:v>
                  </c:pt>
                  <c:pt idx="5">
                    <c:v>200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0.704</c:v>
                </c:pt>
                <c:pt idx="1">
                  <c:v>0.796</c:v>
                </c:pt>
                <c:pt idx="2">
                  <c:v>0.81</c:v>
                </c:pt>
                <c:pt idx="3">
                  <c:v>0.817</c:v>
                </c:pt>
                <c:pt idx="4">
                  <c:v>0.821</c:v>
                </c:pt>
                <c:pt idx="5">
                  <c:v>0.821</c:v>
                </c:pt>
              </c:numCache>
            </c:numRef>
          </c:val>
          <c:smooth val="0"/>
        </c:ser>
        <c:dLbls>
          <c:numFmt formatCode="0.000" sourceLinked="0"/>
          <c:txPr>
            <a:bodyPr/>
            <a:lstStyle/>
            <a:p>
              <a:pPr>
                <a:defRPr b="0" i="0" strike="noStrike" sz="950" u="none">
                  <a:solidFill>
                    <a:srgbClr val="5B6B87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50" b="0" i="0" u="none" strike="noStrike">
                    <a:solidFill>
                      <a:srgbClr val="5B6B87"/>
                    </a:solidFill>
                    <a:latin typeface="Arial"/>
                  </a:defRPr>
                </a:pPr>
                <a:r>
                  <a:rPr sz="1050" b="0" i="0" u="none" strike="noStrike">
                    <a:solidFill>
                      <a:srgbClr val="5B6B87"/>
                    </a:solidFill>
                    <a:latin typeface="Arial"/>
                  </a:rPr>
                  <a:t>número de árboles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4"/>
          <c:min val="0.68"/>
        </c:scaling>
        <c:delete val="0"/>
        <c:axPos val="l"/>
        <c:majorGridlines>
          <c:spPr>
            <a:ln w="6350" cap="flat">
              <a:solidFill>
                <a:srgbClr val="E3E8F2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6B8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 en validación</c:v>
                </c:pt>
              </c:strCache>
            </c:strRef>
          </c:tx>
          <c:spPr>
            <a:solidFill>
              <a:srgbClr val="1A56E8"/>
            </a:solidFill>
            <a:ln w="31750" cap="flat">
              <a:solidFill>
                <a:srgbClr val="1A56E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A56E8"/>
              </a:solidFill>
              <a:ln w="9525" cap="flat">
                <a:solidFill>
                  <a:srgbClr val="1A56E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Sheet1!$A$2:$A$41</c:f>
              <c:multiLvlStrCache>
                <c:ptCount val="40"/>
                <c:lvl>
                  <c:pt idx="0">
                    <c:v/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>200</c:v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>400</c:v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>600</c:v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>800</c:v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>1000</c:v>
                  </c:pt>
                  <c:pt idx="39">
                    <c:v/>
                  </c:pt>
                </c:lvl>
              </c:multiLvlStrCache>
            </c:multiLvlStrRef>
          </c:cat>
          <c:val>
            <c:numRef>
              <c:f>Sheet1!$B$2:$B$41</c:f>
              <c:numCache>
                <c:formatCode>General</c:formatCode>
                <c:ptCount val="40"/>
                <c:pt idx="0">
                  <c:v>58894</c:v>
                </c:pt>
                <c:pt idx="1">
                  <c:v>54921</c:v>
                </c:pt>
                <c:pt idx="2">
                  <c:v>52900</c:v>
                </c:pt>
                <c:pt idx="3">
                  <c:v>51681</c:v>
                </c:pt>
                <c:pt idx="4">
                  <c:v>50919</c:v>
                </c:pt>
                <c:pt idx="5">
                  <c:v>50361</c:v>
                </c:pt>
                <c:pt idx="6">
                  <c:v>49842</c:v>
                </c:pt>
                <c:pt idx="7">
                  <c:v>49559</c:v>
                </c:pt>
                <c:pt idx="8">
                  <c:v>49299</c:v>
                </c:pt>
                <c:pt idx="9">
                  <c:v>49157</c:v>
                </c:pt>
                <c:pt idx="10">
                  <c:v>49005</c:v>
                </c:pt>
                <c:pt idx="11">
                  <c:v>48857</c:v>
                </c:pt>
                <c:pt idx="12">
                  <c:v>48717</c:v>
                </c:pt>
                <c:pt idx="13">
                  <c:v>48631</c:v>
                </c:pt>
                <c:pt idx="14">
                  <c:v>48528</c:v>
                </c:pt>
                <c:pt idx="15">
                  <c:v>48470</c:v>
                </c:pt>
                <c:pt idx="16">
                  <c:v>48403</c:v>
                </c:pt>
                <c:pt idx="17">
                  <c:v>48299</c:v>
                </c:pt>
                <c:pt idx="18">
                  <c:v>48217</c:v>
                </c:pt>
                <c:pt idx="19">
                  <c:v>48149</c:v>
                </c:pt>
                <c:pt idx="20">
                  <c:v>48074</c:v>
                </c:pt>
                <c:pt idx="21">
                  <c:v>48039</c:v>
                </c:pt>
                <c:pt idx="22">
                  <c:v>48019</c:v>
                </c:pt>
                <c:pt idx="23">
                  <c:v>47946</c:v>
                </c:pt>
                <c:pt idx="24">
                  <c:v>47951</c:v>
                </c:pt>
                <c:pt idx="25">
                  <c:v>47931</c:v>
                </c:pt>
                <c:pt idx="26">
                  <c:v>47926</c:v>
                </c:pt>
                <c:pt idx="27">
                  <c:v>47890</c:v>
                </c:pt>
                <c:pt idx="28">
                  <c:v>47892</c:v>
                </c:pt>
                <c:pt idx="29">
                  <c:v>47860</c:v>
                </c:pt>
                <c:pt idx="30">
                  <c:v>47842</c:v>
                </c:pt>
                <c:pt idx="31">
                  <c:v>47861</c:v>
                </c:pt>
                <c:pt idx="32">
                  <c:v>47812</c:v>
                </c:pt>
                <c:pt idx="33">
                  <c:v>47802</c:v>
                </c:pt>
                <c:pt idx="34">
                  <c:v>47766</c:v>
                </c:pt>
                <c:pt idx="35">
                  <c:v>47719</c:v>
                </c:pt>
                <c:pt idx="36">
                  <c:v>47708</c:v>
                </c:pt>
                <c:pt idx="37">
                  <c:v>47714</c:v>
                </c:pt>
                <c:pt idx="38">
                  <c:v>47721</c:v>
                </c:pt>
                <c:pt idx="39">
                  <c:v>47711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50" b="0" i="0" u="none" strike="noStrike">
                    <a:solidFill>
                      <a:srgbClr val="5B6B87"/>
                    </a:solidFill>
                    <a:latin typeface="Arial"/>
                  </a:defRPr>
                </a:pPr>
                <a:r>
                  <a:rPr sz="1050" b="0" i="0" u="none" strike="noStrike">
                    <a:solidFill>
                      <a:srgbClr val="5B6B87"/>
                    </a:solidFill>
                    <a:latin typeface="Arial"/>
                  </a:rPr>
                  <a:t>número de árboles (η = 0.05)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6B8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6"/>
      </c:catAx>
      <c:valAx>
        <c:axId val="2094734552"/>
        <c:scaling>
          <c:orientation val="minMax"/>
          <c:max val="64000"/>
          <c:min val="44000"/>
        </c:scaling>
        <c:delete val="0"/>
        <c:axPos val="l"/>
        <c:majorGridlines>
          <c:spPr>
            <a:ln w="6350" cap="flat">
              <a:solidFill>
                <a:srgbClr val="E3E8F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50" b="0" i="0" u="none" strike="noStrike">
                    <a:solidFill>
                      <a:srgbClr val="5B6B87"/>
                    </a:solidFill>
                    <a:latin typeface="Arial"/>
                  </a:defRPr>
                </a:pPr>
                <a:r>
                  <a:rPr sz="1050" b="0" i="0" u="none" strike="noStrike">
                    <a:solidFill>
                      <a:srgbClr val="5B6B87"/>
                    </a:solidFill>
                    <a:latin typeface="Arial"/>
                  </a:rPr>
                  <a:t>RMSE en validación (USD)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6B8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imagen de la derecha es el resumen del módulo entero: siete modelos con el mismo corte y la misma prueba, ordenados por error. Los verdes y el magenta son los de hoy. La clase termina reconstruyendo esta tabla.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Recuerda el mapa de residuos de la Clase 3: la recta dejaba manchas por zonas y el SVR las mezclaba. Hoy los árboles atacan lo mismo partiendo el mapa en rectángulos. Si alguien pregunta por Lasso: aquí cuenta su MAE en la tabla de cierre.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Bloques 2 y 3 son la base de las Clases 8, 14 y 15, donde se retoman con clasificación y con la teoría de ensembles. Hoy el enfoque es práctico: qué hacen y cómo se usan. Si vas retrasado, el caso real se cuenta en un minuto.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el ejercicio 1.2. Los valores de las hojas están redondeados: 209 100, 112 190, 291 430 y 419 957. Pregunta al grupo: ¿por qué un árbol de regresión predice el promedio de la hoja y no la mediana? Porque minimiza el error cuadrático; con error absoluto sería la mediana (sklearn lo permite con criterion='absolute_error').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el ejercicio 1.1. Un distrito con ingreso 4.5 cae a la izquierda y el árbol predice 110 mil. Remarca que es la misma suma de cuadrados de la regresión lineal: lo que cambia es que cada grupo predice una constante, no una recta. Con 14 000 distritos y 12 variables, el árbol prueba miles de cortes en cada nodo; por eso usa algoritmos que ordenan los datos una vez.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la demostración 1.3. Con profundidad 8 ya aparecen la bahía de San Francisco y la costa de Los Ángeles como zonas caras, y el valle central como zona barata. Los cortes son siempre verticales u horizontales: por eso las fronteras son rectángulos. Pregunta: ¿qué pasaría con una frontera diagonal, como la costa? El árbol la aproxima con una escalera de rectángulos.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el ejercicio 1.4 y la demostración 1.5. La misma curva de la Clase 1, ahora en regresión. Sobre el escalado (demostración 1.6): el 99.9 % de las predicciones son idénticas con y sin StandardScaler; las pocas diferencias vienen de empates numéricos al ubicar el umbral. El árbol compara cada variable consigo misma, así que la unidad no importa.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la demostración 2.1. Para el primer distrito de prueba, los cinco árboles predicen entre 134 400 y 198 800: cada árbol suelto es poco confiable. La idea estadística: el promedio de muchas estimaciones con errores poco correlacionados tiene mucha menos varianza que cada una. Por eso importa que los árboles sean distintos entre sí, y para eso están el bootstrap y las variables al azar.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el ejercicio 2.2 y la demostración 2.3. El OOB y la prueba casi coinciden: el OOB funciona como validación, y por eso en Random Forest muchas veces no se aparta un conjunto de validación. La fracción fuera de la bolsa viene de (1 − 1/n)^n, que tiende a 1/e ≈ 0.37.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Breiman es el mismo autor de CART (1984), el algoritmo de árboles que usa scikit-learn. El dato de Kaggle está en la introducción del paper de XGBoost: ocho de esas 17 soluciones usaron solo XGBoost. El paper de 2022 es útil para cuando alguien pregunte por qué no usar una red neuronal: en tablas como las de un banco, los árboles suelen ganar y son más baratos de entrenar.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el ejercicio 3.1 (los alumnos hacen las rondas 1 y 2). La 'meta' es la mejor predicción posible con este único corte: los promedios de cada lado, 110 y 270, con SSE 1 000. En boosting real cada árbol tiene varias hojas y el corte cambia de ronda en ronda, pero la mecánica es exactamente esta.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el ejercicio 3.2 y la demostración 3.3. El flujo correcto: 1) buscar el número de árboles con validación; 2) reentrenar con todo el entrenamiento y ese número; 3) medir la prueba una vez. Con η = 0.3 la validación se estanca antes y más arriba. XGBoost también acepta valores faltantes sin rellenar: aprende en cada corte hacia qué lado mandarlos. Aquí no lo usamos para mantener la misma preparación que en las clases anteriores.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regla práctica para el trabajo: si tienes poco tiempo para ajustar, Random Forest con valores por defecto suele quedar muy cerca del mejor. Si puedes invertir en validación y parada temprana, el boosting suele ganar por un margen pequeño pero consistente, como aquí.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el ejercicio 4.2. Advertencia honesta para el grupo: elegir al ganador mirando la prueba también es usarla para decidir. Con diferencias tan grandes el riesgo es bajo; si fueran de décimas, habría que decidir con validación cruzada (Clase 13) y dejar la prueba solo para confirmar. Fíjate en el bloque: los tres lineales empatan, el SVR y el árbol empatan, y los dos ensembles se despegan.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la demostración 4.3. INLAND es el primer gran corte y se lleva el crédito de toda esa reducción (57 % de la ganancia), pero desordenarla cuesta poco porque las coordenadas ya dicen si un distrito está tierra adentro. ISLAND tiene 5.8 % de ganancia con solo 5 distritos y desordenarla no cuesta nada: la ganancia sobrevalora variables raras. Ojo también con la permutación: con variables correlacionadas (longitud y latitud), desordenar una sola crea combinaciones que no existen en la realidad.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de discusión: si tuvieras que llevar uno de estos modelos a un comité de riesgos para tasar garantías, ¿cuál llevarías? Una respuesta defendible: Lasso o un árbol chico como oficial, y XGBoost como retador para detectar qué le falta. En el Módulo 4 veremos cómo ajustar y desplegar estos modelos.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Avisa de las esperas: el bosque de 200 árboles tarda unos 10 segundos, la curva de número de árboles otros 10, y la parada temprana de XGBoost unos segundos más. En Colab gratuito hay 2 núcleos; n_jobs=-1 los usa los dos. Si el grupo va lento, las demostraciones 1.6 y 3.3 se pueden solo ejecutar y mirar.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del Módulo 1. Pregunta de salida: ¿qué modelo llevarías a producción para tasar garantías, y cuál usarías como retador? En el Módulo 2 los mismos árboles, bosques y boosting vuelven para clasificación (Clases 7 y 8), así que lo de hoy no se pierde.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960120"/>
            <a:ext cx="256032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9601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· CLASE 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50876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Partir el mapa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regiones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324612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Árboles de regresión, Random Forest y XGBoost.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la comparativa de los siete modelos del módulo.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30352" y="4343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min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30352" y="4709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sesión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2633472" y="4343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modelos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633472" y="4709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árbol, bosque, boosting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736592" y="4343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0.841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736592" y="4709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mejor del módulo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53492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Josef Renato Rodriguez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" y="6172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59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Programa de Especialización Data Scientist · Sesión 4 de 16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406640" y="11430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9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típico en prueba (MAE, USD)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406640" y="160020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α = 1 000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869680" y="1664208"/>
            <a:ext cx="2376153" cy="219456"/>
          </a:xfrm>
          <a:prstGeom prst="rect">
            <a:avLst/>
          </a:prstGeom>
          <a:solidFill>
            <a:srgbClr val="3A569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1291553" y="160020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49 973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406640" y="2020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lineal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869680" y="2084832"/>
            <a:ext cx="2361468" cy="219456"/>
          </a:xfrm>
          <a:prstGeom prst="rect">
            <a:avLst/>
          </a:prstGeom>
          <a:solidFill>
            <a:srgbClr val="3A569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1276868" y="202082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49 664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406640" y="244144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α = 10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869680" y="2505456"/>
            <a:ext cx="2360948" cy="219456"/>
          </a:xfrm>
          <a:prstGeom prst="rect">
            <a:avLst/>
          </a:prstGeom>
          <a:solidFill>
            <a:srgbClr val="3A569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1276348" y="24414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49 653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7406640" y="286207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869680" y="2926080"/>
            <a:ext cx="1854347" cy="219456"/>
          </a:xfrm>
          <a:prstGeom prst="rect">
            <a:avLst/>
          </a:prstGeom>
          <a:solidFill>
            <a:srgbClr val="12B88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769747" y="286207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38 999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7406640" y="328269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SVR RBF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869680" y="3346704"/>
            <a:ext cx="1803321" cy="219456"/>
          </a:xfrm>
          <a:prstGeom prst="rect">
            <a:avLst/>
          </a:prstGeom>
          <a:solidFill>
            <a:srgbClr val="3A569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718721" y="328269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37 926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7406640" y="37033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869680" y="3767328"/>
            <a:ext cx="1498659" cy="219456"/>
          </a:xfrm>
          <a:prstGeom prst="rect">
            <a:avLst/>
          </a:prstGeom>
          <a:solidFill>
            <a:srgbClr val="12B886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0414059" y="37033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31 518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7406640" y="412394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869680" y="4187952"/>
            <a:ext cx="1430122" cy="219456"/>
          </a:xfrm>
          <a:prstGeom prst="rect">
            <a:avLst/>
          </a:prstGeom>
          <a:solidFill>
            <a:srgbClr val="FF6B9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0345522" y="412394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30 077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7406640" y="46360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59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recta de la Clase 2 al boosting de hoy: casi 20 mil USD menos de error por distrito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ESTAMOS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Clase 3 nos dejó una pista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SVR con kernel RBF le ganó a la recta porque podía curvarse. Hoy buscamos esa precisión de otra forma.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103120"/>
          <a:ext cx="1118311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194560"/>
                <a:gridCol w="1463040"/>
                <a:gridCol w="1463040"/>
                <a:gridCol w="523951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(USD)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 que aprendimos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Regresión lineal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49 664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vara; residuos con manchas geográficas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 y Lasso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0.651 · 0.647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49 653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estabilidad y simpleza, no precisión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SVR RBF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37 926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ganancia estaba en las curvas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4251960"/>
            <a:ext cx="3630168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D2DB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4498848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60120" y="4389120"/>
            <a:ext cx="2990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 de regresión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47548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de sí o no, una tras otra; predice el promedio de cada región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279392" y="4251960"/>
            <a:ext cx="3630168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D2DB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07992" y="4498848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36592" y="4389120"/>
            <a:ext cx="2990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507992" y="47548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cientos de árboles distintos, y se promedian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055864" y="4251960"/>
            <a:ext cx="3630168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D2DB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284464" y="4498848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513064" y="4389120"/>
            <a:ext cx="2990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284464" y="47548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árboles en fila: cada uno corrige los errores del anterior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02920" y="5760720"/>
            <a:ext cx="11183112" cy="530352"/>
          </a:xfrm>
          <a:prstGeom prst="roundRect">
            <a:avLst>
              <a:gd name="adj" fmla="val 10345"/>
            </a:avLst>
          </a:prstGeom>
          <a:solidFill>
            <a:srgbClr val="0A2559"/>
          </a:solidFill>
          <a:ln w="9525">
            <a:solidFill>
              <a:srgbClr val="0A2559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1520" y="5760720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 de los tres necesita escalar ni crear interacciones a mano.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al final, la comparativa de los siete modelos del módulo.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repartimos los 120 minutos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modelos que se construyen uno sobre otro, y el cierre del Módulo 1.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103120"/>
          <a:ext cx="67665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5212080"/>
                <a:gridCol w="7315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Contenido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pista de la Clase 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Árboles de regresión: cómo cortan y cómo frenarlos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Forest: promediar árboles distintos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XGBoost: árboles que corrigen errores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comparativa del Módulo 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Laboratorio en Colab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Cierre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589520" y="2103120"/>
            <a:ext cx="4096512" cy="2148840"/>
          </a:xfrm>
          <a:prstGeom prst="roundRect">
            <a:avLst>
              <a:gd name="adj" fmla="val 2553"/>
            </a:avLst>
          </a:prstGeom>
          <a:solidFill>
            <a:srgbClr val="E9EEF8"/>
          </a:solidFill>
          <a:ln w="9525">
            <a:solidFill>
              <a:srgbClr val="D2DB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818120" y="2350008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46720" y="2240280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te llevas hoy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818120" y="260604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elige un árbol sus cortes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Frenar un árbol con validación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promediar árboles funciona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y parada temprana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modelo más allá del R²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589520" y="4434840"/>
            <a:ext cx="4096512" cy="1783080"/>
          </a:xfrm>
          <a:prstGeom prst="roundRect">
            <a:avLst>
              <a:gd name="adj" fmla="val 3077"/>
            </a:avLst>
          </a:prstGeom>
          <a:solidFill>
            <a:srgbClr val="0A2559"/>
          </a:solidFill>
          <a:ln w="9525">
            <a:solidFill>
              <a:srgbClr val="0A255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18120" y="4681728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046720" y="4572000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bloque 4 cierra el módulo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818120" y="49377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Siete modelos, la misma prueba. La pregunta no es solo cuál gana, sino cuál defenderías ante un comité.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árbol de regresión: preguntas y un promedio al final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árbol de dos niveles con los 14 448 distritos de entrenamiento. Cada hoja predice el promedio de los que caen ahí.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377440" y="2103120"/>
            <a:ext cx="2834640" cy="594360"/>
          </a:xfrm>
          <a:prstGeom prst="roundRect">
            <a:avLst>
              <a:gd name="adj" fmla="val 9231"/>
            </a:avLst>
          </a:prstGeom>
          <a:solidFill>
            <a:srgbClr val="0A2559"/>
          </a:solidFill>
          <a:ln w="9525">
            <a:solidFill>
              <a:srgbClr val="0A255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377440" y="21031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≤ 5.04 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 flipH="1">
            <a:off x="1828800" y="2697480"/>
            <a:ext cx="1965960" cy="548640"/>
          </a:xfrm>
          <a:prstGeom prst="line">
            <a:avLst/>
          </a:prstGeom>
          <a:noFill/>
          <a:ln w="15875">
            <a:solidFill>
              <a:srgbClr val="5B6B8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94760" y="2697480"/>
            <a:ext cx="1965960" cy="548640"/>
          </a:xfrm>
          <a:prstGeom prst="line">
            <a:avLst/>
          </a:prstGeom>
          <a:noFill/>
          <a:ln w="15875">
            <a:solidFill>
              <a:srgbClr val="5B6B8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331720" y="2743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2743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3246120"/>
            <a:ext cx="2286000" cy="548640"/>
          </a:xfrm>
          <a:prstGeom prst="roundRect">
            <a:avLst>
              <a:gd name="adj" fmla="val 10000"/>
            </a:avLst>
          </a:prstGeom>
          <a:solidFill>
            <a:srgbClr val="1A56E8"/>
          </a:solidFill>
          <a:ln w="9525">
            <a:solidFill>
              <a:srgbClr val="1A56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246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¿tierra adentro?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17720" y="3246120"/>
            <a:ext cx="2286000" cy="548640"/>
          </a:xfrm>
          <a:prstGeom prst="roundRect">
            <a:avLst>
              <a:gd name="adj" fmla="val 10000"/>
            </a:avLst>
          </a:prstGeom>
          <a:solidFill>
            <a:srgbClr val="1A56E8"/>
          </a:solidFill>
          <a:ln w="9525">
            <a:solidFill>
              <a:srgbClr val="1A56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17720" y="3246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≤ 6.82 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 flipH="1">
            <a:off x="1097280" y="3794760"/>
            <a:ext cx="731520" cy="548640"/>
          </a:xfrm>
          <a:prstGeom prst="line">
            <a:avLst/>
          </a:prstGeom>
          <a:noFill/>
          <a:ln w="15875">
            <a:solidFill>
              <a:srgbClr val="5B6B8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28800" y="3794760"/>
            <a:ext cx="731520" cy="548640"/>
          </a:xfrm>
          <a:prstGeom prst="line">
            <a:avLst/>
          </a:prstGeom>
          <a:noFill/>
          <a:ln w="15875">
            <a:solidFill>
              <a:srgbClr val="5B6B8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H="1">
            <a:off x="5029200" y="3794760"/>
            <a:ext cx="731520" cy="548640"/>
          </a:xfrm>
          <a:prstGeom prst="line">
            <a:avLst/>
          </a:prstGeom>
          <a:noFill/>
          <a:ln w="15875">
            <a:solidFill>
              <a:srgbClr val="5B6B8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60720" y="3794760"/>
            <a:ext cx="731520" cy="548640"/>
          </a:xfrm>
          <a:prstGeom prst="line">
            <a:avLst/>
          </a:prstGeom>
          <a:noFill/>
          <a:ln w="15875">
            <a:solidFill>
              <a:srgbClr val="5B6B8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4343400"/>
            <a:ext cx="11887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2DB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2920" y="434340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209 mil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504748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965960" y="4343400"/>
            <a:ext cx="11887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2DBE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965960" y="434340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 mil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965960" y="504748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434840" y="4343400"/>
            <a:ext cx="11887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2DBE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434840" y="434340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291 mil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434840" y="504748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897880" y="4343400"/>
            <a:ext cx="11887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2DBE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897880" y="434340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420 mil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5897880" y="504748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502920" y="54864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en decenas de miles de USD: 5.04 ≈ 50 mil al año. Con 4 hojas, R² 0.493 en prueba.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543800" y="2103120"/>
            <a:ext cx="4142232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D2DB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72400" y="2350008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001000" y="2240280"/>
            <a:ext cx="3502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rama hace su pregunta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7772400" y="2606040"/>
            <a:ext cx="3703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ingresos bajos, lo que más separa precios es estar tierra adentro. Para ingresos altos, vuelve a preguntar por el ingreso. El efecto de INLAND depende del ingreso: es una interacción, y el árbol la encontró solo.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543800" y="4297680"/>
            <a:ext cx="4142232" cy="1920240"/>
          </a:xfrm>
          <a:prstGeom prst="roundRect">
            <a:avLst>
              <a:gd name="adj" fmla="val 2857"/>
            </a:avLst>
          </a:prstGeom>
          <a:solidFill>
            <a:srgbClr val="0A2559"/>
          </a:solidFill>
          <a:ln w="9525">
            <a:solidFill>
              <a:srgbClr val="0A255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772400" y="4544568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001000" y="4434840"/>
            <a:ext cx="3502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la recta no puede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7772400" y="4800600"/>
            <a:ext cx="3703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regresión lineal suma un efecto fijo por variable. Para tener «INLAND importa solo si el ingreso es bajo» habría que crear a mano la variable ingreso × INLAND.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elige el corte: el que deja grupos más parejos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distritos. Probamos los 5 cortes posibles de ingreso y medimos el SSE de los dos grupos.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103120"/>
            <a:ext cx="4937760" cy="1371600"/>
          </a:xfrm>
          <a:prstGeom prst="roundRect">
            <a:avLst>
              <a:gd name="adj" fmla="val 4000"/>
            </a:avLst>
          </a:prstGeom>
          <a:solidFill>
            <a:srgbClr val="0A2559"/>
          </a:solidFill>
          <a:ln w="9525">
            <a:solidFill>
              <a:srgbClr val="0A255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21488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= SSE izquierda + SSE derecha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9260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cada lado: Σ (y − promedio del lado)². Gana el corte con menor SSE.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703320"/>
          <a:ext cx="49377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94360"/>
                <a:gridCol w="594360"/>
                <a:gridCol w="594360"/>
                <a:gridCol w="594360"/>
                <a:gridCol w="594360"/>
                <a:gridCol w="5943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Ingreso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(mil)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02920" y="4663440"/>
            <a:ext cx="4937760" cy="1554480"/>
          </a:xfrm>
          <a:prstGeom prst="roundRect">
            <a:avLst>
              <a:gd name="adj" fmla="val 3529"/>
            </a:avLst>
          </a:prstGeom>
          <a:solidFill>
            <a:srgbClr val="E9EEF8"/>
          </a:solidFill>
          <a:ln w="9525">
            <a:solidFill>
              <a:srgbClr val="D2DB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" y="4910328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60120" y="480060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Voraz, y repetido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516636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árbol prueba todos los cortes de todas las variables, toma el mejor del momento sin mirar hacia adelante, y repite dentro de cada grupo.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715000" y="2103120"/>
            <a:ext cx="5971032" cy="41148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9525">
            <a:solidFill>
              <a:srgbClr val="D2DB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43600" y="2350008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172200" y="2240280"/>
            <a:ext cx="5330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total según el corte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5943600" y="26974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2.5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675120" y="26974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| 208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955280" y="2788920"/>
            <a:ext cx="2410860" cy="274320"/>
          </a:xfrm>
          <a:prstGeom prst="rect">
            <a:avLst/>
          </a:prstGeom>
          <a:solidFill>
            <a:srgbClr val="8A97AD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439292" y="2697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29 680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943600" y="330098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3.5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6675120" y="330098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 | 230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955280" y="3392424"/>
            <a:ext cx="1640814" cy="274320"/>
          </a:xfrm>
          <a:prstGeom prst="rect">
            <a:avLst/>
          </a:prstGeom>
          <a:solidFill>
            <a:srgbClr val="8A97AD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9669246" y="330098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20 200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5943600" y="390448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5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6675120" y="390448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 | 270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7955280" y="3995928"/>
            <a:ext cx="81228" cy="274320"/>
          </a:xfrm>
          <a:prstGeom prst="rect">
            <a:avLst/>
          </a:prstGeom>
          <a:solidFill>
            <a:srgbClr val="E6115E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8109660" y="39044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1 000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5943600" y="450799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6.5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6675120" y="450799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 | 280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7955280" y="4599432"/>
            <a:ext cx="1226549" cy="274320"/>
          </a:xfrm>
          <a:prstGeom prst="rect">
            <a:avLst/>
          </a:prstGeom>
          <a:solidFill>
            <a:srgbClr val="8A97AD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9254981" y="450799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15 100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5943600" y="511149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7.5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6675120" y="511149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 | 290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7955280" y="5202936"/>
            <a:ext cx="2225659" cy="274320"/>
          </a:xfrm>
          <a:prstGeom prst="rect">
            <a:avLst/>
          </a:prstGeom>
          <a:solidFill>
            <a:srgbClr val="8A97AD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10254091" y="511149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27 400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943600" y="57607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 · promedios izq | der · SSE. Sin cortar: 39 400. El corte en 5 lo baja a 1 000.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Partir el mapa en regiones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árbol con solo dos variables: longitud y latitud. Cada hoja es un rectángulo; cada punto, un distrito de prueba.</a:t>
            </a:r>
            <a:endParaRPr lang="en-US" sz="1400" dirty="0"/>
          </a:p>
        </p:txBody>
      </p:sp>
      <p:pic>
        <p:nvPicPr>
          <p:cNvPr id="6" name="Image 0" descr="mapa_region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011680"/>
            <a:ext cx="8321040" cy="363313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052560" y="2103120"/>
            <a:ext cx="2633472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D2DB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235440" y="2148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Profundidad 2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9235440" y="24048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regiones · R² 0.144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9052560" y="2834640"/>
            <a:ext cx="2633472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D2DB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235440" y="2880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Profundidad 4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235440" y="31363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regiones · R² 0.362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9052560" y="3566160"/>
            <a:ext cx="2633472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D2DB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235440" y="3611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Profundidad 8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9235440" y="38679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 regiones · R² 0.619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9052560" y="4343400"/>
            <a:ext cx="2633472" cy="1874520"/>
          </a:xfrm>
          <a:prstGeom prst="roundRect">
            <a:avLst>
              <a:gd name="adj" fmla="val 2927"/>
            </a:avLst>
          </a:prstGeom>
          <a:solidFill>
            <a:srgbClr val="0A2559"/>
          </a:solidFill>
          <a:ln w="9525">
            <a:solidFill>
              <a:srgbClr val="0A255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235440" y="448056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con coordenadas, 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0.619: casi lo mismo que la recta con las 12 variables (0.651).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02920" y="5760720"/>
            <a:ext cx="8321040" cy="502920"/>
          </a:xfrm>
          <a:prstGeom prst="roundRect">
            <a:avLst>
              <a:gd name="adj" fmla="val 10909"/>
            </a:avLst>
          </a:prstGeom>
          <a:solidFill>
            <a:srgbClr val="E9EEF8"/>
          </a:solidFill>
          <a:ln w="9525">
            <a:solidFill>
              <a:srgbClr val="D2DBE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31520" y="57607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SVR buscaba la precisión curvándose; </a:t>
            </a:r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árbol la busca partiendo el mapa.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freno, el árbol memoriza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Profundidades de 1 a 20, entrenadas con 11 558 distritos y medidas en 2 890 de validación.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2011680"/>
          <a:ext cx="60350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02920" y="58064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límite: 34 niveles y 11 119 hojas. R² 1.000 entrenando, 0.602 en validación.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12280" y="2103120"/>
          <a:ext cx="487375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216152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Elegido por validación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valid.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max_depth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min_samples_leaf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812280" y="3611880"/>
            <a:ext cx="4873752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2DBEC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040880" y="361188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corta todas las ramas a la misma altura.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min_samples_leaf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 crecer más las ramas con muchos datos y para antes las que tienen pocos.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812280" y="4983480"/>
            <a:ext cx="4873752" cy="1234440"/>
          </a:xfrm>
          <a:prstGeom prst="roundRect">
            <a:avLst>
              <a:gd name="adj" fmla="val 4444"/>
            </a:avLst>
          </a:prstGeom>
          <a:solidFill>
            <a:srgbClr val="0A2559"/>
          </a:solidFill>
          <a:ln w="9525">
            <a:solidFill>
              <a:srgbClr val="0A2559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040880" y="4983480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 final, en prueba: R² 0.743 · MAE 38 999. 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árbol ya supera a la recta y queda cerca del SVR. Y sin escalar nada.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Forest: muchos árboles distintos, un promedio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árbol es inestable: cambia un poco los datos y cambia el primer corte. La solución es no confiar en uno solo.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103120"/>
            <a:ext cx="54864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2DB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286000"/>
            <a:ext cx="384048" cy="384048"/>
          </a:xfrm>
          <a:prstGeom prst="ellipse">
            <a:avLst/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2402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633472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árbol se entrena con una muestra con reemplazo del mismo tamaño. Cerca de un tercio de los distritos queda fuera.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3474720"/>
            <a:ext cx="54864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2DB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3657600"/>
            <a:ext cx="384048" cy="384048"/>
          </a:xfrm>
          <a:prstGeom prst="ellipse">
            <a:avLst/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6118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al azar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005072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cada corte, el árbol elige solo entre una parte de las variables (max_features). Así no hacen todos la misma pregunta.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4846320"/>
            <a:ext cx="54864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2DB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5029200"/>
            <a:ext cx="384048" cy="384048"/>
          </a:xfrm>
          <a:prstGeom prst="ellipse">
            <a:avLst/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5029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9834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5376672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árboles crecen profundos y sobreajustan, cada uno a su manera. Al promediar, esos errores se cancelan.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63640" y="2103120"/>
            <a:ext cx="5422392" cy="41148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9525">
            <a:solidFill>
              <a:srgbClr val="D2DB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92240" y="2350008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720840" y="2240280"/>
            <a:ext cx="4782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árboles sueltos y su promedio (R² en prueba)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269748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 1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589520" y="2770632"/>
            <a:ext cx="2526564" cy="274320"/>
          </a:xfrm>
          <a:prstGeom prst="rect">
            <a:avLst/>
          </a:prstGeom>
          <a:solidFill>
            <a:srgbClr val="8A97A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189236" y="26974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0.618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492240" y="3182112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 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589520" y="3255264"/>
            <a:ext cx="2443174" cy="274320"/>
          </a:xfrm>
          <a:prstGeom prst="rect">
            <a:avLst/>
          </a:prstGeom>
          <a:solidFill>
            <a:srgbClr val="8A97A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105846" y="318211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0.598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6492240" y="3666744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 3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589520" y="3739896"/>
            <a:ext cx="2489261" cy="274320"/>
          </a:xfrm>
          <a:prstGeom prst="rect">
            <a:avLst/>
          </a:prstGeom>
          <a:solidFill>
            <a:srgbClr val="8A97A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0151933" y="3666744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0.609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6492240" y="4151376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 4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589520" y="4224528"/>
            <a:ext cx="2670021" cy="274320"/>
          </a:xfrm>
          <a:prstGeom prst="rect">
            <a:avLst/>
          </a:prstGeom>
          <a:solidFill>
            <a:srgbClr val="8A97AD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0332693" y="4151376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0.653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6492240" y="4636008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 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589520" y="4709160"/>
            <a:ext cx="2501233" cy="274320"/>
          </a:xfrm>
          <a:prstGeom prst="rect">
            <a:avLst/>
          </a:prstGeom>
          <a:solidFill>
            <a:srgbClr val="8A97AD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10163905" y="463600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0.612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6492240" y="512064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589520" y="5193792"/>
            <a:ext cx="3193194" cy="274320"/>
          </a:xfrm>
          <a:prstGeom prst="rect">
            <a:avLst/>
          </a:prstGeom>
          <a:solidFill>
            <a:srgbClr val="E6115E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10855866" y="51206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0.781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6492240" y="5669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cinco árboles, sin variables al azar. Cada uno aislado es peor que la recta; juntos, le ganan por mucho.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árboles, y una validación que sale gratis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RandomForestRegressor(n_estimators=200, max_features=0.5, oob_score=True). Unos 10 segundos.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2011680"/>
          <a:ext cx="54864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5303520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E9EEF8"/>
          </a:solidFill>
          <a:ln w="9525">
            <a:solidFill>
              <a:srgbClr val="D2DB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53035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árboles no sobreajusta: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promedia mejor. Lo que cuesta es tiempo. De 100 a 200, el OOB sube apenas unas milésimas.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2103120"/>
            <a:ext cx="5422392" cy="2011680"/>
          </a:xfrm>
          <a:prstGeom prst="roundRect">
            <a:avLst>
              <a:gd name="adj" fmla="val 2727"/>
            </a:avLst>
          </a:prstGeom>
          <a:solidFill>
            <a:srgbClr val="0A2559"/>
          </a:solidFill>
          <a:ln w="9525">
            <a:solidFill>
              <a:srgbClr val="0A255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92240" y="2350008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720840" y="2240280"/>
            <a:ext cx="4782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OOB: fuera de la bolsa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492240" y="2606040"/>
            <a:ext cx="4983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árbol deja fuera ≈ 37 % de los distritos (1/e). Para cada distrito se promedian solo los árboles que no lo vieron. Es una validación honesta sin apartar datos.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4343400"/>
          <a:ext cx="542239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1143000"/>
                <a:gridCol w="1170432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OOB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prueba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max_features = 1.0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31 695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max_features = 0.5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31 518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0"/>
          <p:cNvSpPr txBox="1"/>
          <p:nvPr/>
        </p:nvSpPr>
        <p:spPr>
          <a:xfrm>
            <a:off x="6263640" y="5669280"/>
            <a:ext cx="5422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todas las variables en cada corte (bagging puro) tarda el doble y gana menos: árboles más distintos se cancelan mejor.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REAL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los árboles siguen mandando en datos tabulares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trabajos que explican por qué hoy en riesgos casi siempre hay un bosque o un boosting en la mesa.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103120"/>
            <a:ext cx="3630168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9525">
            <a:solidFill>
              <a:srgbClr val="D2DB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1945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2001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017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· Breiman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520440"/>
            <a:ext cx="32004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Propuso el bosque con bootstrap y variables al azar. En el mismo artículo introdujo el error fuera de la bolsa y la importancia por permutación que usamos hoy.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279392" y="2103120"/>
            <a:ext cx="3630168" cy="3291840"/>
          </a:xfrm>
          <a:prstGeom prst="roundRect">
            <a:avLst>
              <a:gd name="adj" fmla="val 1667"/>
            </a:avLst>
          </a:prstGeom>
          <a:solidFill>
            <a:srgbClr val="0A2559"/>
          </a:solidFill>
          <a:ln w="9525">
            <a:solidFill>
              <a:srgbClr val="0A255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07992" y="21945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de 29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4507992" y="3017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· Chen y Guestrin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07992" y="3520440"/>
            <a:ext cx="32004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29 soluciones ganadoras de Kaggle publicadas en su blog durante 2015, 17 usaron XGBoost. Su aporte fue hacer el boosting rápido y escalable.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055864" y="2103120"/>
            <a:ext cx="3630168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9525">
            <a:solidFill>
              <a:srgbClr val="D2DB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84464" y="21945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8284464" y="3017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Árboles vs. redes · Grinsztajn y otros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84464" y="3520440"/>
            <a:ext cx="32004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45 conjuntos de datos tabulares de tamaño medio, los modelos de árboles siguieron por delante del deep learning. Para tablas, los árboles siguen siendo la primera opción.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02920" y="5669280"/>
            <a:ext cx="11183112" cy="594360"/>
          </a:xfrm>
          <a:prstGeom prst="roundRect">
            <a:avLst>
              <a:gd name="adj" fmla="val 9231"/>
            </a:avLst>
          </a:prstGeom>
          <a:solidFill>
            <a:srgbClr val="E9EEF8"/>
          </a:solidFill>
          <a:ln w="9525">
            <a:solidFill>
              <a:srgbClr val="D2DB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566928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banca, 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boosting suele entrar primero como modelo retador: si le gana por mucho al modelo oficial, hay señal que el oficial no está capturando.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641908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Breiman, L. (2001). Random forests. Machine Learning, 45(1), 5–32 · Chen, T. y Guestrin, C. (2016). XGBoost: A scalable tree boosting system. Proc. KDD '16, 785–794 · Grinsztajn, L., Oyallon, E. y Varoquaux, G. (2022). Why do tree-based models still outperform deep learning on typical tabular data? NeurIPS 2022.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Boosting: cada árbol corrige lo que falta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mismos 6 distritos. Cada «árbol» es un solo corte en ingreso = 5, entrenado sobre los residuos. η = 0.5.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103120"/>
            <a:ext cx="457200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9525">
            <a:solidFill>
              <a:srgbClr val="D2DB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50008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22402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algoritmo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651760"/>
            <a:ext cx="329184" cy="329184"/>
          </a:xfrm>
          <a:prstGeom prst="ellipse">
            <a:avLst/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651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6517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Empieza con el promedio para todos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3154680"/>
            <a:ext cx="329184" cy="329184"/>
          </a:xfrm>
          <a:prstGeom prst="ellipse">
            <a:avLst/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154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15468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los residuos: e = y − ŷ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1520" y="3657600"/>
            <a:ext cx="329184" cy="329184"/>
          </a:xfrm>
          <a:prstGeom prst="ellipse">
            <a:avLst/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657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65760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 un árbol chico sobre los residuos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31520" y="4160520"/>
            <a:ext cx="329184" cy="329184"/>
          </a:xfrm>
          <a:prstGeom prst="ellipse">
            <a:avLst/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4160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416052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una fracción: ŷ ← ŷ + η · árbol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31520" y="4663440"/>
            <a:ext cx="329184" cy="329184"/>
          </a:xfrm>
          <a:prstGeom prst="ellipse">
            <a:avLst/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4663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466344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Vuelve al paso 2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02920" y="5394960"/>
            <a:ext cx="4572000" cy="822960"/>
          </a:xfrm>
          <a:prstGeom prst="roundRect">
            <a:avLst>
              <a:gd name="adj" fmla="val 6667"/>
            </a:avLst>
          </a:prstGeom>
          <a:solidFill>
            <a:srgbClr val="0A2559"/>
          </a:solidFill>
          <a:ln w="9525">
            <a:solidFill>
              <a:srgbClr val="0A255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539496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(eta) = tasa de aprendizaje. 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tan grande es cada paso.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49240" y="2103120"/>
          <a:ext cx="63367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011680"/>
                <a:gridCol w="1188720"/>
                <a:gridCol w="1188720"/>
                <a:gridCol w="112471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Ronda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Residuo prom. izq | der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Predice izq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Predice der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39 400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-80 | +80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10 600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-40 | +40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3 400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-20 | +20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1 600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i="1" dirty="0">
                          <a:solidFill>
                            <a:srgbClr val="5B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i="1" dirty="0">
                          <a:solidFill>
                            <a:srgbClr val="5B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i="1" dirty="0">
                          <a:solidFill>
                            <a:srgbClr val="5B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i="1" dirty="0">
                          <a:solidFill>
                            <a:srgbClr val="5B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5349240" y="5074920"/>
            <a:ext cx="6336792" cy="1143000"/>
          </a:xfrm>
          <a:prstGeom prst="roundRect">
            <a:avLst>
              <a:gd name="adj" fmla="val 4800"/>
            </a:avLst>
          </a:prstGeom>
          <a:solidFill>
            <a:srgbClr val="E9EEF8"/>
          </a:solidFill>
          <a:ln w="9525">
            <a:solidFill>
              <a:srgbClr val="D2DBEC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577840" y="5074920"/>
            <a:ext cx="5897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ronda recorre la mitad de lo que falta.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η = 1 llegaría de un salto, pero en datos reales un salto grande también corrige ruido. Pasos chicos y muchos árboles generalizan mejor.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con parada temprana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3 000 árboles; para cuando la validación lleva 50 rondas sin mejorar. Luego se reentrena con todo.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2011680"/>
          <a:ext cx="60350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02920" y="56235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curva baja rápido y luego se aplana. La mejor ronda fue la 981.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12280" y="2103120"/>
          <a:ext cx="4873752" cy="914400"/>
        </p:xfrm>
        <a:graphic>
          <a:graphicData uri="http://schemas.openxmlformats.org/drawingml/2006/table">
            <a:tbl>
              <a:tblPr/>
              <a:tblGrid>
                <a:gridCol w="2221992"/>
                <a:gridCol w="1280160"/>
                <a:gridCol w="13716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Tasa η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Árboles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valid.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 · pasos grandes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 · pasos chicos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812280" y="3611880"/>
            <a:ext cx="4873752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2DBEC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040880" y="361188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boosting, más árboles sí sobreajusta: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de corregir la señal, empieza a corregir el ruido. Por eso la parada temprana.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812280" y="4892040"/>
            <a:ext cx="4873752" cy="1325880"/>
          </a:xfrm>
          <a:prstGeom prst="roundRect">
            <a:avLst>
              <a:gd name="adj" fmla="val 4138"/>
            </a:avLst>
          </a:prstGeom>
          <a:solidFill>
            <a:srgbClr val="0A2559"/>
          </a:solidFill>
          <a:ln w="9525">
            <a:solidFill>
              <a:srgbClr val="0A2559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040880" y="4983480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0.841</a:t>
            </a:r>
            <a:endParaRPr lang="en-US" sz="3600" dirty="0"/>
          </a:p>
        </p:txBody>
      </p:sp>
      <p:sp>
        <p:nvSpPr>
          <p:cNvPr id="13" name="Text 9"/>
          <p:cNvSpPr txBox="1"/>
          <p:nvPr/>
        </p:nvSpPr>
        <p:spPr>
          <a:xfrm>
            <a:off x="8595360" y="4892040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en prueba, una sola vez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30 077 USD · el mejor del módulo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y boosting: dos formas opuestas de combinar árboles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dos usan cientos de árboles. Lo que cambia es cómo se entrenan y qué error atacan.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103120"/>
          <a:ext cx="1118311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114800"/>
                <a:gridCol w="414223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· bagging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· boosting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 árboles se entrenan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paralelo, independientes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fila, cada uno corrige al anterior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 árbol 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profundo: sobreajusta solo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chico: subajusta solo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error que reduce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varianza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sesgo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¿Más árboles sobreajusta?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sí: parada temprana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Hiperparámetros delicados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pocos: funciona bien casi de fábrica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varios: η, profundidad, n.° de árboles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nuestros datos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0.828 · MAE 31 518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0.841 · MAE 30 077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5577840"/>
            <a:ext cx="5486400" cy="685800"/>
          </a:xfrm>
          <a:prstGeom prst="roundRect">
            <a:avLst>
              <a:gd name="adj" fmla="val 8000"/>
            </a:avLst>
          </a:prstGeom>
          <a:solidFill>
            <a:srgbClr val="E9EEF8"/>
          </a:solidFill>
          <a:ln w="9525">
            <a:solidFill>
              <a:srgbClr val="D2DB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557784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Sesgo y varianza: 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trade-off de la Clase 1, atacado por dos lados.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99632" y="5577840"/>
            <a:ext cx="5486400" cy="685800"/>
          </a:xfrm>
          <a:prstGeom prst="roundRect">
            <a:avLst>
              <a:gd name="adj" fmla="val 8000"/>
            </a:avLst>
          </a:prstGeom>
          <a:solidFill>
            <a:srgbClr val="0A2559"/>
          </a:solidFill>
          <a:ln w="9525">
            <a:solidFill>
              <a:srgbClr val="0A255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28232" y="557784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fondo: 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14 (bagging) y Clase 15 (boosting, LightGBM, CatBoost).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1: siete modelos, la misma prueba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corte, misma preparación. Los hiperparámetros de cada uno se eligieron con validación, nunca con la prueba.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103120"/>
            <a:ext cx="6949440" cy="41148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9525">
            <a:solidFill>
              <a:srgbClr val="D2DB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50008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2240280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en prueba (USD) · menos es mejor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69748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377440" y="269748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08960" y="2761488"/>
            <a:ext cx="2200188" cy="256032"/>
          </a:xfrm>
          <a:prstGeom prst="rect">
            <a:avLst/>
          </a:prstGeom>
          <a:solidFill>
            <a:srgbClr val="E6115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354868" y="269748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30 077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18211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377440" y="3182112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08960" y="3246120"/>
            <a:ext cx="2305629" cy="256032"/>
          </a:xfrm>
          <a:prstGeom prst="rect">
            <a:avLst/>
          </a:prstGeom>
          <a:solidFill>
            <a:srgbClr val="12B88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60309" y="318211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31 518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66674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SVR RBF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77440" y="366674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08960" y="3730752"/>
            <a:ext cx="2774339" cy="256032"/>
          </a:xfrm>
          <a:prstGeom prst="rect">
            <a:avLst/>
          </a:prstGeom>
          <a:solidFill>
            <a:srgbClr val="0A255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29019" y="3666744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37 926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415137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2377440" y="4151376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108960" y="4215384"/>
            <a:ext cx="2852841" cy="256032"/>
          </a:xfrm>
          <a:prstGeom prst="rect">
            <a:avLst/>
          </a:prstGeom>
          <a:solidFill>
            <a:srgbClr val="12B88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007521" y="4151376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38 999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463600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α = 10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2377440" y="4636008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3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108960" y="4700016"/>
            <a:ext cx="3632228" cy="256032"/>
          </a:xfrm>
          <a:prstGeom prst="rect">
            <a:avLst/>
          </a:prstGeom>
          <a:solidFill>
            <a:srgbClr val="1A56E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786908" y="463600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49 653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31520" y="51206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lineal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2377440" y="512064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2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108960" y="5184648"/>
            <a:ext cx="3633027" cy="256032"/>
          </a:xfrm>
          <a:prstGeom prst="rect">
            <a:avLst/>
          </a:prstGeom>
          <a:solidFill>
            <a:srgbClr val="1A56E8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787707" y="512064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49 664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31520" y="560527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α = 1 000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2377440" y="5605272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3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108960" y="5669280"/>
            <a:ext cx="3655619" cy="256032"/>
          </a:xfrm>
          <a:prstGeom prst="rect">
            <a:avLst/>
          </a:prstGeom>
          <a:solidFill>
            <a:srgbClr val="1A56E8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810299" y="560527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49 973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26680" y="2103120"/>
          <a:ext cx="3959352" cy="914400"/>
        </p:xfrm>
        <a:graphic>
          <a:graphicData uri="http://schemas.openxmlformats.org/drawingml/2006/table">
            <a:tbl>
              <a:tblPr/>
              <a:tblGrid>
                <a:gridCol w="2679192"/>
                <a:gridCol w="12801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SVR RBF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Árbol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 α = 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Regresión lineal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Lasso α = 1 000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5"/>
          <p:cNvSpPr/>
          <p:nvPr/>
        </p:nvSpPr>
        <p:spPr>
          <a:xfrm>
            <a:off x="7726680" y="5166360"/>
            <a:ext cx="3959352" cy="1051560"/>
          </a:xfrm>
          <a:prstGeom prst="roundRect">
            <a:avLst>
              <a:gd name="adj" fmla="val 5217"/>
            </a:avLst>
          </a:prstGeom>
          <a:solidFill>
            <a:srgbClr val="0A2559"/>
          </a:solidFill>
          <a:ln w="9525">
            <a:solidFill>
              <a:srgbClr val="0A2559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955280" y="516636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F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19 587 USD menos 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error por distrito que la recta: un 39 % menos.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variable importa? Depende de a quién le preguntes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medidas de importancia para el mismo XGBoost. Cuentan historias muy distintas.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103120"/>
            <a:ext cx="544068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9525">
            <a:solidFill>
              <a:srgbClr val="D2DB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50008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2240280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ganancia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5420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 bajó el error en los cortes donde se usó · % del total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92608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011680" y="2980944"/>
            <a:ext cx="130028" cy="219456"/>
          </a:xfrm>
          <a:prstGeom prst="rect">
            <a:avLst/>
          </a:prstGeom>
          <a:solidFill>
            <a:srgbClr val="1A56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205716" y="292608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2.7 %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31012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latitud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011680" y="3364992"/>
            <a:ext cx="149311" cy="219456"/>
          </a:xfrm>
          <a:prstGeom prst="rect">
            <a:avLst/>
          </a:prstGeom>
          <a:solidFill>
            <a:srgbClr val="1A56E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224999" y="331012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3.1 %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369417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011680" y="3749040"/>
            <a:ext cx="846998" cy="219456"/>
          </a:xfrm>
          <a:prstGeom prst="rect">
            <a:avLst/>
          </a:prstGeom>
          <a:solidFill>
            <a:srgbClr val="1A56E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922686" y="369417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17.4 %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07822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habitaciones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011680" y="4133088"/>
            <a:ext cx="45184" cy="219456"/>
          </a:xfrm>
          <a:prstGeom prst="rect">
            <a:avLst/>
          </a:prstGeom>
          <a:solidFill>
            <a:srgbClr val="1A56E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120872" y="407822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0.9 %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46227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INLAND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011680" y="4517136"/>
            <a:ext cx="2803216" cy="219456"/>
          </a:xfrm>
          <a:prstGeom prst="rect">
            <a:avLst/>
          </a:prstGeom>
          <a:solidFill>
            <a:srgbClr val="1A56E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878904" y="446227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57.5 %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484632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ISLAND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011680" y="4901184"/>
            <a:ext cx="280722" cy="219456"/>
          </a:xfrm>
          <a:prstGeom prst="rect">
            <a:avLst/>
          </a:prstGeom>
          <a:solidFill>
            <a:srgbClr val="1A56E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2356410" y="48463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5.8 %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45352" y="2103120"/>
            <a:ext cx="544068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9525">
            <a:solidFill>
              <a:srgbClr val="D2DB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73952" y="2350008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702552" y="2240280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permutación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702552" y="25420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 sube el MAE si desordenas la columna · USD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519672" y="292608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754112" y="2980944"/>
            <a:ext cx="2841084" cy="219456"/>
          </a:xfrm>
          <a:prstGeom prst="rect">
            <a:avLst/>
          </a:prstGeom>
          <a:solidFill>
            <a:srgbClr val="E6115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10659204" y="292608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67 967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6519672" y="331012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latitud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754112" y="3364992"/>
            <a:ext cx="2817552" cy="219456"/>
          </a:xfrm>
          <a:prstGeom prst="rect">
            <a:avLst/>
          </a:prstGeom>
          <a:solidFill>
            <a:srgbClr val="E6115E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10635672" y="331012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67 404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6519672" y="369417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7754112" y="3749040"/>
            <a:ext cx="1335527" cy="219456"/>
          </a:xfrm>
          <a:prstGeom prst="rect">
            <a:avLst/>
          </a:prstGeom>
          <a:solidFill>
            <a:srgbClr val="E6115E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9153647" y="369417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31 950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6519672" y="407822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habitaciones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7754112" y="4133088"/>
            <a:ext cx="1003523" cy="219456"/>
          </a:xfrm>
          <a:prstGeom prst="rect">
            <a:avLst/>
          </a:prstGeom>
          <a:solidFill>
            <a:srgbClr val="E6115E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8821643" y="407822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24 007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6519672" y="446227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INLAND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7754112" y="4517136"/>
            <a:ext cx="414245" cy="219456"/>
          </a:xfrm>
          <a:prstGeom prst="rect">
            <a:avLst/>
          </a:prstGeom>
          <a:solidFill>
            <a:srgbClr val="E6115E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8232365" y="446227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9 910</a:t>
            </a:r>
            <a:endParaRPr lang="en-US" sz="1150" dirty="0"/>
          </a:p>
        </p:txBody>
      </p:sp>
      <p:sp>
        <p:nvSpPr>
          <p:cNvPr id="47" name="Text 45"/>
          <p:cNvSpPr txBox="1"/>
          <p:nvPr/>
        </p:nvSpPr>
        <p:spPr>
          <a:xfrm>
            <a:off x="6519672" y="484632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ISLAND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7754112" y="4901184"/>
            <a:ext cx="27432" cy="219456"/>
          </a:xfrm>
          <a:prstGeom prst="rect">
            <a:avLst/>
          </a:prstGeom>
          <a:solidFill>
            <a:srgbClr val="E6115E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7845552" y="48463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502920" y="5532120"/>
            <a:ext cx="11183112" cy="731520"/>
          </a:xfrm>
          <a:prstGeom prst="roundRect">
            <a:avLst>
              <a:gd name="adj" fmla="val 7500"/>
            </a:avLst>
          </a:prstGeom>
          <a:solidFill>
            <a:srgbClr val="0A2559"/>
          </a:solidFill>
          <a:ln w="9525">
            <a:solidFill>
              <a:srgbClr val="0A2559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31520" y="55321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ganancia dice qué usó el modelo para entrenar; la permutación, qué necesita para predecir. 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explicar un modelo a un comité, la segunda es más honesta.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Precisión, interpretabilidad y costo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R² no es el único criterio. En riesgos, casi nunca es el primero.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103120"/>
          <a:ext cx="1118311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463040"/>
                <a:gridCol w="1280160"/>
                <a:gridCol w="2743200"/>
                <a:gridCol w="3593592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¿Escalar?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¿Se puede leer?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Ojo con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Regresión lineal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hace falta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sí: un coeficiente por variable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supuestos y multicolinealidad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 / Lasso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0.651 / 0.647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elegir α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SVR RBF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lento con muchas filas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Árbol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sí, si es chico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inestable; sobreajusta sin freno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con importancias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pesado en memoria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con importancias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más hiperparámetros; parada temprana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5029200"/>
            <a:ext cx="54864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2DB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510235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árboles no extrapolan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46811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predicen fuera del rango que vieron. Si los precios suben por encima de todo lo visto, siguen prediciendo el techo antiguo.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199632" y="5029200"/>
            <a:ext cx="5486400" cy="1234440"/>
          </a:xfrm>
          <a:prstGeom prst="roundRect">
            <a:avLst>
              <a:gd name="adj" fmla="val 4444"/>
            </a:avLst>
          </a:prstGeom>
          <a:solidFill>
            <a:srgbClr val="0A2559"/>
          </a:solidFill>
          <a:ln w="9525">
            <a:solidFill>
              <a:srgbClr val="0A255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28232" y="510235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Oficial y retador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428232" y="546811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habitual en riesgos: el modelo interpretable es el oficial y el boosting, el retador. Si el retador gana por mucho, hay señal sin capturar.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· 60 MIN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vas a hacer en Colab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dataset y misma preparación que las Clases 2 y 3. Semilla 42: tus números coinciden con estas slides.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103120"/>
            <a:ext cx="11183112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D2DB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221992"/>
            <a:ext cx="384048" cy="384048"/>
          </a:xfrm>
          <a:prstGeom prst="ellipse">
            <a:avLst/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221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10312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2103120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760720" y="2103120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Carga, corte, relleno, one-hot, validación y la regresión lineal de referencia.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834640"/>
            <a:ext cx="11183112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D2DB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2953512"/>
            <a:ext cx="384048" cy="384048"/>
          </a:xfrm>
          <a:prstGeom prst="ellipse">
            <a:avLst/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2953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283464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Árboles de regresión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2834640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760720" y="2834640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corte a mano, el árbol de 2 niveles, el mapa en regiones y la profundidad por validación.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566160"/>
            <a:ext cx="11183112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D2DB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3685032"/>
            <a:ext cx="384048" cy="384048"/>
          </a:xfrm>
          <a:prstGeom prst="ellipse">
            <a:avLst/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3685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356616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4754880" y="3566160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760720" y="3566160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árboles vs su promedio, el bosque de 200 árboles, el OOB y cuántos árboles hacen falta.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4297680"/>
            <a:ext cx="11183112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D2DB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4416552"/>
            <a:ext cx="384048" cy="384048"/>
          </a:xfrm>
          <a:prstGeom prst="ellipse">
            <a:avLst/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4416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429768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4754880" y="4297680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min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5760720" y="4297680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a mano, parada temprana, reentrenar con todo y η grande vs η chico.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2920" y="5029200"/>
            <a:ext cx="11183112" cy="621792"/>
          </a:xfrm>
          <a:prstGeom prst="roundRect">
            <a:avLst>
              <a:gd name="adj" fmla="val 8824"/>
            </a:avLst>
          </a:prstGeom>
          <a:solidFill>
            <a:srgbClr val="0A2559"/>
          </a:solidFill>
          <a:ln w="9525">
            <a:solidFill>
              <a:srgbClr val="0A255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5800" y="5148072"/>
            <a:ext cx="384048" cy="384048"/>
          </a:xfrm>
          <a:prstGeom prst="ellipse">
            <a:avLst/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5800" y="5148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1234440" y="502920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comparativa del módulo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4754880" y="5029200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5760720" y="5029200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tabla de los siete modelos, las dos importancias y el mapa de residuos.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02920" y="5852160"/>
            <a:ext cx="11183112" cy="457200"/>
          </a:xfrm>
          <a:prstGeom prst="roundRect">
            <a:avLst>
              <a:gd name="adj" fmla="val 12000"/>
            </a:avLst>
          </a:prstGeom>
          <a:solidFill>
            <a:srgbClr val="E9EEF8"/>
          </a:solidFill>
          <a:ln w="9525">
            <a:solidFill>
              <a:srgbClr val="D2DBE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31520" y="58521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para quien termine antes: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repite la parada temprana con max_depth = 3 y = 10. ¿Cuál gana en validación, y cuántos árboles necesita cada uno?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25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· 10 MIN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te llevas una sola cosa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55448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árbol solo es frágil; cientos de árboles bien combinados son lo más preciso que hay para datos tabulares. El precio es la interpretabilidad.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02920" y="2240280"/>
            <a:ext cx="6035040" cy="3611880"/>
          </a:xfrm>
          <a:prstGeom prst="roundRect">
            <a:avLst>
              <a:gd name="adj" fmla="val 1519"/>
            </a:avLst>
          </a:prstGeom>
          <a:solidFill>
            <a:srgbClr val="0F2F6B"/>
          </a:solidFill>
          <a:ln w="9525">
            <a:solidFill>
              <a:srgbClr val="1E3F7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487168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237744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números del Módulo 1 (en prueba)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743200"/>
          <a:ext cx="55778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005840"/>
                <a:gridCol w="914400"/>
                <a:gridCol w="1280160"/>
              </a:tblGrid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A9B7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6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A9B7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6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A9B7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6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A9B7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6B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9D4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Regresión lineal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6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A9B7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Clase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6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6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49 664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6B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9D4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 α = 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6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A9B7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Clase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6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6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49 653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6B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9D4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Lasso α = 1 000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6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A9B7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Clase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6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6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49 973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6B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9D4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SVR RBF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6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A9B7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Clase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6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6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37 926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6B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9D4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Árbol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6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A9B7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6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6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38 999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6B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9D4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6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A9B7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6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6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31 518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6B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9D4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6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A9B7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6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6B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6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6B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30 077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6B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812280" y="2240280"/>
            <a:ext cx="4873752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040880" y="2487168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269480" y="2377440"/>
            <a:ext cx="4233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clase · miércoles 7/10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040880" y="2743200"/>
            <a:ext cx="4434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5 · Métricas de clasificación y regresión logística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Empieza el Módulo 2: volvemos a predecir sí o no. Y la exactitud de la Clase 1 se va a quedar corta muy rápido.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812280" y="4160520"/>
            <a:ext cx="4873752" cy="1691640"/>
          </a:xfrm>
          <a:prstGeom prst="roundRect">
            <a:avLst>
              <a:gd name="adj" fmla="val 3243"/>
            </a:avLst>
          </a:prstGeom>
          <a:solidFill>
            <a:srgbClr val="0F2F6B"/>
          </a:solidFill>
          <a:ln w="9525">
            <a:solidFill>
              <a:srgbClr val="1E3F7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040880" y="4407408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4A82FF"/>
          </a:solidFill>
          <a:ln w="12700">
            <a:solidFill>
              <a:srgbClr val="4A82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269480" y="4297680"/>
            <a:ext cx="4233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de salida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7040880" y="461772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 cómo corta un árbol y cómo frenarlo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 por qué promediar árboles reduce la varianza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parada temprana en boosting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Distingo ganancia de permutación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502920" y="6217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59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Curso 7 · Clase 4 de 16 · Docente: Josef Renato Rodriguez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4 · Árboles, Random Forest y XGBoost</dc:title>
  <dc:subject>PptxGenJS Presentation</dc:subject>
  <dc:creator>Josef Renato Rodriguez</dc:creator>
  <cp:lastModifiedBy>Josef Renato Rodriguez</cp:lastModifiedBy>
  <cp:revision>1</cp:revision>
  <dcterms:created xsi:type="dcterms:W3CDTF">2026-10-05T14:54:38Z</dcterms:created>
  <dcterms:modified xsi:type="dcterms:W3CDTF">2026-10-05T14:54:38Z</dcterms:modified>
</cp:coreProperties>
</file>