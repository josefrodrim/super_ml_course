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5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6.xml" ContentType="application/vnd.openxmlformats-officedocument.drawingml.chart+xml"/>
  <Override PartName="/ppt/notesSlides/notesSlide14.xml" ContentType="application/vnd.openxmlformats-officedocument.presentationml.notesSlide+xml"/>
  <Override PartName="/ppt/charts/chart7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46"/>
    <p:restoredTop sz="94610"/>
  </p:normalViewPr>
  <p:slideViewPr>
    <p:cSldViewPr snapToGrid="0" snapToObjects="1">
      <p:cViewPr varScale="1">
        <p:scale>
          <a:sx n="226" d="100"/>
          <a:sy n="2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OOT 2010</c:v>
                </c:pt>
              </c:strCache>
            </c:strRef>
          </c:tx>
          <c:spPr>
            <a:ln w="31750" cap="flat">
              <a:solidFill>
                <a:srgbClr val="E6115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 </c:v>
                </c:pt>
                <c:pt idx="1">
                  <c:v>  </c:v>
                </c:pt>
                <c:pt idx="2">
                  <c:v>   </c:v>
                </c:pt>
                <c:pt idx="3">
                  <c:v>20</c:v>
                </c:pt>
                <c:pt idx="4">
                  <c:v> </c:v>
                </c:pt>
                <c:pt idx="5">
                  <c:v>  </c:v>
                </c:pt>
                <c:pt idx="6">
                  <c:v>   </c:v>
                </c:pt>
                <c:pt idx="7">
                  <c:v>40</c:v>
                </c:pt>
                <c:pt idx="8">
                  <c:v> </c:v>
                </c:pt>
                <c:pt idx="9">
                  <c:v>  </c:v>
                </c:pt>
                <c:pt idx="10">
                  <c:v>   </c:v>
                </c:pt>
                <c:pt idx="11">
                  <c:v>60</c:v>
                </c:pt>
                <c:pt idx="12">
                  <c:v> </c:v>
                </c:pt>
                <c:pt idx="13">
                  <c:v>  </c:v>
                </c:pt>
                <c:pt idx="14">
                  <c:v>   </c:v>
                </c:pt>
                <c:pt idx="15">
                  <c:v>80</c:v>
                </c:pt>
                <c:pt idx="16">
                  <c:v> </c:v>
                </c:pt>
                <c:pt idx="17">
                  <c:v>  </c:v>
                </c:pt>
                <c:pt idx="18">
                  <c:v>   </c:v>
                </c:pt>
                <c:pt idx="19">
                  <c:v>100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2225</c:v>
                </c:pt>
                <c:pt idx="1">
                  <c:v>4330</c:v>
                </c:pt>
                <c:pt idx="2">
                  <c:v>6135</c:v>
                </c:pt>
                <c:pt idx="3">
                  <c:v>8540</c:v>
                </c:pt>
                <c:pt idx="4">
                  <c:v>11030</c:v>
                </c:pt>
                <c:pt idx="5">
                  <c:v>12835</c:v>
                </c:pt>
                <c:pt idx="6">
                  <c:v>14280</c:v>
                </c:pt>
                <c:pt idx="7">
                  <c:v>14405</c:v>
                </c:pt>
                <c:pt idx="8">
                  <c:v>14650</c:v>
                </c:pt>
                <c:pt idx="9">
                  <c:v>15015</c:v>
                </c:pt>
                <c:pt idx="10">
                  <c:v>15200</c:v>
                </c:pt>
                <c:pt idx="11">
                  <c:v>15805</c:v>
                </c:pt>
                <c:pt idx="12">
                  <c:v>16530</c:v>
                </c:pt>
                <c:pt idx="13">
                  <c:v>17015</c:v>
                </c:pt>
                <c:pt idx="14">
                  <c:v>17200</c:v>
                </c:pt>
                <c:pt idx="15">
                  <c:v>16630</c:v>
                </c:pt>
                <c:pt idx="16">
                  <c:v>16695</c:v>
                </c:pt>
                <c:pt idx="17">
                  <c:v>15500</c:v>
                </c:pt>
                <c:pt idx="18">
                  <c:v>14065</c:v>
                </c:pt>
                <c:pt idx="19">
                  <c:v>12930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BAF-E44D-8847-B87BEEE6959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validación 2009</c:v>
                </c:pt>
              </c:strCache>
            </c:strRef>
          </c:tx>
          <c:spPr>
            <a:ln w="31750" cap="flat">
              <a:solidFill>
                <a:srgbClr val="4A82F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 </c:v>
                </c:pt>
                <c:pt idx="1">
                  <c:v>  </c:v>
                </c:pt>
                <c:pt idx="2">
                  <c:v>   </c:v>
                </c:pt>
                <c:pt idx="3">
                  <c:v>20</c:v>
                </c:pt>
                <c:pt idx="4">
                  <c:v> </c:v>
                </c:pt>
                <c:pt idx="5">
                  <c:v>  </c:v>
                </c:pt>
                <c:pt idx="6">
                  <c:v>   </c:v>
                </c:pt>
                <c:pt idx="7">
                  <c:v>40</c:v>
                </c:pt>
                <c:pt idx="8">
                  <c:v> </c:v>
                </c:pt>
                <c:pt idx="9">
                  <c:v>  </c:v>
                </c:pt>
                <c:pt idx="10">
                  <c:v>   </c:v>
                </c:pt>
                <c:pt idx="11">
                  <c:v>60</c:v>
                </c:pt>
                <c:pt idx="12">
                  <c:v> </c:v>
                </c:pt>
                <c:pt idx="13">
                  <c:v>  </c:v>
                </c:pt>
                <c:pt idx="14">
                  <c:v>   </c:v>
                </c:pt>
                <c:pt idx="15">
                  <c:v>80</c:v>
                </c:pt>
                <c:pt idx="16">
                  <c:v> </c:v>
                </c:pt>
                <c:pt idx="17">
                  <c:v>  </c:v>
                </c:pt>
                <c:pt idx="18">
                  <c:v>   </c:v>
                </c:pt>
                <c:pt idx="19">
                  <c:v>100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1930</c:v>
                </c:pt>
                <c:pt idx="1">
                  <c:v>2925</c:v>
                </c:pt>
                <c:pt idx="2">
                  <c:v>4735</c:v>
                </c:pt>
                <c:pt idx="3">
                  <c:v>5730</c:v>
                </c:pt>
                <c:pt idx="4">
                  <c:v>5800</c:v>
                </c:pt>
                <c:pt idx="5">
                  <c:v>5835</c:v>
                </c:pt>
                <c:pt idx="6">
                  <c:v>5545</c:v>
                </c:pt>
                <c:pt idx="7">
                  <c:v>4740</c:v>
                </c:pt>
                <c:pt idx="8">
                  <c:v>3910</c:v>
                </c:pt>
                <c:pt idx="9">
                  <c:v>3345</c:v>
                </c:pt>
                <c:pt idx="10">
                  <c:v>3115</c:v>
                </c:pt>
                <c:pt idx="11">
                  <c:v>2645</c:v>
                </c:pt>
                <c:pt idx="12">
                  <c:v>1960</c:v>
                </c:pt>
                <c:pt idx="13">
                  <c:v>1370</c:v>
                </c:pt>
                <c:pt idx="14">
                  <c:v>805</c:v>
                </c:pt>
                <c:pt idx="15">
                  <c:v>275</c:v>
                </c:pt>
                <c:pt idx="16">
                  <c:v>-410</c:v>
                </c:pt>
                <c:pt idx="17">
                  <c:v>-1000</c:v>
                </c:pt>
                <c:pt idx="18">
                  <c:v>-1385</c:v>
                </c:pt>
                <c:pt idx="19">
                  <c:v>-2455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BAF-E44D-8847-B87BEEE6959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B9BBE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8B9BBE"/>
                    </a:solidFill>
                    <a:latin typeface="Arial"/>
                  </a:rPr>
                  <a:t>% de la lista que se llama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A559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BB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1E3A73"/>
              </a:solidFill>
              <a:prstDash val="solid"/>
              <a:round/>
            </a:ln>
          </c:spPr>
        </c:majorGridlines>
        <c:numFmt formatCode="\€#\ ##0;\−\€#\ 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BB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DCE4F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Gini</c:v>
                </c:pt>
              </c:strCache>
            </c:strRef>
          </c:tx>
          <c:spPr>
            <a:ln w="31750" cap="flat">
              <a:solidFill>
                <a:srgbClr val="1A56E8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0.00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    </c:v>
                </c:pt>
                <c:pt idx="5">
                  <c:v>0.25</c:v>
                </c:pt>
                <c:pt idx="6">
                  <c:v> </c:v>
                </c:pt>
                <c:pt idx="7">
                  <c:v>  </c:v>
                </c:pt>
                <c:pt idx="8">
                  <c:v>   </c:v>
                </c:pt>
                <c:pt idx="9">
                  <c:v>    </c:v>
                </c:pt>
                <c:pt idx="10">
                  <c:v>0.50</c:v>
                </c:pt>
                <c:pt idx="11">
                  <c:v> </c:v>
                </c:pt>
                <c:pt idx="12">
                  <c:v>  </c:v>
                </c:pt>
                <c:pt idx="13">
                  <c:v>   </c:v>
                </c:pt>
                <c:pt idx="14">
                  <c:v>    </c:v>
                </c:pt>
                <c:pt idx="15">
                  <c:v>0.75</c:v>
                </c:pt>
                <c:pt idx="16">
                  <c:v> </c:v>
                </c:pt>
                <c:pt idx="17">
                  <c:v>  </c:v>
                </c:pt>
                <c:pt idx="18">
                  <c:v>   </c:v>
                </c:pt>
                <c:pt idx="19">
                  <c:v>    </c:v>
                </c:pt>
                <c:pt idx="20">
                  <c:v>1.00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9.5000000000000001E-2</c:v>
                </c:pt>
                <c:pt idx="2">
                  <c:v>0.18</c:v>
                </c:pt>
                <c:pt idx="3">
                  <c:v>0.255</c:v>
                </c:pt>
                <c:pt idx="4">
                  <c:v>0.32</c:v>
                </c:pt>
                <c:pt idx="5">
                  <c:v>0.375</c:v>
                </c:pt>
                <c:pt idx="6">
                  <c:v>0.42</c:v>
                </c:pt>
                <c:pt idx="7">
                  <c:v>0.45500000000000002</c:v>
                </c:pt>
                <c:pt idx="8">
                  <c:v>0.48</c:v>
                </c:pt>
                <c:pt idx="9">
                  <c:v>0.495</c:v>
                </c:pt>
                <c:pt idx="10">
                  <c:v>0.5</c:v>
                </c:pt>
                <c:pt idx="11">
                  <c:v>0.495</c:v>
                </c:pt>
                <c:pt idx="12">
                  <c:v>0.48</c:v>
                </c:pt>
                <c:pt idx="13">
                  <c:v>0.45500000000000002</c:v>
                </c:pt>
                <c:pt idx="14">
                  <c:v>0.42</c:v>
                </c:pt>
                <c:pt idx="15">
                  <c:v>0.375</c:v>
                </c:pt>
                <c:pt idx="16">
                  <c:v>0.32</c:v>
                </c:pt>
                <c:pt idx="17">
                  <c:v>0.255</c:v>
                </c:pt>
                <c:pt idx="18">
                  <c:v>0.18</c:v>
                </c:pt>
                <c:pt idx="19">
                  <c:v>9.5000000000000001E-2</c:v>
                </c:pt>
                <c:pt idx="2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ABD-2143-BF49-BFB2F618757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Entropía</c:v>
                </c:pt>
              </c:strCache>
            </c:strRef>
          </c:tx>
          <c:spPr>
            <a:ln w="31750" cap="flat">
              <a:solidFill>
                <a:srgbClr val="E6115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0.00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    </c:v>
                </c:pt>
                <c:pt idx="5">
                  <c:v>0.25</c:v>
                </c:pt>
                <c:pt idx="6">
                  <c:v> </c:v>
                </c:pt>
                <c:pt idx="7">
                  <c:v>  </c:v>
                </c:pt>
                <c:pt idx="8">
                  <c:v>   </c:v>
                </c:pt>
                <c:pt idx="9">
                  <c:v>    </c:v>
                </c:pt>
                <c:pt idx="10">
                  <c:v>0.50</c:v>
                </c:pt>
                <c:pt idx="11">
                  <c:v> </c:v>
                </c:pt>
                <c:pt idx="12">
                  <c:v>  </c:v>
                </c:pt>
                <c:pt idx="13">
                  <c:v>   </c:v>
                </c:pt>
                <c:pt idx="14">
                  <c:v>    </c:v>
                </c:pt>
                <c:pt idx="15">
                  <c:v>0.75</c:v>
                </c:pt>
                <c:pt idx="16">
                  <c:v> </c:v>
                </c:pt>
                <c:pt idx="17">
                  <c:v>  </c:v>
                </c:pt>
                <c:pt idx="18">
                  <c:v>   </c:v>
                </c:pt>
                <c:pt idx="19">
                  <c:v>    </c:v>
                </c:pt>
                <c:pt idx="20">
                  <c:v>1.00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</c:v>
                </c:pt>
                <c:pt idx="1">
                  <c:v>0.28639999999999999</c:v>
                </c:pt>
                <c:pt idx="2">
                  <c:v>0.46899999999999997</c:v>
                </c:pt>
                <c:pt idx="3">
                  <c:v>0.60980000000000001</c:v>
                </c:pt>
                <c:pt idx="4">
                  <c:v>0.72189999999999999</c:v>
                </c:pt>
                <c:pt idx="5">
                  <c:v>0.81130000000000002</c:v>
                </c:pt>
                <c:pt idx="6">
                  <c:v>0.88129999999999997</c:v>
                </c:pt>
                <c:pt idx="7">
                  <c:v>0.93410000000000004</c:v>
                </c:pt>
                <c:pt idx="8">
                  <c:v>0.97099999999999997</c:v>
                </c:pt>
                <c:pt idx="9">
                  <c:v>0.99280000000000002</c:v>
                </c:pt>
                <c:pt idx="10">
                  <c:v>1</c:v>
                </c:pt>
                <c:pt idx="11">
                  <c:v>0.99280000000000002</c:v>
                </c:pt>
                <c:pt idx="12">
                  <c:v>0.97099999999999997</c:v>
                </c:pt>
                <c:pt idx="13">
                  <c:v>0.93410000000000004</c:v>
                </c:pt>
                <c:pt idx="14">
                  <c:v>0.88129999999999997</c:v>
                </c:pt>
                <c:pt idx="15">
                  <c:v>0.81130000000000002</c:v>
                </c:pt>
                <c:pt idx="16">
                  <c:v>0.72189999999999999</c:v>
                </c:pt>
                <c:pt idx="17">
                  <c:v>0.60980000000000001</c:v>
                </c:pt>
                <c:pt idx="18">
                  <c:v>0.46899999999999997</c:v>
                </c:pt>
                <c:pt idx="19">
                  <c:v>0.28639999999999999</c:v>
                </c:pt>
                <c:pt idx="2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ABD-2143-BF49-BFB2F61875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87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5B6B87"/>
                    </a:solidFill>
                    <a:latin typeface="Arial"/>
                  </a:rPr>
                  <a:t>p: tasa de contratación del grupo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2DBEC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8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A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entrenamiento</c:v>
                </c:pt>
              </c:strCache>
            </c:strRef>
          </c:tx>
          <c:spPr>
            <a:ln w="28575" cap="flat">
              <a:solidFill>
                <a:srgbClr val="0A25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2559"/>
              </a:solidFill>
              <a:ln w="9525" cap="flat">
                <a:solidFill>
                  <a:srgbClr val="0A2559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0.52300000000000002</c:v>
                </c:pt>
                <c:pt idx="1">
                  <c:v>0.60399999999999998</c:v>
                </c:pt>
                <c:pt idx="2">
                  <c:v>0.61</c:v>
                </c:pt>
                <c:pt idx="3">
                  <c:v>0.628</c:v>
                </c:pt>
                <c:pt idx="4">
                  <c:v>0.64100000000000001</c:v>
                </c:pt>
                <c:pt idx="5">
                  <c:v>0.64600000000000002</c:v>
                </c:pt>
                <c:pt idx="6">
                  <c:v>0.65600000000000003</c:v>
                </c:pt>
                <c:pt idx="7">
                  <c:v>0.66600000000000004</c:v>
                </c:pt>
                <c:pt idx="8">
                  <c:v>0.67400000000000004</c:v>
                </c:pt>
                <c:pt idx="9">
                  <c:v>0.68799999999999994</c:v>
                </c:pt>
                <c:pt idx="10">
                  <c:v>0.70599999999999996</c:v>
                </c:pt>
                <c:pt idx="11">
                  <c:v>0.72399999999999998</c:v>
                </c:pt>
                <c:pt idx="12">
                  <c:v>0.75</c:v>
                </c:pt>
                <c:pt idx="13">
                  <c:v>0.77400000000000002</c:v>
                </c:pt>
                <c:pt idx="14">
                  <c:v>0.80100000000000005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818-F648-A1D1-C04B3AD385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validación 2009</c:v>
                </c:pt>
              </c:strCache>
            </c:strRef>
          </c:tx>
          <c:spPr>
            <a:ln w="28575" cap="flat">
              <a:solidFill>
                <a:srgbClr val="1A56E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56E8"/>
              </a:solidFill>
              <a:ln w="9525" cap="flat">
                <a:solidFill>
                  <a:srgbClr val="1A56E8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0.60399999999999998</c:v>
                </c:pt>
                <c:pt idx="1">
                  <c:v>0.61699999999999999</c:v>
                </c:pt>
                <c:pt idx="2">
                  <c:v>0.59699999999999998</c:v>
                </c:pt>
                <c:pt idx="3">
                  <c:v>0.59499999999999997</c:v>
                </c:pt>
                <c:pt idx="4">
                  <c:v>0.58499999999999996</c:v>
                </c:pt>
                <c:pt idx="5">
                  <c:v>0.57199999999999995</c:v>
                </c:pt>
                <c:pt idx="6">
                  <c:v>0.56200000000000006</c:v>
                </c:pt>
                <c:pt idx="7">
                  <c:v>0.56999999999999995</c:v>
                </c:pt>
                <c:pt idx="8">
                  <c:v>0.56200000000000006</c:v>
                </c:pt>
                <c:pt idx="9">
                  <c:v>0.53800000000000003</c:v>
                </c:pt>
                <c:pt idx="10">
                  <c:v>0.53400000000000003</c:v>
                </c:pt>
                <c:pt idx="11">
                  <c:v>0.50800000000000001</c:v>
                </c:pt>
                <c:pt idx="12">
                  <c:v>0.51</c:v>
                </c:pt>
                <c:pt idx="13">
                  <c:v>0.49099999999999999</c:v>
                </c:pt>
                <c:pt idx="14">
                  <c:v>0.50700000000000001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818-F648-A1D1-C04B3AD385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OOT 2010</c:v>
                </c:pt>
              </c:strCache>
            </c:strRef>
          </c:tx>
          <c:spPr>
            <a:ln w="28575" cap="flat">
              <a:solidFill>
                <a:srgbClr val="E6115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115E"/>
              </a:solidFill>
              <a:ln w="9525" cap="flat">
                <a:solidFill>
                  <a:srgbClr val="E6115E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0.66</c:v>
                </c:pt>
                <c:pt idx="1">
                  <c:v>0.7</c:v>
                </c:pt>
                <c:pt idx="2">
                  <c:v>0.67800000000000005</c:v>
                </c:pt>
                <c:pt idx="3">
                  <c:v>0.66600000000000004</c:v>
                </c:pt>
                <c:pt idx="4">
                  <c:v>0.64700000000000002</c:v>
                </c:pt>
                <c:pt idx="5">
                  <c:v>0.63600000000000001</c:v>
                </c:pt>
                <c:pt idx="6">
                  <c:v>0.627</c:v>
                </c:pt>
                <c:pt idx="7">
                  <c:v>0.61899999999999999</c:v>
                </c:pt>
                <c:pt idx="8">
                  <c:v>0.61699999999999999</c:v>
                </c:pt>
                <c:pt idx="9">
                  <c:v>0.60899999999999999</c:v>
                </c:pt>
                <c:pt idx="10">
                  <c:v>0.60599999999999998</c:v>
                </c:pt>
                <c:pt idx="11">
                  <c:v>0.56200000000000006</c:v>
                </c:pt>
                <c:pt idx="12">
                  <c:v>0.56299999999999994</c:v>
                </c:pt>
                <c:pt idx="13">
                  <c:v>0.53700000000000003</c:v>
                </c:pt>
                <c:pt idx="14">
                  <c:v>0.54700000000000004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818-F648-A1D1-C04B3AD385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87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5B6B87"/>
                    </a:solidFill>
                    <a:latin typeface="Arial"/>
                  </a:rPr>
                  <a:t>profundidad máxima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2DBEC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.45"/>
        </c:scaling>
        <c:delete val="0"/>
        <c:axPos val="l"/>
        <c:majorGridlines>
          <c:spPr>
            <a:ln w="9525" cap="flat">
              <a:solidFill>
                <a:srgbClr val="E3E8F2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2C3A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validación</c:v>
                </c:pt>
              </c:strCache>
            </c:strRef>
          </c:tx>
          <c:spPr>
            <a:solidFill>
              <a:srgbClr val="1A56E8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A2559"/>
                    </a:solidFill>
                    <a:latin typeface="Calibri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k = 5</c:v>
                </c:pt>
                <c:pt idx="1">
                  <c:v>k = 15</c:v>
                </c:pt>
                <c:pt idx="2">
                  <c:v>k = 51</c:v>
                </c:pt>
                <c:pt idx="3">
                  <c:v>k = 101</c:v>
                </c:pt>
                <c:pt idx="4">
                  <c:v>k = 201</c:v>
                </c:pt>
                <c:pt idx="5">
                  <c:v>k = 401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0.56999999999999995</c:v>
                </c:pt>
                <c:pt idx="1">
                  <c:v>0.59699999999999998</c:v>
                </c:pt>
                <c:pt idx="2">
                  <c:v>0.60799999999999998</c:v>
                </c:pt>
                <c:pt idx="3">
                  <c:v>0.61599999999999999</c:v>
                </c:pt>
                <c:pt idx="4">
                  <c:v>0.61599999999999999</c:v>
                </c:pt>
                <c:pt idx="5">
                  <c:v>0.61399999999999999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49-DA41-9A50-0928395D1CB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2DBEC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5"/>
          <c:min val="0.5"/>
        </c:scaling>
        <c:delete val="0"/>
        <c:axPos val="l"/>
        <c:majorGridlines>
          <c:spPr>
            <a:ln w="9525" cap="flat">
              <a:solidFill>
                <a:srgbClr val="E3E8F2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PR-AUC del modelo</c:v>
                </c:pt>
              </c:strCache>
            </c:strRef>
          </c:tx>
          <c:spPr>
            <a:solidFill>
              <a:srgbClr val="E6115E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A2559"/>
                    </a:solidFill>
                    <a:latin typeface="Calibri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Entrenamiento</c:v>
                </c:pt>
                <c:pt idx="1">
                  <c:v>Validación 2009</c:v>
                </c:pt>
                <c:pt idx="2">
                  <c:v>OOT 2010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0.14799999999999999</c:v>
                </c:pt>
                <c:pt idx="1">
                  <c:v>0.54</c:v>
                </c:pt>
                <c:pt idx="2">
                  <c:v>0.70299999999999996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A20-044C-AF1E-B895C6D076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línea base: la tasa</c:v>
                </c:pt>
              </c:strCache>
            </c:strRef>
          </c:tx>
          <c:spPr>
            <a:solidFill>
              <a:srgbClr val="A9B6D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A2559"/>
                    </a:solidFill>
                    <a:latin typeface="Calibri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Entrenamiento</c:v>
                </c:pt>
                <c:pt idx="1">
                  <c:v>Validación 2009</c:v>
                </c:pt>
                <c:pt idx="2">
                  <c:v>OOT 2010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7.2999999999999995E-2</c:v>
                </c:pt>
                <c:pt idx="1">
                  <c:v>0.39800000000000002</c:v>
                </c:pt>
                <c:pt idx="2">
                  <c:v>0.52100000000000002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A20-044C-AF1E-B895C6D076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2DBEC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"/>
        </c:scaling>
        <c:delete val="0"/>
        <c:axPos val="l"/>
        <c:majorGridlines>
          <c:spPr>
            <a:ln w="9525" cap="flat">
              <a:solidFill>
                <a:srgbClr val="E3E8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A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validación 2009</c:v>
                </c:pt>
              </c:strCache>
            </c:strRef>
          </c:tx>
          <c:spPr>
            <a:ln w="34925" cap="flat">
              <a:solidFill>
                <a:srgbClr val="1A56E8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56E8"/>
              </a:solidFill>
              <a:ln w="9525" cap="flat">
                <a:solidFill>
                  <a:srgbClr val="1A56E8"/>
                </a:solidFill>
                <a:prstDash val="solid"/>
                <a:round/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 </c:v>
                </c:pt>
                <c:pt idx="1">
                  <c:v>10</c:v>
                </c:pt>
                <c:pt idx="2">
                  <c:v> </c:v>
                </c:pt>
                <c:pt idx="3">
                  <c:v>20</c:v>
                </c:pt>
                <c:pt idx="4">
                  <c:v> </c:v>
                </c:pt>
                <c:pt idx="5">
                  <c:v>30</c:v>
                </c:pt>
                <c:pt idx="6">
                  <c:v> </c:v>
                </c:pt>
                <c:pt idx="7">
                  <c:v>40</c:v>
                </c:pt>
                <c:pt idx="8">
                  <c:v> </c:v>
                </c:pt>
                <c:pt idx="9">
                  <c:v>50</c:v>
                </c:pt>
                <c:pt idx="10">
                  <c:v> </c:v>
                </c:pt>
                <c:pt idx="11">
                  <c:v>60</c:v>
                </c:pt>
                <c:pt idx="12">
                  <c:v> </c:v>
                </c:pt>
                <c:pt idx="13">
                  <c:v>70</c:v>
                </c:pt>
                <c:pt idx="14">
                  <c:v> </c:v>
                </c:pt>
                <c:pt idx="15">
                  <c:v>80</c:v>
                </c:pt>
                <c:pt idx="16">
                  <c:v> </c:v>
                </c:pt>
                <c:pt idx="17">
                  <c:v>90</c:v>
                </c:pt>
                <c:pt idx="18">
                  <c:v> </c:v>
                </c:pt>
                <c:pt idx="19">
                  <c:v>100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1930</c:v>
                </c:pt>
                <c:pt idx="1">
                  <c:v>2925</c:v>
                </c:pt>
                <c:pt idx="2">
                  <c:v>4735</c:v>
                </c:pt>
                <c:pt idx="3">
                  <c:v>5730</c:v>
                </c:pt>
                <c:pt idx="4">
                  <c:v>5800</c:v>
                </c:pt>
                <c:pt idx="5">
                  <c:v>5835</c:v>
                </c:pt>
                <c:pt idx="6">
                  <c:v>5545</c:v>
                </c:pt>
                <c:pt idx="7">
                  <c:v>4740</c:v>
                </c:pt>
                <c:pt idx="8">
                  <c:v>3910</c:v>
                </c:pt>
                <c:pt idx="9">
                  <c:v>3345</c:v>
                </c:pt>
                <c:pt idx="10">
                  <c:v>3115</c:v>
                </c:pt>
                <c:pt idx="11">
                  <c:v>2645</c:v>
                </c:pt>
                <c:pt idx="12">
                  <c:v>1960</c:v>
                </c:pt>
                <c:pt idx="13">
                  <c:v>1370</c:v>
                </c:pt>
                <c:pt idx="14">
                  <c:v>805</c:v>
                </c:pt>
                <c:pt idx="15">
                  <c:v>275</c:v>
                </c:pt>
                <c:pt idx="16">
                  <c:v>-410</c:v>
                </c:pt>
                <c:pt idx="17">
                  <c:v>-1000</c:v>
                </c:pt>
                <c:pt idx="18">
                  <c:v>-1385</c:v>
                </c:pt>
                <c:pt idx="19">
                  <c:v>-2455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5F-F043-9D0D-A6CD88D009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87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5B6B87"/>
                    </a:solidFill>
                    <a:latin typeface="Arial"/>
                  </a:rPr>
                  <a:t>% de la lista que se llama, de mayor a menor score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2DBEC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F2"/>
              </a:solidFill>
              <a:prstDash val="solid"/>
              <a:round/>
            </a:ln>
          </c:spPr>
        </c:majorGridlines>
        <c:numFmt formatCode="\€#\ ##0;\−\€#\ 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ganancia 2010</c:v>
                </c:pt>
              </c:strCache>
            </c:strRef>
          </c:tx>
          <c:spPr>
            <a:solidFill>
              <a:srgbClr val="1A56E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F23-5B42-84F6-070FACD019F4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FF23-5B42-84F6-070FACD019F4}"/>
              </c:ext>
            </c:extLst>
          </c:dPt>
          <c:dPt>
            <c:idx val="2"/>
            <c:invertIfNegative val="0"/>
            <c:bubble3D val="0"/>
            <c:spPr>
              <a:solidFill>
                <a:srgbClr val="A9B6D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F23-5B42-84F6-070FACD019F4}"/>
              </c:ext>
            </c:extLst>
          </c:dPt>
          <c:dPt>
            <c:idx val="3"/>
            <c:invertIfNegative val="0"/>
            <c:bubble3D val="0"/>
            <c:spPr>
              <a:solidFill>
                <a:srgbClr val="E611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F23-5B42-84F6-070FACD019F4}"/>
              </c:ext>
            </c:extLst>
          </c:dPt>
          <c:dPt>
            <c:idx val="4"/>
            <c:invertIfNegative val="0"/>
            <c:bubble3D val="0"/>
            <c:spPr>
              <a:solidFill>
                <a:srgbClr val="C9D4E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F23-5B42-84F6-070FACD019F4}"/>
              </c:ext>
            </c:extLst>
          </c:dPt>
          <c:dLbls>
            <c:numFmt formatCode="\€#\ ##0;\−\€#\ 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A2559"/>
                    </a:solidFill>
                    <a:latin typeface="Calibri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umbral 0.5</c:v>
                </c:pt>
                <c:pt idx="1">
                  <c:v>regla C/M</c:v>
                </c:pt>
                <c:pt idx="2">
                  <c:v>llamar a todos</c:v>
                </c:pt>
                <c:pt idx="3">
                  <c:v>umbral de validación</c:v>
                </c:pt>
                <c:pt idx="4">
                  <c:v>máximo (ex post)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3415</c:v>
                </c:pt>
                <c:pt idx="1">
                  <c:v>8575</c:v>
                </c:pt>
                <c:pt idx="2">
                  <c:v>12930</c:v>
                </c:pt>
                <c:pt idx="3">
                  <c:v>14455</c:v>
                </c:pt>
                <c:pt idx="4">
                  <c:v>17280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FF23-5B42-84F6-070FACD019F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2DBEC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0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32269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La pregunta de hoy es la que dejamos abierta en la Clase 6: ya tenemos un modelo que ordena (AUC 0.704 en 2010), pero con el umbral de 0.5 llama a casi nadie. El gráfico de la derecha es el resultado final de la clase: la curva de ganancia en 2009 y en 2010. Volvemos a él en el Bloque 5. Anuncia la idea fuerza desde el inicio: hoy vamos a ver que el umbral vale más que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minutos incluyen teoría y laboratorio. El notebook tiene unos 68 minutos de práctica; el resto es exposición con estas slides. Si el tiempo aprieta, el Bloque 4 se puede dar solo con la slide y la demostración 4.2. El Bloque 5 no se recorta.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Repaso de 5 minutos. La Celda 0 del notebook rearma todo esto con una sola función (la escalera de la Clase 6) y entrena la misma logística: es el modelo a batir. Pregunta a la clase antes de avanzar: si el modelo ordena bien, ¿por qué llama a tan pocos? La respuesta (probabilidades descalibradas) es la semilla del Bloque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la impureza con la intuición del grupo puro: si en una hoja todos contratan o nadie contrata, la pregunta ya no aporta. Gini y entropía son dos formas de medir lo mismo; la diferencia está cerca de p = 0: la entropía sube más rápido. Eso lo vamos a ver con los datos reales en dos slides. Recuerda que en la Clase 4 vieron árboles de regresión con el error cuadrático; aquí cambia solo la medida de impureza.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Hazlo en la pizarra antes de mostrar los resultados. Que calculen el Gini de la raíz (0.48) y el del corte por canal. Es el Ejercicio 1.1: en el notebook programan las tres funciones (gini, entropia, ganancia) y verifican exactamente estos números. Aquí los dos criterios coinciden: el árbol empezaría preguntando por el canal.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1.2 y Demostración 1.3. La sorpresa: con datos reales los dos criterios eligen raíces distintas. La explicación intuitiva: la entropía tiene pendiente infinita cerca de p = 0, así que distinguir tasas bajas (4 % contra 9 %) le pesa más. Pero a profundidad 2 los dos árboles terminan casi en la misma partición. Remata con la frase de abajo: el árbol no manda llamar a nadie porque todas sus hojas tienen menos del 50 % de contratantes. Eso abre el Bloque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1.4 y Demostración 1.5. Es el mismo sobreajuste de la Clase 4, ahora en clasificación. Desde la profundidad 3 la curva de entrenamiento sube y las otras dos bajan. Nota que el OOT va por encima de la validación en toda la curva: 2010 es más fácil de ordenar (ya lo vimos en la Clase 6), no es que el modelo mejore. Lo que importa es la forma de cada curva.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2.1. El mejor k es 201 (AUC 0.616), elegido en validación, casi empatado con 101. Pregunta a la clase por qué escalar importa en KNN y no en el árbol: el árbol compara una variable con un corte; KNN suma diferencias entre todas. En producción, KNN obliga a cargar toda la base de entrenamiento para puntuar cada 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 2.2. Bloque corto a propósito: el margen y el kernel ya los vieron con SVR. Lo que importa para el trabajo es lo práctico: no da probabilidades y no escala. La fila de 20 000 la medimos al preparar la clase; no la corras en vivo. Si alguien pregunta, el SVC con kernel lineal da prácticamente lo mismo que la logística.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3.1. Dos mensajes. Uno: con clases desbalanceadas la exactitud es inútil (92.7 % sin vender nada). Dos: la receta de balancear no le da al modelo nueva información; reparte distinto el peso, y el resultado es casi el mismo orden con probabilidades infladas. Como en una campaña el orden es lo que importa y el umbral lo vamos a elegir con costos, balancear no hace falta. En fraude, con 1 positivo cada mil, la discusión es la misma.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4.1 y Demostración 4.2. El lift es PR-AUC dividido entre la tasa. En entrenamiento el lift es 2.03 con un PR-AUC de apenas 0.148: con positivos raros, un PR-AUC bajo puede ser un gran modelo. Para ellos que vienen de riesgos: en fraude, una ROC de 0.95 puede esconder que de cada 100 alertas solo 3 son fraude; la curva PR lo muestra de frente.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 en que los costos son supuestos del caso, no del dataset, y que en la vida real los pone el área de negocio, por escrito. El falso negativo vale 0 en caja, aunque sea una venta perdida: es un costo de oportunidad. El punto de equilibrio 0.417 es clave: en el segundo semestre de 2009 contrata el 39.8 %, debajo del equilibrio, así que llamar a todos pierde. En 2008 contrataba el 5 %: con estos costos, el banco perdía dinero llamando a todos, y por eso cambió de estrategia después de la crisis.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5.1. La función ganancia_campana es de tres líneas; lo importante es la búsqueda: se prueba cada score único como umbral. Muestra la forma de la curva: sube mientras los llamados contratan más del 41.7 %, llega a un máximo cerca del 23 % de la lista y después baja hasta quedar en negativo. El umbral elegido es 0.219, y a partir de aquí queda congelado: se aplica tal cual a 2010.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5.2 y Demostración 5.3. En 2010 llamar a todos ya no pierde (la tasa subió al 52 %), pero el modelo con el umbral de validación gana más porque deja de llamar a los que no compran. Nota la meseta de la curva en 2010 entre el 40 % y el 85 %: ahí casi cualquier corte gana parecido. Si se fija la capacidad en vez del umbral (llamo al 20 %), el volumen no se adapta cuando llegan mejores clientes. El máximo ex post es solo una referencia: nadie lo conoce al decidir.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 5.4. Es la slide que resume la clase. Con estos datos ningún modelo no lineal le gana a la logística, y el SVC queda incluso debajo de llamar a todos. El árbol de dos niveles se traduce en una regla que cualquier gerente entiende: llamar a los que ya contactamos antes. Antes de pedir un modelo más complejo, hay que preguntarse cuánto le gana a esa regla. El viernes probamos Random Forest y XGBoost con la misma vara: ganancia en 2010 con umbral de validación.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 el checklist en voz alta y pide que cada uno marque lo que no le quedó claro: eso guía el repaso del viernes. Recuerda el reto del notebook (recalibrar en validación y usar la regla C/M: da casi la misma ganancia, 14 530 euros). El parcial del lunes 19 cubre los Módulos 1 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960120"/>
            <a:ext cx="251460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96012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· CLASE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6035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cortamos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lista?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30352" y="32461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DC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Árboles de clasificación, KNN y SVC, el desbalance, la curva precision-recall y el umbral que paga, con el mismo caso del banco.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€14 455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4846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en 2010 con el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validación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4434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€3 415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4846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lista con el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0.5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modelos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4846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casi la misma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5440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Josef Renato Rodriguez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B9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· Programa de Especialización Data Scientist · Sesión 7 de 15</a:t>
            </a:r>
            <a:endParaRPr lang="en-US" sz="110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6903720" y="1234440"/>
          <a:ext cx="48463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6903720" y="5486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según cuánto de la lista se llama, de mayor a menor score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repartimos los 120 minutos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bloques con el mismo caso: primero tres modelos nuevos, después cómo se mide y dónde se corta.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6949440" cy="36576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9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Dónde quedamos y la pregunta del día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árbol a mano: Gini, entropía y profundidad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 y SVC en bloque corto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desbalance: por qué el árbol no llama a nadie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curva precision-recall y el PR-AUC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umbral según el costo de la llamada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 y la tabla del día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2103120"/>
            <a:ext cx="3867912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19288" y="2212848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te llevas hoy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19288" y="26060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a mano el Gini, la entropía y la ganancia de un corte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profundidad y k con la validación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el PR-AUC junto a su línea base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el umbral con los costos del negocio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818120" y="4617720"/>
            <a:ext cx="3867912" cy="1371600"/>
          </a:xfrm>
          <a:prstGeom prst="roundRect">
            <a:avLst>
              <a:gd name="adj" fmla="val 5333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4727448"/>
            <a:ext cx="341071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5 es el importante. </a:t>
            </a:r>
            <a:r>
              <a:rPr lang="en-US" sz="125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Ahí se ve que mover el umbral vale más dinero que cambiar de modelo.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CLASE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quedamos: un modelo que ordena y no se anima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regresión logística, entrenada en 2008–2009 y probada en 2010.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2402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0.704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34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en el OOT de 2010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004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ordena: el primer decil contrataba el 77 %.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9392" y="21031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2402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 de 2 058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834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 llamar con el umbral 0.5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07992" y="32004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 11.6 %: deja casi todas las ventas sin hacer.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55864" y="21031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84464" y="22402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0.216 vs 0.521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8284464" y="2834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media contra tasa real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32004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Aprendió con un 7 % de éxito: sus probabilidades quedaron bajas.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2976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" y="4407408"/>
            <a:ext cx="5038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1 · ¿un modelo no lineal ordena mejor?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" y="48006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Árboles de clasificación, KNN y SVC contra la logística, con el mismo corte temporal y las mismas variables sin fugas.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45352" y="429768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6520" y="4407408"/>
            <a:ext cx="5038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2 · ¿dónde cortamos la lista?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8006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llamada cuesta y cada venta deja margen. El 0.5 no es sagrado: el umbral lo fijan los costos.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359152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ÁRBOLES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árbol hace preguntas de sí o no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paso elige la pregunta que deja grupos más puros: casi todos contratan o casi nadie.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5669280" cy="2514600"/>
          </a:xfrm>
          <a:prstGeom prst="roundRect">
            <a:avLst>
              <a:gd name="adj" fmla="val 2909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86000"/>
            <a:ext cx="52120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Gini(p) = 1 − p² − (1 − p)²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Entropía(p) = −p·log₂p − (1 − p)·log₂(1 − p)</a:t>
            </a:r>
            <a:endParaRPr lang="en-US" sz="1700" dirty="0"/>
          </a:p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300" b="1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= impureza(padre) − promedio ponderado de la impureza de los hijos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46520" y="2103120"/>
            <a:ext cx="5239512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47688" y="2212848"/>
            <a:ext cx="4837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valen 0 en un grupo puro y son máximas en p = 0.5</a:t>
            </a:r>
            <a:endParaRPr lang="en-US" sz="12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6583680" y="2560320"/>
          <a:ext cx="49834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484632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4088" y="4956048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" y="5321808"/>
            <a:ext cx="2295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variable y un corte: ¿contactado antes? ¿edad ≤ 40?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474720" y="484632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75888" y="4956048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elección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675888" y="5321808"/>
            <a:ext cx="2295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prueban todos los cortes y gana el de mayor ganancia.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359152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ÁRBOLES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papel primero: diez llamadas, cuatro ventas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Raíz: p = 0.4 · Gini 0.48 · entropía 0.971. ¿Por qué pregunta empieza el árbol?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11183112" cy="1536192"/>
        </p:xfrm>
        <a:graphic>
          <a:graphicData uri="http://schemas.openxmlformats.org/drawingml/2006/table">
            <a:tbl>
              <a:tblPr/>
              <a:tblGrid>
                <a:gridCol w="1673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fijo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fijo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fijo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fijo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contactado antes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8862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4088" y="3995928"/>
            <a:ext cx="5038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B8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por canal · gana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04088" y="438912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Celular: 4 de 6 → Gini 1 − (2/3)² − (1/3)² = 0.444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Fijo: 0 de 4 → Gini 0 (puro)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Ponderado: 0.6 · 0.444 + 0.4 · 0 = 0.267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Gini 0.213 · entropía 0.420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38862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995928"/>
            <a:ext cx="5038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por contactado antes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438912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Sí: 2 de 3 → Gini 0.444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2 de 7 → Gini 0.408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Ponderado: 0.3 · 0.444 + 0.7 · 0.408 = 0.419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Gini 0.061 · entropía 0.091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359152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ÁRBOLES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los datos reales, Gini y entropía no coinciden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36 939 clientes del entrenamiento: ¿primero «contactado antes» o «canal»?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6949440" cy="15087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Hijo «sí»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Hijo «no»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Ganancia Gini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Ganancia entropía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contactado antes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 · tasa 40.4 %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36 597 · tasa 7.0 %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celular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22 533 · tasa 9.3 %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14 406 · tasa 4.2 %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502920" y="3794760"/>
            <a:ext cx="33375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4088" y="39044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aísla lo raro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04088" y="4270248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Prefiere separar a los 342 ya contactados, que contratan el 40 %.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14800" y="3794760"/>
            <a:ext cx="33375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15968" y="39044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entropía mira las tasas bajas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315968" y="4270248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importa más separar un 4.2 % de un 9.3 %.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5349240"/>
            <a:ext cx="6949440" cy="731520"/>
          </a:xfrm>
          <a:prstGeom prst="roundRect">
            <a:avLst>
              <a:gd name="adj" fmla="val 1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545896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ninguna hoja pasa del 50 %: </a:t>
            </a:r>
            <a:r>
              <a:rPr lang="en-US" sz="125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árbol no manda llamar a nadie. Pero ordena.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72668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27848" y="2212848"/>
            <a:ext cx="3557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profundidad 2, las mismas hojas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927848" y="26517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4.1 %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189720" y="26517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fijo, sin contacto previo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14 392 clientes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927848" y="35204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8.8 %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9189720" y="35204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celular, sin contacto previo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22 205 clientes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927848" y="4389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40.4 %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189720" y="43891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contactados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 clientes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927848" y="5257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en validación: 0.617 con Gini, 0.617 con entropía. El criterio rara vez decide.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359152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ÁRBOLES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preguntas: mejor en el entrenamiento, peor en el futuro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según la profundidad máxima. La profundidad se elige con la validación, nunca con el entrenamiento.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73152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graphicFrame>
        <p:nvGraphicFramePr>
          <p:cNvPr id="7" name="Chart 0"/>
          <p:cNvGraphicFramePr/>
          <p:nvPr/>
        </p:nvGraphicFramePr>
        <p:xfrm>
          <a:off x="640080" y="2194560"/>
          <a:ext cx="704088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2103120"/>
            <a:ext cx="359359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93608" y="22128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B8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niveles · 4 hojas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293608" y="272491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elegida. AUC 0.617 en validación y 0.700 en el OOT: lo mismo que la logística.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92440" y="4069080"/>
            <a:ext cx="359359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93608" y="4178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límite: 5 963 hojas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293608" y="4690872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niveles. AUC 0.990 en el entrenamiento y 0.523 en validación: memorizó a los clientes, no aprendió nada.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KNN Y SVC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KNN: dime con quién andas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 los k clientes más parecidos del entrenamiento y devuelve la proporción que contrató.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67665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4088" y="2212848"/>
            <a:ext cx="6364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en validación según k (variables escaladas)</a:t>
            </a:r>
            <a:endParaRPr lang="en-US" sz="12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2560320"/>
          <a:ext cx="64922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7543800" y="2103120"/>
            <a:ext cx="4142232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44968" y="2212848"/>
            <a:ext cx="3739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chico memoriza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44968" y="2578608"/>
            <a:ext cx="3739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5 vecinos, AUC 0.570: muy poca evidencia por cliente.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43800" y="3474720"/>
            <a:ext cx="4142232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44968" y="3584448"/>
            <a:ext cx="3739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escalar, se rompe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44968" y="3950208"/>
            <a:ext cx="3739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k = 201 cae a 0.541: la edad aplasta a todas las demás variables en la distancia.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43800" y="4846320"/>
            <a:ext cx="4142232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44968" y="4956048"/>
            <a:ext cx="3739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escondido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44968" y="5321808"/>
            <a:ext cx="3739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entrena: guarda las 36 939 filas y las recorre cada vez que puntúa.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KNN Y SVC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SVC: la frontera con el mayor margen, a un precio alto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del SVR de la Clase 3, ahora para separar a los que contratan de los que no.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6949440" cy="23774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de entrenamiento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Vectores de soporte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validación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1 425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2 708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55371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Tiempos medidos en el entorno de preparación; en Colab cambian, pero crecen igual.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02920" y="4983480"/>
            <a:ext cx="6949440" cy="1051560"/>
          </a:xfrm>
          <a:prstGeom prst="roundRect">
            <a:avLst>
              <a:gd name="adj" fmla="val 6957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093208"/>
            <a:ext cx="6492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gana: </a:t>
            </a:r>
            <a:r>
              <a:rPr lang="en-US" sz="125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0.577 y 0.591, debajo de la logística (0.619). El kernel curvo no encuentra lo que la recta no vio.</a:t>
            </a:r>
            <a:endParaRPr lang="en-US" sz="1250" dirty="0"/>
          </a:p>
        </p:txBody>
      </p:sp>
      <p:sp>
        <p:nvSpPr>
          <p:cNvPr id="6" name="Shape 7"/>
          <p:cNvSpPr/>
          <p:nvPr/>
        </p:nvSpPr>
        <p:spPr>
          <a:xfrm>
            <a:off x="7726680" y="2103120"/>
            <a:ext cx="395935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27848" y="2212848"/>
            <a:ext cx="3557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un score, no una probabilidad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927848" y="2578608"/>
            <a:ext cx="35570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decision_function es la distancia a la frontera: sirve para ordenar y para el AUC. probability=True las estima con validación cruzada interna y tarda varias veces más.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726680" y="4069080"/>
            <a:ext cx="39593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27848" y="4178808"/>
            <a:ext cx="3557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los datos cuesta 4 a 8 veces más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927848" y="4544568"/>
            <a:ext cx="35570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entrenamiento compara pares de clientes. Con los 36 939 completos serían minutos, y eso cada vez que se reentrena.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660904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DESBALANCE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Balancear no mejora el orden: mueve las probabilidades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entrenamiento contrata el 7.3 %. Decir siempre «no» acierta casi siempre.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6949440" cy="8229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llamar nunca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Entrenamiento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exactitud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92.7 %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154680"/>
          <a:ext cx="6949440" cy="12344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 · OOT 2010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 con 0.5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class_weight="balanced"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1 683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663440"/>
            <a:ext cx="6949440" cy="1371600"/>
          </a:xfrm>
          <a:prstGeom prst="roundRect">
            <a:avLst>
              <a:gd name="adj" fmla="val 5333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4773168"/>
            <a:ext cx="64922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de orden: 0.98. </a:t>
            </a:r>
            <a:r>
              <a:rPr lang="en-US" sz="125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clientes, casi en el mismo orden. Balancear es mover el umbral por otra vía, y de paso rompe la calibración.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726680" y="2103120"/>
            <a:ext cx="3959352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6" name="Text 7"/>
          <p:cNvSpPr txBox="1"/>
          <p:nvPr/>
        </p:nvSpPr>
        <p:spPr>
          <a:xfrm>
            <a:off x="7927848" y="2212848"/>
            <a:ext cx="3557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recetas de siempre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927848" y="26334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 cada contratante como unos 13 no contratantes: mismo orden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927848" y="35021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submuestreo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5 390 filas: AUC 0.625 y 0.711, con el 15 % de los datos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927848" y="437083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 clientes interpolando vecinos: no lo usamos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927848" y="525780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limpio: dejar las probabilidades como salen y elegir el umbral a propósito.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359152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359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EVALUAR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PR-AUC solo se lee junto a su línea base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precision-recall mira la punta de la lista: de los que llamo, ¿cuántos contratan?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603504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4088" y="2212848"/>
            <a:ext cx="563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de la logística contra un modelo al azar</a:t>
            </a:r>
            <a:endParaRPr lang="en-US" sz="12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2560320"/>
          <a:ext cx="57607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2103120"/>
          <a:ext cx="4873752" cy="12344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al azar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0.5, siempre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tasa de positivos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cambia la tasa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mueve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mueve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812280" y="3520440"/>
            <a:ext cx="4873752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13448" y="36301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Parece mejora y no lo es</a:t>
            </a:r>
            <a:endParaRPr lang="en-US" sz="1300" dirty="0"/>
          </a:p>
        </p:txBody>
      </p:sp>
      <p:sp>
        <p:nvSpPr>
          <p:cNvPr id="9" name="Text 8"/>
          <p:cNvSpPr txBox="1"/>
          <p:nvPr/>
        </p:nvSpPr>
        <p:spPr>
          <a:xfrm>
            <a:off x="7013448" y="3995928"/>
            <a:ext cx="4471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0.540 a 0.703, pero el lift es el mismo: 1.36 y 1.35. En 2010 hay más contratantes.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812280" y="4892040"/>
            <a:ext cx="4873752" cy="1143000"/>
          </a:xfrm>
          <a:prstGeom prst="roundRect">
            <a:avLst>
              <a:gd name="adj" fmla="val 64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040880" y="5001768"/>
            <a:ext cx="441655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Úsalo cuando los positivos son raros: </a:t>
            </a:r>
            <a:r>
              <a:rPr lang="en-US" sz="125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fraude, lavado, default en carteras sanas. Y nunca compares períodos sin la línea base.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EL UMBRAL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costos los pone el negocio, y hay que escribirlos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no traen costos. Estos son los supuestos del caso.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4088" y="2212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7614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una gestión: 2.6 intentos, agente, supervisión y sistema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1031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2212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B8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7614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de un depósito: un año de margen financiero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49040"/>
          <a:ext cx="5669280" cy="13716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llamar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contrata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−€25 · FP: llamada perdida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FN: venta que no se hizo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+€35 · VP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Text 10"/>
          <p:cNvSpPr txBox="1"/>
          <p:nvPr/>
        </p:nvSpPr>
        <p:spPr>
          <a:xfrm>
            <a:off x="502920" y="53035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= 60 · VP − 25 · (VP + FP)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46520" y="2103120"/>
            <a:ext cx="5239512" cy="2103120"/>
          </a:xfrm>
          <a:prstGeom prst="roundRect">
            <a:avLst>
              <a:gd name="adj" fmla="val 3478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75120" y="2240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Llamar si  p · M &gt; C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&gt; C / M = 25/60 = 0.417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35204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teórica: llamo si lo que espero ganar supera lo que cuesta.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46520" y="4434840"/>
            <a:ext cx="523951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47688" y="4544568"/>
            <a:ext cx="4837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vale si p está calibrada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647688" y="4910328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la nuestra no lo está: en 2010 el modelo predice en promedio 0.216 y contrata el 0.521. La alternativa: probar todos los umbrales en validación y quedarse con el que más gana.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EL UMBRAL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validación: probar todos los umbrales, quedarse con uno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semestre de 2009 · 2 191 gestiones · tasa 39.8 %, debajo del equilibrio.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621792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4088" y="2212848"/>
            <a:ext cx="5815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según la parte de la lista que se llama</a:t>
            </a:r>
            <a:endParaRPr lang="en-US" sz="12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2560320"/>
          <a:ext cx="59436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2103120"/>
          <a:ext cx="4690872" cy="2194560"/>
        </p:xfrm>
        <a:graphic>
          <a:graphicData uri="http://schemas.openxmlformats.org/drawingml/2006/table">
            <a:tbl>
              <a:tblPr/>
              <a:tblGrid>
                <a:gridCol w="2221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Estrategia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 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llamar a todos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2 191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−€2 455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umbral 0.5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€1 760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 C/M = 0.417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€3 040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umbral = 0.219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€6 070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995160" y="4617720"/>
            <a:ext cx="4690872" cy="1417320"/>
          </a:xfrm>
          <a:prstGeom prst="roundRect">
            <a:avLst>
              <a:gd name="adj" fmla="val 5161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223760" y="4727448"/>
            <a:ext cx="423367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0.5 y la regla teórica llaman a muy pocos </a:t>
            </a:r>
            <a:r>
              <a:rPr lang="en-US" sz="125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las probabilidades son bajas. El mejor umbral llama al 23 % de la lista.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EL UMBRAL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2010, el umbral de validación saca el 84 % de lo posible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umbral se eligió en 2009 y se aplicó sin tocar a las 2 058 gestiones de 2010.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67665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graphicFrame>
        <p:nvGraphicFramePr>
          <p:cNvPr id="7" name="Chart 0"/>
          <p:cNvGraphicFramePr/>
          <p:nvPr/>
        </p:nvGraphicFramePr>
        <p:xfrm>
          <a:off x="640080" y="2240280"/>
          <a:ext cx="6492240" cy="370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543800" y="2103120"/>
            <a:ext cx="414223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44968" y="2212848"/>
            <a:ext cx="3739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B8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+€11 040 sobre el 0.5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44968" y="2578608"/>
            <a:ext cx="3739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modelo y la misma lista. Solo cambió dónde se corta.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43800" y="3520440"/>
            <a:ext cx="414223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44968" y="3630168"/>
            <a:ext cx="3739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umbral viaja con el score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44968" y="3995928"/>
            <a:ext cx="3739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0.219 llamaba al 23 % en 2009 y llama al 36 % en 2010: llegaron mejores clientes.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43800" y="5029200"/>
            <a:ext cx="414223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5138928"/>
            <a:ext cx="3739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máximo no se puede saber 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44968" y="5504688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€17 280: hace falta ver las respuestas.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157984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157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DEL DÍA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umbral vale más que el modelo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modelos, cada uno con su umbral elegido en validación y aplicado sin tocar en 2010.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11183112" cy="263347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OOT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OOT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OOT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Ganancia 2010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logística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€14 455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(prof. 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€14 395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 (k = 201)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€14 325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SVC rbf (10 000)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€11 495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Llamar a todos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2 058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€12 930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937760"/>
            <a:ext cx="3657600" cy="1097280"/>
          </a:xfrm>
          <a:prstGeom prst="roundRect">
            <a:avLst>
              <a:gd name="adj" fmla="val 6667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047488"/>
            <a:ext cx="3200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+€11 040 </a:t>
            </a:r>
            <a:r>
              <a:rPr lang="en-US" sz="125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mover el umbral de la logística, de 0.5 al de validación.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07408" y="4937760"/>
            <a:ext cx="34290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08576" y="5047488"/>
            <a:ext cx="3026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−€60 a −€130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608576" y="54132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cambiar la logística por el árbol o el KNN.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74152" y="493776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5047488"/>
            <a:ext cx="3209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árbol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5413248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«Llamar a los ya contactados» gana €14 395. ¿Cuánto le gana un modelo complejo?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salida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30352" y="183794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A2559"/>
          </a:solidFill>
          <a:ln w="19050">
            <a:solidFill>
              <a:srgbClr val="4A8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7830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Calculo a mano el Gini, la entropía y la ganancia de un corte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30352" y="2441448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A2559"/>
          </a:solidFill>
          <a:ln w="19050">
            <a:solidFill>
              <a:srgbClr val="4A8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87552" y="238658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Elijo la profundidad y el k con la validación, nunca con el entrenamiento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30352" y="304495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A2559"/>
          </a:solidFill>
          <a:ln w="19050">
            <a:solidFill>
              <a:srgbClr val="4A8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87552" y="29900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Escalo antes de KNN y SVC; el árbol no lo necesita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0352" y="364845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A2559"/>
          </a:solidFill>
          <a:ln w="19050">
            <a:solidFill>
              <a:srgbClr val="4A82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7552" y="359359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que el SVC da un score, no una probabilidad, y que no escala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30352" y="425196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A2559"/>
          </a:solidFill>
          <a:ln w="19050">
            <a:solidFill>
              <a:srgbClr val="4A82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7552" y="4197096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clases desbalanceadas no miro la exactitud; balancear mueve las probabilidades, no el orden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30352" y="485546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A2559"/>
          </a:solidFill>
          <a:ln w="19050">
            <a:solidFill>
              <a:srgbClr val="4A82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" y="48006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el PR-AUC junto a su línea base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30352" y="5458968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A2559"/>
          </a:solidFill>
          <a:ln w="19050">
            <a:solidFill>
              <a:srgbClr val="4A82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" y="540410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los costos del negocio y elijo el umbral que más gana en validación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589520" y="1783080"/>
            <a:ext cx="4096512" cy="2514600"/>
          </a:xfrm>
          <a:prstGeom prst="roundRect">
            <a:avLst>
              <a:gd name="adj" fmla="val 2909"/>
            </a:avLst>
          </a:prstGeom>
          <a:solidFill>
            <a:srgbClr val="061834"/>
          </a:solidFill>
          <a:ln w="12700">
            <a:solidFill>
              <a:srgbClr val="06183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812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 · VIERNES 16/10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2286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8 · Random Forest y XGBoost para clasificación, y repaso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31546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9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árboles juntos: ¿le ganan por fin a la logística en 2010? Cerramos el Módulo 2 con la comparativa completa.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0" y="4526280"/>
            <a:ext cx="4096512" cy="1508760"/>
          </a:xfrm>
          <a:prstGeom prst="roundRect">
            <a:avLst>
              <a:gd name="adj" fmla="val 4848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18120" y="466344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 · LUNES 19/10</a:t>
            </a:r>
            <a:endParaRPr lang="en-US" sz="12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1 y 2: regresión y clasificación.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3575</Words>
  <Application>Microsoft Macintosh PowerPoint</Application>
  <PresentationFormat>Widescreen</PresentationFormat>
  <Paragraphs>406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7 · ¿Dónde cortamos la lista?</dc:title>
  <dc:subject>PptxGenJS Presentation</dc:subject>
  <dc:creator>Josef Renato Rodriguez</dc:creator>
  <cp:lastModifiedBy>Josef Rodriguez</cp:lastModifiedBy>
  <cp:revision>1</cp:revision>
  <dcterms:created xsi:type="dcterms:W3CDTF">2026-10-15T00:21:25Z</dcterms:created>
  <dcterms:modified xsi:type="dcterms:W3CDTF">2026-10-15T00:43:54Z</dcterms:modified>
</cp:coreProperties>
</file>