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69"/>
    <p:restoredTop sz="94610"/>
  </p:normalViewPr>
  <p:slideViewPr>
    <p:cSldViewPr snapToGrid="0" snapToObjects="1">
      <p:cViewPr varScale="1">
        <p:scale>
          <a:sx n="222" d="100"/>
          <a:sy n="222" d="100"/>
        </p:scale>
        <p:origin x="7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median_income</c:v>
                </c:pt>
              </c:strCache>
            </c:strRef>
          </c:tx>
          <c:spPr>
            <a:ln w="28575" cap="flat">
              <a:solidFill>
                <a:srgbClr val="E6115E"/>
              </a:solidFill>
              <a:prstDash val="solid"/>
              <a:round/>
            </a:ln>
            <a:effectLst/>
          </c:spPr>
          <c:marker>
            <c:symbol val="none"/>
          </c:marker>
          <c:cat>
            <c:strRef>
              <c:f>Sheet1!$A$2:$A$26</c:f>
              <c:strCache>
                <c:ptCount val="25"/>
                <c:pt idx="0">
                  <c:v>0.1</c:v>
                </c:pt>
                <c:pt idx="4">
                  <c:v>1</c:v>
                </c:pt>
                <c:pt idx="8">
                  <c:v>10</c:v>
                </c:pt>
                <c:pt idx="12">
                  <c:v>100</c:v>
                </c:pt>
                <c:pt idx="16">
                  <c:v>1 000</c:v>
                </c:pt>
                <c:pt idx="20">
                  <c:v>10 000</c:v>
                </c:pt>
                <c:pt idx="24">
                  <c:v>100 000</c:v>
                </c:pt>
              </c:strCache>
            </c:strRef>
          </c:cat>
          <c:val>
            <c:numRef>
              <c:f>Sheet1!$B$2:$B$26</c:f>
              <c:numCache>
                <c:formatCode>General</c:formatCode>
                <c:ptCount val="25"/>
                <c:pt idx="0">
                  <c:v>73675</c:v>
                </c:pt>
                <c:pt idx="1">
                  <c:v>73674</c:v>
                </c:pt>
                <c:pt idx="2">
                  <c:v>73673</c:v>
                </c:pt>
                <c:pt idx="3">
                  <c:v>73671</c:v>
                </c:pt>
                <c:pt idx="4">
                  <c:v>73667</c:v>
                </c:pt>
                <c:pt idx="5">
                  <c:v>73661</c:v>
                </c:pt>
                <c:pt idx="6">
                  <c:v>73649</c:v>
                </c:pt>
                <c:pt idx="7">
                  <c:v>73628</c:v>
                </c:pt>
                <c:pt idx="8">
                  <c:v>73592</c:v>
                </c:pt>
                <c:pt idx="9">
                  <c:v>73527</c:v>
                </c:pt>
                <c:pt idx="10">
                  <c:v>73411</c:v>
                </c:pt>
                <c:pt idx="11">
                  <c:v>73206</c:v>
                </c:pt>
                <c:pt idx="12">
                  <c:v>72843</c:v>
                </c:pt>
                <c:pt idx="13">
                  <c:v>72214</c:v>
                </c:pt>
                <c:pt idx="14">
                  <c:v>71156</c:v>
                </c:pt>
                <c:pt idx="15">
                  <c:v>69469</c:v>
                </c:pt>
                <c:pt idx="16">
                  <c:v>66932</c:v>
                </c:pt>
                <c:pt idx="17">
                  <c:v>63278</c:v>
                </c:pt>
                <c:pt idx="18">
                  <c:v>58136</c:v>
                </c:pt>
                <c:pt idx="19">
                  <c:v>51163</c:v>
                </c:pt>
                <c:pt idx="20">
                  <c:v>42415</c:v>
                </c:pt>
                <c:pt idx="21">
                  <c:v>32680</c:v>
                </c:pt>
                <c:pt idx="22">
                  <c:v>23293</c:v>
                </c:pt>
                <c:pt idx="23">
                  <c:v>15457</c:v>
                </c:pt>
                <c:pt idx="24">
                  <c:v>9685</c:v>
                </c:pt>
              </c:numCache>
            </c:numRef>
          </c:val>
          <c:smooth val="0"/>
          <c:extLst>
            <c:ext xmlns:c16="http://schemas.microsoft.com/office/drawing/2014/chart" uri="{C3380CC4-5D6E-409C-BE32-E72D297353CC}">
              <c16:uniqueId val="{00000000-80DD-FA48-A95C-680F8BE58BC8}"/>
            </c:ext>
          </c:extLst>
        </c:ser>
        <c:ser>
          <c:idx val="1"/>
          <c:order val="1"/>
          <c:tx>
            <c:strRef>
              <c:f>Sheet1!$C$1</c:f>
              <c:strCache>
                <c:ptCount val="1"/>
                <c:pt idx="0">
                  <c:v>total_bedrooms</c:v>
                </c:pt>
              </c:strCache>
            </c:strRef>
          </c:tx>
          <c:spPr>
            <a:ln w="28575" cap="flat">
              <a:solidFill>
                <a:srgbClr val="1A56E8"/>
              </a:solidFill>
              <a:prstDash val="solid"/>
              <a:round/>
            </a:ln>
            <a:effectLst/>
          </c:spPr>
          <c:marker>
            <c:symbol val="none"/>
          </c:marker>
          <c:cat>
            <c:strRef>
              <c:f>Sheet1!$A$2:$A$26</c:f>
              <c:strCache>
                <c:ptCount val="25"/>
                <c:pt idx="0">
                  <c:v>0.1</c:v>
                </c:pt>
                <c:pt idx="4">
                  <c:v>1</c:v>
                </c:pt>
                <c:pt idx="8">
                  <c:v>10</c:v>
                </c:pt>
                <c:pt idx="12">
                  <c:v>100</c:v>
                </c:pt>
                <c:pt idx="16">
                  <c:v>1 000</c:v>
                </c:pt>
                <c:pt idx="20">
                  <c:v>10 000</c:v>
                </c:pt>
                <c:pt idx="24">
                  <c:v>100 000</c:v>
                </c:pt>
              </c:strCache>
            </c:strRef>
          </c:cat>
          <c:val>
            <c:numRef>
              <c:f>Sheet1!$C$2:$C$26</c:f>
              <c:numCache>
                <c:formatCode>General</c:formatCode>
                <c:ptCount val="25"/>
                <c:pt idx="0">
                  <c:v>37483</c:v>
                </c:pt>
                <c:pt idx="1">
                  <c:v>37478</c:v>
                </c:pt>
                <c:pt idx="2">
                  <c:v>37470</c:v>
                </c:pt>
                <c:pt idx="3">
                  <c:v>37456</c:v>
                </c:pt>
                <c:pt idx="4">
                  <c:v>37430</c:v>
                </c:pt>
                <c:pt idx="5">
                  <c:v>37384</c:v>
                </c:pt>
                <c:pt idx="6">
                  <c:v>37303</c:v>
                </c:pt>
                <c:pt idx="7">
                  <c:v>37161</c:v>
                </c:pt>
                <c:pt idx="8">
                  <c:v>36914</c:v>
                </c:pt>
                <c:pt idx="9">
                  <c:v>36489</c:v>
                </c:pt>
                <c:pt idx="10">
                  <c:v>35778</c:v>
                </c:pt>
                <c:pt idx="11">
                  <c:v>34632</c:v>
                </c:pt>
                <c:pt idx="12">
                  <c:v>32884</c:v>
                </c:pt>
                <c:pt idx="13">
                  <c:v>30395</c:v>
                </c:pt>
                <c:pt idx="14">
                  <c:v>27104</c:v>
                </c:pt>
                <c:pt idx="15">
                  <c:v>23047</c:v>
                </c:pt>
                <c:pt idx="16">
                  <c:v>18417</c:v>
                </c:pt>
                <c:pt idx="17">
                  <c:v>13638</c:v>
                </c:pt>
                <c:pt idx="18">
                  <c:v>9292</c:v>
                </c:pt>
                <c:pt idx="19">
                  <c:v>5874</c:v>
                </c:pt>
                <c:pt idx="20">
                  <c:v>3553</c:v>
                </c:pt>
                <c:pt idx="21">
                  <c:v>2167</c:v>
                </c:pt>
                <c:pt idx="22">
                  <c:v>1390</c:v>
                </c:pt>
                <c:pt idx="23">
                  <c:v>930</c:v>
                </c:pt>
                <c:pt idx="24">
                  <c:v>622</c:v>
                </c:pt>
              </c:numCache>
            </c:numRef>
          </c:val>
          <c:smooth val="0"/>
          <c:extLst>
            <c:ext xmlns:c16="http://schemas.microsoft.com/office/drawing/2014/chart" uri="{C3380CC4-5D6E-409C-BE32-E72D297353CC}">
              <c16:uniqueId val="{00000001-80DD-FA48-A95C-680F8BE58BC8}"/>
            </c:ext>
          </c:extLst>
        </c:ser>
        <c:ser>
          <c:idx val="2"/>
          <c:order val="2"/>
          <c:tx>
            <c:strRef>
              <c:f>Sheet1!$D$1</c:f>
              <c:strCache>
                <c:ptCount val="1"/>
                <c:pt idx="0">
                  <c:v>households</c:v>
                </c:pt>
              </c:strCache>
            </c:strRef>
          </c:tx>
          <c:spPr>
            <a:ln w="28575" cap="flat">
              <a:solidFill>
                <a:srgbClr val="12B886"/>
              </a:solidFill>
              <a:prstDash val="solid"/>
              <a:round/>
            </a:ln>
            <a:effectLst/>
          </c:spPr>
          <c:marker>
            <c:symbol val="none"/>
          </c:marker>
          <c:cat>
            <c:strRef>
              <c:f>Sheet1!$A$2:$A$26</c:f>
              <c:strCache>
                <c:ptCount val="25"/>
                <c:pt idx="0">
                  <c:v>0.1</c:v>
                </c:pt>
                <c:pt idx="4">
                  <c:v>1</c:v>
                </c:pt>
                <c:pt idx="8">
                  <c:v>10</c:v>
                </c:pt>
                <c:pt idx="12">
                  <c:v>100</c:v>
                </c:pt>
                <c:pt idx="16">
                  <c:v>1 000</c:v>
                </c:pt>
                <c:pt idx="20">
                  <c:v>10 000</c:v>
                </c:pt>
                <c:pt idx="24">
                  <c:v>100 000</c:v>
                </c:pt>
              </c:strCache>
            </c:strRef>
          </c:cat>
          <c:val>
            <c:numRef>
              <c:f>Sheet1!$D$2:$D$26</c:f>
              <c:numCache>
                <c:formatCode>General</c:formatCode>
                <c:ptCount val="25"/>
                <c:pt idx="0">
                  <c:v>23786</c:v>
                </c:pt>
                <c:pt idx="1">
                  <c:v>23787</c:v>
                </c:pt>
                <c:pt idx="2">
                  <c:v>23789</c:v>
                </c:pt>
                <c:pt idx="3">
                  <c:v>23792</c:v>
                </c:pt>
                <c:pt idx="4">
                  <c:v>23797</c:v>
                </c:pt>
                <c:pt idx="5">
                  <c:v>23806</c:v>
                </c:pt>
                <c:pt idx="6">
                  <c:v>23822</c:v>
                </c:pt>
                <c:pt idx="7">
                  <c:v>23848</c:v>
                </c:pt>
                <c:pt idx="8">
                  <c:v>23890</c:v>
                </c:pt>
                <c:pt idx="9">
                  <c:v>23953</c:v>
                </c:pt>
                <c:pt idx="10">
                  <c:v>24028</c:v>
                </c:pt>
                <c:pt idx="11">
                  <c:v>24070</c:v>
                </c:pt>
                <c:pt idx="12">
                  <c:v>23939</c:v>
                </c:pt>
                <c:pt idx="13">
                  <c:v>23343</c:v>
                </c:pt>
                <c:pt idx="14">
                  <c:v>21884</c:v>
                </c:pt>
                <c:pt idx="15">
                  <c:v>19295</c:v>
                </c:pt>
                <c:pt idx="16">
                  <c:v>15743</c:v>
                </c:pt>
                <c:pt idx="17">
                  <c:v>11837</c:v>
                </c:pt>
                <c:pt idx="18">
                  <c:v>8283</c:v>
                </c:pt>
                <c:pt idx="19">
                  <c:v>5526</c:v>
                </c:pt>
                <c:pt idx="20">
                  <c:v>3645</c:v>
                </c:pt>
                <c:pt idx="21">
                  <c:v>2460</c:v>
                </c:pt>
                <c:pt idx="22">
                  <c:v>1710</c:v>
                </c:pt>
                <c:pt idx="23">
                  <c:v>1191</c:v>
                </c:pt>
                <c:pt idx="24">
                  <c:v>805</c:v>
                </c:pt>
              </c:numCache>
            </c:numRef>
          </c:val>
          <c:smooth val="0"/>
          <c:extLst>
            <c:ext xmlns:c16="http://schemas.microsoft.com/office/drawing/2014/chart" uri="{C3380CC4-5D6E-409C-BE32-E72D297353CC}">
              <c16:uniqueId val="{00000002-80DD-FA48-A95C-680F8BE58BC8}"/>
            </c:ext>
          </c:extLst>
        </c:ser>
        <c:ser>
          <c:idx val="3"/>
          <c:order val="3"/>
          <c:tx>
            <c:strRef>
              <c:f>Sheet1!$E$1</c:f>
              <c:strCache>
                <c:ptCount val="1"/>
                <c:pt idx="0">
                  <c:v>population</c:v>
                </c:pt>
              </c:strCache>
            </c:strRef>
          </c:tx>
          <c:spPr>
            <a:ln w="28575" cap="flat">
              <a:solidFill>
                <a:srgbClr val="0A2559"/>
              </a:solidFill>
              <a:prstDash val="solid"/>
              <a:round/>
            </a:ln>
            <a:effectLst/>
          </c:spPr>
          <c:marker>
            <c:symbol val="none"/>
          </c:marker>
          <c:cat>
            <c:strRef>
              <c:f>Sheet1!$A$2:$A$26</c:f>
              <c:strCache>
                <c:ptCount val="25"/>
                <c:pt idx="0">
                  <c:v>0.1</c:v>
                </c:pt>
                <c:pt idx="4">
                  <c:v>1</c:v>
                </c:pt>
                <c:pt idx="8">
                  <c:v>10</c:v>
                </c:pt>
                <c:pt idx="12">
                  <c:v>100</c:v>
                </c:pt>
                <c:pt idx="16">
                  <c:v>1 000</c:v>
                </c:pt>
                <c:pt idx="20">
                  <c:v>10 000</c:v>
                </c:pt>
                <c:pt idx="24">
                  <c:v>100 000</c:v>
                </c:pt>
              </c:strCache>
            </c:strRef>
          </c:cat>
          <c:val>
            <c:numRef>
              <c:f>Sheet1!$E$2:$E$26</c:f>
              <c:numCache>
                <c:formatCode>General</c:formatCode>
                <c:ptCount val="25"/>
                <c:pt idx="0">
                  <c:v>-43352</c:v>
                </c:pt>
                <c:pt idx="1">
                  <c:v>-43351</c:v>
                </c:pt>
                <c:pt idx="2">
                  <c:v>-43348</c:v>
                </c:pt>
                <c:pt idx="3">
                  <c:v>-43343</c:v>
                </c:pt>
                <c:pt idx="4">
                  <c:v>-43334</c:v>
                </c:pt>
                <c:pt idx="5">
                  <c:v>-43319</c:v>
                </c:pt>
                <c:pt idx="6">
                  <c:v>-43291</c:v>
                </c:pt>
                <c:pt idx="7">
                  <c:v>-43241</c:v>
                </c:pt>
                <c:pt idx="8">
                  <c:v>-43152</c:v>
                </c:pt>
                <c:pt idx="9">
                  <c:v>-42994</c:v>
                </c:pt>
                <c:pt idx="10">
                  <c:v>-42714</c:v>
                </c:pt>
                <c:pt idx="11">
                  <c:v>-42216</c:v>
                </c:pt>
                <c:pt idx="12">
                  <c:v>-41346</c:v>
                </c:pt>
                <c:pt idx="13">
                  <c:v>-39865</c:v>
                </c:pt>
                <c:pt idx="14">
                  <c:v>-37470</c:v>
                </c:pt>
                <c:pt idx="15">
                  <c:v>-33881</c:v>
                </c:pt>
                <c:pt idx="16">
                  <c:v>-29015</c:v>
                </c:pt>
                <c:pt idx="17">
                  <c:v>-23187</c:v>
                </c:pt>
                <c:pt idx="18">
                  <c:v>-17141</c:v>
                </c:pt>
                <c:pt idx="19">
                  <c:v>-11728</c:v>
                </c:pt>
                <c:pt idx="20">
                  <c:v>-7467</c:v>
                </c:pt>
                <c:pt idx="21">
                  <c:v>-4438</c:v>
                </c:pt>
                <c:pt idx="22">
                  <c:v>-2463</c:v>
                </c:pt>
                <c:pt idx="23">
                  <c:v>-1282</c:v>
                </c:pt>
                <c:pt idx="24">
                  <c:v>-637</c:v>
                </c:pt>
              </c:numCache>
            </c:numRef>
          </c:val>
          <c:smooth val="0"/>
          <c:extLst>
            <c:ext xmlns:c16="http://schemas.microsoft.com/office/drawing/2014/chart" uri="{C3380CC4-5D6E-409C-BE32-E72D297353CC}">
              <c16:uniqueId val="{00000003-80DD-FA48-A95C-680F8BE58BC8}"/>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50" b="0" i="0" u="none" strike="noStrike">
                    <a:solidFill>
                      <a:srgbClr val="5B6B87"/>
                    </a:solidFill>
                    <a:latin typeface="Arial"/>
                  </a:defRPr>
                </a:pPr>
                <a:r>
                  <a:rPr lang="el-GR" sz="1050" b="0" i="0" u="none" strike="noStrike">
                    <a:solidFill>
                      <a:srgbClr val="5B6B87"/>
                    </a:solidFill>
                    <a:latin typeface="Arial"/>
                  </a:rPr>
                  <a:t>α →  </a:t>
                </a:r>
                <a:r>
                  <a:rPr lang="en-US" sz="1050" b="0" i="0" u="none" strike="noStrike">
                    <a:solidFill>
                      <a:srgbClr val="5B6B87"/>
                    </a:solidFill>
                    <a:latin typeface="Arial"/>
                  </a:rPr>
                  <a:t>más freno</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Arial"/>
              </a:defRPr>
            </a:pPr>
            <a:endParaRPr lang="en-US"/>
          </a:p>
        </c:txPr>
        <c:crossAx val="2094734552"/>
        <c:crosses val="autoZero"/>
        <c:auto val="1"/>
        <c:lblAlgn val="ctr"/>
        <c:lblOffset val="100"/>
        <c:tickLblSkip val="4"/>
        <c:noMultiLvlLbl val="1"/>
      </c:catAx>
      <c:valAx>
        <c:axId val="2094734552"/>
        <c:scaling>
          <c:orientation val="minMax"/>
        </c:scaling>
        <c:delete val="0"/>
        <c:axPos val="l"/>
        <c:majorGridlines>
          <c:spPr>
            <a:ln w="6350" cap="flat">
              <a:solidFill>
                <a:srgbClr val="E3E8F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B6B87"/>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5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median_income</c:v>
                </c:pt>
              </c:strCache>
            </c:strRef>
          </c:tx>
          <c:spPr>
            <a:ln w="28575" cap="flat">
              <a:solidFill>
                <a:srgbClr val="E6115E"/>
              </a:solidFill>
              <a:prstDash val="solid"/>
              <a:round/>
            </a:ln>
            <a:effectLst/>
          </c:spPr>
          <c:marker>
            <c:symbol val="none"/>
          </c:marker>
          <c:cat>
            <c:strRef>
              <c:f>Sheet1!$A$2:$A$26</c:f>
              <c:strCache>
                <c:ptCount val="25"/>
                <c:pt idx="0">
                  <c:v>10</c:v>
                </c:pt>
                <c:pt idx="4">
                  <c:v>43</c:v>
                </c:pt>
                <c:pt idx="8">
                  <c:v>185</c:v>
                </c:pt>
                <c:pt idx="12">
                  <c:v>794</c:v>
                </c:pt>
                <c:pt idx="16">
                  <c:v>3 415</c:v>
                </c:pt>
                <c:pt idx="20">
                  <c:v>14 678</c:v>
                </c:pt>
                <c:pt idx="24">
                  <c:v>63 096</c:v>
                </c:pt>
              </c:strCache>
            </c:strRef>
          </c:cat>
          <c:val>
            <c:numRef>
              <c:f>Sheet1!$B$2:$B$26</c:f>
              <c:numCache>
                <c:formatCode>General</c:formatCode>
                <c:ptCount val="25"/>
                <c:pt idx="0">
                  <c:v>73632</c:v>
                </c:pt>
                <c:pt idx="1">
                  <c:v>73613</c:v>
                </c:pt>
                <c:pt idx="2">
                  <c:v>73585</c:v>
                </c:pt>
                <c:pt idx="3">
                  <c:v>73545</c:v>
                </c:pt>
                <c:pt idx="4">
                  <c:v>73488</c:v>
                </c:pt>
                <c:pt idx="5">
                  <c:v>73406</c:v>
                </c:pt>
                <c:pt idx="6">
                  <c:v>73288</c:v>
                </c:pt>
                <c:pt idx="7">
                  <c:v>73118</c:v>
                </c:pt>
                <c:pt idx="8">
                  <c:v>72876</c:v>
                </c:pt>
                <c:pt idx="9">
                  <c:v>72527</c:v>
                </c:pt>
                <c:pt idx="10">
                  <c:v>72028</c:v>
                </c:pt>
                <c:pt idx="11">
                  <c:v>71312</c:v>
                </c:pt>
                <c:pt idx="12">
                  <c:v>70676</c:v>
                </c:pt>
                <c:pt idx="13">
                  <c:v>70648</c:v>
                </c:pt>
                <c:pt idx="14">
                  <c:v>70607</c:v>
                </c:pt>
                <c:pt idx="15">
                  <c:v>70022</c:v>
                </c:pt>
                <c:pt idx="16">
                  <c:v>68869</c:v>
                </c:pt>
                <c:pt idx="17">
                  <c:v>67144</c:v>
                </c:pt>
                <c:pt idx="18">
                  <c:v>64690</c:v>
                </c:pt>
                <c:pt idx="19">
                  <c:v>61469</c:v>
                </c:pt>
                <c:pt idx="20">
                  <c:v>57470</c:v>
                </c:pt>
                <c:pt idx="21">
                  <c:v>52255</c:v>
                </c:pt>
                <c:pt idx="22">
                  <c:v>44745</c:v>
                </c:pt>
                <c:pt idx="23">
                  <c:v>33932</c:v>
                </c:pt>
                <c:pt idx="24">
                  <c:v>15711</c:v>
                </c:pt>
              </c:numCache>
            </c:numRef>
          </c:val>
          <c:smooth val="0"/>
          <c:extLst>
            <c:ext xmlns:c16="http://schemas.microsoft.com/office/drawing/2014/chart" uri="{C3380CC4-5D6E-409C-BE32-E72D297353CC}">
              <c16:uniqueId val="{00000000-407C-F943-B281-1B1DBBE9944B}"/>
            </c:ext>
          </c:extLst>
        </c:ser>
        <c:ser>
          <c:idx val="1"/>
          <c:order val="1"/>
          <c:tx>
            <c:strRef>
              <c:f>Sheet1!$C$1</c:f>
              <c:strCache>
                <c:ptCount val="1"/>
                <c:pt idx="0">
                  <c:v>total_bedrooms</c:v>
                </c:pt>
              </c:strCache>
            </c:strRef>
          </c:tx>
          <c:spPr>
            <a:ln w="28575" cap="flat">
              <a:solidFill>
                <a:srgbClr val="1A56E8"/>
              </a:solidFill>
              <a:prstDash val="solid"/>
              <a:round/>
            </a:ln>
            <a:effectLst/>
          </c:spPr>
          <c:marker>
            <c:symbol val="none"/>
          </c:marker>
          <c:cat>
            <c:strRef>
              <c:f>Sheet1!$A$2:$A$26</c:f>
              <c:strCache>
                <c:ptCount val="25"/>
                <c:pt idx="0">
                  <c:v>10</c:v>
                </c:pt>
                <c:pt idx="4">
                  <c:v>43</c:v>
                </c:pt>
                <c:pt idx="8">
                  <c:v>185</c:v>
                </c:pt>
                <c:pt idx="12">
                  <c:v>794</c:v>
                </c:pt>
                <c:pt idx="16">
                  <c:v>3 415</c:v>
                </c:pt>
                <c:pt idx="20">
                  <c:v>14 678</c:v>
                </c:pt>
                <c:pt idx="24">
                  <c:v>63 096</c:v>
                </c:pt>
              </c:strCache>
            </c:strRef>
          </c:cat>
          <c:val>
            <c:numRef>
              <c:f>Sheet1!$C$2:$C$26</c:f>
              <c:numCache>
                <c:formatCode>General</c:formatCode>
                <c:ptCount val="25"/>
                <c:pt idx="0">
                  <c:v>37314</c:v>
                </c:pt>
                <c:pt idx="1">
                  <c:v>37237</c:v>
                </c:pt>
                <c:pt idx="2">
                  <c:v>37126</c:v>
                </c:pt>
                <c:pt idx="3">
                  <c:v>36966</c:v>
                </c:pt>
                <c:pt idx="4">
                  <c:v>36737</c:v>
                </c:pt>
                <c:pt idx="5">
                  <c:v>36408</c:v>
                </c:pt>
                <c:pt idx="6">
                  <c:v>35936</c:v>
                </c:pt>
                <c:pt idx="7">
                  <c:v>35257</c:v>
                </c:pt>
                <c:pt idx="8">
                  <c:v>34294</c:v>
                </c:pt>
                <c:pt idx="9">
                  <c:v>32913</c:v>
                </c:pt>
                <c:pt idx="10">
                  <c:v>30954</c:v>
                </c:pt>
                <c:pt idx="11">
                  <c:v>28148</c:v>
                </c:pt>
                <c:pt idx="12">
                  <c:v>25398</c:v>
                </c:pt>
                <c:pt idx="13">
                  <c:v>24186</c:v>
                </c:pt>
                <c:pt idx="14">
                  <c:v>22467</c:v>
                </c:pt>
                <c:pt idx="15">
                  <c:v>22312</c:v>
                </c:pt>
                <c:pt idx="16">
                  <c:v>16755</c:v>
                </c:pt>
                <c:pt idx="17">
                  <c:v>4561</c:v>
                </c:pt>
                <c:pt idx="18">
                  <c:v>1154</c:v>
                </c:pt>
                <c:pt idx="19">
                  <c:v>0</c:v>
                </c:pt>
                <c:pt idx="20">
                  <c:v>0</c:v>
                </c:pt>
                <c:pt idx="21">
                  <c:v>0</c:v>
                </c:pt>
                <c:pt idx="22">
                  <c:v>0</c:v>
                </c:pt>
                <c:pt idx="23">
                  <c:v>0</c:v>
                </c:pt>
                <c:pt idx="24">
                  <c:v>0</c:v>
                </c:pt>
              </c:numCache>
            </c:numRef>
          </c:val>
          <c:smooth val="0"/>
          <c:extLst>
            <c:ext xmlns:c16="http://schemas.microsoft.com/office/drawing/2014/chart" uri="{C3380CC4-5D6E-409C-BE32-E72D297353CC}">
              <c16:uniqueId val="{00000001-407C-F943-B281-1B1DBBE9944B}"/>
            </c:ext>
          </c:extLst>
        </c:ser>
        <c:ser>
          <c:idx val="2"/>
          <c:order val="2"/>
          <c:tx>
            <c:strRef>
              <c:f>Sheet1!$D$1</c:f>
              <c:strCache>
                <c:ptCount val="1"/>
                <c:pt idx="0">
                  <c:v>households</c:v>
                </c:pt>
              </c:strCache>
            </c:strRef>
          </c:tx>
          <c:spPr>
            <a:ln w="28575" cap="flat">
              <a:solidFill>
                <a:srgbClr val="12B886"/>
              </a:solidFill>
              <a:prstDash val="solid"/>
              <a:round/>
            </a:ln>
            <a:effectLst/>
          </c:spPr>
          <c:marker>
            <c:symbol val="none"/>
          </c:marker>
          <c:cat>
            <c:strRef>
              <c:f>Sheet1!$A$2:$A$26</c:f>
              <c:strCache>
                <c:ptCount val="25"/>
                <c:pt idx="0">
                  <c:v>10</c:v>
                </c:pt>
                <c:pt idx="4">
                  <c:v>43</c:v>
                </c:pt>
                <c:pt idx="8">
                  <c:v>185</c:v>
                </c:pt>
                <c:pt idx="12">
                  <c:v>794</c:v>
                </c:pt>
                <c:pt idx="16">
                  <c:v>3 415</c:v>
                </c:pt>
                <c:pt idx="20">
                  <c:v>14 678</c:v>
                </c:pt>
                <c:pt idx="24">
                  <c:v>63 096</c:v>
                </c:pt>
              </c:strCache>
            </c:strRef>
          </c:cat>
          <c:val>
            <c:numRef>
              <c:f>Sheet1!$D$2:$D$26</c:f>
              <c:numCache>
                <c:formatCode>General</c:formatCode>
                <c:ptCount val="25"/>
                <c:pt idx="0">
                  <c:v>23706</c:v>
                </c:pt>
                <c:pt idx="1">
                  <c:v>23672</c:v>
                </c:pt>
                <c:pt idx="2">
                  <c:v>23622</c:v>
                </c:pt>
                <c:pt idx="3">
                  <c:v>23551</c:v>
                </c:pt>
                <c:pt idx="4">
                  <c:v>23447</c:v>
                </c:pt>
                <c:pt idx="5">
                  <c:v>23297</c:v>
                </c:pt>
                <c:pt idx="6">
                  <c:v>23080</c:v>
                </c:pt>
                <c:pt idx="7">
                  <c:v>22767</c:v>
                </c:pt>
                <c:pt idx="8">
                  <c:v>22305</c:v>
                </c:pt>
                <c:pt idx="9">
                  <c:v>21635</c:v>
                </c:pt>
                <c:pt idx="10">
                  <c:v>20647</c:v>
                </c:pt>
                <c:pt idx="11">
                  <c:v>19212</c:v>
                </c:pt>
                <c:pt idx="12">
                  <c:v>17299</c:v>
                </c:pt>
                <c:pt idx="13">
                  <c:v>14816</c:v>
                </c:pt>
                <c:pt idx="14">
                  <c:v>11210</c:v>
                </c:pt>
                <c:pt idx="15">
                  <c:v>3700</c:v>
                </c:pt>
                <c:pt idx="16">
                  <c:v>0</c:v>
                </c:pt>
                <c:pt idx="17">
                  <c:v>0</c:v>
                </c:pt>
                <c:pt idx="18">
                  <c:v>0</c:v>
                </c:pt>
                <c:pt idx="19">
                  <c:v>0</c:v>
                </c:pt>
                <c:pt idx="20">
                  <c:v>0</c:v>
                </c:pt>
                <c:pt idx="21">
                  <c:v>0</c:v>
                </c:pt>
                <c:pt idx="22">
                  <c:v>0</c:v>
                </c:pt>
                <c:pt idx="23">
                  <c:v>0</c:v>
                </c:pt>
                <c:pt idx="24">
                  <c:v>0</c:v>
                </c:pt>
              </c:numCache>
            </c:numRef>
          </c:val>
          <c:smooth val="0"/>
          <c:extLst>
            <c:ext xmlns:c16="http://schemas.microsoft.com/office/drawing/2014/chart" uri="{C3380CC4-5D6E-409C-BE32-E72D297353CC}">
              <c16:uniqueId val="{00000002-407C-F943-B281-1B1DBBE9944B}"/>
            </c:ext>
          </c:extLst>
        </c:ser>
        <c:ser>
          <c:idx val="3"/>
          <c:order val="3"/>
          <c:tx>
            <c:strRef>
              <c:f>Sheet1!$E$1</c:f>
              <c:strCache>
                <c:ptCount val="1"/>
                <c:pt idx="0">
                  <c:v>total_rooms</c:v>
                </c:pt>
              </c:strCache>
            </c:strRef>
          </c:tx>
          <c:spPr>
            <a:ln w="28575" cap="flat">
              <a:solidFill>
                <a:srgbClr val="0A2559"/>
              </a:solidFill>
              <a:prstDash val="solid"/>
              <a:round/>
            </a:ln>
            <a:effectLst/>
          </c:spPr>
          <c:marker>
            <c:symbol val="none"/>
          </c:marker>
          <c:cat>
            <c:strRef>
              <c:f>Sheet1!$A$2:$A$26</c:f>
              <c:strCache>
                <c:ptCount val="25"/>
                <c:pt idx="0">
                  <c:v>10</c:v>
                </c:pt>
                <c:pt idx="4">
                  <c:v>43</c:v>
                </c:pt>
                <c:pt idx="8">
                  <c:v>185</c:v>
                </c:pt>
                <c:pt idx="12">
                  <c:v>794</c:v>
                </c:pt>
                <c:pt idx="16">
                  <c:v>3 415</c:v>
                </c:pt>
                <c:pt idx="20">
                  <c:v>14 678</c:v>
                </c:pt>
                <c:pt idx="24">
                  <c:v>63 096</c:v>
                </c:pt>
              </c:strCache>
            </c:strRef>
          </c:cat>
          <c:val>
            <c:numRef>
              <c:f>Sheet1!$E$2:$E$26</c:f>
              <c:numCache>
                <c:formatCode>General</c:formatCode>
                <c:ptCount val="25"/>
                <c:pt idx="0">
                  <c:v>-12717</c:v>
                </c:pt>
                <c:pt idx="1">
                  <c:v>-12634</c:v>
                </c:pt>
                <c:pt idx="2">
                  <c:v>-12516</c:v>
                </c:pt>
                <c:pt idx="3">
                  <c:v>-12344</c:v>
                </c:pt>
                <c:pt idx="4">
                  <c:v>-12099</c:v>
                </c:pt>
                <c:pt idx="5">
                  <c:v>-11745</c:v>
                </c:pt>
                <c:pt idx="6">
                  <c:v>-11238</c:v>
                </c:pt>
                <c:pt idx="7">
                  <c:v>-10507</c:v>
                </c:pt>
                <c:pt idx="8">
                  <c:v>-9463</c:v>
                </c:pt>
                <c:pt idx="9">
                  <c:v>-7962</c:v>
                </c:pt>
                <c:pt idx="10">
                  <c:v>-5816</c:v>
                </c:pt>
                <c:pt idx="11">
                  <c:v>-2734</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smooth val="0"/>
          <c:extLst>
            <c:ext xmlns:c16="http://schemas.microsoft.com/office/drawing/2014/chart" uri="{C3380CC4-5D6E-409C-BE32-E72D297353CC}">
              <c16:uniqueId val="{00000003-407C-F943-B281-1B1DBBE9944B}"/>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50" b="0" i="0" u="none" strike="noStrike">
                    <a:solidFill>
                      <a:srgbClr val="5B6B87"/>
                    </a:solidFill>
                    <a:latin typeface="Arial"/>
                  </a:defRPr>
                </a:pPr>
                <a:r>
                  <a:rPr lang="el-GR" sz="1050" b="0" i="0" u="none" strike="noStrike">
                    <a:solidFill>
                      <a:srgbClr val="5B6B87"/>
                    </a:solidFill>
                    <a:latin typeface="Arial"/>
                  </a:rPr>
                  <a:t>α →  </a:t>
                </a:r>
                <a:r>
                  <a:rPr lang="en-US" sz="1050" b="0" i="0" u="none" strike="noStrike">
                    <a:solidFill>
                      <a:srgbClr val="5B6B87"/>
                    </a:solidFill>
                    <a:latin typeface="Arial"/>
                  </a:rPr>
                  <a:t>más freno</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Arial"/>
              </a:defRPr>
            </a:pPr>
            <a:endParaRPr lang="en-US"/>
          </a:p>
        </c:txPr>
        <c:crossAx val="2094734552"/>
        <c:crosses val="autoZero"/>
        <c:auto val="1"/>
        <c:lblAlgn val="ctr"/>
        <c:lblOffset val="100"/>
        <c:tickLblSkip val="4"/>
        <c:noMultiLvlLbl val="1"/>
      </c:catAx>
      <c:valAx>
        <c:axId val="2094734552"/>
        <c:scaling>
          <c:orientation val="minMax"/>
        </c:scaling>
        <c:delete val="0"/>
        <c:axPos val="l"/>
        <c:majorGridlines>
          <c:spPr>
            <a:ln w="6350" cap="flat">
              <a:solidFill>
                <a:srgbClr val="E3E8F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B6B87"/>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5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al cuadrado (reescalada)</c:v>
                </c:pt>
              </c:strCache>
            </c:strRef>
          </c:tx>
          <c:spPr>
            <a:ln w="34925" cap="flat">
              <a:solidFill>
                <a:srgbClr val="8A97AD"/>
              </a:solidFill>
              <a:prstDash val="solid"/>
              <a:round/>
            </a:ln>
            <a:effectLst/>
          </c:spPr>
          <c:marker>
            <c:symbol val="none"/>
          </c:marker>
          <c:cat>
            <c:strRef>
              <c:f>Sheet1!$A$2:$A$26</c:f>
              <c:strCache>
                <c:ptCount val="25"/>
                <c:pt idx="0">
                  <c:v>-60</c:v>
                </c:pt>
                <c:pt idx="4">
                  <c:v>-40</c:v>
                </c:pt>
                <c:pt idx="8">
                  <c:v>-20</c:v>
                </c:pt>
                <c:pt idx="12">
                  <c:v>0</c:v>
                </c:pt>
                <c:pt idx="16">
                  <c:v>20</c:v>
                </c:pt>
                <c:pt idx="20">
                  <c:v>40</c:v>
                </c:pt>
                <c:pt idx="24">
                  <c:v>60</c:v>
                </c:pt>
              </c:strCache>
            </c:strRef>
          </c:cat>
          <c:val>
            <c:numRef>
              <c:f>Sheet1!$B$2:$B$26</c:f>
              <c:numCache>
                <c:formatCode>General</c:formatCode>
                <c:ptCount val="25"/>
                <c:pt idx="0">
                  <c:v>60</c:v>
                </c:pt>
                <c:pt idx="1">
                  <c:v>50.42</c:v>
                </c:pt>
                <c:pt idx="2">
                  <c:v>41.67</c:v>
                </c:pt>
                <c:pt idx="3">
                  <c:v>33.75</c:v>
                </c:pt>
                <c:pt idx="4">
                  <c:v>26.67</c:v>
                </c:pt>
                <c:pt idx="5">
                  <c:v>20.420000000000002</c:v>
                </c:pt>
                <c:pt idx="6">
                  <c:v>15</c:v>
                </c:pt>
                <c:pt idx="7">
                  <c:v>10.42</c:v>
                </c:pt>
                <c:pt idx="8">
                  <c:v>6.67</c:v>
                </c:pt>
                <c:pt idx="9">
                  <c:v>3.75</c:v>
                </c:pt>
                <c:pt idx="10">
                  <c:v>1.67</c:v>
                </c:pt>
                <c:pt idx="11">
                  <c:v>0.42</c:v>
                </c:pt>
                <c:pt idx="12">
                  <c:v>0</c:v>
                </c:pt>
                <c:pt idx="13">
                  <c:v>0.42</c:v>
                </c:pt>
                <c:pt idx="14">
                  <c:v>1.67</c:v>
                </c:pt>
                <c:pt idx="15">
                  <c:v>3.75</c:v>
                </c:pt>
                <c:pt idx="16">
                  <c:v>6.67</c:v>
                </c:pt>
                <c:pt idx="17">
                  <c:v>10.42</c:v>
                </c:pt>
                <c:pt idx="18">
                  <c:v>15</c:v>
                </c:pt>
                <c:pt idx="19">
                  <c:v>20.420000000000002</c:v>
                </c:pt>
                <c:pt idx="20">
                  <c:v>26.67</c:v>
                </c:pt>
                <c:pt idx="21">
                  <c:v>33.75</c:v>
                </c:pt>
                <c:pt idx="22">
                  <c:v>41.67</c:v>
                </c:pt>
                <c:pt idx="23">
                  <c:v>50.42</c:v>
                </c:pt>
                <c:pt idx="24">
                  <c:v>60</c:v>
                </c:pt>
              </c:numCache>
            </c:numRef>
          </c:val>
          <c:smooth val="0"/>
          <c:extLst>
            <c:ext xmlns:c16="http://schemas.microsoft.com/office/drawing/2014/chart" uri="{C3380CC4-5D6E-409C-BE32-E72D297353CC}">
              <c16:uniqueId val="{00000000-EE36-CD40-B550-3359F6274F2F}"/>
            </c:ext>
          </c:extLst>
        </c:ser>
        <c:ser>
          <c:idx val="1"/>
          <c:order val="1"/>
          <c:tx>
            <c:strRef>
              <c:f>Sheet1!$C$1</c:f>
              <c:strCache>
                <c:ptCount val="1"/>
                <c:pt idx="0">
                  <c:v>ε-insensible (ε = 20)</c:v>
                </c:pt>
              </c:strCache>
            </c:strRef>
          </c:tx>
          <c:spPr>
            <a:ln w="34925" cap="flat">
              <a:solidFill>
                <a:srgbClr val="E6115E"/>
              </a:solidFill>
              <a:prstDash val="solid"/>
              <a:round/>
            </a:ln>
            <a:effectLst/>
          </c:spPr>
          <c:marker>
            <c:symbol val="none"/>
          </c:marker>
          <c:cat>
            <c:strRef>
              <c:f>Sheet1!$A$2:$A$26</c:f>
              <c:strCache>
                <c:ptCount val="25"/>
                <c:pt idx="0">
                  <c:v>-60</c:v>
                </c:pt>
                <c:pt idx="4">
                  <c:v>-40</c:v>
                </c:pt>
                <c:pt idx="8">
                  <c:v>-20</c:v>
                </c:pt>
                <c:pt idx="12">
                  <c:v>0</c:v>
                </c:pt>
                <c:pt idx="16">
                  <c:v>20</c:v>
                </c:pt>
                <c:pt idx="20">
                  <c:v>40</c:v>
                </c:pt>
                <c:pt idx="24">
                  <c:v>60</c:v>
                </c:pt>
              </c:strCache>
            </c:strRef>
          </c:cat>
          <c:val>
            <c:numRef>
              <c:f>Sheet1!$C$2:$C$26</c:f>
              <c:numCache>
                <c:formatCode>General</c:formatCode>
                <c:ptCount val="25"/>
                <c:pt idx="0">
                  <c:v>40</c:v>
                </c:pt>
                <c:pt idx="1">
                  <c:v>35</c:v>
                </c:pt>
                <c:pt idx="2">
                  <c:v>30</c:v>
                </c:pt>
                <c:pt idx="3">
                  <c:v>25</c:v>
                </c:pt>
                <c:pt idx="4">
                  <c:v>20</c:v>
                </c:pt>
                <c:pt idx="5">
                  <c:v>15</c:v>
                </c:pt>
                <c:pt idx="6">
                  <c:v>10</c:v>
                </c:pt>
                <c:pt idx="7">
                  <c:v>5</c:v>
                </c:pt>
                <c:pt idx="8">
                  <c:v>0</c:v>
                </c:pt>
                <c:pt idx="9">
                  <c:v>0</c:v>
                </c:pt>
                <c:pt idx="10">
                  <c:v>0</c:v>
                </c:pt>
                <c:pt idx="11">
                  <c:v>0</c:v>
                </c:pt>
                <c:pt idx="12">
                  <c:v>0</c:v>
                </c:pt>
                <c:pt idx="13">
                  <c:v>0</c:v>
                </c:pt>
                <c:pt idx="14">
                  <c:v>0</c:v>
                </c:pt>
                <c:pt idx="15">
                  <c:v>0</c:v>
                </c:pt>
                <c:pt idx="16">
                  <c:v>0</c:v>
                </c:pt>
                <c:pt idx="17">
                  <c:v>5</c:v>
                </c:pt>
                <c:pt idx="18">
                  <c:v>10</c:v>
                </c:pt>
                <c:pt idx="19">
                  <c:v>15</c:v>
                </c:pt>
                <c:pt idx="20">
                  <c:v>20</c:v>
                </c:pt>
                <c:pt idx="21">
                  <c:v>25</c:v>
                </c:pt>
                <c:pt idx="22">
                  <c:v>30</c:v>
                </c:pt>
                <c:pt idx="23">
                  <c:v>35</c:v>
                </c:pt>
                <c:pt idx="24">
                  <c:v>40</c:v>
                </c:pt>
              </c:numCache>
            </c:numRef>
          </c:val>
          <c:smooth val="0"/>
          <c:extLst>
            <c:ext xmlns:c16="http://schemas.microsoft.com/office/drawing/2014/chart" uri="{C3380CC4-5D6E-409C-BE32-E72D297353CC}">
              <c16:uniqueId val="{00000001-EE36-CD40-B550-3359F6274F2F}"/>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50" b="0" i="0" u="none" strike="noStrike">
                    <a:solidFill>
                      <a:srgbClr val="5B6B87"/>
                    </a:solidFill>
                    <a:latin typeface="Arial"/>
                  </a:defRPr>
                </a:pPr>
                <a:r>
                  <a:rPr lang="en-US" sz="1050" b="0" i="0" u="none" strike="noStrike">
                    <a:solidFill>
                      <a:srgbClr val="5B6B87"/>
                    </a:solidFill>
                    <a:latin typeface="Arial"/>
                  </a:rPr>
                  <a:t>residuo (miles de USD)</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Arial"/>
              </a:defRPr>
            </a:pPr>
            <a:endParaRPr lang="en-US"/>
          </a:p>
        </c:txPr>
        <c:crossAx val="2094734552"/>
        <c:crosses val="autoZero"/>
        <c:auto val="1"/>
        <c:lblAlgn val="ctr"/>
        <c:lblOffset val="100"/>
        <c:tickLblSkip val="4"/>
        <c:noMultiLvlLbl val="1"/>
      </c:catAx>
      <c:valAx>
        <c:axId val="2094734552"/>
        <c:scaling>
          <c:orientation val="minMax"/>
        </c:scaling>
        <c:delete val="0"/>
        <c:axPos val="l"/>
        <c:majorGridlines>
          <c:spPr>
            <a:ln w="6350" cap="flat">
              <a:solidFill>
                <a:srgbClr val="E3E8F2"/>
              </a:solidFill>
              <a:prstDash val="solid"/>
              <a:round/>
            </a:ln>
          </c:spPr>
        </c:majorGridlines>
        <c:title>
          <c:tx>
            <c:rich>
              <a:bodyPr/>
              <a:lstStyle/>
              <a:p>
                <a:pPr>
                  <a:defRPr sz="1050" b="0" i="0" u="none" strike="noStrike">
                    <a:solidFill>
                      <a:srgbClr val="5B6B87"/>
                    </a:solidFill>
                    <a:latin typeface="Arial"/>
                  </a:defRPr>
                </a:pPr>
                <a:r>
                  <a:rPr lang="en-US" sz="1050" b="0" i="0" u="none" strike="noStrike">
                    <a:solidFill>
                      <a:srgbClr val="5B6B87"/>
                    </a:solidFill>
                    <a:latin typeface="Arial"/>
                  </a:rPr>
                  <a:t>castigo</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B6B87"/>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9942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imagen es el camino de Ridge con nuestros datos: cada línea es un coeficiente y, a medida que aumenta el freno hacia la derecha, todos se encogen. Es la idea de hoy en un dibujo.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Recuerda la tabla de inestabilidad de la Clase 2 y el gráfico de residuos con embudo. Los tres modelos de hoy responden cada uno a uno de esos problemas.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vas retrasado, el caso histórico (Hoerl, Kennard y Tibshirani) se puede contar en un minuto. El bloque 3 no se recorta.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Analogía útil: es como pedirle a un analista que explique el gasto con las variables que quiera, pero cobrándole por cada coeficiente grande que use. Si una variable no ayuda mucho, no vale la pena 'pagar' por un coeficiente grande.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ejercicio 1.1. Remarca que el denominador crece con α: la pendiente se divide entre un número cada vez mayor. Con muchos datos, Σdx² es enorme y un α de 10 casi no lo cambia; por eso Ridge apenas se nota con el dataset completo.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regla vale para Ridge, Lasso, Elastic Net, SVR y KNN (Clase 6): todo modelo que compare tamaños o distancias necesita variables en la misma escala. El pipeline es lo mismo que la regla de oro de la Clase 2 con la mediana: lo que se aprende, se aprende solo del entrenamiento.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regresión lineal el coeficiente de hogares va de -89 a +92; con Ridge, de 18 a 61. Es la demostración 1.4 del notebook. En el gráfico, latitud y longitud (en gris en el notebook) también se encogen pronto: son otro par correlacionado.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corto. La frase clave es 'sesgo a propósito'. Para gente de riesgos es contraintuitivo: un estimador sesgado puede ser mejor que uno insesgado si es mucho más estable. Conecta con validación de modelos: un coeficiente que cambia de signo según la muestra no pasa una revisión.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Fíjate en cuál eliminó primero: total_rooms, una de las cuatro de tamaño. Entre variables muy correlacionadas Lasso tiende a quedarse con una y apagar las otras. NEAR BAY es la otra: no se distingue mucho de la referencia una vez que están latitud y longitud.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Orden en que se apagan: total_rooms (α≈794), NEAR BAY (α≈794), latitude (α≈2 371), households (α≈3 415), ISLAND (α≈3 415), longitude (α≈7 079), population (α≈7 079), NEAR OCEAN (α≈7 079), total_bedrooms (α≈10 194), housing_median_age (α≈14 678), INLAND (α≈63 096). Muestra que total_rooms se apaga primero y luego hogares: del grupo de tamaño sobrevive total_bedrooms.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parte honesta de la clase: muchos cursos muestran Ridge mejorando todo, y en la práctica, con datos tabulares grandes y pocas variables, casi no cambia nada. Saber cuándo NO hace falta es tan útil como saber cuándo sí.</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ejercicio 3.1 y 3.2. Las 90 variables salen de 12 originales, 12 al cuadrado y 66 productos cruzados. Con 500 filas son 5.5 filas por variable. El Lasso usa α = 1 000 fijo; el Ridge, el α elegido por validación cruzada en la slide siguiente.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forma de U invertida es la de la Clase 1 con la profundidad del árbol: poco freno sobreajusta, mucho freno subajusta. Que la estimación de validación cruzada se parezca al resultado en prueba es justamente lo que queremos: un método para elegir que no nos engañe.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de abajo a la izquierda es el ejercicio 4.1. La curva gris está reescalada para que quepa en el mismo gráfico; lo que importa es la forma: la cuadrática crece cada vez más rápido, la ε-insensible es plana en el centro y luego crece en línea recta. Vectores de soporte: los distritos que quedan fuera del tubo o en su borde. Son los únicos que definen el modelo.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 en validación: más C mejora en este rango; más ε reduce los vectores de soporte (de ~4 400 con ε=5 a ~1 300 con ε=50). El notebook incluye un mapa de residuos: la regresión lineal deja manchas geográficas que el SVR RBF mezcla mucho más. El costo: SVR no tiene coeficientes que se puedan leer.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demostración 4.4 (grid de C y ε) tarda unos 20 segundos: avisa para que nadie la interrumpa. Si el grupo va lento, las demostraciones 1.3 y 2.2 (caminos) se pueden solo ejecutar y mirar.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cierre: si tuvieras que llevar uno de estos modelos a un comité de riesgos, ¿cuál llevarías y por qué? La respuesta más defendible no es el de mayor R²: Lasso con 10 variables explica casi lo mismo y se puede justificar variable por variable.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502920" y="960120"/>
            <a:ext cx="256032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960120"/>
            <a:ext cx="256032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MÓDULO 1 · CLASE 3</a:t>
            </a:r>
            <a:endParaRPr lang="en-US" sz="1100" dirty="0"/>
          </a:p>
        </p:txBody>
      </p:sp>
      <p:sp>
        <p:nvSpPr>
          <p:cNvPr id="4" name="Text 2"/>
          <p:cNvSpPr txBox="1"/>
          <p:nvPr/>
        </p:nvSpPr>
        <p:spPr>
          <a:xfrm>
            <a:off x="502920" y="1508760"/>
            <a:ext cx="6400800" cy="146304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Ponerle un freno</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a los coeficientes</a:t>
            </a:r>
            <a:endParaRPr lang="en-US" sz="4000" dirty="0"/>
          </a:p>
        </p:txBody>
      </p:sp>
      <p:sp>
        <p:nvSpPr>
          <p:cNvPr id="5" name="Text 3"/>
          <p:cNvSpPr txBox="1"/>
          <p:nvPr/>
        </p:nvSpPr>
        <p:spPr>
          <a:xfrm>
            <a:off x="530352" y="3246120"/>
            <a:ext cx="6217920" cy="731520"/>
          </a:xfrm>
          <a:prstGeom prst="rect">
            <a:avLst/>
          </a:prstGeom>
          <a:noFill/>
          <a:ln/>
        </p:spPr>
        <p:txBody>
          <a:bodyPr wrap="square" lIns="0" tIns="0" rIns="0" bIns="0" rtlCol="0" anchor="t"/>
          <a:lstStyle/>
          <a:p>
            <a:pPr marL="0" indent="0">
              <a:buNone/>
            </a:pPr>
            <a:r>
              <a:rPr lang="en-US" sz="1500" dirty="0">
                <a:solidFill>
                  <a:srgbClr val="C9D4EA"/>
                </a:solidFill>
                <a:latin typeface="Calibri" pitchFamily="34" charset="0"/>
                <a:ea typeface="Calibri" pitchFamily="34" charset="-122"/>
                <a:cs typeface="Calibri" pitchFamily="34" charset="-120"/>
              </a:rPr>
              <a:t>Ridge, Lasso y regresión con vectores de soporte (SVR).</a:t>
            </a:r>
            <a:endParaRPr lang="en-US" sz="1500" dirty="0"/>
          </a:p>
          <a:p>
            <a:pPr marL="0" indent="0">
              <a:buNone/>
            </a:pPr>
            <a:r>
              <a:rPr lang="en-US" sz="1500" dirty="0">
                <a:solidFill>
                  <a:srgbClr val="C9D4EA"/>
                </a:solidFill>
                <a:latin typeface="Calibri" pitchFamily="34" charset="0"/>
                <a:ea typeface="Calibri" pitchFamily="34" charset="-122"/>
                <a:cs typeface="Calibri" pitchFamily="34" charset="-120"/>
              </a:rPr>
              <a:t>Mismos datos de California, tres formas nuevas de trazar la línea.</a:t>
            </a:r>
            <a:endParaRPr lang="en-US" sz="1500" dirty="0"/>
          </a:p>
        </p:txBody>
      </p:sp>
      <p:sp>
        <p:nvSpPr>
          <p:cNvPr id="6" name="Text 4"/>
          <p:cNvSpPr txBox="1"/>
          <p:nvPr/>
        </p:nvSpPr>
        <p:spPr>
          <a:xfrm>
            <a:off x="53035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120 min</a:t>
            </a:r>
            <a:endParaRPr lang="en-US" sz="1800" dirty="0"/>
          </a:p>
        </p:txBody>
      </p:sp>
      <p:sp>
        <p:nvSpPr>
          <p:cNvPr id="7" name="Text 5"/>
          <p:cNvSpPr txBox="1"/>
          <p:nvPr/>
        </p:nvSpPr>
        <p:spPr>
          <a:xfrm>
            <a:off x="530352" y="4709160"/>
            <a:ext cx="2011680" cy="274320"/>
          </a:xfrm>
          <a:prstGeom prst="rect">
            <a:avLst/>
          </a:prstGeom>
          <a:noFill/>
          <a:ln/>
        </p:spPr>
        <p:txBody>
          <a:bodyPr wrap="square" lIns="0" tIns="0" rIns="0" bIns="0" rtlCol="0" anchor="ctr"/>
          <a:lstStyle/>
          <a:p>
            <a:pPr marL="0" indent="0">
              <a:buNone/>
            </a:pPr>
            <a:r>
              <a:rPr lang="en-US" sz="1150" dirty="0">
                <a:solidFill>
                  <a:srgbClr val="A9B7D4"/>
                </a:solidFill>
                <a:latin typeface="Calibri" pitchFamily="34" charset="0"/>
                <a:ea typeface="Calibri" pitchFamily="34" charset="-122"/>
                <a:cs typeface="Calibri" pitchFamily="34" charset="-120"/>
              </a:rPr>
              <a:t>1 sesión</a:t>
            </a:r>
            <a:endParaRPr lang="en-US" sz="1150" dirty="0"/>
          </a:p>
        </p:txBody>
      </p:sp>
      <p:sp>
        <p:nvSpPr>
          <p:cNvPr id="8" name="Text 6"/>
          <p:cNvSpPr txBox="1"/>
          <p:nvPr/>
        </p:nvSpPr>
        <p:spPr>
          <a:xfrm>
            <a:off x="263347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3 modelos</a:t>
            </a:r>
            <a:endParaRPr lang="en-US" sz="1800" dirty="0"/>
          </a:p>
        </p:txBody>
      </p:sp>
      <p:sp>
        <p:nvSpPr>
          <p:cNvPr id="9" name="Text 7"/>
          <p:cNvSpPr txBox="1"/>
          <p:nvPr/>
        </p:nvSpPr>
        <p:spPr>
          <a:xfrm>
            <a:off x="2633472" y="4709160"/>
            <a:ext cx="2011680" cy="274320"/>
          </a:xfrm>
          <a:prstGeom prst="rect">
            <a:avLst/>
          </a:prstGeom>
          <a:noFill/>
          <a:ln/>
        </p:spPr>
        <p:txBody>
          <a:bodyPr wrap="square" lIns="0" tIns="0" rIns="0" bIns="0" rtlCol="0" anchor="ctr"/>
          <a:lstStyle/>
          <a:p>
            <a:pPr marL="0" indent="0">
              <a:buNone/>
            </a:pPr>
            <a:r>
              <a:rPr lang="en-US" sz="1150" dirty="0">
                <a:solidFill>
                  <a:srgbClr val="A9B7D4"/>
                </a:solidFill>
                <a:latin typeface="Calibri" pitchFamily="34" charset="0"/>
                <a:ea typeface="Calibri" pitchFamily="34" charset="-122"/>
                <a:cs typeface="Calibri" pitchFamily="34" charset="-120"/>
              </a:rPr>
              <a:t>Ridge, Lasso, SVR</a:t>
            </a:r>
            <a:endParaRPr lang="en-US" sz="1150" dirty="0"/>
          </a:p>
        </p:txBody>
      </p:sp>
      <p:sp>
        <p:nvSpPr>
          <p:cNvPr id="10" name="Text 8"/>
          <p:cNvSpPr txBox="1"/>
          <p:nvPr/>
        </p:nvSpPr>
        <p:spPr>
          <a:xfrm>
            <a:off x="473659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R² = 0.759</a:t>
            </a:r>
            <a:endParaRPr lang="en-US" sz="1800" dirty="0"/>
          </a:p>
        </p:txBody>
      </p:sp>
      <p:sp>
        <p:nvSpPr>
          <p:cNvPr id="11" name="Text 9"/>
          <p:cNvSpPr txBox="1"/>
          <p:nvPr/>
        </p:nvSpPr>
        <p:spPr>
          <a:xfrm>
            <a:off x="4736592" y="4709160"/>
            <a:ext cx="2011680" cy="274320"/>
          </a:xfrm>
          <a:prstGeom prst="rect">
            <a:avLst/>
          </a:prstGeom>
          <a:noFill/>
          <a:ln/>
        </p:spPr>
        <p:txBody>
          <a:bodyPr wrap="square" lIns="0" tIns="0" rIns="0" bIns="0" rtlCol="0" anchor="ctr"/>
          <a:lstStyle/>
          <a:p>
            <a:pPr marL="0" indent="0">
              <a:buNone/>
            </a:pPr>
            <a:r>
              <a:rPr lang="en-US" sz="1150" dirty="0">
                <a:solidFill>
                  <a:srgbClr val="A9B7D4"/>
                </a:solidFill>
                <a:latin typeface="Calibri" pitchFamily="34" charset="0"/>
                <a:ea typeface="Calibri" pitchFamily="34" charset="-122"/>
                <a:cs typeface="Calibri" pitchFamily="34" charset="-120"/>
              </a:rPr>
              <a:t>el mejor de hoy (SVR)</a:t>
            </a:r>
            <a:endParaRPr lang="en-US" sz="1150" dirty="0"/>
          </a:p>
        </p:txBody>
      </p:sp>
      <p:sp>
        <p:nvSpPr>
          <p:cNvPr id="12" name="Text 10"/>
          <p:cNvSpPr txBox="1"/>
          <p:nvPr/>
        </p:nvSpPr>
        <p:spPr>
          <a:xfrm>
            <a:off x="530352" y="5349240"/>
            <a:ext cx="5943600" cy="320040"/>
          </a:xfrm>
          <a:prstGeom prst="rect">
            <a:avLst/>
          </a:prstGeom>
          <a:noFill/>
          <a:ln/>
        </p:spPr>
        <p:txBody>
          <a:bodyPr wrap="square" lIns="0" tIns="0" rIns="0" bIns="0" rtlCol="0" anchor="ctr"/>
          <a:lstStyle/>
          <a:p>
            <a:pPr marL="0" indent="0">
              <a:buNone/>
            </a:pPr>
            <a:r>
              <a:rPr lang="en-US" sz="1400" dirty="0">
                <a:solidFill>
                  <a:srgbClr val="A9B7D4"/>
                </a:solidFill>
                <a:latin typeface="Calibri" pitchFamily="34" charset="0"/>
                <a:ea typeface="Calibri" pitchFamily="34" charset="-122"/>
                <a:cs typeface="Calibri" pitchFamily="34" charset="-120"/>
              </a:rPr>
              <a:t>Docente  </a:t>
            </a:r>
            <a:r>
              <a:rPr lang="en-US" sz="1400" b="1" dirty="0">
                <a:solidFill>
                  <a:srgbClr val="FFFFFF"/>
                </a:solidFill>
                <a:latin typeface="Calibri" pitchFamily="34" charset="0"/>
                <a:ea typeface="Calibri" pitchFamily="34" charset="-122"/>
                <a:cs typeface="Calibri" pitchFamily="34" charset="-120"/>
              </a:rPr>
              <a:t>Josef Renato Rodriguez</a:t>
            </a:r>
            <a:endParaRPr lang="en-US" sz="1400" dirty="0"/>
          </a:p>
        </p:txBody>
      </p:sp>
      <p:sp>
        <p:nvSpPr>
          <p:cNvPr id="13" name="Text 11"/>
          <p:cNvSpPr txBox="1"/>
          <p:nvPr/>
        </p:nvSpPr>
        <p:spPr>
          <a:xfrm>
            <a:off x="530352" y="6172200"/>
            <a:ext cx="7315200" cy="274320"/>
          </a:xfrm>
          <a:prstGeom prst="rect">
            <a:avLst/>
          </a:prstGeom>
          <a:noFill/>
          <a:ln/>
        </p:spPr>
        <p:txBody>
          <a:bodyPr wrap="square" lIns="0" tIns="0" rIns="0" bIns="0" rtlCol="0" anchor="ctr"/>
          <a:lstStyle/>
          <a:p>
            <a:pPr marL="0" indent="0">
              <a:buNone/>
            </a:pPr>
            <a:r>
              <a:rPr lang="en-US" sz="1050" i="1" dirty="0">
                <a:solidFill>
                  <a:srgbClr val="8595B5"/>
                </a:solidFill>
                <a:latin typeface="Calibri" pitchFamily="34" charset="0"/>
                <a:ea typeface="Calibri" pitchFamily="34" charset="-122"/>
                <a:cs typeface="Calibri" pitchFamily="34" charset="-120"/>
              </a:rPr>
              <a:t>Machine Learning · Programa de Especialización Data Scientist · Sesión 3 de 16</a:t>
            </a:r>
            <a:endParaRPr lang="en-US" sz="1050" dirty="0"/>
          </a:p>
        </p:txBody>
      </p:sp>
      <p:sp>
        <p:nvSpPr>
          <p:cNvPr id="14" name="Shape 12"/>
          <p:cNvSpPr/>
          <p:nvPr/>
        </p:nvSpPr>
        <p:spPr>
          <a:xfrm>
            <a:off x="7315200" y="3331029"/>
            <a:ext cx="4297680" cy="0"/>
          </a:xfrm>
          <a:prstGeom prst="line">
            <a:avLst/>
          </a:prstGeom>
          <a:noFill/>
          <a:ln w="9525">
            <a:solidFill>
              <a:srgbClr val="2F4B85"/>
            </a:solidFill>
            <a:prstDash val="dash"/>
          </a:ln>
        </p:spPr>
      </p:sp>
      <p:sp>
        <p:nvSpPr>
          <p:cNvPr id="15" name="Shape 13"/>
          <p:cNvSpPr/>
          <p:nvPr/>
        </p:nvSpPr>
        <p:spPr>
          <a:xfrm>
            <a:off x="7292340" y="4481073"/>
            <a:ext cx="45720" cy="45720"/>
          </a:xfrm>
          <a:prstGeom prst="ellipse">
            <a:avLst/>
          </a:prstGeom>
          <a:solidFill>
            <a:srgbClr val="3A5694"/>
          </a:solidFill>
          <a:ln w="12700">
            <a:solidFill>
              <a:srgbClr val="3A5694"/>
            </a:solidFill>
            <a:prstDash val="solid"/>
          </a:ln>
        </p:spPr>
      </p:sp>
      <p:sp>
        <p:nvSpPr>
          <p:cNvPr id="16" name="Shape 14"/>
          <p:cNvSpPr/>
          <p:nvPr/>
        </p:nvSpPr>
        <p:spPr>
          <a:xfrm>
            <a:off x="7471410" y="4480860"/>
            <a:ext cx="45720" cy="45720"/>
          </a:xfrm>
          <a:prstGeom prst="ellipse">
            <a:avLst/>
          </a:prstGeom>
          <a:solidFill>
            <a:srgbClr val="3A5694"/>
          </a:solidFill>
          <a:ln w="12700">
            <a:solidFill>
              <a:srgbClr val="3A5694"/>
            </a:solidFill>
            <a:prstDash val="solid"/>
          </a:ln>
        </p:spPr>
      </p:sp>
      <p:sp>
        <p:nvSpPr>
          <p:cNvPr id="17" name="Shape 15"/>
          <p:cNvSpPr/>
          <p:nvPr/>
        </p:nvSpPr>
        <p:spPr>
          <a:xfrm>
            <a:off x="7650480" y="4480482"/>
            <a:ext cx="45720" cy="45720"/>
          </a:xfrm>
          <a:prstGeom prst="ellipse">
            <a:avLst/>
          </a:prstGeom>
          <a:solidFill>
            <a:srgbClr val="3A5694"/>
          </a:solidFill>
          <a:ln w="12700">
            <a:solidFill>
              <a:srgbClr val="3A5694"/>
            </a:solidFill>
            <a:prstDash val="solid"/>
          </a:ln>
        </p:spPr>
      </p:sp>
      <p:sp>
        <p:nvSpPr>
          <p:cNvPr id="18" name="Shape 16"/>
          <p:cNvSpPr/>
          <p:nvPr/>
        </p:nvSpPr>
        <p:spPr>
          <a:xfrm>
            <a:off x="7829550" y="4479810"/>
            <a:ext cx="45720" cy="45720"/>
          </a:xfrm>
          <a:prstGeom prst="ellipse">
            <a:avLst/>
          </a:prstGeom>
          <a:solidFill>
            <a:srgbClr val="3A5694"/>
          </a:solidFill>
          <a:ln w="12700">
            <a:solidFill>
              <a:srgbClr val="3A5694"/>
            </a:solidFill>
            <a:prstDash val="solid"/>
          </a:ln>
        </p:spPr>
      </p:sp>
      <p:sp>
        <p:nvSpPr>
          <p:cNvPr id="19" name="Shape 17"/>
          <p:cNvSpPr/>
          <p:nvPr/>
        </p:nvSpPr>
        <p:spPr>
          <a:xfrm>
            <a:off x="8008620" y="4478617"/>
            <a:ext cx="45720" cy="45720"/>
          </a:xfrm>
          <a:prstGeom prst="ellipse">
            <a:avLst/>
          </a:prstGeom>
          <a:solidFill>
            <a:srgbClr val="3A5694"/>
          </a:solidFill>
          <a:ln w="12700">
            <a:solidFill>
              <a:srgbClr val="3A5694"/>
            </a:solidFill>
            <a:prstDash val="solid"/>
          </a:ln>
        </p:spPr>
      </p:sp>
      <p:sp>
        <p:nvSpPr>
          <p:cNvPr id="20" name="Shape 18"/>
          <p:cNvSpPr/>
          <p:nvPr/>
        </p:nvSpPr>
        <p:spPr>
          <a:xfrm>
            <a:off x="8187690" y="4476502"/>
            <a:ext cx="45720" cy="45720"/>
          </a:xfrm>
          <a:prstGeom prst="ellipse">
            <a:avLst/>
          </a:prstGeom>
          <a:solidFill>
            <a:srgbClr val="3A5694"/>
          </a:solidFill>
          <a:ln w="12700">
            <a:solidFill>
              <a:srgbClr val="3A5694"/>
            </a:solidFill>
            <a:prstDash val="solid"/>
          </a:ln>
        </p:spPr>
      </p:sp>
      <p:sp>
        <p:nvSpPr>
          <p:cNvPr id="21" name="Shape 19"/>
          <p:cNvSpPr/>
          <p:nvPr/>
        </p:nvSpPr>
        <p:spPr>
          <a:xfrm>
            <a:off x="8366760" y="4472764"/>
            <a:ext cx="45720" cy="45720"/>
          </a:xfrm>
          <a:prstGeom prst="ellipse">
            <a:avLst/>
          </a:prstGeom>
          <a:solidFill>
            <a:srgbClr val="3A5694"/>
          </a:solidFill>
          <a:ln w="12700">
            <a:solidFill>
              <a:srgbClr val="3A5694"/>
            </a:solidFill>
            <a:prstDash val="solid"/>
          </a:ln>
        </p:spPr>
      </p:sp>
      <p:sp>
        <p:nvSpPr>
          <p:cNvPr id="22" name="Shape 20"/>
          <p:cNvSpPr/>
          <p:nvPr/>
        </p:nvSpPr>
        <p:spPr>
          <a:xfrm>
            <a:off x="8545830" y="4466184"/>
            <a:ext cx="45720" cy="45720"/>
          </a:xfrm>
          <a:prstGeom prst="ellipse">
            <a:avLst/>
          </a:prstGeom>
          <a:solidFill>
            <a:srgbClr val="3A5694"/>
          </a:solidFill>
          <a:ln w="12700">
            <a:solidFill>
              <a:srgbClr val="3A5694"/>
            </a:solidFill>
            <a:prstDash val="solid"/>
          </a:ln>
        </p:spPr>
      </p:sp>
      <p:sp>
        <p:nvSpPr>
          <p:cNvPr id="23" name="Shape 21"/>
          <p:cNvSpPr/>
          <p:nvPr/>
        </p:nvSpPr>
        <p:spPr>
          <a:xfrm>
            <a:off x="8724900" y="4454697"/>
            <a:ext cx="45720" cy="45720"/>
          </a:xfrm>
          <a:prstGeom prst="ellipse">
            <a:avLst/>
          </a:prstGeom>
          <a:solidFill>
            <a:srgbClr val="3A5694"/>
          </a:solidFill>
          <a:ln w="12700">
            <a:solidFill>
              <a:srgbClr val="3A5694"/>
            </a:solidFill>
            <a:prstDash val="solid"/>
          </a:ln>
        </p:spPr>
      </p:sp>
      <p:sp>
        <p:nvSpPr>
          <p:cNvPr id="24" name="Shape 22"/>
          <p:cNvSpPr/>
          <p:nvPr/>
        </p:nvSpPr>
        <p:spPr>
          <a:xfrm>
            <a:off x="8903970" y="4434916"/>
            <a:ext cx="45720" cy="45720"/>
          </a:xfrm>
          <a:prstGeom prst="ellipse">
            <a:avLst/>
          </a:prstGeom>
          <a:solidFill>
            <a:srgbClr val="3A5694"/>
          </a:solidFill>
          <a:ln w="12700">
            <a:solidFill>
              <a:srgbClr val="3A5694"/>
            </a:solidFill>
            <a:prstDash val="solid"/>
          </a:ln>
        </p:spPr>
      </p:sp>
      <p:sp>
        <p:nvSpPr>
          <p:cNvPr id="25" name="Shape 23"/>
          <p:cNvSpPr/>
          <p:nvPr/>
        </p:nvSpPr>
        <p:spPr>
          <a:xfrm>
            <a:off x="9083040" y="4401645"/>
            <a:ext cx="45720" cy="45720"/>
          </a:xfrm>
          <a:prstGeom prst="ellipse">
            <a:avLst/>
          </a:prstGeom>
          <a:solidFill>
            <a:srgbClr val="3A5694"/>
          </a:solidFill>
          <a:ln w="12700">
            <a:solidFill>
              <a:srgbClr val="3A5694"/>
            </a:solidFill>
            <a:prstDash val="solid"/>
          </a:ln>
        </p:spPr>
      </p:sp>
      <p:sp>
        <p:nvSpPr>
          <p:cNvPr id="26" name="Shape 24"/>
          <p:cNvSpPr/>
          <p:nvPr/>
        </p:nvSpPr>
        <p:spPr>
          <a:xfrm>
            <a:off x="9262110" y="4347826"/>
            <a:ext cx="45720" cy="45720"/>
          </a:xfrm>
          <a:prstGeom prst="ellipse">
            <a:avLst/>
          </a:prstGeom>
          <a:solidFill>
            <a:srgbClr val="3A5694"/>
          </a:solidFill>
          <a:ln w="12700">
            <a:solidFill>
              <a:srgbClr val="3A5694"/>
            </a:solidFill>
            <a:prstDash val="solid"/>
          </a:ln>
        </p:spPr>
      </p:sp>
      <p:sp>
        <p:nvSpPr>
          <p:cNvPr id="27" name="Shape 25"/>
          <p:cNvSpPr/>
          <p:nvPr/>
        </p:nvSpPr>
        <p:spPr>
          <a:xfrm>
            <a:off x="9441180" y="4265997"/>
            <a:ext cx="45720" cy="45720"/>
          </a:xfrm>
          <a:prstGeom prst="ellipse">
            <a:avLst/>
          </a:prstGeom>
          <a:solidFill>
            <a:srgbClr val="3A5694"/>
          </a:solidFill>
          <a:ln w="12700">
            <a:solidFill>
              <a:srgbClr val="3A5694"/>
            </a:solidFill>
            <a:prstDash val="solid"/>
          </a:ln>
        </p:spPr>
      </p:sp>
      <p:sp>
        <p:nvSpPr>
          <p:cNvPr id="28" name="Shape 26"/>
          <p:cNvSpPr/>
          <p:nvPr/>
        </p:nvSpPr>
        <p:spPr>
          <a:xfrm>
            <a:off x="9620250" y="4152451"/>
            <a:ext cx="45720" cy="45720"/>
          </a:xfrm>
          <a:prstGeom prst="ellipse">
            <a:avLst/>
          </a:prstGeom>
          <a:solidFill>
            <a:srgbClr val="3A5694"/>
          </a:solidFill>
          <a:ln w="12700">
            <a:solidFill>
              <a:srgbClr val="3A5694"/>
            </a:solidFill>
            <a:prstDash val="solid"/>
          </a:ln>
        </p:spPr>
      </p:sp>
      <p:sp>
        <p:nvSpPr>
          <p:cNvPr id="29" name="Shape 27"/>
          <p:cNvSpPr/>
          <p:nvPr/>
        </p:nvSpPr>
        <p:spPr>
          <a:xfrm>
            <a:off x="9799320" y="4013065"/>
            <a:ext cx="45720" cy="45720"/>
          </a:xfrm>
          <a:prstGeom prst="ellipse">
            <a:avLst/>
          </a:prstGeom>
          <a:solidFill>
            <a:srgbClr val="3A5694"/>
          </a:solidFill>
          <a:ln w="12700">
            <a:solidFill>
              <a:srgbClr val="3A5694"/>
            </a:solidFill>
            <a:prstDash val="solid"/>
          </a:ln>
        </p:spPr>
      </p:sp>
      <p:sp>
        <p:nvSpPr>
          <p:cNvPr id="30" name="Shape 28"/>
          <p:cNvSpPr/>
          <p:nvPr/>
        </p:nvSpPr>
        <p:spPr>
          <a:xfrm>
            <a:off x="9978390" y="3864994"/>
            <a:ext cx="45720" cy="45720"/>
          </a:xfrm>
          <a:prstGeom prst="ellipse">
            <a:avLst/>
          </a:prstGeom>
          <a:solidFill>
            <a:srgbClr val="3A5694"/>
          </a:solidFill>
          <a:ln w="12700">
            <a:solidFill>
              <a:srgbClr val="3A5694"/>
            </a:solidFill>
            <a:prstDash val="solid"/>
          </a:ln>
        </p:spPr>
      </p:sp>
      <p:sp>
        <p:nvSpPr>
          <p:cNvPr id="31" name="Shape 29"/>
          <p:cNvSpPr/>
          <p:nvPr/>
        </p:nvSpPr>
        <p:spPr>
          <a:xfrm>
            <a:off x="10157460" y="3729051"/>
            <a:ext cx="45720" cy="45720"/>
          </a:xfrm>
          <a:prstGeom prst="ellipse">
            <a:avLst/>
          </a:prstGeom>
          <a:solidFill>
            <a:srgbClr val="3A5694"/>
          </a:solidFill>
          <a:ln w="12700">
            <a:solidFill>
              <a:srgbClr val="3A5694"/>
            </a:solidFill>
            <a:prstDash val="solid"/>
          </a:ln>
        </p:spPr>
      </p:sp>
      <p:sp>
        <p:nvSpPr>
          <p:cNvPr id="32" name="Shape 30"/>
          <p:cNvSpPr/>
          <p:nvPr/>
        </p:nvSpPr>
        <p:spPr>
          <a:xfrm>
            <a:off x="10336530" y="3618390"/>
            <a:ext cx="45720" cy="45720"/>
          </a:xfrm>
          <a:prstGeom prst="ellipse">
            <a:avLst/>
          </a:prstGeom>
          <a:solidFill>
            <a:srgbClr val="3A5694"/>
          </a:solidFill>
          <a:ln w="12700">
            <a:solidFill>
              <a:srgbClr val="3A5694"/>
            </a:solidFill>
            <a:prstDash val="solid"/>
          </a:ln>
        </p:spPr>
      </p:sp>
      <p:sp>
        <p:nvSpPr>
          <p:cNvPr id="33" name="Shape 31"/>
          <p:cNvSpPr/>
          <p:nvPr/>
        </p:nvSpPr>
        <p:spPr>
          <a:xfrm>
            <a:off x="10515600" y="3534402"/>
            <a:ext cx="45720" cy="45720"/>
          </a:xfrm>
          <a:prstGeom prst="ellipse">
            <a:avLst/>
          </a:prstGeom>
          <a:solidFill>
            <a:srgbClr val="3A5694"/>
          </a:solidFill>
          <a:ln w="12700">
            <a:solidFill>
              <a:srgbClr val="3A5694"/>
            </a:solidFill>
            <a:prstDash val="solid"/>
          </a:ln>
        </p:spPr>
      </p:sp>
      <p:sp>
        <p:nvSpPr>
          <p:cNvPr id="34" name="Shape 32"/>
          <p:cNvSpPr/>
          <p:nvPr/>
        </p:nvSpPr>
        <p:spPr>
          <a:xfrm>
            <a:off x="10694670" y="3471281"/>
            <a:ext cx="45720" cy="45720"/>
          </a:xfrm>
          <a:prstGeom prst="ellipse">
            <a:avLst/>
          </a:prstGeom>
          <a:solidFill>
            <a:srgbClr val="3A5694"/>
          </a:solidFill>
          <a:ln w="12700">
            <a:solidFill>
              <a:srgbClr val="3A5694"/>
            </a:solidFill>
            <a:prstDash val="solid"/>
          </a:ln>
        </p:spPr>
      </p:sp>
      <p:sp>
        <p:nvSpPr>
          <p:cNvPr id="35" name="Shape 33"/>
          <p:cNvSpPr/>
          <p:nvPr/>
        </p:nvSpPr>
        <p:spPr>
          <a:xfrm>
            <a:off x="10873740" y="3422565"/>
            <a:ext cx="45720" cy="45720"/>
          </a:xfrm>
          <a:prstGeom prst="ellipse">
            <a:avLst/>
          </a:prstGeom>
          <a:solidFill>
            <a:srgbClr val="3A5694"/>
          </a:solidFill>
          <a:ln w="12700">
            <a:solidFill>
              <a:srgbClr val="3A5694"/>
            </a:solidFill>
            <a:prstDash val="solid"/>
          </a:ln>
        </p:spPr>
      </p:sp>
      <p:sp>
        <p:nvSpPr>
          <p:cNvPr id="36" name="Shape 34"/>
          <p:cNvSpPr/>
          <p:nvPr/>
        </p:nvSpPr>
        <p:spPr>
          <a:xfrm>
            <a:off x="11052810" y="3384547"/>
            <a:ext cx="45720" cy="45720"/>
          </a:xfrm>
          <a:prstGeom prst="ellipse">
            <a:avLst/>
          </a:prstGeom>
          <a:solidFill>
            <a:srgbClr val="3A5694"/>
          </a:solidFill>
          <a:ln w="12700">
            <a:solidFill>
              <a:srgbClr val="3A5694"/>
            </a:solidFill>
            <a:prstDash val="solid"/>
          </a:ln>
        </p:spPr>
      </p:sp>
      <p:sp>
        <p:nvSpPr>
          <p:cNvPr id="37" name="Shape 35"/>
          <p:cNvSpPr/>
          <p:nvPr/>
        </p:nvSpPr>
        <p:spPr>
          <a:xfrm>
            <a:off x="11231880" y="3356053"/>
            <a:ext cx="45720" cy="45720"/>
          </a:xfrm>
          <a:prstGeom prst="ellipse">
            <a:avLst/>
          </a:prstGeom>
          <a:solidFill>
            <a:srgbClr val="3A5694"/>
          </a:solidFill>
          <a:ln w="12700">
            <a:solidFill>
              <a:srgbClr val="3A5694"/>
            </a:solidFill>
            <a:prstDash val="solid"/>
          </a:ln>
        </p:spPr>
      </p:sp>
      <p:sp>
        <p:nvSpPr>
          <p:cNvPr id="38" name="Shape 36"/>
          <p:cNvSpPr/>
          <p:nvPr/>
        </p:nvSpPr>
        <p:spPr>
          <a:xfrm>
            <a:off x="11410950" y="3336438"/>
            <a:ext cx="45720" cy="45720"/>
          </a:xfrm>
          <a:prstGeom prst="ellipse">
            <a:avLst/>
          </a:prstGeom>
          <a:solidFill>
            <a:srgbClr val="3A5694"/>
          </a:solidFill>
          <a:ln w="12700">
            <a:solidFill>
              <a:srgbClr val="3A5694"/>
            </a:solidFill>
            <a:prstDash val="solid"/>
          </a:ln>
        </p:spPr>
      </p:sp>
      <p:sp>
        <p:nvSpPr>
          <p:cNvPr id="39" name="Shape 37"/>
          <p:cNvSpPr/>
          <p:nvPr/>
        </p:nvSpPr>
        <p:spPr>
          <a:xfrm>
            <a:off x="11590020" y="3324166"/>
            <a:ext cx="45720" cy="45720"/>
          </a:xfrm>
          <a:prstGeom prst="ellipse">
            <a:avLst/>
          </a:prstGeom>
          <a:solidFill>
            <a:srgbClr val="3A5694"/>
          </a:solidFill>
          <a:ln w="12700">
            <a:solidFill>
              <a:srgbClr val="3A5694"/>
            </a:solidFill>
            <a:prstDash val="solid"/>
          </a:ln>
        </p:spPr>
      </p:sp>
      <p:sp>
        <p:nvSpPr>
          <p:cNvPr id="40" name="Shape 38"/>
          <p:cNvSpPr/>
          <p:nvPr/>
        </p:nvSpPr>
        <p:spPr>
          <a:xfrm>
            <a:off x="7292340" y="4498421"/>
            <a:ext cx="45720" cy="45720"/>
          </a:xfrm>
          <a:prstGeom prst="ellipse">
            <a:avLst/>
          </a:prstGeom>
          <a:solidFill>
            <a:srgbClr val="3A5694"/>
          </a:solidFill>
          <a:ln w="12700">
            <a:solidFill>
              <a:srgbClr val="3A5694"/>
            </a:solidFill>
            <a:prstDash val="solid"/>
          </a:ln>
        </p:spPr>
      </p:sp>
      <p:sp>
        <p:nvSpPr>
          <p:cNvPr id="41" name="Shape 39"/>
          <p:cNvSpPr/>
          <p:nvPr/>
        </p:nvSpPr>
        <p:spPr>
          <a:xfrm>
            <a:off x="7471410" y="4498198"/>
            <a:ext cx="45720" cy="45720"/>
          </a:xfrm>
          <a:prstGeom prst="ellipse">
            <a:avLst/>
          </a:prstGeom>
          <a:solidFill>
            <a:srgbClr val="3A5694"/>
          </a:solidFill>
          <a:ln w="12700">
            <a:solidFill>
              <a:srgbClr val="3A5694"/>
            </a:solidFill>
            <a:prstDash val="solid"/>
          </a:ln>
        </p:spPr>
      </p:sp>
      <p:sp>
        <p:nvSpPr>
          <p:cNvPr id="42" name="Shape 40"/>
          <p:cNvSpPr/>
          <p:nvPr/>
        </p:nvSpPr>
        <p:spPr>
          <a:xfrm>
            <a:off x="7650480" y="4497803"/>
            <a:ext cx="45720" cy="45720"/>
          </a:xfrm>
          <a:prstGeom prst="ellipse">
            <a:avLst/>
          </a:prstGeom>
          <a:solidFill>
            <a:srgbClr val="3A5694"/>
          </a:solidFill>
          <a:ln w="12700">
            <a:solidFill>
              <a:srgbClr val="3A5694"/>
            </a:solidFill>
            <a:prstDash val="solid"/>
          </a:ln>
        </p:spPr>
      </p:sp>
      <p:sp>
        <p:nvSpPr>
          <p:cNvPr id="43" name="Shape 41"/>
          <p:cNvSpPr/>
          <p:nvPr/>
        </p:nvSpPr>
        <p:spPr>
          <a:xfrm>
            <a:off x="7829550" y="4497101"/>
            <a:ext cx="45720" cy="45720"/>
          </a:xfrm>
          <a:prstGeom prst="ellipse">
            <a:avLst/>
          </a:prstGeom>
          <a:solidFill>
            <a:srgbClr val="3A5694"/>
          </a:solidFill>
          <a:ln w="12700">
            <a:solidFill>
              <a:srgbClr val="3A5694"/>
            </a:solidFill>
            <a:prstDash val="solid"/>
          </a:ln>
        </p:spPr>
      </p:sp>
      <p:sp>
        <p:nvSpPr>
          <p:cNvPr id="44" name="Shape 42"/>
          <p:cNvSpPr/>
          <p:nvPr/>
        </p:nvSpPr>
        <p:spPr>
          <a:xfrm>
            <a:off x="8008620" y="4495854"/>
            <a:ext cx="45720" cy="45720"/>
          </a:xfrm>
          <a:prstGeom prst="ellipse">
            <a:avLst/>
          </a:prstGeom>
          <a:solidFill>
            <a:srgbClr val="3A5694"/>
          </a:solidFill>
          <a:ln w="12700">
            <a:solidFill>
              <a:srgbClr val="3A5694"/>
            </a:solidFill>
            <a:prstDash val="solid"/>
          </a:ln>
        </p:spPr>
      </p:sp>
      <p:sp>
        <p:nvSpPr>
          <p:cNvPr id="45" name="Shape 43"/>
          <p:cNvSpPr/>
          <p:nvPr/>
        </p:nvSpPr>
        <p:spPr>
          <a:xfrm>
            <a:off x="8187690" y="4493645"/>
            <a:ext cx="45720" cy="45720"/>
          </a:xfrm>
          <a:prstGeom prst="ellipse">
            <a:avLst/>
          </a:prstGeom>
          <a:solidFill>
            <a:srgbClr val="3A5694"/>
          </a:solidFill>
          <a:ln w="12700">
            <a:solidFill>
              <a:srgbClr val="3A5694"/>
            </a:solidFill>
            <a:prstDash val="solid"/>
          </a:ln>
        </p:spPr>
      </p:sp>
      <p:sp>
        <p:nvSpPr>
          <p:cNvPr id="46" name="Shape 44"/>
          <p:cNvSpPr/>
          <p:nvPr/>
        </p:nvSpPr>
        <p:spPr>
          <a:xfrm>
            <a:off x="8366760" y="4489740"/>
            <a:ext cx="45720" cy="45720"/>
          </a:xfrm>
          <a:prstGeom prst="ellipse">
            <a:avLst/>
          </a:prstGeom>
          <a:solidFill>
            <a:srgbClr val="3A5694"/>
          </a:solidFill>
          <a:ln w="12700">
            <a:solidFill>
              <a:srgbClr val="3A5694"/>
            </a:solidFill>
            <a:prstDash val="solid"/>
          </a:ln>
        </p:spPr>
      </p:sp>
      <p:sp>
        <p:nvSpPr>
          <p:cNvPr id="47" name="Shape 45"/>
          <p:cNvSpPr/>
          <p:nvPr/>
        </p:nvSpPr>
        <p:spPr>
          <a:xfrm>
            <a:off x="8545830" y="4482867"/>
            <a:ext cx="45720" cy="45720"/>
          </a:xfrm>
          <a:prstGeom prst="ellipse">
            <a:avLst/>
          </a:prstGeom>
          <a:solidFill>
            <a:srgbClr val="3A5694"/>
          </a:solidFill>
          <a:ln w="12700">
            <a:solidFill>
              <a:srgbClr val="3A5694"/>
            </a:solidFill>
            <a:prstDash val="solid"/>
          </a:ln>
        </p:spPr>
      </p:sp>
      <p:sp>
        <p:nvSpPr>
          <p:cNvPr id="48" name="Shape 46"/>
          <p:cNvSpPr/>
          <p:nvPr/>
        </p:nvSpPr>
        <p:spPr>
          <a:xfrm>
            <a:off x="8724900" y="4470868"/>
            <a:ext cx="45720" cy="45720"/>
          </a:xfrm>
          <a:prstGeom prst="ellipse">
            <a:avLst/>
          </a:prstGeom>
          <a:solidFill>
            <a:srgbClr val="3A5694"/>
          </a:solidFill>
          <a:ln w="12700">
            <a:solidFill>
              <a:srgbClr val="3A5694"/>
            </a:solidFill>
            <a:prstDash val="solid"/>
          </a:ln>
        </p:spPr>
      </p:sp>
      <p:sp>
        <p:nvSpPr>
          <p:cNvPr id="49" name="Shape 47"/>
          <p:cNvSpPr/>
          <p:nvPr/>
        </p:nvSpPr>
        <p:spPr>
          <a:xfrm>
            <a:off x="8903970" y="4450208"/>
            <a:ext cx="45720" cy="45720"/>
          </a:xfrm>
          <a:prstGeom prst="ellipse">
            <a:avLst/>
          </a:prstGeom>
          <a:solidFill>
            <a:srgbClr val="3A5694"/>
          </a:solidFill>
          <a:ln w="12700">
            <a:solidFill>
              <a:srgbClr val="3A5694"/>
            </a:solidFill>
            <a:prstDash val="solid"/>
          </a:ln>
        </p:spPr>
      </p:sp>
      <p:sp>
        <p:nvSpPr>
          <p:cNvPr id="50" name="Shape 48"/>
          <p:cNvSpPr/>
          <p:nvPr/>
        </p:nvSpPr>
        <p:spPr>
          <a:xfrm>
            <a:off x="9083040" y="4415465"/>
            <a:ext cx="45720" cy="45720"/>
          </a:xfrm>
          <a:prstGeom prst="ellipse">
            <a:avLst/>
          </a:prstGeom>
          <a:solidFill>
            <a:srgbClr val="3A5694"/>
          </a:solidFill>
          <a:ln w="12700">
            <a:solidFill>
              <a:srgbClr val="3A5694"/>
            </a:solidFill>
            <a:prstDash val="solid"/>
          </a:ln>
        </p:spPr>
      </p:sp>
      <p:sp>
        <p:nvSpPr>
          <p:cNvPr id="51" name="Shape 49"/>
          <p:cNvSpPr/>
          <p:nvPr/>
        </p:nvSpPr>
        <p:spPr>
          <a:xfrm>
            <a:off x="9262110" y="4359293"/>
            <a:ext cx="45720" cy="45720"/>
          </a:xfrm>
          <a:prstGeom prst="ellipse">
            <a:avLst/>
          </a:prstGeom>
          <a:solidFill>
            <a:srgbClr val="3A5694"/>
          </a:solidFill>
          <a:ln w="12700">
            <a:solidFill>
              <a:srgbClr val="3A5694"/>
            </a:solidFill>
            <a:prstDash val="solid"/>
          </a:ln>
        </p:spPr>
      </p:sp>
      <p:sp>
        <p:nvSpPr>
          <p:cNvPr id="52" name="Shape 50"/>
          <p:cNvSpPr/>
          <p:nvPr/>
        </p:nvSpPr>
        <p:spPr>
          <a:xfrm>
            <a:off x="9441180" y="4273965"/>
            <a:ext cx="45720" cy="45720"/>
          </a:xfrm>
          <a:prstGeom prst="ellipse">
            <a:avLst/>
          </a:prstGeom>
          <a:solidFill>
            <a:srgbClr val="3A5694"/>
          </a:solidFill>
          <a:ln w="12700">
            <a:solidFill>
              <a:srgbClr val="3A5694"/>
            </a:solidFill>
            <a:prstDash val="solid"/>
          </a:ln>
        </p:spPr>
      </p:sp>
      <p:sp>
        <p:nvSpPr>
          <p:cNvPr id="53" name="Shape 51"/>
          <p:cNvSpPr/>
          <p:nvPr/>
        </p:nvSpPr>
        <p:spPr>
          <a:xfrm>
            <a:off x="9620250" y="4155816"/>
            <a:ext cx="45720" cy="45720"/>
          </a:xfrm>
          <a:prstGeom prst="ellipse">
            <a:avLst/>
          </a:prstGeom>
          <a:solidFill>
            <a:srgbClr val="3A5694"/>
          </a:solidFill>
          <a:ln w="12700">
            <a:solidFill>
              <a:srgbClr val="3A5694"/>
            </a:solidFill>
            <a:prstDash val="solid"/>
          </a:ln>
        </p:spPr>
      </p:sp>
      <p:sp>
        <p:nvSpPr>
          <p:cNvPr id="54" name="Shape 52"/>
          <p:cNvSpPr/>
          <p:nvPr/>
        </p:nvSpPr>
        <p:spPr>
          <a:xfrm>
            <a:off x="9799320" y="4011462"/>
            <a:ext cx="45720" cy="45720"/>
          </a:xfrm>
          <a:prstGeom prst="ellipse">
            <a:avLst/>
          </a:prstGeom>
          <a:solidFill>
            <a:srgbClr val="3A5694"/>
          </a:solidFill>
          <a:ln w="12700">
            <a:solidFill>
              <a:srgbClr val="3A5694"/>
            </a:solidFill>
            <a:prstDash val="solid"/>
          </a:ln>
        </p:spPr>
      </p:sp>
      <p:sp>
        <p:nvSpPr>
          <p:cNvPr id="55" name="Shape 53"/>
          <p:cNvSpPr/>
          <p:nvPr/>
        </p:nvSpPr>
        <p:spPr>
          <a:xfrm>
            <a:off x="9978390" y="3859700"/>
            <a:ext cx="45720" cy="45720"/>
          </a:xfrm>
          <a:prstGeom prst="ellipse">
            <a:avLst/>
          </a:prstGeom>
          <a:solidFill>
            <a:srgbClr val="3A5694"/>
          </a:solidFill>
          <a:ln w="12700">
            <a:solidFill>
              <a:srgbClr val="3A5694"/>
            </a:solidFill>
            <a:prstDash val="solid"/>
          </a:ln>
        </p:spPr>
      </p:sp>
      <p:sp>
        <p:nvSpPr>
          <p:cNvPr id="56" name="Shape 54"/>
          <p:cNvSpPr/>
          <p:nvPr/>
        </p:nvSpPr>
        <p:spPr>
          <a:xfrm>
            <a:off x="10157460" y="3723493"/>
            <a:ext cx="45720" cy="45720"/>
          </a:xfrm>
          <a:prstGeom prst="ellipse">
            <a:avLst/>
          </a:prstGeom>
          <a:solidFill>
            <a:srgbClr val="3A5694"/>
          </a:solidFill>
          <a:ln w="12700">
            <a:solidFill>
              <a:srgbClr val="3A5694"/>
            </a:solidFill>
            <a:prstDash val="solid"/>
          </a:ln>
        </p:spPr>
      </p:sp>
      <p:sp>
        <p:nvSpPr>
          <p:cNvPr id="57" name="Shape 55"/>
          <p:cNvSpPr/>
          <p:nvPr/>
        </p:nvSpPr>
        <p:spPr>
          <a:xfrm>
            <a:off x="10336530" y="3617748"/>
            <a:ext cx="45720" cy="45720"/>
          </a:xfrm>
          <a:prstGeom prst="ellipse">
            <a:avLst/>
          </a:prstGeom>
          <a:solidFill>
            <a:srgbClr val="3A5694"/>
          </a:solidFill>
          <a:ln w="12700">
            <a:solidFill>
              <a:srgbClr val="3A5694"/>
            </a:solidFill>
            <a:prstDash val="solid"/>
          </a:ln>
        </p:spPr>
      </p:sp>
      <p:sp>
        <p:nvSpPr>
          <p:cNvPr id="58" name="Shape 56"/>
          <p:cNvSpPr/>
          <p:nvPr/>
        </p:nvSpPr>
        <p:spPr>
          <a:xfrm>
            <a:off x="10515600" y="3544223"/>
            <a:ext cx="45720" cy="45720"/>
          </a:xfrm>
          <a:prstGeom prst="ellipse">
            <a:avLst/>
          </a:prstGeom>
          <a:solidFill>
            <a:srgbClr val="3A5694"/>
          </a:solidFill>
          <a:ln w="12700">
            <a:solidFill>
              <a:srgbClr val="3A5694"/>
            </a:solidFill>
            <a:prstDash val="solid"/>
          </a:ln>
        </p:spPr>
      </p:sp>
      <p:sp>
        <p:nvSpPr>
          <p:cNvPr id="59" name="Shape 57"/>
          <p:cNvSpPr/>
          <p:nvPr/>
        </p:nvSpPr>
        <p:spPr>
          <a:xfrm>
            <a:off x="10694670" y="3495164"/>
            <a:ext cx="45720" cy="45720"/>
          </a:xfrm>
          <a:prstGeom prst="ellipse">
            <a:avLst/>
          </a:prstGeom>
          <a:solidFill>
            <a:srgbClr val="3A5694"/>
          </a:solidFill>
          <a:ln w="12700">
            <a:solidFill>
              <a:srgbClr val="3A5694"/>
            </a:solidFill>
            <a:prstDash val="solid"/>
          </a:ln>
        </p:spPr>
      </p:sp>
      <p:sp>
        <p:nvSpPr>
          <p:cNvPr id="60" name="Shape 58"/>
          <p:cNvSpPr/>
          <p:nvPr/>
        </p:nvSpPr>
        <p:spPr>
          <a:xfrm>
            <a:off x="10873740" y="3459727"/>
            <a:ext cx="45720" cy="45720"/>
          </a:xfrm>
          <a:prstGeom prst="ellipse">
            <a:avLst/>
          </a:prstGeom>
          <a:solidFill>
            <a:srgbClr val="3A5694"/>
          </a:solidFill>
          <a:ln w="12700">
            <a:solidFill>
              <a:srgbClr val="3A5694"/>
            </a:solidFill>
            <a:prstDash val="solid"/>
          </a:ln>
        </p:spPr>
      </p:sp>
      <p:sp>
        <p:nvSpPr>
          <p:cNvPr id="61" name="Shape 59"/>
          <p:cNvSpPr/>
          <p:nvPr/>
        </p:nvSpPr>
        <p:spPr>
          <a:xfrm>
            <a:off x="11052810" y="3429232"/>
            <a:ext cx="45720" cy="45720"/>
          </a:xfrm>
          <a:prstGeom prst="ellipse">
            <a:avLst/>
          </a:prstGeom>
          <a:solidFill>
            <a:srgbClr val="3A5694"/>
          </a:solidFill>
          <a:ln w="12700">
            <a:solidFill>
              <a:srgbClr val="3A5694"/>
            </a:solidFill>
            <a:prstDash val="solid"/>
          </a:ln>
        </p:spPr>
      </p:sp>
      <p:sp>
        <p:nvSpPr>
          <p:cNvPr id="62" name="Shape 60"/>
          <p:cNvSpPr/>
          <p:nvPr/>
        </p:nvSpPr>
        <p:spPr>
          <a:xfrm>
            <a:off x="11231880" y="3400074"/>
            <a:ext cx="45720" cy="45720"/>
          </a:xfrm>
          <a:prstGeom prst="ellipse">
            <a:avLst/>
          </a:prstGeom>
          <a:solidFill>
            <a:srgbClr val="3A5694"/>
          </a:solidFill>
          <a:ln w="12700">
            <a:solidFill>
              <a:srgbClr val="3A5694"/>
            </a:solidFill>
            <a:prstDash val="solid"/>
          </a:ln>
        </p:spPr>
      </p:sp>
      <p:sp>
        <p:nvSpPr>
          <p:cNvPr id="63" name="Shape 61"/>
          <p:cNvSpPr/>
          <p:nvPr/>
        </p:nvSpPr>
        <p:spPr>
          <a:xfrm>
            <a:off x="11410950" y="3373247"/>
            <a:ext cx="45720" cy="45720"/>
          </a:xfrm>
          <a:prstGeom prst="ellipse">
            <a:avLst/>
          </a:prstGeom>
          <a:solidFill>
            <a:srgbClr val="3A5694"/>
          </a:solidFill>
          <a:ln w="12700">
            <a:solidFill>
              <a:srgbClr val="3A5694"/>
            </a:solidFill>
            <a:prstDash val="solid"/>
          </a:ln>
        </p:spPr>
      </p:sp>
      <p:sp>
        <p:nvSpPr>
          <p:cNvPr id="64" name="Shape 62"/>
          <p:cNvSpPr/>
          <p:nvPr/>
        </p:nvSpPr>
        <p:spPr>
          <a:xfrm>
            <a:off x="11590020" y="3351183"/>
            <a:ext cx="45720" cy="45720"/>
          </a:xfrm>
          <a:prstGeom prst="ellipse">
            <a:avLst/>
          </a:prstGeom>
          <a:solidFill>
            <a:srgbClr val="3A5694"/>
          </a:solidFill>
          <a:ln w="12700">
            <a:solidFill>
              <a:srgbClr val="3A5694"/>
            </a:solidFill>
            <a:prstDash val="solid"/>
          </a:ln>
        </p:spPr>
      </p:sp>
      <p:sp>
        <p:nvSpPr>
          <p:cNvPr id="65" name="Shape 63"/>
          <p:cNvSpPr/>
          <p:nvPr/>
        </p:nvSpPr>
        <p:spPr>
          <a:xfrm>
            <a:off x="7292340" y="3009172"/>
            <a:ext cx="45720" cy="45720"/>
          </a:xfrm>
          <a:prstGeom prst="ellipse">
            <a:avLst/>
          </a:prstGeom>
          <a:solidFill>
            <a:srgbClr val="3A5694"/>
          </a:solidFill>
          <a:ln w="12700">
            <a:solidFill>
              <a:srgbClr val="3A5694"/>
            </a:solidFill>
            <a:prstDash val="solid"/>
          </a:ln>
        </p:spPr>
      </p:sp>
      <p:sp>
        <p:nvSpPr>
          <p:cNvPr id="66" name="Shape 64"/>
          <p:cNvSpPr/>
          <p:nvPr/>
        </p:nvSpPr>
        <p:spPr>
          <a:xfrm>
            <a:off x="7471410" y="3009169"/>
            <a:ext cx="45720" cy="45720"/>
          </a:xfrm>
          <a:prstGeom prst="ellipse">
            <a:avLst/>
          </a:prstGeom>
          <a:solidFill>
            <a:srgbClr val="3A5694"/>
          </a:solidFill>
          <a:ln w="12700">
            <a:solidFill>
              <a:srgbClr val="3A5694"/>
            </a:solidFill>
            <a:prstDash val="solid"/>
          </a:ln>
        </p:spPr>
      </p:sp>
      <p:sp>
        <p:nvSpPr>
          <p:cNvPr id="67" name="Shape 65"/>
          <p:cNvSpPr/>
          <p:nvPr/>
        </p:nvSpPr>
        <p:spPr>
          <a:xfrm>
            <a:off x="7650480" y="3009165"/>
            <a:ext cx="45720" cy="45720"/>
          </a:xfrm>
          <a:prstGeom prst="ellipse">
            <a:avLst/>
          </a:prstGeom>
          <a:solidFill>
            <a:srgbClr val="3A5694"/>
          </a:solidFill>
          <a:ln w="12700">
            <a:solidFill>
              <a:srgbClr val="3A5694"/>
            </a:solidFill>
            <a:prstDash val="solid"/>
          </a:ln>
        </p:spPr>
      </p:sp>
      <p:sp>
        <p:nvSpPr>
          <p:cNvPr id="68" name="Shape 66"/>
          <p:cNvSpPr/>
          <p:nvPr/>
        </p:nvSpPr>
        <p:spPr>
          <a:xfrm>
            <a:off x="7829550" y="3009157"/>
            <a:ext cx="45720" cy="45720"/>
          </a:xfrm>
          <a:prstGeom prst="ellipse">
            <a:avLst/>
          </a:prstGeom>
          <a:solidFill>
            <a:srgbClr val="3A5694"/>
          </a:solidFill>
          <a:ln w="12700">
            <a:solidFill>
              <a:srgbClr val="3A5694"/>
            </a:solidFill>
            <a:prstDash val="solid"/>
          </a:ln>
        </p:spPr>
      </p:sp>
      <p:sp>
        <p:nvSpPr>
          <p:cNvPr id="69" name="Shape 67"/>
          <p:cNvSpPr/>
          <p:nvPr/>
        </p:nvSpPr>
        <p:spPr>
          <a:xfrm>
            <a:off x="8008620" y="3009142"/>
            <a:ext cx="45720" cy="45720"/>
          </a:xfrm>
          <a:prstGeom prst="ellipse">
            <a:avLst/>
          </a:prstGeom>
          <a:solidFill>
            <a:srgbClr val="3A5694"/>
          </a:solidFill>
          <a:ln w="12700">
            <a:solidFill>
              <a:srgbClr val="3A5694"/>
            </a:solidFill>
            <a:prstDash val="solid"/>
          </a:ln>
        </p:spPr>
      </p:sp>
      <p:sp>
        <p:nvSpPr>
          <p:cNvPr id="70" name="Shape 68"/>
          <p:cNvSpPr/>
          <p:nvPr/>
        </p:nvSpPr>
        <p:spPr>
          <a:xfrm>
            <a:off x="8187690" y="3009116"/>
            <a:ext cx="45720" cy="45720"/>
          </a:xfrm>
          <a:prstGeom prst="ellipse">
            <a:avLst/>
          </a:prstGeom>
          <a:solidFill>
            <a:srgbClr val="3A5694"/>
          </a:solidFill>
          <a:ln w="12700">
            <a:solidFill>
              <a:srgbClr val="3A5694"/>
            </a:solidFill>
            <a:prstDash val="solid"/>
          </a:ln>
        </p:spPr>
      </p:sp>
      <p:sp>
        <p:nvSpPr>
          <p:cNvPr id="71" name="Shape 69"/>
          <p:cNvSpPr/>
          <p:nvPr/>
        </p:nvSpPr>
        <p:spPr>
          <a:xfrm>
            <a:off x="8366760" y="3009070"/>
            <a:ext cx="45720" cy="45720"/>
          </a:xfrm>
          <a:prstGeom prst="ellipse">
            <a:avLst/>
          </a:prstGeom>
          <a:solidFill>
            <a:srgbClr val="3A5694"/>
          </a:solidFill>
          <a:ln w="12700">
            <a:solidFill>
              <a:srgbClr val="3A5694"/>
            </a:solidFill>
            <a:prstDash val="solid"/>
          </a:ln>
        </p:spPr>
      </p:sp>
      <p:sp>
        <p:nvSpPr>
          <p:cNvPr id="72" name="Shape 70"/>
          <p:cNvSpPr/>
          <p:nvPr/>
        </p:nvSpPr>
        <p:spPr>
          <a:xfrm>
            <a:off x="8545830" y="3008991"/>
            <a:ext cx="45720" cy="45720"/>
          </a:xfrm>
          <a:prstGeom prst="ellipse">
            <a:avLst/>
          </a:prstGeom>
          <a:solidFill>
            <a:srgbClr val="3A5694"/>
          </a:solidFill>
          <a:ln w="12700">
            <a:solidFill>
              <a:srgbClr val="3A5694"/>
            </a:solidFill>
            <a:prstDash val="solid"/>
          </a:ln>
        </p:spPr>
      </p:sp>
      <p:sp>
        <p:nvSpPr>
          <p:cNvPr id="73" name="Shape 71"/>
          <p:cNvSpPr/>
          <p:nvPr/>
        </p:nvSpPr>
        <p:spPr>
          <a:xfrm>
            <a:off x="8724900" y="3008855"/>
            <a:ext cx="45720" cy="45720"/>
          </a:xfrm>
          <a:prstGeom prst="ellipse">
            <a:avLst/>
          </a:prstGeom>
          <a:solidFill>
            <a:srgbClr val="3A5694"/>
          </a:solidFill>
          <a:ln w="12700">
            <a:solidFill>
              <a:srgbClr val="3A5694"/>
            </a:solidFill>
            <a:prstDash val="solid"/>
          </a:ln>
        </p:spPr>
      </p:sp>
      <p:sp>
        <p:nvSpPr>
          <p:cNvPr id="74" name="Shape 72"/>
          <p:cNvSpPr/>
          <p:nvPr/>
        </p:nvSpPr>
        <p:spPr>
          <a:xfrm>
            <a:off x="8903970" y="3008629"/>
            <a:ext cx="45720" cy="45720"/>
          </a:xfrm>
          <a:prstGeom prst="ellipse">
            <a:avLst/>
          </a:prstGeom>
          <a:solidFill>
            <a:srgbClr val="3A5694"/>
          </a:solidFill>
          <a:ln w="12700">
            <a:solidFill>
              <a:srgbClr val="3A5694"/>
            </a:solidFill>
            <a:prstDash val="solid"/>
          </a:ln>
        </p:spPr>
      </p:sp>
      <p:sp>
        <p:nvSpPr>
          <p:cNvPr id="75" name="Shape 73"/>
          <p:cNvSpPr/>
          <p:nvPr/>
        </p:nvSpPr>
        <p:spPr>
          <a:xfrm>
            <a:off x="9083040" y="3008275"/>
            <a:ext cx="45720" cy="45720"/>
          </a:xfrm>
          <a:prstGeom prst="ellipse">
            <a:avLst/>
          </a:prstGeom>
          <a:solidFill>
            <a:srgbClr val="3A5694"/>
          </a:solidFill>
          <a:ln w="12700">
            <a:solidFill>
              <a:srgbClr val="3A5694"/>
            </a:solidFill>
            <a:prstDash val="solid"/>
          </a:ln>
        </p:spPr>
      </p:sp>
      <p:sp>
        <p:nvSpPr>
          <p:cNvPr id="76" name="Shape 74"/>
          <p:cNvSpPr/>
          <p:nvPr/>
        </p:nvSpPr>
        <p:spPr>
          <a:xfrm>
            <a:off x="9262110" y="3007777"/>
            <a:ext cx="45720" cy="45720"/>
          </a:xfrm>
          <a:prstGeom prst="ellipse">
            <a:avLst/>
          </a:prstGeom>
          <a:solidFill>
            <a:srgbClr val="3A5694"/>
          </a:solidFill>
          <a:ln w="12700">
            <a:solidFill>
              <a:srgbClr val="3A5694"/>
            </a:solidFill>
            <a:prstDash val="solid"/>
          </a:ln>
        </p:spPr>
      </p:sp>
      <p:sp>
        <p:nvSpPr>
          <p:cNvPr id="77" name="Shape 75"/>
          <p:cNvSpPr/>
          <p:nvPr/>
        </p:nvSpPr>
        <p:spPr>
          <a:xfrm>
            <a:off x="9441180" y="3007239"/>
            <a:ext cx="45720" cy="45720"/>
          </a:xfrm>
          <a:prstGeom prst="ellipse">
            <a:avLst/>
          </a:prstGeom>
          <a:solidFill>
            <a:srgbClr val="3A5694"/>
          </a:solidFill>
          <a:ln w="12700">
            <a:solidFill>
              <a:srgbClr val="3A5694"/>
            </a:solidFill>
            <a:prstDash val="solid"/>
          </a:ln>
        </p:spPr>
      </p:sp>
      <p:sp>
        <p:nvSpPr>
          <p:cNvPr id="78" name="Shape 76"/>
          <p:cNvSpPr/>
          <p:nvPr/>
        </p:nvSpPr>
        <p:spPr>
          <a:xfrm>
            <a:off x="9620250" y="3007098"/>
            <a:ext cx="45720" cy="45720"/>
          </a:xfrm>
          <a:prstGeom prst="ellipse">
            <a:avLst/>
          </a:prstGeom>
          <a:solidFill>
            <a:srgbClr val="3A5694"/>
          </a:solidFill>
          <a:ln w="12700">
            <a:solidFill>
              <a:srgbClr val="3A5694"/>
            </a:solidFill>
            <a:prstDash val="solid"/>
          </a:ln>
        </p:spPr>
      </p:sp>
      <p:sp>
        <p:nvSpPr>
          <p:cNvPr id="79" name="Shape 77"/>
          <p:cNvSpPr/>
          <p:nvPr/>
        </p:nvSpPr>
        <p:spPr>
          <a:xfrm>
            <a:off x="9799320" y="3008443"/>
            <a:ext cx="45720" cy="45720"/>
          </a:xfrm>
          <a:prstGeom prst="ellipse">
            <a:avLst/>
          </a:prstGeom>
          <a:solidFill>
            <a:srgbClr val="3A5694"/>
          </a:solidFill>
          <a:ln w="12700">
            <a:solidFill>
              <a:srgbClr val="3A5694"/>
            </a:solidFill>
            <a:prstDash val="solid"/>
          </a:ln>
        </p:spPr>
      </p:sp>
      <p:sp>
        <p:nvSpPr>
          <p:cNvPr id="80" name="Shape 78"/>
          <p:cNvSpPr/>
          <p:nvPr/>
        </p:nvSpPr>
        <p:spPr>
          <a:xfrm>
            <a:off x="9978390" y="3013266"/>
            <a:ext cx="45720" cy="45720"/>
          </a:xfrm>
          <a:prstGeom prst="ellipse">
            <a:avLst/>
          </a:prstGeom>
          <a:solidFill>
            <a:srgbClr val="3A5694"/>
          </a:solidFill>
          <a:ln w="12700">
            <a:solidFill>
              <a:srgbClr val="3A5694"/>
            </a:solidFill>
            <a:prstDash val="solid"/>
          </a:ln>
        </p:spPr>
      </p:sp>
      <p:sp>
        <p:nvSpPr>
          <p:cNvPr id="81" name="Shape 79"/>
          <p:cNvSpPr/>
          <p:nvPr/>
        </p:nvSpPr>
        <p:spPr>
          <a:xfrm>
            <a:off x="10157460" y="3024298"/>
            <a:ext cx="45720" cy="45720"/>
          </a:xfrm>
          <a:prstGeom prst="ellipse">
            <a:avLst/>
          </a:prstGeom>
          <a:solidFill>
            <a:srgbClr val="3A5694"/>
          </a:solidFill>
          <a:ln w="12700">
            <a:solidFill>
              <a:srgbClr val="3A5694"/>
            </a:solidFill>
            <a:prstDash val="solid"/>
          </a:ln>
        </p:spPr>
      </p:sp>
      <p:sp>
        <p:nvSpPr>
          <p:cNvPr id="82" name="Shape 80"/>
          <p:cNvSpPr/>
          <p:nvPr/>
        </p:nvSpPr>
        <p:spPr>
          <a:xfrm>
            <a:off x="10336530" y="3044213"/>
            <a:ext cx="45720" cy="45720"/>
          </a:xfrm>
          <a:prstGeom prst="ellipse">
            <a:avLst/>
          </a:prstGeom>
          <a:solidFill>
            <a:srgbClr val="3A5694"/>
          </a:solidFill>
          <a:ln w="12700">
            <a:solidFill>
              <a:srgbClr val="3A5694"/>
            </a:solidFill>
            <a:prstDash val="solid"/>
          </a:ln>
        </p:spPr>
      </p:sp>
      <p:sp>
        <p:nvSpPr>
          <p:cNvPr id="83" name="Shape 81"/>
          <p:cNvSpPr/>
          <p:nvPr/>
        </p:nvSpPr>
        <p:spPr>
          <a:xfrm>
            <a:off x="10515600" y="3074263"/>
            <a:ext cx="45720" cy="45720"/>
          </a:xfrm>
          <a:prstGeom prst="ellipse">
            <a:avLst/>
          </a:prstGeom>
          <a:solidFill>
            <a:srgbClr val="3A5694"/>
          </a:solidFill>
          <a:ln w="12700">
            <a:solidFill>
              <a:srgbClr val="3A5694"/>
            </a:solidFill>
            <a:prstDash val="solid"/>
          </a:ln>
        </p:spPr>
      </p:sp>
      <p:sp>
        <p:nvSpPr>
          <p:cNvPr id="84" name="Shape 82"/>
          <p:cNvSpPr/>
          <p:nvPr/>
        </p:nvSpPr>
        <p:spPr>
          <a:xfrm>
            <a:off x="10694670" y="3112794"/>
            <a:ext cx="45720" cy="45720"/>
          </a:xfrm>
          <a:prstGeom prst="ellipse">
            <a:avLst/>
          </a:prstGeom>
          <a:solidFill>
            <a:srgbClr val="3A5694"/>
          </a:solidFill>
          <a:ln w="12700">
            <a:solidFill>
              <a:srgbClr val="3A5694"/>
            </a:solidFill>
            <a:prstDash val="solid"/>
          </a:ln>
        </p:spPr>
      </p:sp>
      <p:sp>
        <p:nvSpPr>
          <p:cNvPr id="85" name="Shape 83"/>
          <p:cNvSpPr/>
          <p:nvPr/>
        </p:nvSpPr>
        <p:spPr>
          <a:xfrm>
            <a:off x="10873740" y="3155037"/>
            <a:ext cx="45720" cy="45720"/>
          </a:xfrm>
          <a:prstGeom prst="ellipse">
            <a:avLst/>
          </a:prstGeom>
          <a:solidFill>
            <a:srgbClr val="3A5694"/>
          </a:solidFill>
          <a:ln w="12700">
            <a:solidFill>
              <a:srgbClr val="3A5694"/>
            </a:solidFill>
            <a:prstDash val="solid"/>
          </a:ln>
        </p:spPr>
      </p:sp>
      <p:sp>
        <p:nvSpPr>
          <p:cNvPr id="86" name="Shape 84"/>
          <p:cNvSpPr/>
          <p:nvPr/>
        </p:nvSpPr>
        <p:spPr>
          <a:xfrm>
            <a:off x="11052810" y="3195348"/>
            <a:ext cx="45720" cy="45720"/>
          </a:xfrm>
          <a:prstGeom prst="ellipse">
            <a:avLst/>
          </a:prstGeom>
          <a:solidFill>
            <a:srgbClr val="3A5694"/>
          </a:solidFill>
          <a:ln w="12700">
            <a:solidFill>
              <a:srgbClr val="3A5694"/>
            </a:solidFill>
            <a:prstDash val="solid"/>
          </a:ln>
        </p:spPr>
      </p:sp>
      <p:sp>
        <p:nvSpPr>
          <p:cNvPr id="87" name="Shape 85"/>
          <p:cNvSpPr/>
          <p:nvPr/>
        </p:nvSpPr>
        <p:spPr>
          <a:xfrm>
            <a:off x="11231880" y="3229882"/>
            <a:ext cx="45720" cy="45720"/>
          </a:xfrm>
          <a:prstGeom prst="ellipse">
            <a:avLst/>
          </a:prstGeom>
          <a:solidFill>
            <a:srgbClr val="3A5694"/>
          </a:solidFill>
          <a:ln w="12700">
            <a:solidFill>
              <a:srgbClr val="3A5694"/>
            </a:solidFill>
            <a:prstDash val="solid"/>
          </a:ln>
        </p:spPr>
      </p:sp>
      <p:sp>
        <p:nvSpPr>
          <p:cNvPr id="88" name="Shape 86"/>
          <p:cNvSpPr/>
          <p:nvPr/>
        </p:nvSpPr>
        <p:spPr>
          <a:xfrm>
            <a:off x="11410950" y="3256947"/>
            <a:ext cx="45720" cy="45720"/>
          </a:xfrm>
          <a:prstGeom prst="ellipse">
            <a:avLst/>
          </a:prstGeom>
          <a:solidFill>
            <a:srgbClr val="3A5694"/>
          </a:solidFill>
          <a:ln w="12700">
            <a:solidFill>
              <a:srgbClr val="3A5694"/>
            </a:solidFill>
            <a:prstDash val="solid"/>
          </a:ln>
        </p:spPr>
      </p:sp>
      <p:sp>
        <p:nvSpPr>
          <p:cNvPr id="89" name="Shape 87"/>
          <p:cNvSpPr/>
          <p:nvPr/>
        </p:nvSpPr>
        <p:spPr>
          <a:xfrm>
            <a:off x="11590020" y="3276366"/>
            <a:ext cx="45720" cy="45720"/>
          </a:xfrm>
          <a:prstGeom prst="ellipse">
            <a:avLst/>
          </a:prstGeom>
          <a:solidFill>
            <a:srgbClr val="3A5694"/>
          </a:solidFill>
          <a:ln w="12700">
            <a:solidFill>
              <a:srgbClr val="3A5694"/>
            </a:solidFill>
            <a:prstDash val="solid"/>
          </a:ln>
        </p:spPr>
      </p:sp>
      <p:sp>
        <p:nvSpPr>
          <p:cNvPr id="90" name="Shape 88"/>
          <p:cNvSpPr/>
          <p:nvPr/>
        </p:nvSpPr>
        <p:spPr>
          <a:xfrm>
            <a:off x="7292340" y="3594675"/>
            <a:ext cx="45720" cy="45720"/>
          </a:xfrm>
          <a:prstGeom prst="ellipse">
            <a:avLst/>
          </a:prstGeom>
          <a:solidFill>
            <a:srgbClr val="3A5694"/>
          </a:solidFill>
          <a:ln w="12700">
            <a:solidFill>
              <a:srgbClr val="3A5694"/>
            </a:solidFill>
            <a:prstDash val="solid"/>
          </a:ln>
        </p:spPr>
      </p:sp>
      <p:sp>
        <p:nvSpPr>
          <p:cNvPr id="91" name="Shape 89"/>
          <p:cNvSpPr/>
          <p:nvPr/>
        </p:nvSpPr>
        <p:spPr>
          <a:xfrm>
            <a:off x="7471410" y="3594623"/>
            <a:ext cx="45720" cy="45720"/>
          </a:xfrm>
          <a:prstGeom prst="ellipse">
            <a:avLst/>
          </a:prstGeom>
          <a:solidFill>
            <a:srgbClr val="3A5694"/>
          </a:solidFill>
          <a:ln w="12700">
            <a:solidFill>
              <a:srgbClr val="3A5694"/>
            </a:solidFill>
            <a:prstDash val="solid"/>
          </a:ln>
        </p:spPr>
      </p:sp>
      <p:sp>
        <p:nvSpPr>
          <p:cNvPr id="92" name="Shape 90"/>
          <p:cNvSpPr/>
          <p:nvPr/>
        </p:nvSpPr>
        <p:spPr>
          <a:xfrm>
            <a:off x="7650480" y="3594532"/>
            <a:ext cx="45720" cy="45720"/>
          </a:xfrm>
          <a:prstGeom prst="ellipse">
            <a:avLst/>
          </a:prstGeom>
          <a:solidFill>
            <a:srgbClr val="3A5694"/>
          </a:solidFill>
          <a:ln w="12700">
            <a:solidFill>
              <a:srgbClr val="3A5694"/>
            </a:solidFill>
            <a:prstDash val="solid"/>
          </a:ln>
        </p:spPr>
      </p:sp>
      <p:sp>
        <p:nvSpPr>
          <p:cNvPr id="93" name="Shape 91"/>
          <p:cNvSpPr/>
          <p:nvPr/>
        </p:nvSpPr>
        <p:spPr>
          <a:xfrm>
            <a:off x="7829550" y="3594369"/>
            <a:ext cx="45720" cy="45720"/>
          </a:xfrm>
          <a:prstGeom prst="ellipse">
            <a:avLst/>
          </a:prstGeom>
          <a:solidFill>
            <a:srgbClr val="3A5694"/>
          </a:solidFill>
          <a:ln w="12700">
            <a:solidFill>
              <a:srgbClr val="3A5694"/>
            </a:solidFill>
            <a:prstDash val="solid"/>
          </a:ln>
        </p:spPr>
      </p:sp>
      <p:sp>
        <p:nvSpPr>
          <p:cNvPr id="94" name="Shape 92"/>
          <p:cNvSpPr/>
          <p:nvPr/>
        </p:nvSpPr>
        <p:spPr>
          <a:xfrm>
            <a:off x="8008620" y="3594079"/>
            <a:ext cx="45720" cy="45720"/>
          </a:xfrm>
          <a:prstGeom prst="ellipse">
            <a:avLst/>
          </a:prstGeom>
          <a:solidFill>
            <a:srgbClr val="3A5694"/>
          </a:solidFill>
          <a:ln w="12700">
            <a:solidFill>
              <a:srgbClr val="3A5694"/>
            </a:solidFill>
            <a:prstDash val="solid"/>
          </a:ln>
        </p:spPr>
      </p:sp>
      <p:sp>
        <p:nvSpPr>
          <p:cNvPr id="95" name="Shape 93"/>
          <p:cNvSpPr/>
          <p:nvPr/>
        </p:nvSpPr>
        <p:spPr>
          <a:xfrm>
            <a:off x="8187690" y="3593564"/>
            <a:ext cx="45720" cy="45720"/>
          </a:xfrm>
          <a:prstGeom prst="ellipse">
            <a:avLst/>
          </a:prstGeom>
          <a:solidFill>
            <a:srgbClr val="3A5694"/>
          </a:solidFill>
          <a:ln w="12700">
            <a:solidFill>
              <a:srgbClr val="3A5694"/>
            </a:solidFill>
            <a:prstDash val="solid"/>
          </a:ln>
        </p:spPr>
      </p:sp>
      <p:sp>
        <p:nvSpPr>
          <p:cNvPr id="96" name="Shape 94"/>
          <p:cNvSpPr/>
          <p:nvPr/>
        </p:nvSpPr>
        <p:spPr>
          <a:xfrm>
            <a:off x="8366760" y="3592651"/>
            <a:ext cx="45720" cy="45720"/>
          </a:xfrm>
          <a:prstGeom prst="ellipse">
            <a:avLst/>
          </a:prstGeom>
          <a:solidFill>
            <a:srgbClr val="3A5694"/>
          </a:solidFill>
          <a:ln w="12700">
            <a:solidFill>
              <a:srgbClr val="3A5694"/>
            </a:solidFill>
            <a:prstDash val="solid"/>
          </a:ln>
        </p:spPr>
      </p:sp>
      <p:sp>
        <p:nvSpPr>
          <p:cNvPr id="97" name="Shape 95"/>
          <p:cNvSpPr/>
          <p:nvPr/>
        </p:nvSpPr>
        <p:spPr>
          <a:xfrm>
            <a:off x="8545830" y="3591034"/>
            <a:ext cx="45720" cy="45720"/>
          </a:xfrm>
          <a:prstGeom prst="ellipse">
            <a:avLst/>
          </a:prstGeom>
          <a:solidFill>
            <a:srgbClr val="3A5694"/>
          </a:solidFill>
          <a:ln w="12700">
            <a:solidFill>
              <a:srgbClr val="3A5694"/>
            </a:solidFill>
            <a:prstDash val="solid"/>
          </a:ln>
        </p:spPr>
      </p:sp>
      <p:sp>
        <p:nvSpPr>
          <p:cNvPr id="98" name="Shape 96"/>
          <p:cNvSpPr/>
          <p:nvPr/>
        </p:nvSpPr>
        <p:spPr>
          <a:xfrm>
            <a:off x="8724900" y="3588181"/>
            <a:ext cx="45720" cy="45720"/>
          </a:xfrm>
          <a:prstGeom prst="ellipse">
            <a:avLst/>
          </a:prstGeom>
          <a:solidFill>
            <a:srgbClr val="3A5694"/>
          </a:solidFill>
          <a:ln w="12700">
            <a:solidFill>
              <a:srgbClr val="3A5694"/>
            </a:solidFill>
            <a:prstDash val="solid"/>
          </a:ln>
        </p:spPr>
      </p:sp>
      <p:sp>
        <p:nvSpPr>
          <p:cNvPr id="99" name="Shape 97"/>
          <p:cNvSpPr/>
          <p:nvPr/>
        </p:nvSpPr>
        <p:spPr>
          <a:xfrm>
            <a:off x="8903970" y="3583176"/>
            <a:ext cx="45720" cy="45720"/>
          </a:xfrm>
          <a:prstGeom prst="ellipse">
            <a:avLst/>
          </a:prstGeom>
          <a:solidFill>
            <a:srgbClr val="3A5694"/>
          </a:solidFill>
          <a:ln w="12700">
            <a:solidFill>
              <a:srgbClr val="3A5694"/>
            </a:solidFill>
            <a:prstDash val="solid"/>
          </a:ln>
        </p:spPr>
      </p:sp>
      <p:sp>
        <p:nvSpPr>
          <p:cNvPr id="100" name="Shape 98"/>
          <p:cNvSpPr/>
          <p:nvPr/>
        </p:nvSpPr>
        <p:spPr>
          <a:xfrm>
            <a:off x="9083040" y="3574481"/>
            <a:ext cx="45720" cy="45720"/>
          </a:xfrm>
          <a:prstGeom prst="ellipse">
            <a:avLst/>
          </a:prstGeom>
          <a:solidFill>
            <a:srgbClr val="3A5694"/>
          </a:solidFill>
          <a:ln w="12700">
            <a:solidFill>
              <a:srgbClr val="3A5694"/>
            </a:solidFill>
            <a:prstDash val="solid"/>
          </a:ln>
        </p:spPr>
      </p:sp>
      <p:sp>
        <p:nvSpPr>
          <p:cNvPr id="101" name="Shape 99"/>
          <p:cNvSpPr/>
          <p:nvPr/>
        </p:nvSpPr>
        <p:spPr>
          <a:xfrm>
            <a:off x="9262110" y="3559633"/>
            <a:ext cx="45720" cy="45720"/>
          </a:xfrm>
          <a:prstGeom prst="ellipse">
            <a:avLst/>
          </a:prstGeom>
          <a:solidFill>
            <a:srgbClr val="3A5694"/>
          </a:solidFill>
          <a:ln w="12700">
            <a:solidFill>
              <a:srgbClr val="3A5694"/>
            </a:solidFill>
            <a:prstDash val="solid"/>
          </a:ln>
        </p:spPr>
      </p:sp>
      <p:sp>
        <p:nvSpPr>
          <p:cNvPr id="102" name="Shape 100"/>
          <p:cNvSpPr/>
          <p:nvPr/>
        </p:nvSpPr>
        <p:spPr>
          <a:xfrm>
            <a:off x="9441180" y="3534990"/>
            <a:ext cx="45720" cy="45720"/>
          </a:xfrm>
          <a:prstGeom prst="ellipse">
            <a:avLst/>
          </a:prstGeom>
          <a:solidFill>
            <a:srgbClr val="3A5694"/>
          </a:solidFill>
          <a:ln w="12700">
            <a:solidFill>
              <a:srgbClr val="3A5694"/>
            </a:solidFill>
            <a:prstDash val="solid"/>
          </a:ln>
        </p:spPr>
      </p:sp>
      <p:sp>
        <p:nvSpPr>
          <p:cNvPr id="103" name="Shape 101"/>
          <p:cNvSpPr/>
          <p:nvPr/>
        </p:nvSpPr>
        <p:spPr>
          <a:xfrm>
            <a:off x="9620250" y="3495996"/>
            <a:ext cx="45720" cy="45720"/>
          </a:xfrm>
          <a:prstGeom prst="ellipse">
            <a:avLst/>
          </a:prstGeom>
          <a:solidFill>
            <a:srgbClr val="3A5694"/>
          </a:solidFill>
          <a:ln w="12700">
            <a:solidFill>
              <a:srgbClr val="3A5694"/>
            </a:solidFill>
            <a:prstDash val="solid"/>
          </a:ln>
        </p:spPr>
      </p:sp>
      <p:sp>
        <p:nvSpPr>
          <p:cNvPr id="104" name="Shape 102"/>
          <p:cNvSpPr/>
          <p:nvPr/>
        </p:nvSpPr>
        <p:spPr>
          <a:xfrm>
            <a:off x="9799320" y="3439003"/>
            <a:ext cx="45720" cy="45720"/>
          </a:xfrm>
          <a:prstGeom prst="ellipse">
            <a:avLst/>
          </a:prstGeom>
          <a:solidFill>
            <a:srgbClr val="3A5694"/>
          </a:solidFill>
          <a:ln w="12700">
            <a:solidFill>
              <a:srgbClr val="3A5694"/>
            </a:solidFill>
            <a:prstDash val="solid"/>
          </a:ln>
        </p:spPr>
      </p:sp>
      <p:sp>
        <p:nvSpPr>
          <p:cNvPr id="105" name="Shape 103"/>
          <p:cNvSpPr/>
          <p:nvPr/>
        </p:nvSpPr>
        <p:spPr>
          <a:xfrm>
            <a:off x="9978390" y="3365554"/>
            <a:ext cx="45720" cy="45720"/>
          </a:xfrm>
          <a:prstGeom prst="ellipse">
            <a:avLst/>
          </a:prstGeom>
          <a:solidFill>
            <a:srgbClr val="3A5694"/>
          </a:solidFill>
          <a:ln w="12700">
            <a:solidFill>
              <a:srgbClr val="3A5694"/>
            </a:solidFill>
            <a:prstDash val="solid"/>
          </a:ln>
        </p:spPr>
      </p:sp>
      <p:sp>
        <p:nvSpPr>
          <p:cNvPr id="106" name="Shape 104"/>
          <p:cNvSpPr/>
          <p:nvPr/>
        </p:nvSpPr>
        <p:spPr>
          <a:xfrm>
            <a:off x="10157460" y="3286612"/>
            <a:ext cx="45720" cy="45720"/>
          </a:xfrm>
          <a:prstGeom prst="ellipse">
            <a:avLst/>
          </a:prstGeom>
          <a:solidFill>
            <a:srgbClr val="3A5694"/>
          </a:solidFill>
          <a:ln w="12700">
            <a:solidFill>
              <a:srgbClr val="3A5694"/>
            </a:solidFill>
            <a:prstDash val="solid"/>
          </a:ln>
        </p:spPr>
      </p:sp>
      <p:sp>
        <p:nvSpPr>
          <p:cNvPr id="107" name="Shape 105"/>
          <p:cNvSpPr/>
          <p:nvPr/>
        </p:nvSpPr>
        <p:spPr>
          <a:xfrm>
            <a:off x="10336530" y="3219790"/>
            <a:ext cx="45720" cy="45720"/>
          </a:xfrm>
          <a:prstGeom prst="ellipse">
            <a:avLst/>
          </a:prstGeom>
          <a:solidFill>
            <a:srgbClr val="3A5694"/>
          </a:solidFill>
          <a:ln w="12700">
            <a:solidFill>
              <a:srgbClr val="3A5694"/>
            </a:solidFill>
            <a:prstDash val="solid"/>
          </a:ln>
        </p:spPr>
      </p:sp>
      <p:sp>
        <p:nvSpPr>
          <p:cNvPr id="108" name="Shape 106"/>
          <p:cNvSpPr/>
          <p:nvPr/>
        </p:nvSpPr>
        <p:spPr>
          <a:xfrm>
            <a:off x="10515600" y="3178771"/>
            <a:ext cx="45720" cy="45720"/>
          </a:xfrm>
          <a:prstGeom prst="ellipse">
            <a:avLst/>
          </a:prstGeom>
          <a:solidFill>
            <a:srgbClr val="3A5694"/>
          </a:solidFill>
          <a:ln w="12700">
            <a:solidFill>
              <a:srgbClr val="3A5694"/>
            </a:solidFill>
            <a:prstDash val="solid"/>
          </a:ln>
        </p:spPr>
      </p:sp>
      <p:sp>
        <p:nvSpPr>
          <p:cNvPr id="109" name="Shape 107"/>
          <p:cNvSpPr/>
          <p:nvPr/>
        </p:nvSpPr>
        <p:spPr>
          <a:xfrm>
            <a:off x="10694670" y="3166128"/>
            <a:ext cx="45720" cy="45720"/>
          </a:xfrm>
          <a:prstGeom prst="ellipse">
            <a:avLst/>
          </a:prstGeom>
          <a:solidFill>
            <a:srgbClr val="3A5694"/>
          </a:solidFill>
          <a:ln w="12700">
            <a:solidFill>
              <a:srgbClr val="3A5694"/>
            </a:solidFill>
            <a:prstDash val="solid"/>
          </a:ln>
        </p:spPr>
      </p:sp>
      <p:sp>
        <p:nvSpPr>
          <p:cNvPr id="110" name="Shape 108"/>
          <p:cNvSpPr/>
          <p:nvPr/>
        </p:nvSpPr>
        <p:spPr>
          <a:xfrm>
            <a:off x="10873740" y="3175669"/>
            <a:ext cx="45720" cy="45720"/>
          </a:xfrm>
          <a:prstGeom prst="ellipse">
            <a:avLst/>
          </a:prstGeom>
          <a:solidFill>
            <a:srgbClr val="3A5694"/>
          </a:solidFill>
          <a:ln w="12700">
            <a:solidFill>
              <a:srgbClr val="3A5694"/>
            </a:solidFill>
            <a:prstDash val="solid"/>
          </a:ln>
        </p:spPr>
      </p:sp>
      <p:sp>
        <p:nvSpPr>
          <p:cNvPr id="111" name="Shape 109"/>
          <p:cNvSpPr/>
          <p:nvPr/>
        </p:nvSpPr>
        <p:spPr>
          <a:xfrm>
            <a:off x="11052810" y="3198115"/>
            <a:ext cx="45720" cy="45720"/>
          </a:xfrm>
          <a:prstGeom prst="ellipse">
            <a:avLst/>
          </a:prstGeom>
          <a:solidFill>
            <a:srgbClr val="3A5694"/>
          </a:solidFill>
          <a:ln w="12700">
            <a:solidFill>
              <a:srgbClr val="3A5694"/>
            </a:solidFill>
            <a:prstDash val="solid"/>
          </a:ln>
        </p:spPr>
      </p:sp>
      <p:sp>
        <p:nvSpPr>
          <p:cNvPr id="112" name="Shape 110"/>
          <p:cNvSpPr/>
          <p:nvPr/>
        </p:nvSpPr>
        <p:spPr>
          <a:xfrm>
            <a:off x="11231880" y="3224844"/>
            <a:ext cx="45720" cy="45720"/>
          </a:xfrm>
          <a:prstGeom prst="ellipse">
            <a:avLst/>
          </a:prstGeom>
          <a:solidFill>
            <a:srgbClr val="3A5694"/>
          </a:solidFill>
          <a:ln w="12700">
            <a:solidFill>
              <a:srgbClr val="3A5694"/>
            </a:solidFill>
            <a:prstDash val="solid"/>
          </a:ln>
        </p:spPr>
      </p:sp>
      <p:sp>
        <p:nvSpPr>
          <p:cNvPr id="113" name="Shape 111"/>
          <p:cNvSpPr/>
          <p:nvPr/>
        </p:nvSpPr>
        <p:spPr>
          <a:xfrm>
            <a:off x="11410950" y="3249750"/>
            <a:ext cx="45720" cy="45720"/>
          </a:xfrm>
          <a:prstGeom prst="ellipse">
            <a:avLst/>
          </a:prstGeom>
          <a:solidFill>
            <a:srgbClr val="3A5694"/>
          </a:solidFill>
          <a:ln w="12700">
            <a:solidFill>
              <a:srgbClr val="3A5694"/>
            </a:solidFill>
            <a:prstDash val="solid"/>
          </a:ln>
        </p:spPr>
      </p:sp>
      <p:sp>
        <p:nvSpPr>
          <p:cNvPr id="114" name="Shape 112"/>
          <p:cNvSpPr/>
          <p:nvPr/>
        </p:nvSpPr>
        <p:spPr>
          <a:xfrm>
            <a:off x="11590020" y="3269738"/>
            <a:ext cx="45720" cy="45720"/>
          </a:xfrm>
          <a:prstGeom prst="ellipse">
            <a:avLst/>
          </a:prstGeom>
          <a:solidFill>
            <a:srgbClr val="3A5694"/>
          </a:solidFill>
          <a:ln w="12700">
            <a:solidFill>
              <a:srgbClr val="3A5694"/>
            </a:solidFill>
            <a:prstDash val="solid"/>
          </a:ln>
        </p:spPr>
      </p:sp>
      <p:sp>
        <p:nvSpPr>
          <p:cNvPr id="115" name="Shape 113"/>
          <p:cNvSpPr/>
          <p:nvPr/>
        </p:nvSpPr>
        <p:spPr>
          <a:xfrm>
            <a:off x="7278624" y="2462076"/>
            <a:ext cx="73152" cy="73152"/>
          </a:xfrm>
          <a:prstGeom prst="ellipse">
            <a:avLst/>
          </a:prstGeom>
          <a:solidFill>
            <a:srgbClr val="4A82FF"/>
          </a:solidFill>
          <a:ln w="12700">
            <a:solidFill>
              <a:srgbClr val="4A82FF"/>
            </a:solidFill>
            <a:prstDash val="solid"/>
          </a:ln>
        </p:spPr>
      </p:sp>
      <p:sp>
        <p:nvSpPr>
          <p:cNvPr id="116" name="Shape 114"/>
          <p:cNvSpPr/>
          <p:nvPr/>
        </p:nvSpPr>
        <p:spPr>
          <a:xfrm>
            <a:off x="7457694" y="2462178"/>
            <a:ext cx="73152" cy="73152"/>
          </a:xfrm>
          <a:prstGeom prst="ellipse">
            <a:avLst/>
          </a:prstGeom>
          <a:solidFill>
            <a:srgbClr val="4A82FF"/>
          </a:solidFill>
          <a:ln w="12700">
            <a:solidFill>
              <a:srgbClr val="4A82FF"/>
            </a:solidFill>
            <a:prstDash val="solid"/>
          </a:ln>
        </p:spPr>
      </p:sp>
      <p:sp>
        <p:nvSpPr>
          <p:cNvPr id="117" name="Shape 115"/>
          <p:cNvSpPr/>
          <p:nvPr/>
        </p:nvSpPr>
        <p:spPr>
          <a:xfrm>
            <a:off x="7636764" y="2462360"/>
            <a:ext cx="73152" cy="73152"/>
          </a:xfrm>
          <a:prstGeom prst="ellipse">
            <a:avLst/>
          </a:prstGeom>
          <a:solidFill>
            <a:srgbClr val="4A82FF"/>
          </a:solidFill>
          <a:ln w="12700">
            <a:solidFill>
              <a:srgbClr val="4A82FF"/>
            </a:solidFill>
            <a:prstDash val="solid"/>
          </a:ln>
        </p:spPr>
      </p:sp>
      <p:sp>
        <p:nvSpPr>
          <p:cNvPr id="118" name="Shape 116"/>
          <p:cNvSpPr/>
          <p:nvPr/>
        </p:nvSpPr>
        <p:spPr>
          <a:xfrm>
            <a:off x="7815834" y="2462683"/>
            <a:ext cx="73152" cy="73152"/>
          </a:xfrm>
          <a:prstGeom prst="ellipse">
            <a:avLst/>
          </a:prstGeom>
          <a:solidFill>
            <a:srgbClr val="4A82FF"/>
          </a:solidFill>
          <a:ln w="12700">
            <a:solidFill>
              <a:srgbClr val="4A82FF"/>
            </a:solidFill>
            <a:prstDash val="solid"/>
          </a:ln>
        </p:spPr>
      </p:sp>
      <p:sp>
        <p:nvSpPr>
          <p:cNvPr id="119" name="Shape 117"/>
          <p:cNvSpPr/>
          <p:nvPr/>
        </p:nvSpPr>
        <p:spPr>
          <a:xfrm>
            <a:off x="7994904" y="2463256"/>
            <a:ext cx="73152" cy="73152"/>
          </a:xfrm>
          <a:prstGeom prst="ellipse">
            <a:avLst/>
          </a:prstGeom>
          <a:solidFill>
            <a:srgbClr val="4A82FF"/>
          </a:solidFill>
          <a:ln w="12700">
            <a:solidFill>
              <a:srgbClr val="4A82FF"/>
            </a:solidFill>
            <a:prstDash val="solid"/>
          </a:ln>
        </p:spPr>
      </p:sp>
      <p:sp>
        <p:nvSpPr>
          <p:cNvPr id="120" name="Shape 118"/>
          <p:cNvSpPr/>
          <p:nvPr/>
        </p:nvSpPr>
        <p:spPr>
          <a:xfrm>
            <a:off x="8173974" y="2464271"/>
            <a:ext cx="73152" cy="73152"/>
          </a:xfrm>
          <a:prstGeom prst="ellipse">
            <a:avLst/>
          </a:prstGeom>
          <a:solidFill>
            <a:srgbClr val="4A82FF"/>
          </a:solidFill>
          <a:ln w="12700">
            <a:solidFill>
              <a:srgbClr val="4A82FF"/>
            </a:solidFill>
            <a:prstDash val="solid"/>
          </a:ln>
        </p:spPr>
      </p:sp>
      <p:sp>
        <p:nvSpPr>
          <p:cNvPr id="121" name="Shape 119"/>
          <p:cNvSpPr/>
          <p:nvPr/>
        </p:nvSpPr>
        <p:spPr>
          <a:xfrm>
            <a:off x="8353044" y="2466065"/>
            <a:ext cx="73152" cy="73152"/>
          </a:xfrm>
          <a:prstGeom prst="ellipse">
            <a:avLst/>
          </a:prstGeom>
          <a:solidFill>
            <a:srgbClr val="4A82FF"/>
          </a:solidFill>
          <a:ln w="12700">
            <a:solidFill>
              <a:srgbClr val="4A82FF"/>
            </a:solidFill>
            <a:prstDash val="solid"/>
          </a:ln>
        </p:spPr>
      </p:sp>
      <p:sp>
        <p:nvSpPr>
          <p:cNvPr id="122" name="Shape 120"/>
          <p:cNvSpPr/>
          <p:nvPr/>
        </p:nvSpPr>
        <p:spPr>
          <a:xfrm>
            <a:off x="8532114" y="2469217"/>
            <a:ext cx="73152" cy="73152"/>
          </a:xfrm>
          <a:prstGeom prst="ellipse">
            <a:avLst/>
          </a:prstGeom>
          <a:solidFill>
            <a:srgbClr val="4A82FF"/>
          </a:solidFill>
          <a:ln w="12700">
            <a:solidFill>
              <a:srgbClr val="4A82FF"/>
            </a:solidFill>
            <a:prstDash val="solid"/>
          </a:ln>
        </p:spPr>
      </p:sp>
      <p:sp>
        <p:nvSpPr>
          <p:cNvPr id="123" name="Shape 121"/>
          <p:cNvSpPr/>
          <p:nvPr/>
        </p:nvSpPr>
        <p:spPr>
          <a:xfrm>
            <a:off x="8711184" y="2474710"/>
            <a:ext cx="73152" cy="73152"/>
          </a:xfrm>
          <a:prstGeom prst="ellipse">
            <a:avLst/>
          </a:prstGeom>
          <a:solidFill>
            <a:srgbClr val="4A82FF"/>
          </a:solidFill>
          <a:ln w="12700">
            <a:solidFill>
              <a:srgbClr val="4A82FF"/>
            </a:solidFill>
            <a:prstDash val="solid"/>
          </a:ln>
        </p:spPr>
      </p:sp>
      <p:sp>
        <p:nvSpPr>
          <p:cNvPr id="124" name="Shape 122"/>
          <p:cNvSpPr/>
          <p:nvPr/>
        </p:nvSpPr>
        <p:spPr>
          <a:xfrm>
            <a:off x="8890254" y="2484140"/>
            <a:ext cx="73152" cy="73152"/>
          </a:xfrm>
          <a:prstGeom prst="ellipse">
            <a:avLst/>
          </a:prstGeom>
          <a:solidFill>
            <a:srgbClr val="4A82FF"/>
          </a:solidFill>
          <a:ln w="12700">
            <a:solidFill>
              <a:srgbClr val="4A82FF"/>
            </a:solidFill>
            <a:prstDash val="solid"/>
          </a:ln>
        </p:spPr>
      </p:sp>
      <p:sp>
        <p:nvSpPr>
          <p:cNvPr id="125" name="Shape 123"/>
          <p:cNvSpPr/>
          <p:nvPr/>
        </p:nvSpPr>
        <p:spPr>
          <a:xfrm>
            <a:off x="9069324" y="2499933"/>
            <a:ext cx="73152" cy="73152"/>
          </a:xfrm>
          <a:prstGeom prst="ellipse">
            <a:avLst/>
          </a:prstGeom>
          <a:solidFill>
            <a:srgbClr val="4A82FF"/>
          </a:solidFill>
          <a:ln w="12700">
            <a:solidFill>
              <a:srgbClr val="4A82FF"/>
            </a:solidFill>
            <a:prstDash val="solid"/>
          </a:ln>
        </p:spPr>
      </p:sp>
      <p:sp>
        <p:nvSpPr>
          <p:cNvPr id="126" name="Shape 124"/>
          <p:cNvSpPr/>
          <p:nvPr/>
        </p:nvSpPr>
        <p:spPr>
          <a:xfrm>
            <a:off x="9248394" y="2525386"/>
            <a:ext cx="73152" cy="73152"/>
          </a:xfrm>
          <a:prstGeom prst="ellipse">
            <a:avLst/>
          </a:prstGeom>
          <a:solidFill>
            <a:srgbClr val="4A82FF"/>
          </a:solidFill>
          <a:ln w="12700">
            <a:solidFill>
              <a:srgbClr val="4A82FF"/>
            </a:solidFill>
            <a:prstDash val="solid"/>
          </a:ln>
        </p:spPr>
      </p:sp>
      <p:sp>
        <p:nvSpPr>
          <p:cNvPr id="127" name="Shape 125"/>
          <p:cNvSpPr/>
          <p:nvPr/>
        </p:nvSpPr>
        <p:spPr>
          <a:xfrm>
            <a:off x="9427464" y="2564208"/>
            <a:ext cx="73152" cy="73152"/>
          </a:xfrm>
          <a:prstGeom prst="ellipse">
            <a:avLst/>
          </a:prstGeom>
          <a:solidFill>
            <a:srgbClr val="4A82FF"/>
          </a:solidFill>
          <a:ln w="12700">
            <a:solidFill>
              <a:srgbClr val="4A82FF"/>
            </a:solidFill>
            <a:prstDash val="solid"/>
          </a:ln>
        </p:spPr>
      </p:sp>
      <p:sp>
        <p:nvSpPr>
          <p:cNvPr id="128" name="Shape 126"/>
          <p:cNvSpPr/>
          <p:nvPr/>
        </p:nvSpPr>
        <p:spPr>
          <a:xfrm>
            <a:off x="9606534" y="2619471"/>
            <a:ext cx="73152" cy="73152"/>
          </a:xfrm>
          <a:prstGeom prst="ellipse">
            <a:avLst/>
          </a:prstGeom>
          <a:solidFill>
            <a:srgbClr val="4A82FF"/>
          </a:solidFill>
          <a:ln w="12700">
            <a:solidFill>
              <a:srgbClr val="4A82FF"/>
            </a:solidFill>
            <a:prstDash val="solid"/>
          </a:ln>
        </p:spPr>
      </p:sp>
      <p:sp>
        <p:nvSpPr>
          <p:cNvPr id="129" name="Shape 127"/>
          <p:cNvSpPr/>
          <p:nvPr/>
        </p:nvSpPr>
        <p:spPr>
          <a:xfrm>
            <a:off x="9785604" y="2692567"/>
            <a:ext cx="73152" cy="73152"/>
          </a:xfrm>
          <a:prstGeom prst="ellipse">
            <a:avLst/>
          </a:prstGeom>
          <a:solidFill>
            <a:srgbClr val="4A82FF"/>
          </a:solidFill>
          <a:ln w="12700">
            <a:solidFill>
              <a:srgbClr val="4A82FF"/>
            </a:solidFill>
            <a:prstDash val="solid"/>
          </a:ln>
        </p:spPr>
      </p:sp>
      <p:sp>
        <p:nvSpPr>
          <p:cNvPr id="130" name="Shape 128"/>
          <p:cNvSpPr/>
          <p:nvPr/>
        </p:nvSpPr>
        <p:spPr>
          <a:xfrm>
            <a:off x="9964674" y="2782659"/>
            <a:ext cx="73152" cy="73152"/>
          </a:xfrm>
          <a:prstGeom prst="ellipse">
            <a:avLst/>
          </a:prstGeom>
          <a:solidFill>
            <a:srgbClr val="4A82FF"/>
          </a:solidFill>
          <a:ln w="12700">
            <a:solidFill>
              <a:srgbClr val="4A82FF"/>
            </a:solidFill>
            <a:prstDash val="solid"/>
          </a:ln>
        </p:spPr>
      </p:sp>
      <p:sp>
        <p:nvSpPr>
          <p:cNvPr id="131" name="Shape 129"/>
          <p:cNvSpPr/>
          <p:nvPr/>
        </p:nvSpPr>
        <p:spPr>
          <a:xfrm>
            <a:off x="10143744" y="2885467"/>
            <a:ext cx="73152" cy="73152"/>
          </a:xfrm>
          <a:prstGeom prst="ellipse">
            <a:avLst/>
          </a:prstGeom>
          <a:solidFill>
            <a:srgbClr val="4A82FF"/>
          </a:solidFill>
          <a:ln w="12700">
            <a:solidFill>
              <a:srgbClr val="4A82FF"/>
            </a:solidFill>
            <a:prstDash val="solid"/>
          </a:ln>
        </p:spPr>
      </p:sp>
      <p:sp>
        <p:nvSpPr>
          <p:cNvPr id="132" name="Shape 130"/>
          <p:cNvSpPr/>
          <p:nvPr/>
        </p:nvSpPr>
        <p:spPr>
          <a:xfrm>
            <a:off x="10322814" y="2991604"/>
            <a:ext cx="73152" cy="73152"/>
          </a:xfrm>
          <a:prstGeom prst="ellipse">
            <a:avLst/>
          </a:prstGeom>
          <a:solidFill>
            <a:srgbClr val="4A82FF"/>
          </a:solidFill>
          <a:ln w="12700">
            <a:solidFill>
              <a:srgbClr val="4A82FF"/>
            </a:solidFill>
            <a:prstDash val="solid"/>
          </a:ln>
        </p:spPr>
      </p:sp>
      <p:sp>
        <p:nvSpPr>
          <p:cNvPr id="133" name="Shape 131"/>
          <p:cNvSpPr/>
          <p:nvPr/>
        </p:nvSpPr>
        <p:spPr>
          <a:xfrm>
            <a:off x="10501884" y="3088097"/>
            <a:ext cx="73152" cy="73152"/>
          </a:xfrm>
          <a:prstGeom prst="ellipse">
            <a:avLst/>
          </a:prstGeom>
          <a:solidFill>
            <a:srgbClr val="4A82FF"/>
          </a:solidFill>
          <a:ln w="12700">
            <a:solidFill>
              <a:srgbClr val="4A82FF"/>
            </a:solidFill>
            <a:prstDash val="solid"/>
          </a:ln>
        </p:spPr>
      </p:sp>
      <p:sp>
        <p:nvSpPr>
          <p:cNvPr id="134" name="Shape 132"/>
          <p:cNvSpPr/>
          <p:nvPr/>
        </p:nvSpPr>
        <p:spPr>
          <a:xfrm>
            <a:off x="10680954" y="3164013"/>
            <a:ext cx="73152" cy="73152"/>
          </a:xfrm>
          <a:prstGeom prst="ellipse">
            <a:avLst/>
          </a:prstGeom>
          <a:solidFill>
            <a:srgbClr val="4A82FF"/>
          </a:solidFill>
          <a:ln w="12700">
            <a:solidFill>
              <a:srgbClr val="4A82FF"/>
            </a:solidFill>
            <a:prstDash val="solid"/>
          </a:ln>
        </p:spPr>
      </p:sp>
      <p:sp>
        <p:nvSpPr>
          <p:cNvPr id="135" name="Shape 133"/>
          <p:cNvSpPr/>
          <p:nvPr/>
        </p:nvSpPr>
        <p:spPr>
          <a:xfrm>
            <a:off x="10860024" y="3215550"/>
            <a:ext cx="73152" cy="73152"/>
          </a:xfrm>
          <a:prstGeom prst="ellipse">
            <a:avLst/>
          </a:prstGeom>
          <a:solidFill>
            <a:srgbClr val="4A82FF"/>
          </a:solidFill>
          <a:ln w="12700">
            <a:solidFill>
              <a:srgbClr val="4A82FF"/>
            </a:solidFill>
            <a:prstDash val="solid"/>
          </a:ln>
        </p:spPr>
      </p:sp>
      <p:sp>
        <p:nvSpPr>
          <p:cNvPr id="136" name="Shape 134"/>
          <p:cNvSpPr/>
          <p:nvPr/>
        </p:nvSpPr>
        <p:spPr>
          <a:xfrm>
            <a:off x="11039094" y="3246331"/>
            <a:ext cx="73152" cy="73152"/>
          </a:xfrm>
          <a:prstGeom prst="ellipse">
            <a:avLst/>
          </a:prstGeom>
          <a:solidFill>
            <a:srgbClr val="4A82FF"/>
          </a:solidFill>
          <a:ln w="12700">
            <a:solidFill>
              <a:srgbClr val="4A82FF"/>
            </a:solidFill>
            <a:prstDash val="solid"/>
          </a:ln>
        </p:spPr>
      </p:sp>
      <p:sp>
        <p:nvSpPr>
          <p:cNvPr id="137" name="Shape 135"/>
          <p:cNvSpPr/>
          <p:nvPr/>
        </p:nvSpPr>
        <p:spPr>
          <a:xfrm>
            <a:off x="11218164" y="3263584"/>
            <a:ext cx="73152" cy="73152"/>
          </a:xfrm>
          <a:prstGeom prst="ellipse">
            <a:avLst/>
          </a:prstGeom>
          <a:solidFill>
            <a:srgbClr val="4A82FF"/>
          </a:solidFill>
          <a:ln w="12700">
            <a:solidFill>
              <a:srgbClr val="4A82FF"/>
            </a:solidFill>
            <a:prstDash val="solid"/>
          </a:ln>
        </p:spPr>
      </p:sp>
      <p:sp>
        <p:nvSpPr>
          <p:cNvPr id="138" name="Shape 136"/>
          <p:cNvSpPr/>
          <p:nvPr/>
        </p:nvSpPr>
        <p:spPr>
          <a:xfrm>
            <a:off x="11397234" y="3273791"/>
            <a:ext cx="73152" cy="73152"/>
          </a:xfrm>
          <a:prstGeom prst="ellipse">
            <a:avLst/>
          </a:prstGeom>
          <a:solidFill>
            <a:srgbClr val="4A82FF"/>
          </a:solidFill>
          <a:ln w="12700">
            <a:solidFill>
              <a:srgbClr val="4A82FF"/>
            </a:solidFill>
            <a:prstDash val="solid"/>
          </a:ln>
        </p:spPr>
      </p:sp>
      <p:sp>
        <p:nvSpPr>
          <p:cNvPr id="139" name="Shape 137"/>
          <p:cNvSpPr/>
          <p:nvPr/>
        </p:nvSpPr>
        <p:spPr>
          <a:xfrm>
            <a:off x="11576304" y="3280635"/>
            <a:ext cx="73152" cy="73152"/>
          </a:xfrm>
          <a:prstGeom prst="ellipse">
            <a:avLst/>
          </a:prstGeom>
          <a:solidFill>
            <a:srgbClr val="4A82FF"/>
          </a:solidFill>
          <a:ln w="12700">
            <a:solidFill>
              <a:srgbClr val="4A82FF"/>
            </a:solidFill>
            <a:prstDash val="solid"/>
          </a:ln>
        </p:spPr>
      </p:sp>
      <p:sp>
        <p:nvSpPr>
          <p:cNvPr id="140" name="Shape 138"/>
          <p:cNvSpPr/>
          <p:nvPr/>
        </p:nvSpPr>
        <p:spPr>
          <a:xfrm>
            <a:off x="7278624" y="4257174"/>
            <a:ext cx="73152" cy="73152"/>
          </a:xfrm>
          <a:prstGeom prst="ellipse">
            <a:avLst/>
          </a:prstGeom>
          <a:solidFill>
            <a:srgbClr val="A9B7D4"/>
          </a:solidFill>
          <a:ln w="12700">
            <a:solidFill>
              <a:srgbClr val="A9B7D4"/>
            </a:solidFill>
            <a:prstDash val="solid"/>
          </a:ln>
        </p:spPr>
      </p:sp>
      <p:sp>
        <p:nvSpPr>
          <p:cNvPr id="141" name="Shape 139"/>
          <p:cNvSpPr/>
          <p:nvPr/>
        </p:nvSpPr>
        <p:spPr>
          <a:xfrm>
            <a:off x="7457694" y="4257140"/>
            <a:ext cx="73152" cy="73152"/>
          </a:xfrm>
          <a:prstGeom prst="ellipse">
            <a:avLst/>
          </a:prstGeom>
          <a:solidFill>
            <a:srgbClr val="A9B7D4"/>
          </a:solidFill>
          <a:ln w="12700">
            <a:solidFill>
              <a:srgbClr val="A9B7D4"/>
            </a:solidFill>
            <a:prstDash val="solid"/>
          </a:ln>
        </p:spPr>
      </p:sp>
      <p:sp>
        <p:nvSpPr>
          <p:cNvPr id="142" name="Shape 140"/>
          <p:cNvSpPr/>
          <p:nvPr/>
        </p:nvSpPr>
        <p:spPr>
          <a:xfrm>
            <a:off x="7636764" y="4257077"/>
            <a:ext cx="73152" cy="73152"/>
          </a:xfrm>
          <a:prstGeom prst="ellipse">
            <a:avLst/>
          </a:prstGeom>
          <a:solidFill>
            <a:srgbClr val="A9B7D4"/>
          </a:solidFill>
          <a:ln w="12700">
            <a:solidFill>
              <a:srgbClr val="A9B7D4"/>
            </a:solidFill>
            <a:prstDash val="solid"/>
          </a:ln>
        </p:spPr>
      </p:sp>
      <p:sp>
        <p:nvSpPr>
          <p:cNvPr id="143" name="Shape 141"/>
          <p:cNvSpPr/>
          <p:nvPr/>
        </p:nvSpPr>
        <p:spPr>
          <a:xfrm>
            <a:off x="7815834" y="4256967"/>
            <a:ext cx="73152" cy="73152"/>
          </a:xfrm>
          <a:prstGeom prst="ellipse">
            <a:avLst/>
          </a:prstGeom>
          <a:solidFill>
            <a:srgbClr val="A9B7D4"/>
          </a:solidFill>
          <a:ln w="12700">
            <a:solidFill>
              <a:srgbClr val="A9B7D4"/>
            </a:solidFill>
            <a:prstDash val="solid"/>
          </a:ln>
        </p:spPr>
      </p:sp>
      <p:sp>
        <p:nvSpPr>
          <p:cNvPr id="144" name="Shape 142"/>
          <p:cNvSpPr/>
          <p:nvPr/>
        </p:nvSpPr>
        <p:spPr>
          <a:xfrm>
            <a:off x="7994904" y="4256771"/>
            <a:ext cx="73152" cy="73152"/>
          </a:xfrm>
          <a:prstGeom prst="ellipse">
            <a:avLst/>
          </a:prstGeom>
          <a:solidFill>
            <a:srgbClr val="A9B7D4"/>
          </a:solidFill>
          <a:ln w="12700">
            <a:solidFill>
              <a:srgbClr val="A9B7D4"/>
            </a:solidFill>
            <a:prstDash val="solid"/>
          </a:ln>
        </p:spPr>
      </p:sp>
      <p:sp>
        <p:nvSpPr>
          <p:cNvPr id="145" name="Shape 143"/>
          <p:cNvSpPr/>
          <p:nvPr/>
        </p:nvSpPr>
        <p:spPr>
          <a:xfrm>
            <a:off x="8173974" y="4256422"/>
            <a:ext cx="73152" cy="73152"/>
          </a:xfrm>
          <a:prstGeom prst="ellipse">
            <a:avLst/>
          </a:prstGeom>
          <a:solidFill>
            <a:srgbClr val="A9B7D4"/>
          </a:solidFill>
          <a:ln w="12700">
            <a:solidFill>
              <a:srgbClr val="A9B7D4"/>
            </a:solidFill>
            <a:prstDash val="solid"/>
          </a:ln>
        </p:spPr>
      </p:sp>
      <p:sp>
        <p:nvSpPr>
          <p:cNvPr id="146" name="Shape 144"/>
          <p:cNvSpPr/>
          <p:nvPr/>
        </p:nvSpPr>
        <p:spPr>
          <a:xfrm>
            <a:off x="8353044" y="4255800"/>
            <a:ext cx="73152" cy="73152"/>
          </a:xfrm>
          <a:prstGeom prst="ellipse">
            <a:avLst/>
          </a:prstGeom>
          <a:solidFill>
            <a:srgbClr val="A9B7D4"/>
          </a:solidFill>
          <a:ln w="12700">
            <a:solidFill>
              <a:srgbClr val="A9B7D4"/>
            </a:solidFill>
            <a:prstDash val="solid"/>
          </a:ln>
        </p:spPr>
      </p:sp>
      <p:sp>
        <p:nvSpPr>
          <p:cNvPr id="147" name="Shape 145"/>
          <p:cNvSpPr/>
          <p:nvPr/>
        </p:nvSpPr>
        <p:spPr>
          <a:xfrm>
            <a:off x="8532114" y="4254695"/>
            <a:ext cx="73152" cy="73152"/>
          </a:xfrm>
          <a:prstGeom prst="ellipse">
            <a:avLst/>
          </a:prstGeom>
          <a:solidFill>
            <a:srgbClr val="A9B7D4"/>
          </a:solidFill>
          <a:ln w="12700">
            <a:solidFill>
              <a:srgbClr val="A9B7D4"/>
            </a:solidFill>
            <a:prstDash val="solid"/>
          </a:ln>
        </p:spPr>
      </p:sp>
      <p:sp>
        <p:nvSpPr>
          <p:cNvPr id="148" name="Shape 146"/>
          <p:cNvSpPr/>
          <p:nvPr/>
        </p:nvSpPr>
        <p:spPr>
          <a:xfrm>
            <a:off x="8711184" y="4252727"/>
            <a:ext cx="73152" cy="73152"/>
          </a:xfrm>
          <a:prstGeom prst="ellipse">
            <a:avLst/>
          </a:prstGeom>
          <a:solidFill>
            <a:srgbClr val="A9B7D4"/>
          </a:solidFill>
          <a:ln w="12700">
            <a:solidFill>
              <a:srgbClr val="A9B7D4"/>
            </a:solidFill>
            <a:prstDash val="solid"/>
          </a:ln>
        </p:spPr>
      </p:sp>
      <p:sp>
        <p:nvSpPr>
          <p:cNvPr id="149" name="Shape 147"/>
          <p:cNvSpPr/>
          <p:nvPr/>
        </p:nvSpPr>
        <p:spPr>
          <a:xfrm>
            <a:off x="8890254" y="4249222"/>
            <a:ext cx="73152" cy="73152"/>
          </a:xfrm>
          <a:prstGeom prst="ellipse">
            <a:avLst/>
          </a:prstGeom>
          <a:solidFill>
            <a:srgbClr val="A9B7D4"/>
          </a:solidFill>
          <a:ln w="12700">
            <a:solidFill>
              <a:srgbClr val="A9B7D4"/>
            </a:solidFill>
            <a:prstDash val="solid"/>
          </a:ln>
        </p:spPr>
      </p:sp>
      <p:sp>
        <p:nvSpPr>
          <p:cNvPr id="150" name="Shape 148"/>
          <p:cNvSpPr/>
          <p:nvPr/>
        </p:nvSpPr>
        <p:spPr>
          <a:xfrm>
            <a:off x="9069324" y="4242988"/>
            <a:ext cx="73152" cy="73152"/>
          </a:xfrm>
          <a:prstGeom prst="ellipse">
            <a:avLst/>
          </a:prstGeom>
          <a:solidFill>
            <a:srgbClr val="A9B7D4"/>
          </a:solidFill>
          <a:ln w="12700">
            <a:solidFill>
              <a:srgbClr val="A9B7D4"/>
            </a:solidFill>
            <a:prstDash val="solid"/>
          </a:ln>
        </p:spPr>
      </p:sp>
      <p:sp>
        <p:nvSpPr>
          <p:cNvPr id="151" name="Shape 149"/>
          <p:cNvSpPr/>
          <p:nvPr/>
        </p:nvSpPr>
        <p:spPr>
          <a:xfrm>
            <a:off x="9248394" y="4231942"/>
            <a:ext cx="73152" cy="73152"/>
          </a:xfrm>
          <a:prstGeom prst="ellipse">
            <a:avLst/>
          </a:prstGeom>
          <a:solidFill>
            <a:srgbClr val="A9B7D4"/>
          </a:solidFill>
          <a:ln w="12700">
            <a:solidFill>
              <a:srgbClr val="A9B7D4"/>
            </a:solidFill>
            <a:prstDash val="solid"/>
          </a:ln>
        </p:spPr>
      </p:sp>
      <p:sp>
        <p:nvSpPr>
          <p:cNvPr id="152" name="Shape 150"/>
          <p:cNvSpPr/>
          <p:nvPr/>
        </p:nvSpPr>
        <p:spPr>
          <a:xfrm>
            <a:off x="9427464" y="4212612"/>
            <a:ext cx="73152" cy="73152"/>
          </a:xfrm>
          <a:prstGeom prst="ellipse">
            <a:avLst/>
          </a:prstGeom>
          <a:solidFill>
            <a:srgbClr val="A9B7D4"/>
          </a:solidFill>
          <a:ln w="12700">
            <a:solidFill>
              <a:srgbClr val="A9B7D4"/>
            </a:solidFill>
            <a:prstDash val="solid"/>
          </a:ln>
        </p:spPr>
      </p:sp>
      <p:sp>
        <p:nvSpPr>
          <p:cNvPr id="153" name="Shape 151"/>
          <p:cNvSpPr/>
          <p:nvPr/>
        </p:nvSpPr>
        <p:spPr>
          <a:xfrm>
            <a:off x="9606534" y="4179727"/>
            <a:ext cx="73152" cy="73152"/>
          </a:xfrm>
          <a:prstGeom prst="ellipse">
            <a:avLst/>
          </a:prstGeom>
          <a:solidFill>
            <a:srgbClr val="A9B7D4"/>
          </a:solidFill>
          <a:ln w="12700">
            <a:solidFill>
              <a:srgbClr val="A9B7D4"/>
            </a:solidFill>
            <a:prstDash val="solid"/>
          </a:ln>
        </p:spPr>
      </p:sp>
      <p:sp>
        <p:nvSpPr>
          <p:cNvPr id="154" name="Shape 152"/>
          <p:cNvSpPr/>
          <p:nvPr/>
        </p:nvSpPr>
        <p:spPr>
          <a:xfrm>
            <a:off x="9785604" y="4126552"/>
            <a:ext cx="73152" cy="73152"/>
          </a:xfrm>
          <a:prstGeom prst="ellipse">
            <a:avLst/>
          </a:prstGeom>
          <a:solidFill>
            <a:srgbClr val="A9B7D4"/>
          </a:solidFill>
          <a:ln w="12700">
            <a:solidFill>
              <a:srgbClr val="A9B7D4"/>
            </a:solidFill>
            <a:prstDash val="solid"/>
          </a:ln>
        </p:spPr>
      </p:sp>
      <p:sp>
        <p:nvSpPr>
          <p:cNvPr id="155" name="Shape 153"/>
          <p:cNvSpPr/>
          <p:nvPr/>
        </p:nvSpPr>
        <p:spPr>
          <a:xfrm>
            <a:off x="9964674" y="4046849"/>
            <a:ext cx="73152" cy="73152"/>
          </a:xfrm>
          <a:prstGeom prst="ellipse">
            <a:avLst/>
          </a:prstGeom>
          <a:solidFill>
            <a:srgbClr val="A9B7D4"/>
          </a:solidFill>
          <a:ln w="12700">
            <a:solidFill>
              <a:srgbClr val="A9B7D4"/>
            </a:solidFill>
            <a:prstDash val="solid"/>
          </a:ln>
        </p:spPr>
      </p:sp>
      <p:sp>
        <p:nvSpPr>
          <p:cNvPr id="156" name="Shape 154"/>
          <p:cNvSpPr/>
          <p:nvPr/>
        </p:nvSpPr>
        <p:spPr>
          <a:xfrm>
            <a:off x="10143744" y="3938775"/>
            <a:ext cx="73152" cy="73152"/>
          </a:xfrm>
          <a:prstGeom prst="ellipse">
            <a:avLst/>
          </a:prstGeom>
          <a:solidFill>
            <a:srgbClr val="A9B7D4"/>
          </a:solidFill>
          <a:ln w="12700">
            <a:solidFill>
              <a:srgbClr val="A9B7D4"/>
            </a:solidFill>
            <a:prstDash val="solid"/>
          </a:ln>
        </p:spPr>
      </p:sp>
      <p:sp>
        <p:nvSpPr>
          <p:cNvPr id="157" name="Shape 155"/>
          <p:cNvSpPr/>
          <p:nvPr/>
        </p:nvSpPr>
        <p:spPr>
          <a:xfrm>
            <a:off x="10322814" y="3809356"/>
            <a:ext cx="73152" cy="73152"/>
          </a:xfrm>
          <a:prstGeom prst="ellipse">
            <a:avLst/>
          </a:prstGeom>
          <a:solidFill>
            <a:srgbClr val="A9B7D4"/>
          </a:solidFill>
          <a:ln w="12700">
            <a:solidFill>
              <a:srgbClr val="A9B7D4"/>
            </a:solidFill>
            <a:prstDash val="solid"/>
          </a:ln>
        </p:spPr>
      </p:sp>
      <p:sp>
        <p:nvSpPr>
          <p:cNvPr id="158" name="Shape 156"/>
          <p:cNvSpPr/>
          <p:nvPr/>
        </p:nvSpPr>
        <p:spPr>
          <a:xfrm>
            <a:off x="10501884" y="3675109"/>
            <a:ext cx="73152" cy="73152"/>
          </a:xfrm>
          <a:prstGeom prst="ellipse">
            <a:avLst/>
          </a:prstGeom>
          <a:solidFill>
            <a:srgbClr val="A9B7D4"/>
          </a:solidFill>
          <a:ln w="12700">
            <a:solidFill>
              <a:srgbClr val="A9B7D4"/>
            </a:solidFill>
            <a:prstDash val="solid"/>
          </a:ln>
        </p:spPr>
      </p:sp>
      <p:sp>
        <p:nvSpPr>
          <p:cNvPr id="159" name="Shape 157"/>
          <p:cNvSpPr/>
          <p:nvPr/>
        </p:nvSpPr>
        <p:spPr>
          <a:xfrm>
            <a:off x="10680954" y="3554889"/>
            <a:ext cx="73152" cy="73152"/>
          </a:xfrm>
          <a:prstGeom prst="ellipse">
            <a:avLst/>
          </a:prstGeom>
          <a:solidFill>
            <a:srgbClr val="A9B7D4"/>
          </a:solidFill>
          <a:ln w="12700">
            <a:solidFill>
              <a:srgbClr val="A9B7D4"/>
            </a:solidFill>
            <a:prstDash val="solid"/>
          </a:ln>
        </p:spPr>
      </p:sp>
      <p:sp>
        <p:nvSpPr>
          <p:cNvPr id="160" name="Shape 158"/>
          <p:cNvSpPr/>
          <p:nvPr/>
        </p:nvSpPr>
        <p:spPr>
          <a:xfrm>
            <a:off x="10860024" y="3460268"/>
            <a:ext cx="73152" cy="73152"/>
          </a:xfrm>
          <a:prstGeom prst="ellipse">
            <a:avLst/>
          </a:prstGeom>
          <a:solidFill>
            <a:srgbClr val="A9B7D4"/>
          </a:solidFill>
          <a:ln w="12700">
            <a:solidFill>
              <a:srgbClr val="A9B7D4"/>
            </a:solidFill>
            <a:prstDash val="solid"/>
          </a:ln>
        </p:spPr>
      </p:sp>
      <p:sp>
        <p:nvSpPr>
          <p:cNvPr id="161" name="Shape 159"/>
          <p:cNvSpPr/>
          <p:nvPr/>
        </p:nvSpPr>
        <p:spPr>
          <a:xfrm>
            <a:off x="11039094" y="3393011"/>
            <a:ext cx="73152" cy="73152"/>
          </a:xfrm>
          <a:prstGeom prst="ellipse">
            <a:avLst/>
          </a:prstGeom>
          <a:solidFill>
            <a:srgbClr val="A9B7D4"/>
          </a:solidFill>
          <a:ln w="12700">
            <a:solidFill>
              <a:srgbClr val="A9B7D4"/>
            </a:solidFill>
            <a:prstDash val="solid"/>
          </a:ln>
        </p:spPr>
      </p:sp>
      <p:sp>
        <p:nvSpPr>
          <p:cNvPr id="162" name="Shape 160"/>
          <p:cNvSpPr/>
          <p:nvPr/>
        </p:nvSpPr>
        <p:spPr>
          <a:xfrm>
            <a:off x="11218164" y="3349143"/>
            <a:ext cx="73152" cy="73152"/>
          </a:xfrm>
          <a:prstGeom prst="ellipse">
            <a:avLst/>
          </a:prstGeom>
          <a:solidFill>
            <a:srgbClr val="A9B7D4"/>
          </a:solidFill>
          <a:ln w="12700">
            <a:solidFill>
              <a:srgbClr val="A9B7D4"/>
            </a:solidFill>
            <a:prstDash val="solid"/>
          </a:ln>
        </p:spPr>
      </p:sp>
      <p:sp>
        <p:nvSpPr>
          <p:cNvPr id="163" name="Shape 161"/>
          <p:cNvSpPr/>
          <p:nvPr/>
        </p:nvSpPr>
        <p:spPr>
          <a:xfrm>
            <a:off x="11397234" y="3322926"/>
            <a:ext cx="73152" cy="73152"/>
          </a:xfrm>
          <a:prstGeom prst="ellipse">
            <a:avLst/>
          </a:prstGeom>
          <a:solidFill>
            <a:srgbClr val="A9B7D4"/>
          </a:solidFill>
          <a:ln w="12700">
            <a:solidFill>
              <a:srgbClr val="A9B7D4"/>
            </a:solidFill>
            <a:prstDash val="solid"/>
          </a:ln>
        </p:spPr>
      </p:sp>
      <p:sp>
        <p:nvSpPr>
          <p:cNvPr id="164" name="Shape 162"/>
          <p:cNvSpPr/>
          <p:nvPr/>
        </p:nvSpPr>
        <p:spPr>
          <a:xfrm>
            <a:off x="11576304" y="3308609"/>
            <a:ext cx="73152" cy="73152"/>
          </a:xfrm>
          <a:prstGeom prst="ellipse">
            <a:avLst/>
          </a:prstGeom>
          <a:solidFill>
            <a:srgbClr val="A9B7D4"/>
          </a:solidFill>
          <a:ln w="12700">
            <a:solidFill>
              <a:srgbClr val="A9B7D4"/>
            </a:solidFill>
            <a:prstDash val="solid"/>
          </a:ln>
        </p:spPr>
      </p:sp>
      <p:sp>
        <p:nvSpPr>
          <p:cNvPr id="165" name="Shape 163"/>
          <p:cNvSpPr/>
          <p:nvPr/>
        </p:nvSpPr>
        <p:spPr>
          <a:xfrm>
            <a:off x="7278624" y="2766232"/>
            <a:ext cx="73152" cy="73152"/>
          </a:xfrm>
          <a:prstGeom prst="ellipse">
            <a:avLst/>
          </a:prstGeom>
          <a:solidFill>
            <a:srgbClr val="12B886"/>
          </a:solidFill>
          <a:ln w="12700">
            <a:solidFill>
              <a:srgbClr val="12B886"/>
            </a:solidFill>
            <a:prstDash val="solid"/>
          </a:ln>
        </p:spPr>
      </p:sp>
      <p:sp>
        <p:nvSpPr>
          <p:cNvPr id="166" name="Shape 164"/>
          <p:cNvSpPr/>
          <p:nvPr/>
        </p:nvSpPr>
        <p:spPr>
          <a:xfrm>
            <a:off x="7457694" y="2766211"/>
            <a:ext cx="73152" cy="73152"/>
          </a:xfrm>
          <a:prstGeom prst="ellipse">
            <a:avLst/>
          </a:prstGeom>
          <a:solidFill>
            <a:srgbClr val="12B886"/>
          </a:solidFill>
          <a:ln w="12700">
            <a:solidFill>
              <a:srgbClr val="12B886"/>
            </a:solidFill>
            <a:prstDash val="solid"/>
          </a:ln>
        </p:spPr>
      </p:sp>
      <p:sp>
        <p:nvSpPr>
          <p:cNvPr id="167" name="Shape 165"/>
          <p:cNvSpPr/>
          <p:nvPr/>
        </p:nvSpPr>
        <p:spPr>
          <a:xfrm>
            <a:off x="7636764" y="2766175"/>
            <a:ext cx="73152" cy="73152"/>
          </a:xfrm>
          <a:prstGeom prst="ellipse">
            <a:avLst/>
          </a:prstGeom>
          <a:solidFill>
            <a:srgbClr val="12B886"/>
          </a:solidFill>
          <a:ln w="12700">
            <a:solidFill>
              <a:srgbClr val="12B886"/>
            </a:solidFill>
            <a:prstDash val="solid"/>
          </a:ln>
        </p:spPr>
      </p:sp>
      <p:sp>
        <p:nvSpPr>
          <p:cNvPr id="168" name="Shape 166"/>
          <p:cNvSpPr/>
          <p:nvPr/>
        </p:nvSpPr>
        <p:spPr>
          <a:xfrm>
            <a:off x="7815834" y="2766110"/>
            <a:ext cx="73152" cy="73152"/>
          </a:xfrm>
          <a:prstGeom prst="ellipse">
            <a:avLst/>
          </a:prstGeom>
          <a:solidFill>
            <a:srgbClr val="12B886"/>
          </a:solidFill>
          <a:ln w="12700">
            <a:solidFill>
              <a:srgbClr val="12B886"/>
            </a:solidFill>
            <a:prstDash val="solid"/>
          </a:ln>
        </p:spPr>
      </p:sp>
      <p:sp>
        <p:nvSpPr>
          <p:cNvPr id="169" name="Shape 167"/>
          <p:cNvSpPr/>
          <p:nvPr/>
        </p:nvSpPr>
        <p:spPr>
          <a:xfrm>
            <a:off x="7994904" y="2765995"/>
            <a:ext cx="73152" cy="73152"/>
          </a:xfrm>
          <a:prstGeom prst="ellipse">
            <a:avLst/>
          </a:prstGeom>
          <a:solidFill>
            <a:srgbClr val="12B886"/>
          </a:solidFill>
          <a:ln w="12700">
            <a:solidFill>
              <a:srgbClr val="12B886"/>
            </a:solidFill>
            <a:prstDash val="solid"/>
          </a:ln>
        </p:spPr>
      </p:sp>
      <p:sp>
        <p:nvSpPr>
          <p:cNvPr id="170" name="Shape 168"/>
          <p:cNvSpPr/>
          <p:nvPr/>
        </p:nvSpPr>
        <p:spPr>
          <a:xfrm>
            <a:off x="8173974" y="2765795"/>
            <a:ext cx="73152" cy="73152"/>
          </a:xfrm>
          <a:prstGeom prst="ellipse">
            <a:avLst/>
          </a:prstGeom>
          <a:solidFill>
            <a:srgbClr val="12B886"/>
          </a:solidFill>
          <a:ln w="12700">
            <a:solidFill>
              <a:srgbClr val="12B886"/>
            </a:solidFill>
            <a:prstDash val="solid"/>
          </a:ln>
        </p:spPr>
      </p:sp>
      <p:sp>
        <p:nvSpPr>
          <p:cNvPr id="171" name="Shape 169"/>
          <p:cNvSpPr/>
          <p:nvPr/>
        </p:nvSpPr>
        <p:spPr>
          <a:xfrm>
            <a:off x="8353044" y="2765449"/>
            <a:ext cx="73152" cy="73152"/>
          </a:xfrm>
          <a:prstGeom prst="ellipse">
            <a:avLst/>
          </a:prstGeom>
          <a:solidFill>
            <a:srgbClr val="12B886"/>
          </a:solidFill>
          <a:ln w="12700">
            <a:solidFill>
              <a:srgbClr val="12B886"/>
            </a:solidFill>
            <a:prstDash val="solid"/>
          </a:ln>
        </p:spPr>
      </p:sp>
      <p:sp>
        <p:nvSpPr>
          <p:cNvPr id="172" name="Shape 170"/>
          <p:cNvSpPr/>
          <p:nvPr/>
        </p:nvSpPr>
        <p:spPr>
          <a:xfrm>
            <a:off x="8532114" y="2764866"/>
            <a:ext cx="73152" cy="73152"/>
          </a:xfrm>
          <a:prstGeom prst="ellipse">
            <a:avLst/>
          </a:prstGeom>
          <a:solidFill>
            <a:srgbClr val="12B886"/>
          </a:solidFill>
          <a:ln w="12700">
            <a:solidFill>
              <a:srgbClr val="12B886"/>
            </a:solidFill>
            <a:prstDash val="solid"/>
          </a:ln>
        </p:spPr>
      </p:sp>
      <p:sp>
        <p:nvSpPr>
          <p:cNvPr id="173" name="Shape 171"/>
          <p:cNvSpPr/>
          <p:nvPr/>
        </p:nvSpPr>
        <p:spPr>
          <a:xfrm>
            <a:off x="8711184" y="2763924"/>
            <a:ext cx="73152" cy="73152"/>
          </a:xfrm>
          <a:prstGeom prst="ellipse">
            <a:avLst/>
          </a:prstGeom>
          <a:solidFill>
            <a:srgbClr val="12B886"/>
          </a:solidFill>
          <a:ln w="12700">
            <a:solidFill>
              <a:srgbClr val="12B886"/>
            </a:solidFill>
            <a:prstDash val="solid"/>
          </a:ln>
        </p:spPr>
      </p:sp>
      <p:sp>
        <p:nvSpPr>
          <p:cNvPr id="174" name="Shape 172"/>
          <p:cNvSpPr/>
          <p:nvPr/>
        </p:nvSpPr>
        <p:spPr>
          <a:xfrm>
            <a:off x="8890254" y="2762533"/>
            <a:ext cx="73152" cy="73152"/>
          </a:xfrm>
          <a:prstGeom prst="ellipse">
            <a:avLst/>
          </a:prstGeom>
          <a:solidFill>
            <a:srgbClr val="12B886"/>
          </a:solidFill>
          <a:ln w="12700">
            <a:solidFill>
              <a:srgbClr val="12B886"/>
            </a:solidFill>
            <a:prstDash val="solid"/>
          </a:ln>
        </p:spPr>
      </p:sp>
      <p:sp>
        <p:nvSpPr>
          <p:cNvPr id="175" name="Shape 173"/>
          <p:cNvSpPr/>
          <p:nvPr/>
        </p:nvSpPr>
        <p:spPr>
          <a:xfrm>
            <a:off x="9069324" y="2760855"/>
            <a:ext cx="73152" cy="73152"/>
          </a:xfrm>
          <a:prstGeom prst="ellipse">
            <a:avLst/>
          </a:prstGeom>
          <a:solidFill>
            <a:srgbClr val="12B886"/>
          </a:solidFill>
          <a:ln w="12700">
            <a:solidFill>
              <a:srgbClr val="12B886"/>
            </a:solidFill>
            <a:prstDash val="solid"/>
          </a:ln>
        </p:spPr>
      </p:sp>
      <p:sp>
        <p:nvSpPr>
          <p:cNvPr id="176" name="Shape 174"/>
          <p:cNvSpPr/>
          <p:nvPr/>
        </p:nvSpPr>
        <p:spPr>
          <a:xfrm>
            <a:off x="9248394" y="2759924"/>
            <a:ext cx="73152" cy="73152"/>
          </a:xfrm>
          <a:prstGeom prst="ellipse">
            <a:avLst/>
          </a:prstGeom>
          <a:solidFill>
            <a:srgbClr val="12B886"/>
          </a:solidFill>
          <a:ln w="12700">
            <a:solidFill>
              <a:srgbClr val="12B886"/>
            </a:solidFill>
            <a:prstDash val="solid"/>
          </a:ln>
        </p:spPr>
      </p:sp>
      <p:sp>
        <p:nvSpPr>
          <p:cNvPr id="177" name="Shape 175"/>
          <p:cNvSpPr/>
          <p:nvPr/>
        </p:nvSpPr>
        <p:spPr>
          <a:xfrm>
            <a:off x="9427464" y="2762850"/>
            <a:ext cx="73152" cy="73152"/>
          </a:xfrm>
          <a:prstGeom prst="ellipse">
            <a:avLst/>
          </a:prstGeom>
          <a:solidFill>
            <a:srgbClr val="12B886"/>
          </a:solidFill>
          <a:ln w="12700">
            <a:solidFill>
              <a:srgbClr val="12B886"/>
            </a:solidFill>
            <a:prstDash val="solid"/>
          </a:ln>
        </p:spPr>
      </p:sp>
      <p:sp>
        <p:nvSpPr>
          <p:cNvPr id="178" name="Shape 176"/>
          <p:cNvSpPr/>
          <p:nvPr/>
        </p:nvSpPr>
        <p:spPr>
          <a:xfrm>
            <a:off x="9606534" y="2776078"/>
            <a:ext cx="73152" cy="73152"/>
          </a:xfrm>
          <a:prstGeom prst="ellipse">
            <a:avLst/>
          </a:prstGeom>
          <a:solidFill>
            <a:srgbClr val="12B886"/>
          </a:solidFill>
          <a:ln w="12700">
            <a:solidFill>
              <a:srgbClr val="12B886"/>
            </a:solidFill>
            <a:prstDash val="solid"/>
          </a:ln>
        </p:spPr>
      </p:sp>
      <p:sp>
        <p:nvSpPr>
          <p:cNvPr id="179" name="Shape 177"/>
          <p:cNvSpPr/>
          <p:nvPr/>
        </p:nvSpPr>
        <p:spPr>
          <a:xfrm>
            <a:off x="9785604" y="2808476"/>
            <a:ext cx="73152" cy="73152"/>
          </a:xfrm>
          <a:prstGeom prst="ellipse">
            <a:avLst/>
          </a:prstGeom>
          <a:solidFill>
            <a:srgbClr val="12B886"/>
          </a:solidFill>
          <a:ln w="12700">
            <a:solidFill>
              <a:srgbClr val="12B886"/>
            </a:solidFill>
            <a:prstDash val="solid"/>
          </a:ln>
        </p:spPr>
      </p:sp>
      <p:sp>
        <p:nvSpPr>
          <p:cNvPr id="180" name="Shape 178"/>
          <p:cNvSpPr/>
          <p:nvPr/>
        </p:nvSpPr>
        <p:spPr>
          <a:xfrm>
            <a:off x="9964674" y="2865969"/>
            <a:ext cx="73152" cy="73152"/>
          </a:xfrm>
          <a:prstGeom prst="ellipse">
            <a:avLst/>
          </a:prstGeom>
          <a:solidFill>
            <a:srgbClr val="12B886"/>
          </a:solidFill>
          <a:ln w="12700">
            <a:solidFill>
              <a:srgbClr val="12B886"/>
            </a:solidFill>
            <a:prstDash val="solid"/>
          </a:ln>
        </p:spPr>
      </p:sp>
      <p:sp>
        <p:nvSpPr>
          <p:cNvPr id="181" name="Shape 179"/>
          <p:cNvSpPr/>
          <p:nvPr/>
        </p:nvSpPr>
        <p:spPr>
          <a:xfrm>
            <a:off x="10143744" y="2944859"/>
            <a:ext cx="73152" cy="73152"/>
          </a:xfrm>
          <a:prstGeom prst="ellipse">
            <a:avLst/>
          </a:prstGeom>
          <a:solidFill>
            <a:srgbClr val="12B886"/>
          </a:solidFill>
          <a:ln w="12700">
            <a:solidFill>
              <a:srgbClr val="12B886"/>
            </a:solidFill>
            <a:prstDash val="solid"/>
          </a:ln>
        </p:spPr>
      </p:sp>
      <p:sp>
        <p:nvSpPr>
          <p:cNvPr id="182" name="Shape 180"/>
          <p:cNvSpPr/>
          <p:nvPr/>
        </p:nvSpPr>
        <p:spPr>
          <a:xfrm>
            <a:off x="10322814" y="3031601"/>
            <a:ext cx="73152" cy="73152"/>
          </a:xfrm>
          <a:prstGeom prst="ellipse">
            <a:avLst/>
          </a:prstGeom>
          <a:solidFill>
            <a:srgbClr val="12B886"/>
          </a:solidFill>
          <a:ln w="12700">
            <a:solidFill>
              <a:srgbClr val="12B886"/>
            </a:solidFill>
            <a:prstDash val="solid"/>
          </a:ln>
        </p:spPr>
      </p:sp>
      <p:sp>
        <p:nvSpPr>
          <p:cNvPr id="183" name="Shape 181"/>
          <p:cNvSpPr/>
          <p:nvPr/>
        </p:nvSpPr>
        <p:spPr>
          <a:xfrm>
            <a:off x="10501884" y="3110510"/>
            <a:ext cx="73152" cy="73152"/>
          </a:xfrm>
          <a:prstGeom prst="ellipse">
            <a:avLst/>
          </a:prstGeom>
          <a:solidFill>
            <a:srgbClr val="12B886"/>
          </a:solidFill>
          <a:ln w="12700">
            <a:solidFill>
              <a:srgbClr val="12B886"/>
            </a:solidFill>
            <a:prstDash val="solid"/>
          </a:ln>
        </p:spPr>
      </p:sp>
      <p:sp>
        <p:nvSpPr>
          <p:cNvPr id="184" name="Shape 182"/>
          <p:cNvSpPr/>
          <p:nvPr/>
        </p:nvSpPr>
        <p:spPr>
          <a:xfrm>
            <a:off x="10680954" y="3171727"/>
            <a:ext cx="73152" cy="73152"/>
          </a:xfrm>
          <a:prstGeom prst="ellipse">
            <a:avLst/>
          </a:prstGeom>
          <a:solidFill>
            <a:srgbClr val="12B886"/>
          </a:solidFill>
          <a:ln w="12700">
            <a:solidFill>
              <a:srgbClr val="12B886"/>
            </a:solidFill>
            <a:prstDash val="solid"/>
          </a:ln>
        </p:spPr>
      </p:sp>
      <p:sp>
        <p:nvSpPr>
          <p:cNvPr id="185" name="Shape 183"/>
          <p:cNvSpPr/>
          <p:nvPr/>
        </p:nvSpPr>
        <p:spPr>
          <a:xfrm>
            <a:off x="10860024" y="3213511"/>
            <a:ext cx="73152" cy="73152"/>
          </a:xfrm>
          <a:prstGeom prst="ellipse">
            <a:avLst/>
          </a:prstGeom>
          <a:solidFill>
            <a:srgbClr val="12B886"/>
          </a:solidFill>
          <a:ln w="12700">
            <a:solidFill>
              <a:srgbClr val="12B886"/>
            </a:solidFill>
            <a:prstDash val="solid"/>
          </a:ln>
        </p:spPr>
      </p:sp>
      <p:sp>
        <p:nvSpPr>
          <p:cNvPr id="186" name="Shape 184"/>
          <p:cNvSpPr/>
          <p:nvPr/>
        </p:nvSpPr>
        <p:spPr>
          <a:xfrm>
            <a:off x="11039094" y="3239833"/>
            <a:ext cx="73152" cy="73152"/>
          </a:xfrm>
          <a:prstGeom prst="ellipse">
            <a:avLst/>
          </a:prstGeom>
          <a:solidFill>
            <a:srgbClr val="12B886"/>
          </a:solidFill>
          <a:ln w="12700">
            <a:solidFill>
              <a:srgbClr val="12B886"/>
            </a:solidFill>
            <a:prstDash val="solid"/>
          </a:ln>
        </p:spPr>
      </p:sp>
      <p:sp>
        <p:nvSpPr>
          <p:cNvPr id="187" name="Shape 185"/>
          <p:cNvSpPr/>
          <p:nvPr/>
        </p:nvSpPr>
        <p:spPr>
          <a:xfrm>
            <a:off x="11218164" y="3256488"/>
            <a:ext cx="73152" cy="73152"/>
          </a:xfrm>
          <a:prstGeom prst="ellipse">
            <a:avLst/>
          </a:prstGeom>
          <a:solidFill>
            <a:srgbClr val="12B886"/>
          </a:solidFill>
          <a:ln w="12700">
            <a:solidFill>
              <a:srgbClr val="12B886"/>
            </a:solidFill>
            <a:prstDash val="solid"/>
          </a:ln>
        </p:spPr>
      </p:sp>
      <p:sp>
        <p:nvSpPr>
          <p:cNvPr id="188" name="Shape 186"/>
          <p:cNvSpPr/>
          <p:nvPr/>
        </p:nvSpPr>
        <p:spPr>
          <a:xfrm>
            <a:off x="11397234" y="3267994"/>
            <a:ext cx="73152" cy="73152"/>
          </a:xfrm>
          <a:prstGeom prst="ellipse">
            <a:avLst/>
          </a:prstGeom>
          <a:solidFill>
            <a:srgbClr val="12B886"/>
          </a:solidFill>
          <a:ln w="12700">
            <a:solidFill>
              <a:srgbClr val="12B886"/>
            </a:solidFill>
            <a:prstDash val="solid"/>
          </a:ln>
        </p:spPr>
      </p:sp>
      <p:sp>
        <p:nvSpPr>
          <p:cNvPr id="189" name="Shape 187"/>
          <p:cNvSpPr/>
          <p:nvPr/>
        </p:nvSpPr>
        <p:spPr>
          <a:xfrm>
            <a:off x="11576304" y="3276570"/>
            <a:ext cx="73152" cy="73152"/>
          </a:xfrm>
          <a:prstGeom prst="ellipse">
            <a:avLst/>
          </a:prstGeom>
          <a:solidFill>
            <a:srgbClr val="12B886"/>
          </a:solidFill>
          <a:ln w="12700">
            <a:solidFill>
              <a:srgbClr val="12B886"/>
            </a:solidFill>
            <a:prstDash val="solid"/>
          </a:ln>
        </p:spPr>
      </p:sp>
      <p:sp>
        <p:nvSpPr>
          <p:cNvPr id="190" name="Shape 188"/>
          <p:cNvSpPr/>
          <p:nvPr/>
        </p:nvSpPr>
        <p:spPr>
          <a:xfrm>
            <a:off x="7278624" y="1658371"/>
            <a:ext cx="73152" cy="73152"/>
          </a:xfrm>
          <a:prstGeom prst="ellipse">
            <a:avLst/>
          </a:prstGeom>
          <a:solidFill>
            <a:srgbClr val="E6115E"/>
          </a:solidFill>
          <a:ln w="12700">
            <a:solidFill>
              <a:srgbClr val="E6115E"/>
            </a:solidFill>
            <a:prstDash val="solid"/>
          </a:ln>
        </p:spPr>
      </p:sp>
      <p:sp>
        <p:nvSpPr>
          <p:cNvPr id="191" name="Shape 189"/>
          <p:cNvSpPr/>
          <p:nvPr/>
        </p:nvSpPr>
        <p:spPr>
          <a:xfrm>
            <a:off x="7457694" y="1658385"/>
            <a:ext cx="73152" cy="73152"/>
          </a:xfrm>
          <a:prstGeom prst="ellipse">
            <a:avLst/>
          </a:prstGeom>
          <a:solidFill>
            <a:srgbClr val="E6115E"/>
          </a:solidFill>
          <a:ln w="12700">
            <a:solidFill>
              <a:srgbClr val="E6115E"/>
            </a:solidFill>
            <a:prstDash val="solid"/>
          </a:ln>
        </p:spPr>
      </p:sp>
      <p:sp>
        <p:nvSpPr>
          <p:cNvPr id="192" name="Shape 190"/>
          <p:cNvSpPr/>
          <p:nvPr/>
        </p:nvSpPr>
        <p:spPr>
          <a:xfrm>
            <a:off x="7636764" y="1658411"/>
            <a:ext cx="73152" cy="73152"/>
          </a:xfrm>
          <a:prstGeom prst="ellipse">
            <a:avLst/>
          </a:prstGeom>
          <a:solidFill>
            <a:srgbClr val="E6115E"/>
          </a:solidFill>
          <a:ln w="12700">
            <a:solidFill>
              <a:srgbClr val="E6115E"/>
            </a:solidFill>
            <a:prstDash val="solid"/>
          </a:ln>
        </p:spPr>
      </p:sp>
      <p:sp>
        <p:nvSpPr>
          <p:cNvPr id="193" name="Shape 191"/>
          <p:cNvSpPr/>
          <p:nvPr/>
        </p:nvSpPr>
        <p:spPr>
          <a:xfrm>
            <a:off x="7815834" y="1658457"/>
            <a:ext cx="73152" cy="73152"/>
          </a:xfrm>
          <a:prstGeom prst="ellipse">
            <a:avLst/>
          </a:prstGeom>
          <a:solidFill>
            <a:srgbClr val="E6115E"/>
          </a:solidFill>
          <a:ln w="12700">
            <a:solidFill>
              <a:srgbClr val="E6115E"/>
            </a:solidFill>
            <a:prstDash val="solid"/>
          </a:ln>
        </p:spPr>
      </p:sp>
      <p:sp>
        <p:nvSpPr>
          <p:cNvPr id="194" name="Shape 192"/>
          <p:cNvSpPr/>
          <p:nvPr/>
        </p:nvSpPr>
        <p:spPr>
          <a:xfrm>
            <a:off x="7994904" y="1658538"/>
            <a:ext cx="73152" cy="73152"/>
          </a:xfrm>
          <a:prstGeom prst="ellipse">
            <a:avLst/>
          </a:prstGeom>
          <a:solidFill>
            <a:srgbClr val="E6115E"/>
          </a:solidFill>
          <a:ln w="12700">
            <a:solidFill>
              <a:srgbClr val="E6115E"/>
            </a:solidFill>
            <a:prstDash val="solid"/>
          </a:ln>
        </p:spPr>
      </p:sp>
      <p:sp>
        <p:nvSpPr>
          <p:cNvPr id="195" name="Shape 193"/>
          <p:cNvSpPr/>
          <p:nvPr/>
        </p:nvSpPr>
        <p:spPr>
          <a:xfrm>
            <a:off x="8173974" y="1658683"/>
            <a:ext cx="73152" cy="73152"/>
          </a:xfrm>
          <a:prstGeom prst="ellipse">
            <a:avLst/>
          </a:prstGeom>
          <a:solidFill>
            <a:srgbClr val="E6115E"/>
          </a:solidFill>
          <a:ln w="12700">
            <a:solidFill>
              <a:srgbClr val="E6115E"/>
            </a:solidFill>
            <a:prstDash val="solid"/>
          </a:ln>
        </p:spPr>
      </p:sp>
      <p:sp>
        <p:nvSpPr>
          <p:cNvPr id="196" name="Shape 194"/>
          <p:cNvSpPr/>
          <p:nvPr/>
        </p:nvSpPr>
        <p:spPr>
          <a:xfrm>
            <a:off x="8353044" y="1658940"/>
            <a:ext cx="73152" cy="73152"/>
          </a:xfrm>
          <a:prstGeom prst="ellipse">
            <a:avLst/>
          </a:prstGeom>
          <a:solidFill>
            <a:srgbClr val="E6115E"/>
          </a:solidFill>
          <a:ln w="12700">
            <a:solidFill>
              <a:srgbClr val="E6115E"/>
            </a:solidFill>
            <a:prstDash val="solid"/>
          </a:ln>
        </p:spPr>
      </p:sp>
      <p:sp>
        <p:nvSpPr>
          <p:cNvPr id="197" name="Shape 195"/>
          <p:cNvSpPr/>
          <p:nvPr/>
        </p:nvSpPr>
        <p:spPr>
          <a:xfrm>
            <a:off x="8532114" y="1659398"/>
            <a:ext cx="73152" cy="73152"/>
          </a:xfrm>
          <a:prstGeom prst="ellipse">
            <a:avLst/>
          </a:prstGeom>
          <a:solidFill>
            <a:srgbClr val="E6115E"/>
          </a:solidFill>
          <a:ln w="12700">
            <a:solidFill>
              <a:srgbClr val="E6115E"/>
            </a:solidFill>
            <a:prstDash val="solid"/>
          </a:ln>
        </p:spPr>
      </p:sp>
      <p:sp>
        <p:nvSpPr>
          <p:cNvPr id="198" name="Shape 196"/>
          <p:cNvSpPr/>
          <p:nvPr/>
        </p:nvSpPr>
        <p:spPr>
          <a:xfrm>
            <a:off x="8711184" y="1660212"/>
            <a:ext cx="73152" cy="73152"/>
          </a:xfrm>
          <a:prstGeom prst="ellipse">
            <a:avLst/>
          </a:prstGeom>
          <a:solidFill>
            <a:srgbClr val="E6115E"/>
          </a:solidFill>
          <a:ln w="12700">
            <a:solidFill>
              <a:srgbClr val="E6115E"/>
            </a:solidFill>
            <a:prstDash val="solid"/>
          </a:ln>
        </p:spPr>
      </p:sp>
      <p:sp>
        <p:nvSpPr>
          <p:cNvPr id="199" name="Shape 197"/>
          <p:cNvSpPr/>
          <p:nvPr/>
        </p:nvSpPr>
        <p:spPr>
          <a:xfrm>
            <a:off x="8890254" y="1661658"/>
            <a:ext cx="73152" cy="73152"/>
          </a:xfrm>
          <a:prstGeom prst="ellipse">
            <a:avLst/>
          </a:prstGeom>
          <a:solidFill>
            <a:srgbClr val="E6115E"/>
          </a:solidFill>
          <a:ln w="12700">
            <a:solidFill>
              <a:srgbClr val="E6115E"/>
            </a:solidFill>
            <a:prstDash val="solid"/>
          </a:ln>
        </p:spPr>
      </p:sp>
      <p:sp>
        <p:nvSpPr>
          <p:cNvPr id="200" name="Shape 198"/>
          <p:cNvSpPr/>
          <p:nvPr/>
        </p:nvSpPr>
        <p:spPr>
          <a:xfrm>
            <a:off x="9069324" y="1664229"/>
            <a:ext cx="73152" cy="73152"/>
          </a:xfrm>
          <a:prstGeom prst="ellipse">
            <a:avLst/>
          </a:prstGeom>
          <a:solidFill>
            <a:srgbClr val="E6115E"/>
          </a:solidFill>
          <a:ln w="12700">
            <a:solidFill>
              <a:srgbClr val="E6115E"/>
            </a:solidFill>
            <a:prstDash val="solid"/>
          </a:ln>
        </p:spPr>
      </p:sp>
      <p:sp>
        <p:nvSpPr>
          <p:cNvPr id="201" name="Shape 199"/>
          <p:cNvSpPr/>
          <p:nvPr/>
        </p:nvSpPr>
        <p:spPr>
          <a:xfrm>
            <a:off x="9248394" y="1668788"/>
            <a:ext cx="73152" cy="73152"/>
          </a:xfrm>
          <a:prstGeom prst="ellipse">
            <a:avLst/>
          </a:prstGeom>
          <a:solidFill>
            <a:srgbClr val="E6115E"/>
          </a:solidFill>
          <a:ln w="12700">
            <a:solidFill>
              <a:srgbClr val="E6115E"/>
            </a:solidFill>
            <a:prstDash val="solid"/>
          </a:ln>
        </p:spPr>
      </p:sp>
      <p:sp>
        <p:nvSpPr>
          <p:cNvPr id="202" name="Shape 200"/>
          <p:cNvSpPr/>
          <p:nvPr/>
        </p:nvSpPr>
        <p:spPr>
          <a:xfrm>
            <a:off x="9427464" y="1676829"/>
            <a:ext cx="73152" cy="73152"/>
          </a:xfrm>
          <a:prstGeom prst="ellipse">
            <a:avLst/>
          </a:prstGeom>
          <a:solidFill>
            <a:srgbClr val="E6115E"/>
          </a:solidFill>
          <a:ln w="12700">
            <a:solidFill>
              <a:srgbClr val="E6115E"/>
            </a:solidFill>
            <a:prstDash val="solid"/>
          </a:ln>
        </p:spPr>
      </p:sp>
      <p:sp>
        <p:nvSpPr>
          <p:cNvPr id="203" name="Shape 201"/>
          <p:cNvSpPr/>
          <p:nvPr/>
        </p:nvSpPr>
        <p:spPr>
          <a:xfrm>
            <a:off x="9606534" y="1690799"/>
            <a:ext cx="73152" cy="73152"/>
          </a:xfrm>
          <a:prstGeom prst="ellipse">
            <a:avLst/>
          </a:prstGeom>
          <a:solidFill>
            <a:srgbClr val="E6115E"/>
          </a:solidFill>
          <a:ln w="12700">
            <a:solidFill>
              <a:srgbClr val="E6115E"/>
            </a:solidFill>
            <a:prstDash val="solid"/>
          </a:ln>
        </p:spPr>
      </p:sp>
      <p:sp>
        <p:nvSpPr>
          <p:cNvPr id="204" name="Shape 202"/>
          <p:cNvSpPr/>
          <p:nvPr/>
        </p:nvSpPr>
        <p:spPr>
          <a:xfrm>
            <a:off x="9785604" y="1714294"/>
            <a:ext cx="73152" cy="73152"/>
          </a:xfrm>
          <a:prstGeom prst="ellipse">
            <a:avLst/>
          </a:prstGeom>
          <a:solidFill>
            <a:srgbClr val="E6115E"/>
          </a:solidFill>
          <a:ln w="12700">
            <a:solidFill>
              <a:srgbClr val="E6115E"/>
            </a:solidFill>
            <a:prstDash val="solid"/>
          </a:ln>
        </p:spPr>
      </p:sp>
      <p:sp>
        <p:nvSpPr>
          <p:cNvPr id="205" name="Shape 203"/>
          <p:cNvSpPr/>
          <p:nvPr/>
        </p:nvSpPr>
        <p:spPr>
          <a:xfrm>
            <a:off x="9964674" y="1751772"/>
            <a:ext cx="73152" cy="73152"/>
          </a:xfrm>
          <a:prstGeom prst="ellipse">
            <a:avLst/>
          </a:prstGeom>
          <a:solidFill>
            <a:srgbClr val="E6115E"/>
          </a:solidFill>
          <a:ln w="12700">
            <a:solidFill>
              <a:srgbClr val="E6115E"/>
            </a:solidFill>
            <a:prstDash val="solid"/>
          </a:ln>
        </p:spPr>
      </p:sp>
      <p:sp>
        <p:nvSpPr>
          <p:cNvPr id="206" name="Shape 204"/>
          <p:cNvSpPr/>
          <p:nvPr/>
        </p:nvSpPr>
        <p:spPr>
          <a:xfrm>
            <a:off x="10143744" y="1808103"/>
            <a:ext cx="73152" cy="73152"/>
          </a:xfrm>
          <a:prstGeom prst="ellipse">
            <a:avLst/>
          </a:prstGeom>
          <a:solidFill>
            <a:srgbClr val="E6115E"/>
          </a:solidFill>
          <a:ln w="12700">
            <a:solidFill>
              <a:srgbClr val="E6115E"/>
            </a:solidFill>
            <a:prstDash val="solid"/>
          </a:ln>
        </p:spPr>
      </p:sp>
      <p:sp>
        <p:nvSpPr>
          <p:cNvPr id="207" name="Shape 205"/>
          <p:cNvSpPr/>
          <p:nvPr/>
        </p:nvSpPr>
        <p:spPr>
          <a:xfrm>
            <a:off x="10322814" y="1889254"/>
            <a:ext cx="73152" cy="73152"/>
          </a:xfrm>
          <a:prstGeom prst="ellipse">
            <a:avLst/>
          </a:prstGeom>
          <a:solidFill>
            <a:srgbClr val="E6115E"/>
          </a:solidFill>
          <a:ln w="12700">
            <a:solidFill>
              <a:srgbClr val="E6115E"/>
            </a:solidFill>
            <a:prstDash val="solid"/>
          </a:ln>
        </p:spPr>
      </p:sp>
      <p:sp>
        <p:nvSpPr>
          <p:cNvPr id="208" name="Shape 206"/>
          <p:cNvSpPr/>
          <p:nvPr/>
        </p:nvSpPr>
        <p:spPr>
          <a:xfrm>
            <a:off x="10501884" y="2003425"/>
            <a:ext cx="73152" cy="73152"/>
          </a:xfrm>
          <a:prstGeom prst="ellipse">
            <a:avLst/>
          </a:prstGeom>
          <a:solidFill>
            <a:srgbClr val="E6115E"/>
          </a:solidFill>
          <a:ln w="12700">
            <a:solidFill>
              <a:srgbClr val="E6115E"/>
            </a:solidFill>
            <a:prstDash val="solid"/>
          </a:ln>
        </p:spPr>
      </p:sp>
      <p:sp>
        <p:nvSpPr>
          <p:cNvPr id="209" name="Shape 207"/>
          <p:cNvSpPr/>
          <p:nvPr/>
        </p:nvSpPr>
        <p:spPr>
          <a:xfrm>
            <a:off x="10680954" y="2158282"/>
            <a:ext cx="73152" cy="73152"/>
          </a:xfrm>
          <a:prstGeom prst="ellipse">
            <a:avLst/>
          </a:prstGeom>
          <a:solidFill>
            <a:srgbClr val="E6115E"/>
          </a:solidFill>
          <a:ln w="12700">
            <a:solidFill>
              <a:srgbClr val="E6115E"/>
            </a:solidFill>
            <a:prstDash val="solid"/>
          </a:ln>
        </p:spPr>
      </p:sp>
      <p:sp>
        <p:nvSpPr>
          <p:cNvPr id="210" name="Shape 208"/>
          <p:cNvSpPr/>
          <p:nvPr/>
        </p:nvSpPr>
        <p:spPr>
          <a:xfrm>
            <a:off x="10860024" y="2352548"/>
            <a:ext cx="73152" cy="73152"/>
          </a:xfrm>
          <a:prstGeom prst="ellipse">
            <a:avLst/>
          </a:prstGeom>
          <a:solidFill>
            <a:srgbClr val="E6115E"/>
          </a:solidFill>
          <a:ln w="12700">
            <a:solidFill>
              <a:srgbClr val="E6115E"/>
            </a:solidFill>
            <a:prstDash val="solid"/>
          </a:ln>
        </p:spPr>
      </p:sp>
      <p:sp>
        <p:nvSpPr>
          <p:cNvPr id="211" name="Shape 209"/>
          <p:cNvSpPr/>
          <p:nvPr/>
        </p:nvSpPr>
        <p:spPr>
          <a:xfrm>
            <a:off x="11039094" y="2568737"/>
            <a:ext cx="73152" cy="73152"/>
          </a:xfrm>
          <a:prstGeom prst="ellipse">
            <a:avLst/>
          </a:prstGeom>
          <a:solidFill>
            <a:srgbClr val="E6115E"/>
          </a:solidFill>
          <a:ln w="12700">
            <a:solidFill>
              <a:srgbClr val="E6115E"/>
            </a:solidFill>
            <a:prstDash val="solid"/>
          </a:ln>
        </p:spPr>
      </p:sp>
      <p:sp>
        <p:nvSpPr>
          <p:cNvPr id="212" name="Shape 210"/>
          <p:cNvSpPr/>
          <p:nvPr/>
        </p:nvSpPr>
        <p:spPr>
          <a:xfrm>
            <a:off x="11218164" y="2777182"/>
            <a:ext cx="73152" cy="73152"/>
          </a:xfrm>
          <a:prstGeom prst="ellipse">
            <a:avLst/>
          </a:prstGeom>
          <a:solidFill>
            <a:srgbClr val="E6115E"/>
          </a:solidFill>
          <a:ln w="12700">
            <a:solidFill>
              <a:srgbClr val="E6115E"/>
            </a:solidFill>
            <a:prstDash val="solid"/>
          </a:ln>
        </p:spPr>
      </p:sp>
      <p:sp>
        <p:nvSpPr>
          <p:cNvPr id="213" name="Shape 211"/>
          <p:cNvSpPr/>
          <p:nvPr/>
        </p:nvSpPr>
        <p:spPr>
          <a:xfrm>
            <a:off x="11397234" y="2951200"/>
            <a:ext cx="73152" cy="73152"/>
          </a:xfrm>
          <a:prstGeom prst="ellipse">
            <a:avLst/>
          </a:prstGeom>
          <a:solidFill>
            <a:srgbClr val="E6115E"/>
          </a:solidFill>
          <a:ln w="12700">
            <a:solidFill>
              <a:srgbClr val="E6115E"/>
            </a:solidFill>
            <a:prstDash val="solid"/>
          </a:ln>
        </p:spPr>
      </p:sp>
      <p:sp>
        <p:nvSpPr>
          <p:cNvPr id="214" name="Shape 212"/>
          <p:cNvSpPr/>
          <p:nvPr/>
        </p:nvSpPr>
        <p:spPr>
          <a:xfrm>
            <a:off x="11576304" y="3079372"/>
            <a:ext cx="73152" cy="73152"/>
          </a:xfrm>
          <a:prstGeom prst="ellipse">
            <a:avLst/>
          </a:prstGeom>
          <a:solidFill>
            <a:srgbClr val="E6115E"/>
          </a:solidFill>
          <a:ln w="12700">
            <a:solidFill>
              <a:srgbClr val="E6115E"/>
            </a:solidFill>
            <a:prstDash val="solid"/>
          </a:ln>
        </p:spPr>
      </p:sp>
      <p:sp>
        <p:nvSpPr>
          <p:cNvPr id="215" name="Shape 213"/>
          <p:cNvSpPr/>
          <p:nvPr/>
        </p:nvSpPr>
        <p:spPr>
          <a:xfrm>
            <a:off x="7292340" y="3736848"/>
            <a:ext cx="45720" cy="45720"/>
          </a:xfrm>
          <a:prstGeom prst="ellipse">
            <a:avLst/>
          </a:prstGeom>
          <a:solidFill>
            <a:srgbClr val="3A5694"/>
          </a:solidFill>
          <a:ln w="12700">
            <a:solidFill>
              <a:srgbClr val="3A5694"/>
            </a:solidFill>
            <a:prstDash val="solid"/>
          </a:ln>
        </p:spPr>
      </p:sp>
      <p:sp>
        <p:nvSpPr>
          <p:cNvPr id="216" name="Shape 214"/>
          <p:cNvSpPr/>
          <p:nvPr/>
        </p:nvSpPr>
        <p:spPr>
          <a:xfrm>
            <a:off x="7471410" y="3736909"/>
            <a:ext cx="45720" cy="45720"/>
          </a:xfrm>
          <a:prstGeom prst="ellipse">
            <a:avLst/>
          </a:prstGeom>
          <a:solidFill>
            <a:srgbClr val="3A5694"/>
          </a:solidFill>
          <a:ln w="12700">
            <a:solidFill>
              <a:srgbClr val="3A5694"/>
            </a:solidFill>
            <a:prstDash val="solid"/>
          </a:ln>
        </p:spPr>
      </p:sp>
      <p:sp>
        <p:nvSpPr>
          <p:cNvPr id="217" name="Shape 215"/>
          <p:cNvSpPr/>
          <p:nvPr/>
        </p:nvSpPr>
        <p:spPr>
          <a:xfrm>
            <a:off x="7650480" y="3737017"/>
            <a:ext cx="45720" cy="45720"/>
          </a:xfrm>
          <a:prstGeom prst="ellipse">
            <a:avLst/>
          </a:prstGeom>
          <a:solidFill>
            <a:srgbClr val="3A5694"/>
          </a:solidFill>
          <a:ln w="12700">
            <a:solidFill>
              <a:srgbClr val="3A5694"/>
            </a:solidFill>
            <a:prstDash val="solid"/>
          </a:ln>
        </p:spPr>
      </p:sp>
      <p:sp>
        <p:nvSpPr>
          <p:cNvPr id="218" name="Shape 216"/>
          <p:cNvSpPr/>
          <p:nvPr/>
        </p:nvSpPr>
        <p:spPr>
          <a:xfrm>
            <a:off x="7829550" y="3737211"/>
            <a:ext cx="45720" cy="45720"/>
          </a:xfrm>
          <a:prstGeom prst="ellipse">
            <a:avLst/>
          </a:prstGeom>
          <a:solidFill>
            <a:srgbClr val="3A5694"/>
          </a:solidFill>
          <a:ln w="12700">
            <a:solidFill>
              <a:srgbClr val="3A5694"/>
            </a:solidFill>
            <a:prstDash val="solid"/>
          </a:ln>
        </p:spPr>
      </p:sp>
      <p:sp>
        <p:nvSpPr>
          <p:cNvPr id="219" name="Shape 217"/>
          <p:cNvSpPr/>
          <p:nvPr/>
        </p:nvSpPr>
        <p:spPr>
          <a:xfrm>
            <a:off x="8008620" y="3737553"/>
            <a:ext cx="45720" cy="45720"/>
          </a:xfrm>
          <a:prstGeom prst="ellipse">
            <a:avLst/>
          </a:prstGeom>
          <a:solidFill>
            <a:srgbClr val="3A5694"/>
          </a:solidFill>
          <a:ln w="12700">
            <a:solidFill>
              <a:srgbClr val="3A5694"/>
            </a:solidFill>
            <a:prstDash val="solid"/>
          </a:ln>
        </p:spPr>
      </p:sp>
      <p:sp>
        <p:nvSpPr>
          <p:cNvPr id="220" name="Shape 218"/>
          <p:cNvSpPr/>
          <p:nvPr/>
        </p:nvSpPr>
        <p:spPr>
          <a:xfrm>
            <a:off x="8187690" y="3738161"/>
            <a:ext cx="45720" cy="45720"/>
          </a:xfrm>
          <a:prstGeom prst="ellipse">
            <a:avLst/>
          </a:prstGeom>
          <a:solidFill>
            <a:srgbClr val="3A5694"/>
          </a:solidFill>
          <a:ln w="12700">
            <a:solidFill>
              <a:srgbClr val="3A5694"/>
            </a:solidFill>
            <a:prstDash val="solid"/>
          </a:ln>
        </p:spPr>
      </p:sp>
      <p:sp>
        <p:nvSpPr>
          <p:cNvPr id="221" name="Shape 219"/>
          <p:cNvSpPr/>
          <p:nvPr/>
        </p:nvSpPr>
        <p:spPr>
          <a:xfrm>
            <a:off x="8366760" y="3739235"/>
            <a:ext cx="45720" cy="45720"/>
          </a:xfrm>
          <a:prstGeom prst="ellipse">
            <a:avLst/>
          </a:prstGeom>
          <a:solidFill>
            <a:srgbClr val="3A5694"/>
          </a:solidFill>
          <a:ln w="12700">
            <a:solidFill>
              <a:srgbClr val="3A5694"/>
            </a:solidFill>
            <a:prstDash val="solid"/>
          </a:ln>
        </p:spPr>
      </p:sp>
      <p:sp>
        <p:nvSpPr>
          <p:cNvPr id="222" name="Shape 220"/>
          <p:cNvSpPr/>
          <p:nvPr/>
        </p:nvSpPr>
        <p:spPr>
          <a:xfrm>
            <a:off x="8545830" y="3741126"/>
            <a:ext cx="45720" cy="45720"/>
          </a:xfrm>
          <a:prstGeom prst="ellipse">
            <a:avLst/>
          </a:prstGeom>
          <a:solidFill>
            <a:srgbClr val="3A5694"/>
          </a:solidFill>
          <a:ln w="12700">
            <a:solidFill>
              <a:srgbClr val="3A5694"/>
            </a:solidFill>
            <a:prstDash val="solid"/>
          </a:ln>
        </p:spPr>
      </p:sp>
      <p:sp>
        <p:nvSpPr>
          <p:cNvPr id="223" name="Shape 221"/>
          <p:cNvSpPr/>
          <p:nvPr/>
        </p:nvSpPr>
        <p:spPr>
          <a:xfrm>
            <a:off x="8724900" y="3744430"/>
            <a:ext cx="45720" cy="45720"/>
          </a:xfrm>
          <a:prstGeom prst="ellipse">
            <a:avLst/>
          </a:prstGeom>
          <a:solidFill>
            <a:srgbClr val="3A5694"/>
          </a:solidFill>
          <a:ln w="12700">
            <a:solidFill>
              <a:srgbClr val="3A5694"/>
            </a:solidFill>
            <a:prstDash val="solid"/>
          </a:ln>
        </p:spPr>
      </p:sp>
      <p:sp>
        <p:nvSpPr>
          <p:cNvPr id="224" name="Shape 222"/>
          <p:cNvSpPr/>
          <p:nvPr/>
        </p:nvSpPr>
        <p:spPr>
          <a:xfrm>
            <a:off x="8903970" y="3750124"/>
            <a:ext cx="45720" cy="45720"/>
          </a:xfrm>
          <a:prstGeom prst="ellipse">
            <a:avLst/>
          </a:prstGeom>
          <a:solidFill>
            <a:srgbClr val="3A5694"/>
          </a:solidFill>
          <a:ln w="12700">
            <a:solidFill>
              <a:srgbClr val="3A5694"/>
            </a:solidFill>
            <a:prstDash val="solid"/>
          </a:ln>
        </p:spPr>
      </p:sp>
      <p:sp>
        <p:nvSpPr>
          <p:cNvPr id="225" name="Shape 223"/>
          <p:cNvSpPr/>
          <p:nvPr/>
        </p:nvSpPr>
        <p:spPr>
          <a:xfrm>
            <a:off x="9083040" y="3759712"/>
            <a:ext cx="45720" cy="45720"/>
          </a:xfrm>
          <a:prstGeom prst="ellipse">
            <a:avLst/>
          </a:prstGeom>
          <a:solidFill>
            <a:srgbClr val="3A5694"/>
          </a:solidFill>
          <a:ln w="12700">
            <a:solidFill>
              <a:srgbClr val="3A5694"/>
            </a:solidFill>
            <a:prstDash val="solid"/>
          </a:ln>
        </p:spPr>
      </p:sp>
      <p:sp>
        <p:nvSpPr>
          <p:cNvPr id="226" name="Shape 224"/>
          <p:cNvSpPr/>
          <p:nvPr/>
        </p:nvSpPr>
        <p:spPr>
          <a:xfrm>
            <a:off x="9262110" y="3775251"/>
            <a:ext cx="45720" cy="45720"/>
          </a:xfrm>
          <a:prstGeom prst="ellipse">
            <a:avLst/>
          </a:prstGeom>
          <a:solidFill>
            <a:srgbClr val="3A5694"/>
          </a:solidFill>
          <a:ln w="12700">
            <a:solidFill>
              <a:srgbClr val="3A5694"/>
            </a:solidFill>
            <a:prstDash val="solid"/>
          </a:ln>
        </p:spPr>
      </p:sp>
      <p:sp>
        <p:nvSpPr>
          <p:cNvPr id="227" name="Shape 225"/>
          <p:cNvSpPr/>
          <p:nvPr/>
        </p:nvSpPr>
        <p:spPr>
          <a:xfrm>
            <a:off x="9441180" y="3798919"/>
            <a:ext cx="45720" cy="45720"/>
          </a:xfrm>
          <a:prstGeom prst="ellipse">
            <a:avLst/>
          </a:prstGeom>
          <a:solidFill>
            <a:srgbClr val="3A5694"/>
          </a:solidFill>
          <a:ln w="12700">
            <a:solidFill>
              <a:srgbClr val="3A5694"/>
            </a:solidFill>
            <a:prstDash val="solid"/>
          </a:ln>
        </p:spPr>
      </p:sp>
      <p:sp>
        <p:nvSpPr>
          <p:cNvPr id="228" name="Shape 226"/>
          <p:cNvSpPr/>
          <p:nvPr/>
        </p:nvSpPr>
        <p:spPr>
          <a:xfrm>
            <a:off x="9620250" y="3831740"/>
            <a:ext cx="45720" cy="45720"/>
          </a:xfrm>
          <a:prstGeom prst="ellipse">
            <a:avLst/>
          </a:prstGeom>
          <a:solidFill>
            <a:srgbClr val="3A5694"/>
          </a:solidFill>
          <a:ln w="12700">
            <a:solidFill>
              <a:srgbClr val="3A5694"/>
            </a:solidFill>
            <a:prstDash val="solid"/>
          </a:ln>
        </p:spPr>
      </p:sp>
      <p:sp>
        <p:nvSpPr>
          <p:cNvPr id="229" name="Shape 227"/>
          <p:cNvSpPr/>
          <p:nvPr/>
        </p:nvSpPr>
        <p:spPr>
          <a:xfrm>
            <a:off x="9799320" y="3871550"/>
            <a:ext cx="45720" cy="45720"/>
          </a:xfrm>
          <a:prstGeom prst="ellipse">
            <a:avLst/>
          </a:prstGeom>
          <a:solidFill>
            <a:srgbClr val="3A5694"/>
          </a:solidFill>
          <a:ln w="12700">
            <a:solidFill>
              <a:srgbClr val="3A5694"/>
            </a:solidFill>
            <a:prstDash val="solid"/>
          </a:ln>
        </p:spPr>
      </p:sp>
      <p:sp>
        <p:nvSpPr>
          <p:cNvPr id="230" name="Shape 228"/>
          <p:cNvSpPr/>
          <p:nvPr/>
        </p:nvSpPr>
        <p:spPr>
          <a:xfrm>
            <a:off x="9978390" y="3911762"/>
            <a:ext cx="45720" cy="45720"/>
          </a:xfrm>
          <a:prstGeom prst="ellipse">
            <a:avLst/>
          </a:prstGeom>
          <a:solidFill>
            <a:srgbClr val="3A5694"/>
          </a:solidFill>
          <a:ln w="12700">
            <a:solidFill>
              <a:srgbClr val="3A5694"/>
            </a:solidFill>
            <a:prstDash val="solid"/>
          </a:ln>
        </p:spPr>
      </p:sp>
      <p:sp>
        <p:nvSpPr>
          <p:cNvPr id="231" name="Shape 229"/>
          <p:cNvSpPr/>
          <p:nvPr/>
        </p:nvSpPr>
        <p:spPr>
          <a:xfrm>
            <a:off x="10157460" y="3942791"/>
            <a:ext cx="45720" cy="45720"/>
          </a:xfrm>
          <a:prstGeom prst="ellipse">
            <a:avLst/>
          </a:prstGeom>
          <a:solidFill>
            <a:srgbClr val="3A5694"/>
          </a:solidFill>
          <a:ln w="12700">
            <a:solidFill>
              <a:srgbClr val="3A5694"/>
            </a:solidFill>
            <a:prstDash val="solid"/>
          </a:ln>
        </p:spPr>
      </p:sp>
      <p:sp>
        <p:nvSpPr>
          <p:cNvPr id="232" name="Shape 230"/>
          <p:cNvSpPr/>
          <p:nvPr/>
        </p:nvSpPr>
        <p:spPr>
          <a:xfrm>
            <a:off x="10336530" y="3955495"/>
            <a:ext cx="45720" cy="45720"/>
          </a:xfrm>
          <a:prstGeom prst="ellipse">
            <a:avLst/>
          </a:prstGeom>
          <a:solidFill>
            <a:srgbClr val="3A5694"/>
          </a:solidFill>
          <a:ln w="12700">
            <a:solidFill>
              <a:srgbClr val="3A5694"/>
            </a:solidFill>
            <a:prstDash val="solid"/>
          </a:ln>
        </p:spPr>
      </p:sp>
      <p:sp>
        <p:nvSpPr>
          <p:cNvPr id="233" name="Shape 231"/>
          <p:cNvSpPr/>
          <p:nvPr/>
        </p:nvSpPr>
        <p:spPr>
          <a:xfrm>
            <a:off x="10515600" y="3943546"/>
            <a:ext cx="45720" cy="45720"/>
          </a:xfrm>
          <a:prstGeom prst="ellipse">
            <a:avLst/>
          </a:prstGeom>
          <a:solidFill>
            <a:srgbClr val="3A5694"/>
          </a:solidFill>
          <a:ln w="12700">
            <a:solidFill>
              <a:srgbClr val="3A5694"/>
            </a:solidFill>
            <a:prstDash val="solid"/>
          </a:ln>
        </p:spPr>
      </p:sp>
      <p:sp>
        <p:nvSpPr>
          <p:cNvPr id="234" name="Shape 232"/>
          <p:cNvSpPr/>
          <p:nvPr/>
        </p:nvSpPr>
        <p:spPr>
          <a:xfrm>
            <a:off x="10694670" y="3903295"/>
            <a:ext cx="45720" cy="45720"/>
          </a:xfrm>
          <a:prstGeom prst="ellipse">
            <a:avLst/>
          </a:prstGeom>
          <a:solidFill>
            <a:srgbClr val="3A5694"/>
          </a:solidFill>
          <a:ln w="12700">
            <a:solidFill>
              <a:srgbClr val="3A5694"/>
            </a:solidFill>
            <a:prstDash val="solid"/>
          </a:ln>
        </p:spPr>
      </p:sp>
      <p:sp>
        <p:nvSpPr>
          <p:cNvPr id="235" name="Shape 233"/>
          <p:cNvSpPr/>
          <p:nvPr/>
        </p:nvSpPr>
        <p:spPr>
          <a:xfrm>
            <a:off x="10873740" y="3833658"/>
            <a:ext cx="45720" cy="45720"/>
          </a:xfrm>
          <a:prstGeom prst="ellipse">
            <a:avLst/>
          </a:prstGeom>
          <a:solidFill>
            <a:srgbClr val="3A5694"/>
          </a:solidFill>
          <a:ln w="12700">
            <a:solidFill>
              <a:srgbClr val="3A5694"/>
            </a:solidFill>
            <a:prstDash val="solid"/>
          </a:ln>
        </p:spPr>
      </p:sp>
      <p:sp>
        <p:nvSpPr>
          <p:cNvPr id="236" name="Shape 234"/>
          <p:cNvSpPr/>
          <p:nvPr/>
        </p:nvSpPr>
        <p:spPr>
          <a:xfrm>
            <a:off x="11052810" y="3739184"/>
            <a:ext cx="45720" cy="45720"/>
          </a:xfrm>
          <a:prstGeom prst="ellipse">
            <a:avLst/>
          </a:prstGeom>
          <a:solidFill>
            <a:srgbClr val="3A5694"/>
          </a:solidFill>
          <a:ln w="12700">
            <a:solidFill>
              <a:srgbClr val="3A5694"/>
            </a:solidFill>
            <a:prstDash val="solid"/>
          </a:ln>
        </p:spPr>
      </p:sp>
      <p:sp>
        <p:nvSpPr>
          <p:cNvPr id="237" name="Shape 235"/>
          <p:cNvSpPr/>
          <p:nvPr/>
        </p:nvSpPr>
        <p:spPr>
          <a:xfrm>
            <a:off x="11231880" y="3633204"/>
            <a:ext cx="45720" cy="45720"/>
          </a:xfrm>
          <a:prstGeom prst="ellipse">
            <a:avLst/>
          </a:prstGeom>
          <a:solidFill>
            <a:srgbClr val="3A5694"/>
          </a:solidFill>
          <a:ln w="12700">
            <a:solidFill>
              <a:srgbClr val="3A5694"/>
            </a:solidFill>
            <a:prstDash val="solid"/>
          </a:ln>
        </p:spPr>
      </p:sp>
      <p:sp>
        <p:nvSpPr>
          <p:cNvPr id="238" name="Shape 236"/>
          <p:cNvSpPr/>
          <p:nvPr/>
        </p:nvSpPr>
        <p:spPr>
          <a:xfrm>
            <a:off x="11410950" y="3533784"/>
            <a:ext cx="45720" cy="45720"/>
          </a:xfrm>
          <a:prstGeom prst="ellipse">
            <a:avLst/>
          </a:prstGeom>
          <a:solidFill>
            <a:srgbClr val="3A5694"/>
          </a:solidFill>
          <a:ln w="12700">
            <a:solidFill>
              <a:srgbClr val="3A5694"/>
            </a:solidFill>
            <a:prstDash val="solid"/>
          </a:ln>
        </p:spPr>
      </p:sp>
      <p:sp>
        <p:nvSpPr>
          <p:cNvPr id="239" name="Shape 237"/>
          <p:cNvSpPr/>
          <p:nvPr/>
        </p:nvSpPr>
        <p:spPr>
          <a:xfrm>
            <a:off x="11590020" y="3454149"/>
            <a:ext cx="45720" cy="45720"/>
          </a:xfrm>
          <a:prstGeom prst="ellipse">
            <a:avLst/>
          </a:prstGeom>
          <a:solidFill>
            <a:srgbClr val="3A5694"/>
          </a:solidFill>
          <a:ln w="12700">
            <a:solidFill>
              <a:srgbClr val="3A5694"/>
            </a:solidFill>
            <a:prstDash val="solid"/>
          </a:ln>
        </p:spPr>
      </p:sp>
      <p:sp>
        <p:nvSpPr>
          <p:cNvPr id="240" name="Shape 238"/>
          <p:cNvSpPr/>
          <p:nvPr/>
        </p:nvSpPr>
        <p:spPr>
          <a:xfrm>
            <a:off x="7292340" y="3253388"/>
            <a:ext cx="45720" cy="45720"/>
          </a:xfrm>
          <a:prstGeom prst="ellipse">
            <a:avLst/>
          </a:prstGeom>
          <a:solidFill>
            <a:srgbClr val="3A5694"/>
          </a:solidFill>
          <a:ln w="12700">
            <a:solidFill>
              <a:srgbClr val="3A5694"/>
            </a:solidFill>
            <a:prstDash val="solid"/>
          </a:ln>
        </p:spPr>
      </p:sp>
      <p:sp>
        <p:nvSpPr>
          <p:cNvPr id="241" name="Shape 239"/>
          <p:cNvSpPr/>
          <p:nvPr/>
        </p:nvSpPr>
        <p:spPr>
          <a:xfrm>
            <a:off x="7471410" y="3253387"/>
            <a:ext cx="45720" cy="45720"/>
          </a:xfrm>
          <a:prstGeom prst="ellipse">
            <a:avLst/>
          </a:prstGeom>
          <a:solidFill>
            <a:srgbClr val="3A5694"/>
          </a:solidFill>
          <a:ln w="12700">
            <a:solidFill>
              <a:srgbClr val="3A5694"/>
            </a:solidFill>
            <a:prstDash val="solid"/>
          </a:ln>
        </p:spPr>
      </p:sp>
      <p:sp>
        <p:nvSpPr>
          <p:cNvPr id="242" name="Shape 240"/>
          <p:cNvSpPr/>
          <p:nvPr/>
        </p:nvSpPr>
        <p:spPr>
          <a:xfrm>
            <a:off x="7650480" y="3253385"/>
            <a:ext cx="45720" cy="45720"/>
          </a:xfrm>
          <a:prstGeom prst="ellipse">
            <a:avLst/>
          </a:prstGeom>
          <a:solidFill>
            <a:srgbClr val="3A5694"/>
          </a:solidFill>
          <a:ln w="12700">
            <a:solidFill>
              <a:srgbClr val="3A5694"/>
            </a:solidFill>
            <a:prstDash val="solid"/>
          </a:ln>
        </p:spPr>
      </p:sp>
      <p:sp>
        <p:nvSpPr>
          <p:cNvPr id="243" name="Shape 241"/>
          <p:cNvSpPr/>
          <p:nvPr/>
        </p:nvSpPr>
        <p:spPr>
          <a:xfrm>
            <a:off x="7829550" y="3253382"/>
            <a:ext cx="45720" cy="45720"/>
          </a:xfrm>
          <a:prstGeom prst="ellipse">
            <a:avLst/>
          </a:prstGeom>
          <a:solidFill>
            <a:srgbClr val="3A5694"/>
          </a:solidFill>
          <a:ln w="12700">
            <a:solidFill>
              <a:srgbClr val="3A5694"/>
            </a:solidFill>
            <a:prstDash val="solid"/>
          </a:ln>
        </p:spPr>
      </p:sp>
      <p:sp>
        <p:nvSpPr>
          <p:cNvPr id="244" name="Shape 242"/>
          <p:cNvSpPr/>
          <p:nvPr/>
        </p:nvSpPr>
        <p:spPr>
          <a:xfrm>
            <a:off x="8008620" y="3253376"/>
            <a:ext cx="45720" cy="45720"/>
          </a:xfrm>
          <a:prstGeom prst="ellipse">
            <a:avLst/>
          </a:prstGeom>
          <a:solidFill>
            <a:srgbClr val="3A5694"/>
          </a:solidFill>
          <a:ln w="12700">
            <a:solidFill>
              <a:srgbClr val="3A5694"/>
            </a:solidFill>
            <a:prstDash val="solid"/>
          </a:ln>
        </p:spPr>
      </p:sp>
      <p:sp>
        <p:nvSpPr>
          <p:cNvPr id="245" name="Shape 243"/>
          <p:cNvSpPr/>
          <p:nvPr/>
        </p:nvSpPr>
        <p:spPr>
          <a:xfrm>
            <a:off x="8187690" y="3253365"/>
            <a:ext cx="45720" cy="45720"/>
          </a:xfrm>
          <a:prstGeom prst="ellipse">
            <a:avLst/>
          </a:prstGeom>
          <a:solidFill>
            <a:srgbClr val="3A5694"/>
          </a:solidFill>
          <a:ln w="12700">
            <a:solidFill>
              <a:srgbClr val="3A5694"/>
            </a:solidFill>
            <a:prstDash val="solid"/>
          </a:ln>
        </p:spPr>
      </p:sp>
      <p:sp>
        <p:nvSpPr>
          <p:cNvPr id="246" name="Shape 244"/>
          <p:cNvSpPr/>
          <p:nvPr/>
        </p:nvSpPr>
        <p:spPr>
          <a:xfrm>
            <a:off x="8366760" y="3253346"/>
            <a:ext cx="45720" cy="45720"/>
          </a:xfrm>
          <a:prstGeom prst="ellipse">
            <a:avLst/>
          </a:prstGeom>
          <a:solidFill>
            <a:srgbClr val="3A5694"/>
          </a:solidFill>
          <a:ln w="12700">
            <a:solidFill>
              <a:srgbClr val="3A5694"/>
            </a:solidFill>
            <a:prstDash val="solid"/>
          </a:ln>
        </p:spPr>
      </p:sp>
      <p:sp>
        <p:nvSpPr>
          <p:cNvPr id="247" name="Shape 245"/>
          <p:cNvSpPr/>
          <p:nvPr/>
        </p:nvSpPr>
        <p:spPr>
          <a:xfrm>
            <a:off x="8545830" y="3253313"/>
            <a:ext cx="45720" cy="45720"/>
          </a:xfrm>
          <a:prstGeom prst="ellipse">
            <a:avLst/>
          </a:prstGeom>
          <a:solidFill>
            <a:srgbClr val="3A5694"/>
          </a:solidFill>
          <a:ln w="12700">
            <a:solidFill>
              <a:srgbClr val="3A5694"/>
            </a:solidFill>
            <a:prstDash val="solid"/>
          </a:ln>
        </p:spPr>
      </p:sp>
      <p:sp>
        <p:nvSpPr>
          <p:cNvPr id="248" name="Shape 246"/>
          <p:cNvSpPr/>
          <p:nvPr/>
        </p:nvSpPr>
        <p:spPr>
          <a:xfrm>
            <a:off x="8724900" y="3253256"/>
            <a:ext cx="45720" cy="45720"/>
          </a:xfrm>
          <a:prstGeom prst="ellipse">
            <a:avLst/>
          </a:prstGeom>
          <a:solidFill>
            <a:srgbClr val="3A5694"/>
          </a:solidFill>
          <a:ln w="12700">
            <a:solidFill>
              <a:srgbClr val="3A5694"/>
            </a:solidFill>
            <a:prstDash val="solid"/>
          </a:ln>
        </p:spPr>
      </p:sp>
      <p:sp>
        <p:nvSpPr>
          <p:cNvPr id="249" name="Shape 247"/>
          <p:cNvSpPr/>
          <p:nvPr/>
        </p:nvSpPr>
        <p:spPr>
          <a:xfrm>
            <a:off x="8903970" y="3253158"/>
            <a:ext cx="45720" cy="45720"/>
          </a:xfrm>
          <a:prstGeom prst="ellipse">
            <a:avLst/>
          </a:prstGeom>
          <a:solidFill>
            <a:srgbClr val="3A5694"/>
          </a:solidFill>
          <a:ln w="12700">
            <a:solidFill>
              <a:srgbClr val="3A5694"/>
            </a:solidFill>
            <a:prstDash val="solid"/>
          </a:ln>
        </p:spPr>
      </p:sp>
      <p:sp>
        <p:nvSpPr>
          <p:cNvPr id="250" name="Shape 248"/>
          <p:cNvSpPr/>
          <p:nvPr/>
        </p:nvSpPr>
        <p:spPr>
          <a:xfrm>
            <a:off x="9083040" y="3252998"/>
            <a:ext cx="45720" cy="45720"/>
          </a:xfrm>
          <a:prstGeom prst="ellipse">
            <a:avLst/>
          </a:prstGeom>
          <a:solidFill>
            <a:srgbClr val="3A5694"/>
          </a:solidFill>
          <a:ln w="12700">
            <a:solidFill>
              <a:srgbClr val="3A5694"/>
            </a:solidFill>
            <a:prstDash val="solid"/>
          </a:ln>
        </p:spPr>
      </p:sp>
      <p:sp>
        <p:nvSpPr>
          <p:cNvPr id="251" name="Shape 249"/>
          <p:cNvSpPr/>
          <p:nvPr/>
        </p:nvSpPr>
        <p:spPr>
          <a:xfrm>
            <a:off x="9262110" y="3252751"/>
            <a:ext cx="45720" cy="45720"/>
          </a:xfrm>
          <a:prstGeom prst="ellipse">
            <a:avLst/>
          </a:prstGeom>
          <a:solidFill>
            <a:srgbClr val="3A5694"/>
          </a:solidFill>
          <a:ln w="12700">
            <a:solidFill>
              <a:srgbClr val="3A5694"/>
            </a:solidFill>
            <a:prstDash val="solid"/>
          </a:ln>
        </p:spPr>
      </p:sp>
      <p:sp>
        <p:nvSpPr>
          <p:cNvPr id="252" name="Shape 250"/>
          <p:cNvSpPr/>
          <p:nvPr/>
        </p:nvSpPr>
        <p:spPr>
          <a:xfrm>
            <a:off x="9441180" y="3252406"/>
            <a:ext cx="45720" cy="45720"/>
          </a:xfrm>
          <a:prstGeom prst="ellipse">
            <a:avLst/>
          </a:prstGeom>
          <a:solidFill>
            <a:srgbClr val="3A5694"/>
          </a:solidFill>
          <a:ln w="12700">
            <a:solidFill>
              <a:srgbClr val="3A5694"/>
            </a:solidFill>
            <a:prstDash val="solid"/>
          </a:ln>
        </p:spPr>
      </p:sp>
      <p:sp>
        <p:nvSpPr>
          <p:cNvPr id="253" name="Shape 251"/>
          <p:cNvSpPr/>
          <p:nvPr/>
        </p:nvSpPr>
        <p:spPr>
          <a:xfrm>
            <a:off x="9620250" y="3252003"/>
            <a:ext cx="45720" cy="45720"/>
          </a:xfrm>
          <a:prstGeom prst="ellipse">
            <a:avLst/>
          </a:prstGeom>
          <a:solidFill>
            <a:srgbClr val="3A5694"/>
          </a:solidFill>
          <a:ln w="12700">
            <a:solidFill>
              <a:srgbClr val="3A5694"/>
            </a:solidFill>
            <a:prstDash val="solid"/>
          </a:ln>
        </p:spPr>
      </p:sp>
      <p:sp>
        <p:nvSpPr>
          <p:cNvPr id="254" name="Shape 252"/>
          <p:cNvSpPr/>
          <p:nvPr/>
        </p:nvSpPr>
        <p:spPr>
          <a:xfrm>
            <a:off x="9799320" y="3251685"/>
            <a:ext cx="45720" cy="45720"/>
          </a:xfrm>
          <a:prstGeom prst="ellipse">
            <a:avLst/>
          </a:prstGeom>
          <a:solidFill>
            <a:srgbClr val="3A5694"/>
          </a:solidFill>
          <a:ln w="12700">
            <a:solidFill>
              <a:srgbClr val="3A5694"/>
            </a:solidFill>
            <a:prstDash val="solid"/>
          </a:ln>
        </p:spPr>
      </p:sp>
      <p:sp>
        <p:nvSpPr>
          <p:cNvPr id="255" name="Shape 253"/>
          <p:cNvSpPr/>
          <p:nvPr/>
        </p:nvSpPr>
        <p:spPr>
          <a:xfrm>
            <a:off x="9978390" y="3251725"/>
            <a:ext cx="45720" cy="45720"/>
          </a:xfrm>
          <a:prstGeom prst="ellipse">
            <a:avLst/>
          </a:prstGeom>
          <a:solidFill>
            <a:srgbClr val="3A5694"/>
          </a:solidFill>
          <a:ln w="12700">
            <a:solidFill>
              <a:srgbClr val="3A5694"/>
            </a:solidFill>
            <a:prstDash val="solid"/>
          </a:ln>
        </p:spPr>
      </p:sp>
      <p:sp>
        <p:nvSpPr>
          <p:cNvPr id="256" name="Shape 254"/>
          <p:cNvSpPr/>
          <p:nvPr/>
        </p:nvSpPr>
        <p:spPr>
          <a:xfrm>
            <a:off x="10157460" y="3252526"/>
            <a:ext cx="45720" cy="45720"/>
          </a:xfrm>
          <a:prstGeom prst="ellipse">
            <a:avLst/>
          </a:prstGeom>
          <a:solidFill>
            <a:srgbClr val="3A5694"/>
          </a:solidFill>
          <a:ln w="12700">
            <a:solidFill>
              <a:srgbClr val="3A5694"/>
            </a:solidFill>
            <a:prstDash val="solid"/>
          </a:ln>
        </p:spPr>
      </p:sp>
      <p:sp>
        <p:nvSpPr>
          <p:cNvPr id="257" name="Shape 255"/>
          <p:cNvSpPr/>
          <p:nvPr/>
        </p:nvSpPr>
        <p:spPr>
          <a:xfrm>
            <a:off x="10336530" y="3254602"/>
            <a:ext cx="45720" cy="45720"/>
          </a:xfrm>
          <a:prstGeom prst="ellipse">
            <a:avLst/>
          </a:prstGeom>
          <a:solidFill>
            <a:srgbClr val="3A5694"/>
          </a:solidFill>
          <a:ln w="12700">
            <a:solidFill>
              <a:srgbClr val="3A5694"/>
            </a:solidFill>
            <a:prstDash val="solid"/>
          </a:ln>
        </p:spPr>
      </p:sp>
      <p:sp>
        <p:nvSpPr>
          <p:cNvPr id="258" name="Shape 256"/>
          <p:cNvSpPr/>
          <p:nvPr/>
        </p:nvSpPr>
        <p:spPr>
          <a:xfrm>
            <a:off x="10515600" y="3258524"/>
            <a:ext cx="45720" cy="45720"/>
          </a:xfrm>
          <a:prstGeom prst="ellipse">
            <a:avLst/>
          </a:prstGeom>
          <a:solidFill>
            <a:srgbClr val="3A5694"/>
          </a:solidFill>
          <a:ln w="12700">
            <a:solidFill>
              <a:srgbClr val="3A5694"/>
            </a:solidFill>
            <a:prstDash val="solid"/>
          </a:ln>
        </p:spPr>
      </p:sp>
      <p:sp>
        <p:nvSpPr>
          <p:cNvPr id="259" name="Shape 257"/>
          <p:cNvSpPr/>
          <p:nvPr/>
        </p:nvSpPr>
        <p:spPr>
          <a:xfrm>
            <a:off x="10694670" y="3264663"/>
            <a:ext cx="45720" cy="45720"/>
          </a:xfrm>
          <a:prstGeom prst="ellipse">
            <a:avLst/>
          </a:prstGeom>
          <a:solidFill>
            <a:srgbClr val="3A5694"/>
          </a:solidFill>
          <a:ln w="12700">
            <a:solidFill>
              <a:srgbClr val="3A5694"/>
            </a:solidFill>
            <a:prstDash val="solid"/>
          </a:ln>
        </p:spPr>
      </p:sp>
      <p:sp>
        <p:nvSpPr>
          <p:cNvPr id="260" name="Shape 258"/>
          <p:cNvSpPr/>
          <p:nvPr/>
        </p:nvSpPr>
        <p:spPr>
          <a:xfrm>
            <a:off x="10873740" y="3272740"/>
            <a:ext cx="45720" cy="45720"/>
          </a:xfrm>
          <a:prstGeom prst="ellipse">
            <a:avLst/>
          </a:prstGeom>
          <a:solidFill>
            <a:srgbClr val="3A5694"/>
          </a:solidFill>
          <a:ln w="12700">
            <a:solidFill>
              <a:srgbClr val="3A5694"/>
            </a:solidFill>
            <a:prstDash val="solid"/>
          </a:ln>
        </p:spPr>
      </p:sp>
      <p:sp>
        <p:nvSpPr>
          <p:cNvPr id="261" name="Shape 259"/>
          <p:cNvSpPr/>
          <p:nvPr/>
        </p:nvSpPr>
        <p:spPr>
          <a:xfrm>
            <a:off x="11052810" y="3281632"/>
            <a:ext cx="45720" cy="45720"/>
          </a:xfrm>
          <a:prstGeom prst="ellipse">
            <a:avLst/>
          </a:prstGeom>
          <a:solidFill>
            <a:srgbClr val="3A5694"/>
          </a:solidFill>
          <a:ln w="12700">
            <a:solidFill>
              <a:srgbClr val="3A5694"/>
            </a:solidFill>
            <a:prstDash val="solid"/>
          </a:ln>
        </p:spPr>
      </p:sp>
      <p:sp>
        <p:nvSpPr>
          <p:cNvPr id="262" name="Shape 260"/>
          <p:cNvSpPr/>
          <p:nvPr/>
        </p:nvSpPr>
        <p:spPr>
          <a:xfrm>
            <a:off x="11231880" y="3289849"/>
            <a:ext cx="45720" cy="45720"/>
          </a:xfrm>
          <a:prstGeom prst="ellipse">
            <a:avLst/>
          </a:prstGeom>
          <a:solidFill>
            <a:srgbClr val="3A5694"/>
          </a:solidFill>
          <a:ln w="12700">
            <a:solidFill>
              <a:srgbClr val="3A5694"/>
            </a:solidFill>
            <a:prstDash val="solid"/>
          </a:ln>
        </p:spPr>
      </p:sp>
      <p:sp>
        <p:nvSpPr>
          <p:cNvPr id="263" name="Shape 261"/>
          <p:cNvSpPr/>
          <p:nvPr/>
        </p:nvSpPr>
        <p:spPr>
          <a:xfrm>
            <a:off x="11410950" y="3296360"/>
            <a:ext cx="45720" cy="45720"/>
          </a:xfrm>
          <a:prstGeom prst="ellipse">
            <a:avLst/>
          </a:prstGeom>
          <a:solidFill>
            <a:srgbClr val="3A5694"/>
          </a:solidFill>
          <a:ln w="12700">
            <a:solidFill>
              <a:srgbClr val="3A5694"/>
            </a:solidFill>
            <a:prstDash val="solid"/>
          </a:ln>
        </p:spPr>
      </p:sp>
      <p:sp>
        <p:nvSpPr>
          <p:cNvPr id="264" name="Shape 262"/>
          <p:cNvSpPr/>
          <p:nvPr/>
        </p:nvSpPr>
        <p:spPr>
          <a:xfrm>
            <a:off x="11590020" y="3300934"/>
            <a:ext cx="45720" cy="45720"/>
          </a:xfrm>
          <a:prstGeom prst="ellipse">
            <a:avLst/>
          </a:prstGeom>
          <a:solidFill>
            <a:srgbClr val="3A5694"/>
          </a:solidFill>
          <a:ln w="12700">
            <a:solidFill>
              <a:srgbClr val="3A5694"/>
            </a:solidFill>
            <a:prstDash val="solid"/>
          </a:ln>
        </p:spPr>
      </p:sp>
      <p:sp>
        <p:nvSpPr>
          <p:cNvPr id="265" name="Shape 263"/>
          <p:cNvSpPr/>
          <p:nvPr/>
        </p:nvSpPr>
        <p:spPr>
          <a:xfrm>
            <a:off x="7292340" y="3348091"/>
            <a:ext cx="45720" cy="45720"/>
          </a:xfrm>
          <a:prstGeom prst="ellipse">
            <a:avLst/>
          </a:prstGeom>
          <a:solidFill>
            <a:srgbClr val="3A5694"/>
          </a:solidFill>
          <a:ln w="12700">
            <a:solidFill>
              <a:srgbClr val="3A5694"/>
            </a:solidFill>
            <a:prstDash val="solid"/>
          </a:ln>
        </p:spPr>
      </p:sp>
      <p:sp>
        <p:nvSpPr>
          <p:cNvPr id="266" name="Shape 264"/>
          <p:cNvSpPr/>
          <p:nvPr/>
        </p:nvSpPr>
        <p:spPr>
          <a:xfrm>
            <a:off x="7471410" y="3348081"/>
            <a:ext cx="45720" cy="45720"/>
          </a:xfrm>
          <a:prstGeom prst="ellipse">
            <a:avLst/>
          </a:prstGeom>
          <a:solidFill>
            <a:srgbClr val="3A5694"/>
          </a:solidFill>
          <a:ln w="12700">
            <a:solidFill>
              <a:srgbClr val="3A5694"/>
            </a:solidFill>
            <a:prstDash val="solid"/>
          </a:ln>
        </p:spPr>
      </p:sp>
      <p:sp>
        <p:nvSpPr>
          <p:cNvPr id="267" name="Shape 265"/>
          <p:cNvSpPr/>
          <p:nvPr/>
        </p:nvSpPr>
        <p:spPr>
          <a:xfrm>
            <a:off x="7650480" y="3348062"/>
            <a:ext cx="45720" cy="45720"/>
          </a:xfrm>
          <a:prstGeom prst="ellipse">
            <a:avLst/>
          </a:prstGeom>
          <a:solidFill>
            <a:srgbClr val="3A5694"/>
          </a:solidFill>
          <a:ln w="12700">
            <a:solidFill>
              <a:srgbClr val="3A5694"/>
            </a:solidFill>
            <a:prstDash val="solid"/>
          </a:ln>
        </p:spPr>
      </p:sp>
      <p:sp>
        <p:nvSpPr>
          <p:cNvPr id="268" name="Shape 266"/>
          <p:cNvSpPr/>
          <p:nvPr/>
        </p:nvSpPr>
        <p:spPr>
          <a:xfrm>
            <a:off x="7829550" y="3348029"/>
            <a:ext cx="45720" cy="45720"/>
          </a:xfrm>
          <a:prstGeom prst="ellipse">
            <a:avLst/>
          </a:prstGeom>
          <a:solidFill>
            <a:srgbClr val="3A5694"/>
          </a:solidFill>
          <a:ln w="12700">
            <a:solidFill>
              <a:srgbClr val="3A5694"/>
            </a:solidFill>
            <a:prstDash val="solid"/>
          </a:ln>
        </p:spPr>
      </p:sp>
      <p:sp>
        <p:nvSpPr>
          <p:cNvPr id="269" name="Shape 267"/>
          <p:cNvSpPr/>
          <p:nvPr/>
        </p:nvSpPr>
        <p:spPr>
          <a:xfrm>
            <a:off x="8008620" y="3347970"/>
            <a:ext cx="45720" cy="45720"/>
          </a:xfrm>
          <a:prstGeom prst="ellipse">
            <a:avLst/>
          </a:prstGeom>
          <a:solidFill>
            <a:srgbClr val="3A5694"/>
          </a:solidFill>
          <a:ln w="12700">
            <a:solidFill>
              <a:srgbClr val="3A5694"/>
            </a:solidFill>
            <a:prstDash val="solid"/>
          </a:ln>
        </p:spPr>
      </p:sp>
      <p:sp>
        <p:nvSpPr>
          <p:cNvPr id="270" name="Shape 268"/>
          <p:cNvSpPr/>
          <p:nvPr/>
        </p:nvSpPr>
        <p:spPr>
          <a:xfrm>
            <a:off x="8187690" y="3347865"/>
            <a:ext cx="45720" cy="45720"/>
          </a:xfrm>
          <a:prstGeom prst="ellipse">
            <a:avLst/>
          </a:prstGeom>
          <a:solidFill>
            <a:srgbClr val="3A5694"/>
          </a:solidFill>
          <a:ln w="12700">
            <a:solidFill>
              <a:srgbClr val="3A5694"/>
            </a:solidFill>
            <a:prstDash val="solid"/>
          </a:ln>
        </p:spPr>
      </p:sp>
      <p:sp>
        <p:nvSpPr>
          <p:cNvPr id="271" name="Shape 269"/>
          <p:cNvSpPr/>
          <p:nvPr/>
        </p:nvSpPr>
        <p:spPr>
          <a:xfrm>
            <a:off x="8366760" y="3347680"/>
            <a:ext cx="45720" cy="45720"/>
          </a:xfrm>
          <a:prstGeom prst="ellipse">
            <a:avLst/>
          </a:prstGeom>
          <a:solidFill>
            <a:srgbClr val="3A5694"/>
          </a:solidFill>
          <a:ln w="12700">
            <a:solidFill>
              <a:srgbClr val="3A5694"/>
            </a:solidFill>
            <a:prstDash val="solid"/>
          </a:ln>
        </p:spPr>
      </p:sp>
      <p:sp>
        <p:nvSpPr>
          <p:cNvPr id="272" name="Shape 270"/>
          <p:cNvSpPr/>
          <p:nvPr/>
        </p:nvSpPr>
        <p:spPr>
          <a:xfrm>
            <a:off x="8545830" y="3347352"/>
            <a:ext cx="45720" cy="45720"/>
          </a:xfrm>
          <a:prstGeom prst="ellipse">
            <a:avLst/>
          </a:prstGeom>
          <a:solidFill>
            <a:srgbClr val="3A5694"/>
          </a:solidFill>
          <a:ln w="12700">
            <a:solidFill>
              <a:srgbClr val="3A5694"/>
            </a:solidFill>
            <a:prstDash val="solid"/>
          </a:ln>
        </p:spPr>
      </p:sp>
      <p:sp>
        <p:nvSpPr>
          <p:cNvPr id="273" name="Shape 271"/>
          <p:cNvSpPr/>
          <p:nvPr/>
        </p:nvSpPr>
        <p:spPr>
          <a:xfrm>
            <a:off x="8724900" y="3346776"/>
            <a:ext cx="45720" cy="45720"/>
          </a:xfrm>
          <a:prstGeom prst="ellipse">
            <a:avLst/>
          </a:prstGeom>
          <a:solidFill>
            <a:srgbClr val="3A5694"/>
          </a:solidFill>
          <a:ln w="12700">
            <a:solidFill>
              <a:srgbClr val="3A5694"/>
            </a:solidFill>
            <a:prstDash val="solid"/>
          </a:ln>
        </p:spPr>
      </p:sp>
      <p:sp>
        <p:nvSpPr>
          <p:cNvPr id="274" name="Shape 272"/>
          <p:cNvSpPr/>
          <p:nvPr/>
        </p:nvSpPr>
        <p:spPr>
          <a:xfrm>
            <a:off x="8903970" y="3345773"/>
            <a:ext cx="45720" cy="45720"/>
          </a:xfrm>
          <a:prstGeom prst="ellipse">
            <a:avLst/>
          </a:prstGeom>
          <a:solidFill>
            <a:srgbClr val="3A5694"/>
          </a:solidFill>
          <a:ln w="12700">
            <a:solidFill>
              <a:srgbClr val="3A5694"/>
            </a:solidFill>
            <a:prstDash val="solid"/>
          </a:ln>
        </p:spPr>
      </p:sp>
      <p:sp>
        <p:nvSpPr>
          <p:cNvPr id="275" name="Shape 273"/>
          <p:cNvSpPr/>
          <p:nvPr/>
        </p:nvSpPr>
        <p:spPr>
          <a:xfrm>
            <a:off x="9083040" y="3344050"/>
            <a:ext cx="45720" cy="45720"/>
          </a:xfrm>
          <a:prstGeom prst="ellipse">
            <a:avLst/>
          </a:prstGeom>
          <a:solidFill>
            <a:srgbClr val="3A5694"/>
          </a:solidFill>
          <a:ln w="12700">
            <a:solidFill>
              <a:srgbClr val="3A5694"/>
            </a:solidFill>
            <a:prstDash val="solid"/>
          </a:ln>
        </p:spPr>
      </p:sp>
      <p:sp>
        <p:nvSpPr>
          <p:cNvPr id="276" name="Shape 274"/>
          <p:cNvSpPr/>
          <p:nvPr/>
        </p:nvSpPr>
        <p:spPr>
          <a:xfrm>
            <a:off x="9262110" y="3341158"/>
            <a:ext cx="45720" cy="45720"/>
          </a:xfrm>
          <a:prstGeom prst="ellipse">
            <a:avLst/>
          </a:prstGeom>
          <a:solidFill>
            <a:srgbClr val="3A5694"/>
          </a:solidFill>
          <a:ln w="12700">
            <a:solidFill>
              <a:srgbClr val="3A5694"/>
            </a:solidFill>
            <a:prstDash val="solid"/>
          </a:ln>
        </p:spPr>
      </p:sp>
      <p:sp>
        <p:nvSpPr>
          <p:cNvPr id="277" name="Shape 275"/>
          <p:cNvSpPr/>
          <p:nvPr/>
        </p:nvSpPr>
        <p:spPr>
          <a:xfrm>
            <a:off x="9441180" y="3336469"/>
            <a:ext cx="45720" cy="45720"/>
          </a:xfrm>
          <a:prstGeom prst="ellipse">
            <a:avLst/>
          </a:prstGeom>
          <a:solidFill>
            <a:srgbClr val="3A5694"/>
          </a:solidFill>
          <a:ln w="12700">
            <a:solidFill>
              <a:srgbClr val="3A5694"/>
            </a:solidFill>
            <a:prstDash val="solid"/>
          </a:ln>
        </p:spPr>
      </p:sp>
      <p:sp>
        <p:nvSpPr>
          <p:cNvPr id="278" name="Shape 276"/>
          <p:cNvSpPr/>
          <p:nvPr/>
        </p:nvSpPr>
        <p:spPr>
          <a:xfrm>
            <a:off x="9620250" y="3329200"/>
            <a:ext cx="45720" cy="45720"/>
          </a:xfrm>
          <a:prstGeom prst="ellipse">
            <a:avLst/>
          </a:prstGeom>
          <a:solidFill>
            <a:srgbClr val="3A5694"/>
          </a:solidFill>
          <a:ln w="12700">
            <a:solidFill>
              <a:srgbClr val="3A5694"/>
            </a:solidFill>
            <a:prstDash val="solid"/>
          </a:ln>
        </p:spPr>
      </p:sp>
      <p:sp>
        <p:nvSpPr>
          <p:cNvPr id="279" name="Shape 277"/>
          <p:cNvSpPr/>
          <p:nvPr/>
        </p:nvSpPr>
        <p:spPr>
          <a:xfrm>
            <a:off x="9799320" y="3318489"/>
            <a:ext cx="45720" cy="45720"/>
          </a:xfrm>
          <a:prstGeom prst="ellipse">
            <a:avLst/>
          </a:prstGeom>
          <a:solidFill>
            <a:srgbClr val="3A5694"/>
          </a:solidFill>
          <a:ln w="12700">
            <a:solidFill>
              <a:srgbClr val="3A5694"/>
            </a:solidFill>
            <a:prstDash val="solid"/>
          </a:ln>
        </p:spPr>
      </p:sp>
      <p:sp>
        <p:nvSpPr>
          <p:cNvPr id="280" name="Shape 278"/>
          <p:cNvSpPr/>
          <p:nvPr/>
        </p:nvSpPr>
        <p:spPr>
          <a:xfrm>
            <a:off x="9978390" y="3303441"/>
            <a:ext cx="45720" cy="45720"/>
          </a:xfrm>
          <a:prstGeom prst="ellipse">
            <a:avLst/>
          </a:prstGeom>
          <a:solidFill>
            <a:srgbClr val="3A5694"/>
          </a:solidFill>
          <a:ln w="12700">
            <a:solidFill>
              <a:srgbClr val="3A5694"/>
            </a:solidFill>
            <a:prstDash val="solid"/>
          </a:ln>
        </p:spPr>
      </p:sp>
      <p:sp>
        <p:nvSpPr>
          <p:cNvPr id="281" name="Shape 279"/>
          <p:cNvSpPr/>
          <p:nvPr/>
        </p:nvSpPr>
        <p:spPr>
          <a:xfrm>
            <a:off x="10157460" y="3283267"/>
            <a:ext cx="45720" cy="45720"/>
          </a:xfrm>
          <a:prstGeom prst="ellipse">
            <a:avLst/>
          </a:prstGeom>
          <a:solidFill>
            <a:srgbClr val="3A5694"/>
          </a:solidFill>
          <a:ln w="12700">
            <a:solidFill>
              <a:srgbClr val="3A5694"/>
            </a:solidFill>
            <a:prstDash val="solid"/>
          </a:ln>
        </p:spPr>
      </p:sp>
      <p:sp>
        <p:nvSpPr>
          <p:cNvPr id="282" name="Shape 280"/>
          <p:cNvSpPr/>
          <p:nvPr/>
        </p:nvSpPr>
        <p:spPr>
          <a:xfrm>
            <a:off x="10336530" y="3257993"/>
            <a:ext cx="45720" cy="45720"/>
          </a:xfrm>
          <a:prstGeom prst="ellipse">
            <a:avLst/>
          </a:prstGeom>
          <a:solidFill>
            <a:srgbClr val="3A5694"/>
          </a:solidFill>
          <a:ln w="12700">
            <a:solidFill>
              <a:srgbClr val="3A5694"/>
            </a:solidFill>
            <a:prstDash val="solid"/>
          </a:ln>
        </p:spPr>
      </p:sp>
      <p:sp>
        <p:nvSpPr>
          <p:cNvPr id="283" name="Shape 281"/>
          <p:cNvSpPr/>
          <p:nvPr/>
        </p:nvSpPr>
        <p:spPr>
          <a:xfrm>
            <a:off x="10515600" y="3229955"/>
            <a:ext cx="45720" cy="45720"/>
          </a:xfrm>
          <a:prstGeom prst="ellipse">
            <a:avLst/>
          </a:prstGeom>
          <a:solidFill>
            <a:srgbClr val="3A5694"/>
          </a:solidFill>
          <a:ln w="12700">
            <a:solidFill>
              <a:srgbClr val="3A5694"/>
            </a:solidFill>
            <a:prstDash val="solid"/>
          </a:ln>
        </p:spPr>
      </p:sp>
      <p:sp>
        <p:nvSpPr>
          <p:cNvPr id="284" name="Shape 282"/>
          <p:cNvSpPr/>
          <p:nvPr/>
        </p:nvSpPr>
        <p:spPr>
          <a:xfrm>
            <a:off x="10694670" y="3205058"/>
            <a:ext cx="45720" cy="45720"/>
          </a:xfrm>
          <a:prstGeom prst="ellipse">
            <a:avLst/>
          </a:prstGeom>
          <a:solidFill>
            <a:srgbClr val="3A5694"/>
          </a:solidFill>
          <a:ln w="12700">
            <a:solidFill>
              <a:srgbClr val="3A5694"/>
            </a:solidFill>
            <a:prstDash val="solid"/>
          </a:ln>
        </p:spPr>
      </p:sp>
      <p:sp>
        <p:nvSpPr>
          <p:cNvPr id="285" name="Shape 283"/>
          <p:cNvSpPr/>
          <p:nvPr/>
        </p:nvSpPr>
        <p:spPr>
          <a:xfrm>
            <a:off x="10873740" y="3191565"/>
            <a:ext cx="45720" cy="45720"/>
          </a:xfrm>
          <a:prstGeom prst="ellipse">
            <a:avLst/>
          </a:prstGeom>
          <a:solidFill>
            <a:srgbClr val="3A5694"/>
          </a:solidFill>
          <a:ln w="12700">
            <a:solidFill>
              <a:srgbClr val="3A5694"/>
            </a:solidFill>
            <a:prstDash val="solid"/>
          </a:ln>
        </p:spPr>
      </p:sp>
      <p:sp>
        <p:nvSpPr>
          <p:cNvPr id="286" name="Shape 284"/>
          <p:cNvSpPr/>
          <p:nvPr/>
        </p:nvSpPr>
        <p:spPr>
          <a:xfrm>
            <a:off x="11052810" y="3195091"/>
            <a:ext cx="45720" cy="45720"/>
          </a:xfrm>
          <a:prstGeom prst="ellipse">
            <a:avLst/>
          </a:prstGeom>
          <a:solidFill>
            <a:srgbClr val="3A5694"/>
          </a:solidFill>
          <a:ln w="12700">
            <a:solidFill>
              <a:srgbClr val="3A5694"/>
            </a:solidFill>
            <a:prstDash val="solid"/>
          </a:ln>
        </p:spPr>
      </p:sp>
      <p:sp>
        <p:nvSpPr>
          <p:cNvPr id="287" name="Shape 285"/>
          <p:cNvSpPr/>
          <p:nvPr/>
        </p:nvSpPr>
        <p:spPr>
          <a:xfrm>
            <a:off x="11231880" y="3213543"/>
            <a:ext cx="45720" cy="45720"/>
          </a:xfrm>
          <a:prstGeom prst="ellipse">
            <a:avLst/>
          </a:prstGeom>
          <a:solidFill>
            <a:srgbClr val="3A5694"/>
          </a:solidFill>
          <a:ln w="12700">
            <a:solidFill>
              <a:srgbClr val="3A5694"/>
            </a:solidFill>
            <a:prstDash val="solid"/>
          </a:ln>
        </p:spPr>
      </p:sp>
      <p:sp>
        <p:nvSpPr>
          <p:cNvPr id="288" name="Shape 286"/>
          <p:cNvSpPr/>
          <p:nvPr/>
        </p:nvSpPr>
        <p:spPr>
          <a:xfrm>
            <a:off x="11410950" y="3238477"/>
            <a:ext cx="45720" cy="45720"/>
          </a:xfrm>
          <a:prstGeom prst="ellipse">
            <a:avLst/>
          </a:prstGeom>
          <a:solidFill>
            <a:srgbClr val="3A5694"/>
          </a:solidFill>
          <a:ln w="12700">
            <a:solidFill>
              <a:srgbClr val="3A5694"/>
            </a:solidFill>
            <a:prstDash val="solid"/>
          </a:ln>
        </p:spPr>
      </p:sp>
      <p:sp>
        <p:nvSpPr>
          <p:cNvPr id="289" name="Shape 287"/>
          <p:cNvSpPr/>
          <p:nvPr/>
        </p:nvSpPr>
        <p:spPr>
          <a:xfrm>
            <a:off x="11590020" y="3261641"/>
            <a:ext cx="45720" cy="45720"/>
          </a:xfrm>
          <a:prstGeom prst="ellipse">
            <a:avLst/>
          </a:prstGeom>
          <a:solidFill>
            <a:srgbClr val="3A5694"/>
          </a:solidFill>
          <a:ln w="12700">
            <a:solidFill>
              <a:srgbClr val="3A5694"/>
            </a:solidFill>
            <a:prstDash val="solid"/>
          </a:ln>
        </p:spPr>
      </p:sp>
      <p:sp>
        <p:nvSpPr>
          <p:cNvPr id="290" name="Shape 288"/>
          <p:cNvSpPr/>
          <p:nvPr/>
        </p:nvSpPr>
        <p:spPr>
          <a:xfrm>
            <a:off x="7292340" y="3279484"/>
            <a:ext cx="45720" cy="45720"/>
          </a:xfrm>
          <a:prstGeom prst="ellipse">
            <a:avLst/>
          </a:prstGeom>
          <a:solidFill>
            <a:srgbClr val="3A5694"/>
          </a:solidFill>
          <a:ln w="12700">
            <a:solidFill>
              <a:srgbClr val="3A5694"/>
            </a:solidFill>
            <a:prstDash val="solid"/>
          </a:ln>
        </p:spPr>
      </p:sp>
      <p:sp>
        <p:nvSpPr>
          <p:cNvPr id="291" name="Shape 289"/>
          <p:cNvSpPr/>
          <p:nvPr/>
        </p:nvSpPr>
        <p:spPr>
          <a:xfrm>
            <a:off x="7471410" y="3279471"/>
            <a:ext cx="45720" cy="45720"/>
          </a:xfrm>
          <a:prstGeom prst="ellipse">
            <a:avLst/>
          </a:prstGeom>
          <a:solidFill>
            <a:srgbClr val="3A5694"/>
          </a:solidFill>
          <a:ln w="12700">
            <a:solidFill>
              <a:srgbClr val="3A5694"/>
            </a:solidFill>
            <a:prstDash val="solid"/>
          </a:ln>
        </p:spPr>
      </p:sp>
      <p:sp>
        <p:nvSpPr>
          <p:cNvPr id="292" name="Shape 290"/>
          <p:cNvSpPr/>
          <p:nvPr/>
        </p:nvSpPr>
        <p:spPr>
          <a:xfrm>
            <a:off x="7650480" y="3279448"/>
            <a:ext cx="45720" cy="45720"/>
          </a:xfrm>
          <a:prstGeom prst="ellipse">
            <a:avLst/>
          </a:prstGeom>
          <a:solidFill>
            <a:srgbClr val="3A5694"/>
          </a:solidFill>
          <a:ln w="12700">
            <a:solidFill>
              <a:srgbClr val="3A5694"/>
            </a:solidFill>
            <a:prstDash val="solid"/>
          </a:ln>
        </p:spPr>
      </p:sp>
      <p:sp>
        <p:nvSpPr>
          <p:cNvPr id="293" name="Shape 291"/>
          <p:cNvSpPr/>
          <p:nvPr/>
        </p:nvSpPr>
        <p:spPr>
          <a:xfrm>
            <a:off x="7829550" y="3279408"/>
            <a:ext cx="45720" cy="45720"/>
          </a:xfrm>
          <a:prstGeom prst="ellipse">
            <a:avLst/>
          </a:prstGeom>
          <a:solidFill>
            <a:srgbClr val="3A5694"/>
          </a:solidFill>
          <a:ln w="12700">
            <a:solidFill>
              <a:srgbClr val="3A5694"/>
            </a:solidFill>
            <a:prstDash val="solid"/>
          </a:ln>
        </p:spPr>
      </p:sp>
      <p:sp>
        <p:nvSpPr>
          <p:cNvPr id="294" name="Shape 292"/>
          <p:cNvSpPr/>
          <p:nvPr/>
        </p:nvSpPr>
        <p:spPr>
          <a:xfrm>
            <a:off x="8008620" y="3279337"/>
            <a:ext cx="45720" cy="45720"/>
          </a:xfrm>
          <a:prstGeom prst="ellipse">
            <a:avLst/>
          </a:prstGeom>
          <a:solidFill>
            <a:srgbClr val="3A5694"/>
          </a:solidFill>
          <a:ln w="12700">
            <a:solidFill>
              <a:srgbClr val="3A5694"/>
            </a:solidFill>
            <a:prstDash val="solid"/>
          </a:ln>
        </p:spPr>
      </p:sp>
      <p:sp>
        <p:nvSpPr>
          <p:cNvPr id="295" name="Shape 293"/>
          <p:cNvSpPr/>
          <p:nvPr/>
        </p:nvSpPr>
        <p:spPr>
          <a:xfrm>
            <a:off x="8187690" y="3279210"/>
            <a:ext cx="45720" cy="45720"/>
          </a:xfrm>
          <a:prstGeom prst="ellipse">
            <a:avLst/>
          </a:prstGeom>
          <a:solidFill>
            <a:srgbClr val="3A5694"/>
          </a:solidFill>
          <a:ln w="12700">
            <a:solidFill>
              <a:srgbClr val="3A5694"/>
            </a:solidFill>
            <a:prstDash val="solid"/>
          </a:ln>
        </p:spPr>
      </p:sp>
      <p:sp>
        <p:nvSpPr>
          <p:cNvPr id="296" name="Shape 294"/>
          <p:cNvSpPr/>
          <p:nvPr/>
        </p:nvSpPr>
        <p:spPr>
          <a:xfrm>
            <a:off x="8366760" y="3278987"/>
            <a:ext cx="45720" cy="45720"/>
          </a:xfrm>
          <a:prstGeom prst="ellipse">
            <a:avLst/>
          </a:prstGeom>
          <a:solidFill>
            <a:srgbClr val="3A5694"/>
          </a:solidFill>
          <a:ln w="12700">
            <a:solidFill>
              <a:srgbClr val="3A5694"/>
            </a:solidFill>
            <a:prstDash val="solid"/>
          </a:ln>
        </p:spPr>
      </p:sp>
      <p:sp>
        <p:nvSpPr>
          <p:cNvPr id="297" name="Shape 295"/>
          <p:cNvSpPr/>
          <p:nvPr/>
        </p:nvSpPr>
        <p:spPr>
          <a:xfrm>
            <a:off x="8545830" y="3278592"/>
            <a:ext cx="45720" cy="45720"/>
          </a:xfrm>
          <a:prstGeom prst="ellipse">
            <a:avLst/>
          </a:prstGeom>
          <a:solidFill>
            <a:srgbClr val="3A5694"/>
          </a:solidFill>
          <a:ln w="12700">
            <a:solidFill>
              <a:srgbClr val="3A5694"/>
            </a:solidFill>
            <a:prstDash val="solid"/>
          </a:ln>
        </p:spPr>
      </p:sp>
      <p:sp>
        <p:nvSpPr>
          <p:cNvPr id="298" name="Shape 296"/>
          <p:cNvSpPr/>
          <p:nvPr/>
        </p:nvSpPr>
        <p:spPr>
          <a:xfrm>
            <a:off x="8724900" y="3277903"/>
            <a:ext cx="45720" cy="45720"/>
          </a:xfrm>
          <a:prstGeom prst="ellipse">
            <a:avLst/>
          </a:prstGeom>
          <a:solidFill>
            <a:srgbClr val="3A5694"/>
          </a:solidFill>
          <a:ln w="12700">
            <a:solidFill>
              <a:srgbClr val="3A5694"/>
            </a:solidFill>
            <a:prstDash val="solid"/>
          </a:ln>
        </p:spPr>
      </p:sp>
      <p:sp>
        <p:nvSpPr>
          <p:cNvPr id="299" name="Shape 297"/>
          <p:cNvSpPr/>
          <p:nvPr/>
        </p:nvSpPr>
        <p:spPr>
          <a:xfrm>
            <a:off x="8903970" y="3276712"/>
            <a:ext cx="45720" cy="45720"/>
          </a:xfrm>
          <a:prstGeom prst="ellipse">
            <a:avLst/>
          </a:prstGeom>
          <a:solidFill>
            <a:srgbClr val="3A5694"/>
          </a:solidFill>
          <a:ln w="12700">
            <a:solidFill>
              <a:srgbClr val="3A5694"/>
            </a:solidFill>
            <a:prstDash val="solid"/>
          </a:ln>
        </p:spPr>
      </p:sp>
      <p:sp>
        <p:nvSpPr>
          <p:cNvPr id="300" name="Shape 298"/>
          <p:cNvSpPr/>
          <p:nvPr/>
        </p:nvSpPr>
        <p:spPr>
          <a:xfrm>
            <a:off x="9083040" y="3274696"/>
            <a:ext cx="45720" cy="45720"/>
          </a:xfrm>
          <a:prstGeom prst="ellipse">
            <a:avLst/>
          </a:prstGeom>
          <a:solidFill>
            <a:srgbClr val="3A5694"/>
          </a:solidFill>
          <a:ln w="12700">
            <a:solidFill>
              <a:srgbClr val="3A5694"/>
            </a:solidFill>
            <a:prstDash val="solid"/>
          </a:ln>
        </p:spPr>
      </p:sp>
      <p:sp>
        <p:nvSpPr>
          <p:cNvPr id="301" name="Shape 299"/>
          <p:cNvSpPr/>
          <p:nvPr/>
        </p:nvSpPr>
        <p:spPr>
          <a:xfrm>
            <a:off x="9262110" y="3271402"/>
            <a:ext cx="45720" cy="45720"/>
          </a:xfrm>
          <a:prstGeom prst="ellipse">
            <a:avLst/>
          </a:prstGeom>
          <a:solidFill>
            <a:srgbClr val="3A5694"/>
          </a:solidFill>
          <a:ln w="12700">
            <a:solidFill>
              <a:srgbClr val="3A5694"/>
            </a:solidFill>
            <a:prstDash val="solid"/>
          </a:ln>
        </p:spPr>
      </p:sp>
      <p:sp>
        <p:nvSpPr>
          <p:cNvPr id="302" name="Shape 300"/>
          <p:cNvSpPr/>
          <p:nvPr/>
        </p:nvSpPr>
        <p:spPr>
          <a:xfrm>
            <a:off x="9441180" y="3266295"/>
            <a:ext cx="45720" cy="45720"/>
          </a:xfrm>
          <a:prstGeom prst="ellipse">
            <a:avLst/>
          </a:prstGeom>
          <a:solidFill>
            <a:srgbClr val="3A5694"/>
          </a:solidFill>
          <a:ln w="12700">
            <a:solidFill>
              <a:srgbClr val="3A5694"/>
            </a:solidFill>
            <a:prstDash val="solid"/>
          </a:ln>
        </p:spPr>
      </p:sp>
      <p:sp>
        <p:nvSpPr>
          <p:cNvPr id="303" name="Shape 301"/>
          <p:cNvSpPr/>
          <p:nvPr/>
        </p:nvSpPr>
        <p:spPr>
          <a:xfrm>
            <a:off x="9620250" y="3258956"/>
            <a:ext cx="45720" cy="45720"/>
          </a:xfrm>
          <a:prstGeom prst="ellipse">
            <a:avLst/>
          </a:prstGeom>
          <a:solidFill>
            <a:srgbClr val="3A5694"/>
          </a:solidFill>
          <a:ln w="12700">
            <a:solidFill>
              <a:srgbClr val="3A5694"/>
            </a:solidFill>
            <a:prstDash val="solid"/>
          </a:ln>
        </p:spPr>
      </p:sp>
      <p:sp>
        <p:nvSpPr>
          <p:cNvPr id="304" name="Shape 302"/>
          <p:cNvSpPr/>
          <p:nvPr/>
        </p:nvSpPr>
        <p:spPr>
          <a:xfrm>
            <a:off x="9799320" y="3249345"/>
            <a:ext cx="45720" cy="45720"/>
          </a:xfrm>
          <a:prstGeom prst="ellipse">
            <a:avLst/>
          </a:prstGeom>
          <a:solidFill>
            <a:srgbClr val="3A5694"/>
          </a:solidFill>
          <a:ln w="12700">
            <a:solidFill>
              <a:srgbClr val="3A5694"/>
            </a:solidFill>
            <a:prstDash val="solid"/>
          </a:ln>
        </p:spPr>
      </p:sp>
      <p:sp>
        <p:nvSpPr>
          <p:cNvPr id="305" name="Shape 303"/>
          <p:cNvSpPr/>
          <p:nvPr/>
        </p:nvSpPr>
        <p:spPr>
          <a:xfrm>
            <a:off x="9978390" y="3237906"/>
            <a:ext cx="45720" cy="45720"/>
          </a:xfrm>
          <a:prstGeom prst="ellipse">
            <a:avLst/>
          </a:prstGeom>
          <a:solidFill>
            <a:srgbClr val="3A5694"/>
          </a:solidFill>
          <a:ln w="12700">
            <a:solidFill>
              <a:srgbClr val="3A5694"/>
            </a:solidFill>
            <a:prstDash val="solid"/>
          </a:ln>
        </p:spPr>
      </p:sp>
      <p:sp>
        <p:nvSpPr>
          <p:cNvPr id="306" name="Shape 304"/>
          <p:cNvSpPr/>
          <p:nvPr/>
        </p:nvSpPr>
        <p:spPr>
          <a:xfrm>
            <a:off x="10157460" y="3225360"/>
            <a:ext cx="45720" cy="45720"/>
          </a:xfrm>
          <a:prstGeom prst="ellipse">
            <a:avLst/>
          </a:prstGeom>
          <a:solidFill>
            <a:srgbClr val="3A5694"/>
          </a:solidFill>
          <a:ln w="12700">
            <a:solidFill>
              <a:srgbClr val="3A5694"/>
            </a:solidFill>
            <a:prstDash val="solid"/>
          </a:ln>
        </p:spPr>
      </p:sp>
      <p:sp>
        <p:nvSpPr>
          <p:cNvPr id="307" name="Shape 305"/>
          <p:cNvSpPr/>
          <p:nvPr/>
        </p:nvSpPr>
        <p:spPr>
          <a:xfrm>
            <a:off x="10336530" y="3212659"/>
            <a:ext cx="45720" cy="45720"/>
          </a:xfrm>
          <a:prstGeom prst="ellipse">
            <a:avLst/>
          </a:prstGeom>
          <a:solidFill>
            <a:srgbClr val="3A5694"/>
          </a:solidFill>
          <a:ln w="12700">
            <a:solidFill>
              <a:srgbClr val="3A5694"/>
            </a:solidFill>
            <a:prstDash val="solid"/>
          </a:ln>
        </p:spPr>
      </p:sp>
      <p:sp>
        <p:nvSpPr>
          <p:cNvPr id="308" name="Shape 306"/>
          <p:cNvSpPr/>
          <p:nvPr/>
        </p:nvSpPr>
        <p:spPr>
          <a:xfrm>
            <a:off x="10515600" y="3201470"/>
            <a:ext cx="45720" cy="45720"/>
          </a:xfrm>
          <a:prstGeom prst="ellipse">
            <a:avLst/>
          </a:prstGeom>
          <a:solidFill>
            <a:srgbClr val="3A5694"/>
          </a:solidFill>
          <a:ln w="12700">
            <a:solidFill>
              <a:srgbClr val="3A5694"/>
            </a:solidFill>
            <a:prstDash val="solid"/>
          </a:ln>
        </p:spPr>
      </p:sp>
      <p:sp>
        <p:nvSpPr>
          <p:cNvPr id="309" name="Shape 307"/>
          <p:cNvSpPr/>
          <p:nvPr/>
        </p:nvSpPr>
        <p:spPr>
          <a:xfrm>
            <a:off x="10694670" y="3194611"/>
            <a:ext cx="45720" cy="45720"/>
          </a:xfrm>
          <a:prstGeom prst="ellipse">
            <a:avLst/>
          </a:prstGeom>
          <a:solidFill>
            <a:srgbClr val="3A5694"/>
          </a:solidFill>
          <a:ln w="12700">
            <a:solidFill>
              <a:srgbClr val="3A5694"/>
            </a:solidFill>
            <a:prstDash val="solid"/>
          </a:ln>
        </p:spPr>
      </p:sp>
      <p:sp>
        <p:nvSpPr>
          <p:cNvPr id="310" name="Shape 308"/>
          <p:cNvSpPr/>
          <p:nvPr/>
        </p:nvSpPr>
        <p:spPr>
          <a:xfrm>
            <a:off x="10873740" y="3195513"/>
            <a:ext cx="45720" cy="45720"/>
          </a:xfrm>
          <a:prstGeom prst="ellipse">
            <a:avLst/>
          </a:prstGeom>
          <a:solidFill>
            <a:srgbClr val="3A5694"/>
          </a:solidFill>
          <a:ln w="12700">
            <a:solidFill>
              <a:srgbClr val="3A5694"/>
            </a:solidFill>
            <a:prstDash val="solid"/>
          </a:ln>
        </p:spPr>
      </p:sp>
      <p:sp>
        <p:nvSpPr>
          <p:cNvPr id="311" name="Shape 309"/>
          <p:cNvSpPr/>
          <p:nvPr/>
        </p:nvSpPr>
        <p:spPr>
          <a:xfrm>
            <a:off x="11052810" y="3206269"/>
            <a:ext cx="45720" cy="45720"/>
          </a:xfrm>
          <a:prstGeom prst="ellipse">
            <a:avLst/>
          </a:prstGeom>
          <a:solidFill>
            <a:srgbClr val="3A5694"/>
          </a:solidFill>
          <a:ln w="12700">
            <a:solidFill>
              <a:srgbClr val="3A5694"/>
            </a:solidFill>
            <a:prstDash val="solid"/>
          </a:ln>
        </p:spPr>
      </p:sp>
      <p:sp>
        <p:nvSpPr>
          <p:cNvPr id="312" name="Shape 310"/>
          <p:cNvSpPr/>
          <p:nvPr/>
        </p:nvSpPr>
        <p:spPr>
          <a:xfrm>
            <a:off x="11231880" y="3225285"/>
            <a:ext cx="45720" cy="45720"/>
          </a:xfrm>
          <a:prstGeom prst="ellipse">
            <a:avLst/>
          </a:prstGeom>
          <a:solidFill>
            <a:srgbClr val="3A5694"/>
          </a:solidFill>
          <a:ln w="12700">
            <a:solidFill>
              <a:srgbClr val="3A5694"/>
            </a:solidFill>
            <a:prstDash val="solid"/>
          </a:ln>
        </p:spPr>
      </p:sp>
      <p:sp>
        <p:nvSpPr>
          <p:cNvPr id="313" name="Shape 311"/>
          <p:cNvSpPr/>
          <p:nvPr/>
        </p:nvSpPr>
        <p:spPr>
          <a:xfrm>
            <a:off x="11410950" y="3247447"/>
            <a:ext cx="45720" cy="45720"/>
          </a:xfrm>
          <a:prstGeom prst="ellipse">
            <a:avLst/>
          </a:prstGeom>
          <a:solidFill>
            <a:srgbClr val="3A5694"/>
          </a:solidFill>
          <a:ln w="12700">
            <a:solidFill>
              <a:srgbClr val="3A5694"/>
            </a:solidFill>
            <a:prstDash val="solid"/>
          </a:ln>
        </p:spPr>
      </p:sp>
      <p:sp>
        <p:nvSpPr>
          <p:cNvPr id="314" name="Shape 312"/>
          <p:cNvSpPr/>
          <p:nvPr/>
        </p:nvSpPr>
        <p:spPr>
          <a:xfrm>
            <a:off x="11590020" y="3267445"/>
            <a:ext cx="45720" cy="45720"/>
          </a:xfrm>
          <a:prstGeom prst="ellipse">
            <a:avLst/>
          </a:prstGeom>
          <a:solidFill>
            <a:srgbClr val="3A5694"/>
          </a:solidFill>
          <a:ln w="12700">
            <a:solidFill>
              <a:srgbClr val="3A5694"/>
            </a:solidFill>
            <a:prstDash val="solid"/>
          </a:ln>
        </p:spPr>
      </p:sp>
      <p:sp>
        <p:nvSpPr>
          <p:cNvPr id="315" name="Text 313"/>
          <p:cNvSpPr txBox="1"/>
          <p:nvPr/>
        </p:nvSpPr>
        <p:spPr>
          <a:xfrm>
            <a:off x="7315200" y="4846320"/>
            <a:ext cx="4297680" cy="274320"/>
          </a:xfrm>
          <a:prstGeom prst="rect">
            <a:avLst/>
          </a:prstGeom>
          <a:noFill/>
          <a:ln/>
        </p:spPr>
        <p:txBody>
          <a:bodyPr wrap="square" lIns="0" tIns="0" rIns="0" bIns="0" rtlCol="0" anchor="ctr"/>
          <a:lstStyle/>
          <a:p>
            <a:pPr marL="0" indent="0" algn="ctr">
              <a:buNone/>
            </a:pPr>
            <a:r>
              <a:rPr lang="en-US" sz="1100" i="1" dirty="0">
                <a:solidFill>
                  <a:srgbClr val="8595B5"/>
                </a:solidFill>
                <a:latin typeface="Calibri" pitchFamily="34" charset="0"/>
                <a:ea typeface="Calibri" pitchFamily="34" charset="-122"/>
                <a:cs typeface="Calibri" pitchFamily="34" charset="-120"/>
              </a:rPr>
              <a:t>más freno →  todos los coeficientes se encogen hacia cero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DÓNDE ESTAMOS</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Tres problemas que dejó la Clase 2</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Mismo dataset, mismo corte, mismo relleno de faltantes. Lo que cambia es el modelo.</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879603775"/>
              </p:ext>
            </p:extLst>
          </p:nvPr>
        </p:nvGraphicFramePr>
        <p:xfrm>
          <a:off x="502920" y="2103120"/>
          <a:ext cx="11183112" cy="2011680"/>
        </p:xfrm>
        <a:graphic>
          <a:graphicData uri="http://schemas.openxmlformats.org/drawingml/2006/table">
            <a:tbl>
              <a:tblPr/>
              <a:tblGrid>
                <a:gridCol w="27432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2039112">
                  <a:extLst>
                    <a:ext uri="{9D8B030D-6E8A-4147-A177-3AD203B41FA5}">
                      <a16:colId xmlns:a16="http://schemas.microsoft.com/office/drawing/2014/main" val="20002"/>
                    </a:ext>
                  </a:extLst>
                </a:gridCol>
              </a:tblGrid>
              <a:tr h="50292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Problema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Lo que vimos en la Clase 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Hoy lo ataca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50292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Coeficientes inestables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con 300 distritos, el coeficiente de hogares saltaba de −89 a +92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Ridge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Variables que sobran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cuatro variables de tamaño con VIF de hasta 30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Lasso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La recta no ve curvas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residuos con embudo y con patrón geográfico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0A2559"/>
                          </a:solidFill>
                          <a:latin typeface="Calibri" pitchFamily="34" charset="0"/>
                          <a:ea typeface="Calibri" pitchFamily="34" charset="-122"/>
                          <a:cs typeface="Calibri" pitchFamily="34" charset="-120"/>
                        </a:rPr>
                        <a:t>SVR</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02920" y="4343400"/>
            <a:ext cx="5486400" cy="1874520"/>
          </a:xfrm>
          <a:prstGeom prst="roundRect">
            <a:avLst>
              <a:gd name="adj" fmla="val 2927"/>
            </a:avLst>
          </a:prstGeom>
          <a:solidFill>
            <a:srgbClr val="FFFFFF"/>
          </a:solidFill>
          <a:ln w="9525">
            <a:solidFill>
              <a:srgbClr val="D2DBEC"/>
            </a:solidFill>
            <a:prstDash val="solid"/>
          </a:ln>
        </p:spPr>
      </p:sp>
      <p:sp>
        <p:nvSpPr>
          <p:cNvPr id="8" name="Shape 5"/>
          <p:cNvSpPr/>
          <p:nvPr/>
        </p:nvSpPr>
        <p:spPr>
          <a:xfrm>
            <a:off x="731520" y="4590288"/>
            <a:ext cx="128016" cy="128016"/>
          </a:xfrm>
          <a:prstGeom prst="roundRect">
            <a:avLst>
              <a:gd name="adj" fmla="val 21429"/>
            </a:avLst>
          </a:prstGeom>
          <a:solidFill>
            <a:srgbClr val="1A56E8"/>
          </a:solidFill>
          <a:ln w="12700">
            <a:solidFill>
              <a:srgbClr val="1A56E8"/>
            </a:solidFill>
            <a:prstDash val="solid"/>
          </a:ln>
        </p:spPr>
      </p:sp>
      <p:sp>
        <p:nvSpPr>
          <p:cNvPr id="9" name="Text 6"/>
          <p:cNvSpPr txBox="1"/>
          <p:nvPr/>
        </p:nvSpPr>
        <p:spPr>
          <a:xfrm>
            <a:off x="960120" y="448056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El punto de partida</a:t>
            </a:r>
            <a:endParaRPr lang="en-US" sz="1400" dirty="0"/>
          </a:p>
        </p:txBody>
      </p:sp>
      <p:sp>
        <p:nvSpPr>
          <p:cNvPr id="10" name="Text 7"/>
          <p:cNvSpPr txBox="1"/>
          <p:nvPr/>
        </p:nvSpPr>
        <p:spPr>
          <a:xfrm>
            <a:off x="731520" y="4846320"/>
            <a:ext cx="5029200" cy="128016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Regresión lineal con 12 variables: </a:t>
            </a:r>
            <a:r>
              <a:rPr lang="en-US" sz="1250" b="1" dirty="0">
                <a:solidFill>
                  <a:srgbClr val="0A2559"/>
                </a:solidFill>
                <a:latin typeface="Calibri" pitchFamily="34" charset="0"/>
                <a:ea typeface="Calibri" pitchFamily="34" charset="-122"/>
                <a:cs typeface="Calibri" pitchFamily="34" charset="-120"/>
              </a:rPr>
              <a:t>R² 0.651 · MAE 49 664 USD</a:t>
            </a:r>
            <a:endParaRPr lang="en-US" sz="1250" dirty="0"/>
          </a:p>
          <a:p>
            <a:pPr marL="0" indent="0">
              <a:spcAft>
                <a:spcPts val="400"/>
              </a:spcAft>
              <a:buNone/>
            </a:pPr>
            <a:r>
              <a:rPr lang="en-US" sz="600" dirty="0">
                <a:solidFill>
                  <a:srgbClr val="2C3A55"/>
                </a:solidFill>
                <a:latin typeface="Calibri" pitchFamily="34" charset="0"/>
                <a:ea typeface="Calibri" pitchFamily="34" charset="-122"/>
                <a:cs typeface="Calibri" pitchFamily="34" charset="-120"/>
              </a:rPr>
              <a:t> </a:t>
            </a:r>
            <a:endParaRPr lang="en-US" sz="1250" dirty="0"/>
          </a:p>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Es la vara de hoy. Cada modelo nuevo tiene que ganarle en precisión, en estabilidad o en simpleza.</a:t>
            </a:r>
            <a:endParaRPr lang="en-US" sz="1250" dirty="0"/>
          </a:p>
        </p:txBody>
      </p:sp>
      <p:sp>
        <p:nvSpPr>
          <p:cNvPr id="11" name="Shape 8"/>
          <p:cNvSpPr/>
          <p:nvPr/>
        </p:nvSpPr>
        <p:spPr>
          <a:xfrm>
            <a:off x="6199632" y="4343400"/>
            <a:ext cx="5486400" cy="1874520"/>
          </a:xfrm>
          <a:prstGeom prst="roundRect">
            <a:avLst>
              <a:gd name="adj" fmla="val 2927"/>
            </a:avLst>
          </a:prstGeom>
          <a:solidFill>
            <a:srgbClr val="0A2559"/>
          </a:solidFill>
          <a:ln w="9525">
            <a:solidFill>
              <a:srgbClr val="0A2559"/>
            </a:solidFill>
            <a:prstDash val="solid"/>
          </a:ln>
        </p:spPr>
      </p:sp>
      <p:sp>
        <p:nvSpPr>
          <p:cNvPr id="12" name="Shape 9"/>
          <p:cNvSpPr/>
          <p:nvPr/>
        </p:nvSpPr>
        <p:spPr>
          <a:xfrm>
            <a:off x="6428232" y="4590288"/>
            <a:ext cx="128016" cy="128016"/>
          </a:xfrm>
          <a:prstGeom prst="roundRect">
            <a:avLst>
              <a:gd name="adj" fmla="val 21429"/>
            </a:avLst>
          </a:prstGeom>
          <a:solidFill>
            <a:srgbClr val="E6115E"/>
          </a:solidFill>
          <a:ln w="12700">
            <a:solidFill>
              <a:srgbClr val="E6115E"/>
            </a:solidFill>
            <a:prstDash val="solid"/>
          </a:ln>
        </p:spPr>
      </p:sp>
      <p:sp>
        <p:nvSpPr>
          <p:cNvPr id="13" name="Text 10"/>
          <p:cNvSpPr txBox="1"/>
          <p:nvPr/>
        </p:nvSpPr>
        <p:spPr>
          <a:xfrm>
            <a:off x="6656832" y="4480560"/>
            <a:ext cx="484632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 idea que une a los tres</a:t>
            </a:r>
            <a:endParaRPr lang="en-US" sz="1400" dirty="0"/>
          </a:p>
        </p:txBody>
      </p:sp>
      <p:sp>
        <p:nvSpPr>
          <p:cNvPr id="14" name="Text 11"/>
          <p:cNvSpPr txBox="1"/>
          <p:nvPr/>
        </p:nvSpPr>
        <p:spPr>
          <a:xfrm>
            <a:off x="6428232" y="4846320"/>
            <a:ext cx="5029200" cy="128016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La regresión lineal castiga todos los errores al cuadrado y no le pone límite a los coeficientes. Hoy vemos qué pasa si cambias lo que se castiga: el tamaño de los coeficientes (Ridge, Lasso) o los errores pequeños (SVR).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AGENDA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Cómo repartimos los 120 minutos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Ridge y Lasso son primos; SVR es otra familia. El bloque 3 es el que dice cuándo vale la pena cada uno.</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6766560" cy="3364992"/>
        </p:xfrm>
        <a:graphic>
          <a:graphicData uri="http://schemas.openxmlformats.org/drawingml/2006/table">
            <a:tbl>
              <a:tblPr/>
              <a:tblGrid>
                <a:gridCol w="82296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42062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Los problemas de la Clase 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Ridge: encoger los coeficientes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Lasso: encoger y eliminar</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Cuándo ayuda la regularización · validación cruzada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SVR: el tubo y la curva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Laboratorio en Colab</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Cierre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7589520" y="2103120"/>
            <a:ext cx="4096512" cy="2148840"/>
          </a:xfrm>
          <a:prstGeom prst="roundRect">
            <a:avLst>
              <a:gd name="adj" fmla="val 2553"/>
            </a:avLst>
          </a:prstGeom>
          <a:solidFill>
            <a:srgbClr val="E9EEF8"/>
          </a:solidFill>
          <a:ln w="9525">
            <a:solidFill>
              <a:srgbClr val="D2DBEC"/>
            </a:solidFill>
            <a:prstDash val="solid"/>
          </a:ln>
        </p:spPr>
      </p:sp>
      <p:sp>
        <p:nvSpPr>
          <p:cNvPr id="8" name="Shape 5"/>
          <p:cNvSpPr/>
          <p:nvPr/>
        </p:nvSpPr>
        <p:spPr>
          <a:xfrm>
            <a:off x="7818120" y="2350008"/>
            <a:ext cx="128016" cy="128016"/>
          </a:xfrm>
          <a:prstGeom prst="roundRect">
            <a:avLst>
              <a:gd name="adj" fmla="val 21429"/>
            </a:avLst>
          </a:prstGeom>
          <a:solidFill>
            <a:srgbClr val="E6115E"/>
          </a:solidFill>
          <a:ln w="12700">
            <a:solidFill>
              <a:srgbClr val="E6115E"/>
            </a:solidFill>
            <a:prstDash val="solid"/>
          </a:ln>
        </p:spPr>
      </p:sp>
      <p:sp>
        <p:nvSpPr>
          <p:cNvPr id="9" name="Text 6"/>
          <p:cNvSpPr txBox="1"/>
          <p:nvPr/>
        </p:nvSpPr>
        <p:spPr>
          <a:xfrm>
            <a:off x="8046720" y="2240280"/>
            <a:ext cx="345643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0" name="Text 7"/>
          <p:cNvSpPr txBox="1"/>
          <p:nvPr/>
        </p:nvSpPr>
        <p:spPr>
          <a:xfrm>
            <a:off x="7818120" y="2606040"/>
            <a:ext cx="3657600" cy="155448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Qué castigan Ridge y Lasso, y por qué escalar</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Usar Lasso para seleccionar variables</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Elegir α con validación cruzada</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Saber cuándo regularizar y cuándo no</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Entender el tubo ε y el kernel del SVR</a:t>
            </a:r>
            <a:endParaRPr lang="en-US" sz="1250" dirty="0"/>
          </a:p>
        </p:txBody>
      </p:sp>
      <p:sp>
        <p:nvSpPr>
          <p:cNvPr id="11" name="Shape 8"/>
          <p:cNvSpPr/>
          <p:nvPr/>
        </p:nvSpPr>
        <p:spPr>
          <a:xfrm>
            <a:off x="7589520" y="4434840"/>
            <a:ext cx="4096512" cy="1783080"/>
          </a:xfrm>
          <a:prstGeom prst="roundRect">
            <a:avLst>
              <a:gd name="adj" fmla="val 3077"/>
            </a:avLst>
          </a:prstGeom>
          <a:solidFill>
            <a:srgbClr val="0A2559"/>
          </a:solidFill>
          <a:ln w="9525">
            <a:solidFill>
              <a:srgbClr val="0A2559"/>
            </a:solidFill>
            <a:prstDash val="solid"/>
          </a:ln>
        </p:spPr>
      </p:sp>
      <p:sp>
        <p:nvSpPr>
          <p:cNvPr id="12" name="Shape 9"/>
          <p:cNvSpPr/>
          <p:nvPr/>
        </p:nvSpPr>
        <p:spPr>
          <a:xfrm>
            <a:off x="7818120" y="4681728"/>
            <a:ext cx="128016" cy="128016"/>
          </a:xfrm>
          <a:prstGeom prst="roundRect">
            <a:avLst>
              <a:gd name="adj" fmla="val 21429"/>
            </a:avLst>
          </a:prstGeom>
          <a:solidFill>
            <a:srgbClr val="E6115E"/>
          </a:solidFill>
          <a:ln w="12700">
            <a:solidFill>
              <a:srgbClr val="E6115E"/>
            </a:solidFill>
            <a:prstDash val="solid"/>
          </a:ln>
        </p:spPr>
      </p:sp>
      <p:sp>
        <p:nvSpPr>
          <p:cNvPr id="13" name="Text 10"/>
          <p:cNvSpPr txBox="1"/>
          <p:nvPr/>
        </p:nvSpPr>
        <p:spPr>
          <a:xfrm>
            <a:off x="8046720" y="4572000"/>
            <a:ext cx="34564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bloque 3 es el importante</a:t>
            </a:r>
            <a:endParaRPr lang="en-US" sz="1400" dirty="0"/>
          </a:p>
        </p:txBody>
      </p:sp>
      <p:sp>
        <p:nvSpPr>
          <p:cNvPr id="14" name="Text 11"/>
          <p:cNvSpPr txBox="1"/>
          <p:nvPr/>
        </p:nvSpPr>
        <p:spPr>
          <a:xfrm>
            <a:off x="7818120" y="4937760"/>
            <a:ext cx="3657600" cy="118872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Sin él, la conclusión sería «Ridge no sirve». Con él, la conclusión es saber exactamente en qué situación sirve.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1</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Regularizar: ajustar bien, pero con coeficientes modestos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Ridge le añade a la regresión lineal un castigo por tener coeficientes grandes.</a:t>
            </a:r>
            <a:endParaRPr lang="en-US" sz="1400" dirty="0"/>
          </a:p>
        </p:txBody>
      </p:sp>
      <p:sp>
        <p:nvSpPr>
          <p:cNvPr id="6" name="Shape 4"/>
          <p:cNvSpPr/>
          <p:nvPr/>
        </p:nvSpPr>
        <p:spPr>
          <a:xfrm>
            <a:off x="502920" y="2103120"/>
            <a:ext cx="11183112" cy="1234440"/>
          </a:xfrm>
          <a:prstGeom prst="roundRect">
            <a:avLst>
              <a:gd name="adj" fmla="val 4444"/>
            </a:avLst>
          </a:prstGeom>
          <a:solidFill>
            <a:srgbClr val="0A2559"/>
          </a:solidFill>
          <a:ln w="9525">
            <a:solidFill>
              <a:srgbClr val="0A2559"/>
            </a:solidFill>
            <a:prstDash val="solid"/>
          </a:ln>
        </p:spPr>
      </p:sp>
      <p:sp>
        <p:nvSpPr>
          <p:cNvPr id="7" name="Text 5"/>
          <p:cNvSpPr txBox="1"/>
          <p:nvPr/>
        </p:nvSpPr>
        <p:spPr>
          <a:xfrm>
            <a:off x="502920" y="2103120"/>
            <a:ext cx="11183112" cy="1234440"/>
          </a:xfrm>
          <a:prstGeom prst="rect">
            <a:avLst/>
          </a:prstGeom>
          <a:noFill/>
          <a:ln/>
        </p:spPr>
        <p:txBody>
          <a:bodyPr wrap="square" lIns="0" tIns="0" rIns="0" bIns="0" rtlCol="0" anchor="ctr"/>
          <a:lstStyle/>
          <a:p>
            <a:pPr marL="0" indent="0" algn="ctr">
              <a:buNone/>
            </a:pPr>
            <a:r>
              <a:rPr lang="en-US" sz="1800" b="1" dirty="0">
                <a:solidFill>
                  <a:srgbClr val="A9B7D4"/>
                </a:solidFill>
                <a:latin typeface="Calibri" pitchFamily="34" charset="0"/>
                <a:ea typeface="Calibri" pitchFamily="34" charset="-122"/>
                <a:cs typeface="Calibri" pitchFamily="34" charset="-120"/>
              </a:rPr>
              <a:t>Ridge minimiza   </a:t>
            </a:r>
            <a:r>
              <a:rPr lang="en-US" sz="3000" b="1" dirty="0" err="1">
                <a:solidFill>
                  <a:srgbClr val="FFFFFF"/>
                </a:solidFill>
                <a:latin typeface="Calibri" pitchFamily="34" charset="0"/>
                <a:ea typeface="Calibri" pitchFamily="34" charset="-122"/>
                <a:cs typeface="Calibri" pitchFamily="34" charset="-120"/>
              </a:rPr>
              <a:t>Σ</a:t>
            </a:r>
            <a:r>
              <a:rPr lang="en-US" sz="3000" b="1" dirty="0">
                <a:solidFill>
                  <a:srgbClr val="FFFFFF"/>
                </a:solidFill>
                <a:latin typeface="Calibri" pitchFamily="34" charset="0"/>
                <a:ea typeface="Calibri" pitchFamily="34" charset="-122"/>
                <a:cs typeface="Calibri" pitchFamily="34" charset="-120"/>
              </a:rPr>
              <a:t> eᵢ²</a:t>
            </a:r>
            <a:r>
              <a:rPr lang="en-US" sz="3000" b="1" dirty="0">
                <a:solidFill>
                  <a:srgbClr val="A9B7D4"/>
                </a:solidFill>
                <a:latin typeface="Calibri" pitchFamily="34" charset="0"/>
                <a:ea typeface="Calibri" pitchFamily="34" charset="-122"/>
                <a:cs typeface="Calibri" pitchFamily="34" charset="-120"/>
              </a:rPr>
              <a:t>   +   </a:t>
            </a:r>
            <a:r>
              <a:rPr lang="en-US" sz="3000" b="1" dirty="0">
                <a:solidFill>
                  <a:srgbClr val="FF6B9A"/>
                </a:solidFill>
                <a:latin typeface="Calibri" pitchFamily="34" charset="0"/>
                <a:ea typeface="Calibri" pitchFamily="34" charset="-122"/>
                <a:cs typeface="Calibri" pitchFamily="34" charset="-120"/>
              </a:rPr>
              <a:t>α · </a:t>
            </a:r>
            <a:r>
              <a:rPr lang="en-US" sz="3000" b="1" dirty="0" err="1">
                <a:solidFill>
                  <a:srgbClr val="FF6B9A"/>
                </a:solidFill>
                <a:latin typeface="Calibri" pitchFamily="34" charset="0"/>
                <a:ea typeface="Calibri" pitchFamily="34" charset="-122"/>
                <a:cs typeface="Calibri" pitchFamily="34" charset="-120"/>
              </a:rPr>
              <a:t>Σ</a:t>
            </a:r>
            <a:r>
              <a:rPr lang="en-US" sz="3000" b="1" dirty="0">
                <a:solidFill>
                  <a:srgbClr val="FF6B9A"/>
                </a:solidFill>
                <a:latin typeface="Calibri" pitchFamily="34" charset="0"/>
                <a:ea typeface="Calibri" pitchFamily="34" charset="-122"/>
                <a:cs typeface="Calibri" pitchFamily="34" charset="-120"/>
              </a:rPr>
              <a:t> bⱼ²</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3566160"/>
          <a:ext cx="6766560" cy="1755648"/>
        </p:xfrm>
        <a:graphic>
          <a:graphicData uri="http://schemas.openxmlformats.org/drawingml/2006/table">
            <a:tbl>
              <a:tblPr/>
              <a:tblGrid>
                <a:gridCol w="11887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3891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Término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 lee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Qué 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38912">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Σ eᵢ²</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suma de e al cuadrado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el error de siempre: qué tan bien ajusta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Σ bⱼ²</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suma de be jota al cuadrado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el tamaño de los coeficientes (el intercepto no entra)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α</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alfa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fuerza del freno. Hiperparámetro: lo eliges tú</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hape 6"/>
          <p:cNvSpPr/>
          <p:nvPr/>
        </p:nvSpPr>
        <p:spPr>
          <a:xfrm>
            <a:off x="7543800" y="3566160"/>
            <a:ext cx="4142232" cy="786384"/>
          </a:xfrm>
          <a:prstGeom prst="roundRect">
            <a:avLst>
              <a:gd name="adj" fmla="val 6977"/>
            </a:avLst>
          </a:prstGeom>
          <a:solidFill>
            <a:srgbClr val="FFFFFF"/>
          </a:solidFill>
          <a:ln w="9525">
            <a:solidFill>
              <a:srgbClr val="D2DBEC"/>
            </a:solidFill>
            <a:prstDash val="solid"/>
          </a:ln>
        </p:spPr>
      </p:sp>
      <p:sp>
        <p:nvSpPr>
          <p:cNvPr id="10" name="Text 7"/>
          <p:cNvSpPr txBox="1"/>
          <p:nvPr/>
        </p:nvSpPr>
        <p:spPr>
          <a:xfrm>
            <a:off x="7726680" y="3566160"/>
            <a:ext cx="1143000" cy="786384"/>
          </a:xfrm>
          <a:prstGeom prst="rect">
            <a:avLst/>
          </a:prstGeom>
          <a:noFill/>
          <a:ln/>
        </p:spPr>
        <p:txBody>
          <a:bodyPr wrap="square" lIns="0" tIns="0" rIns="0" bIns="0" rtlCol="0" anchor="ctr"/>
          <a:lstStyle/>
          <a:p>
            <a:pPr marL="0" indent="0">
              <a:buNone/>
            </a:pPr>
            <a:r>
              <a:rPr lang="en-US" sz="1500" b="1" dirty="0">
                <a:solidFill>
                  <a:srgbClr val="1A56E8"/>
                </a:solidFill>
                <a:latin typeface="Calibri" pitchFamily="34" charset="0"/>
                <a:ea typeface="Calibri" pitchFamily="34" charset="-122"/>
                <a:cs typeface="Calibri" pitchFamily="34" charset="-120"/>
              </a:rPr>
              <a:t>α = 0</a:t>
            </a:r>
            <a:endParaRPr lang="en-US" sz="1500" dirty="0"/>
          </a:p>
        </p:txBody>
      </p:sp>
      <p:sp>
        <p:nvSpPr>
          <p:cNvPr id="11" name="Text 8"/>
          <p:cNvSpPr txBox="1"/>
          <p:nvPr/>
        </p:nvSpPr>
        <p:spPr>
          <a:xfrm>
            <a:off x="8869680" y="3566160"/>
            <a:ext cx="2697480" cy="786384"/>
          </a:xfrm>
          <a:prstGeom prst="rect">
            <a:avLst/>
          </a:prstGeom>
          <a:noFill/>
          <a:ln/>
        </p:spPr>
        <p:txBody>
          <a:bodyPr wrap="square" lIns="0" tIns="0" rIns="0" bIns="0" rtlCol="0" anchor="ctr"/>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sin freno: es la regresión lineal de la Clase 2</a:t>
            </a:r>
            <a:endParaRPr lang="en-US" sz="1150" dirty="0"/>
          </a:p>
        </p:txBody>
      </p:sp>
      <p:sp>
        <p:nvSpPr>
          <p:cNvPr id="12" name="Shape 9"/>
          <p:cNvSpPr/>
          <p:nvPr/>
        </p:nvSpPr>
        <p:spPr>
          <a:xfrm>
            <a:off x="7543800" y="4462272"/>
            <a:ext cx="4142232" cy="786384"/>
          </a:xfrm>
          <a:prstGeom prst="roundRect">
            <a:avLst>
              <a:gd name="adj" fmla="val 6977"/>
            </a:avLst>
          </a:prstGeom>
          <a:solidFill>
            <a:srgbClr val="FFFFFF"/>
          </a:solidFill>
          <a:ln w="9525">
            <a:solidFill>
              <a:srgbClr val="D2DBEC"/>
            </a:solidFill>
            <a:prstDash val="solid"/>
          </a:ln>
        </p:spPr>
      </p:sp>
      <p:sp>
        <p:nvSpPr>
          <p:cNvPr id="13" name="Text 10"/>
          <p:cNvSpPr txBox="1"/>
          <p:nvPr/>
        </p:nvSpPr>
        <p:spPr>
          <a:xfrm>
            <a:off x="7726680" y="4462272"/>
            <a:ext cx="1143000" cy="786384"/>
          </a:xfrm>
          <a:prstGeom prst="rect">
            <a:avLst/>
          </a:prstGeom>
          <a:noFill/>
          <a:ln/>
        </p:spPr>
        <p:txBody>
          <a:bodyPr wrap="square" lIns="0" tIns="0" rIns="0" bIns="0" rtlCol="0" anchor="ctr"/>
          <a:lstStyle/>
          <a:p>
            <a:pPr marL="0" indent="0">
              <a:buNone/>
            </a:pPr>
            <a:r>
              <a:rPr lang="en-US" sz="1500" b="1" dirty="0">
                <a:solidFill>
                  <a:srgbClr val="E6115E"/>
                </a:solidFill>
                <a:latin typeface="Calibri" pitchFamily="34" charset="0"/>
                <a:ea typeface="Calibri" pitchFamily="34" charset="-122"/>
                <a:cs typeface="Calibri" pitchFamily="34" charset="-120"/>
              </a:rPr>
              <a:t>α enorme</a:t>
            </a:r>
            <a:endParaRPr lang="en-US" sz="1500" dirty="0"/>
          </a:p>
        </p:txBody>
      </p:sp>
      <p:sp>
        <p:nvSpPr>
          <p:cNvPr id="14" name="Text 11"/>
          <p:cNvSpPr txBox="1"/>
          <p:nvPr/>
        </p:nvSpPr>
        <p:spPr>
          <a:xfrm>
            <a:off x="8869680" y="4462272"/>
            <a:ext cx="2697480" cy="786384"/>
          </a:xfrm>
          <a:prstGeom prst="rect">
            <a:avLst/>
          </a:prstGeom>
          <a:noFill/>
          <a:ln/>
        </p:spPr>
        <p:txBody>
          <a:bodyPr wrap="square" lIns="0" tIns="0" rIns="0" bIns="0" rtlCol="0" anchor="ctr"/>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el freno gana: todos los coeficientes van a 0 y el modelo predice el promedio</a:t>
            </a:r>
            <a:endParaRPr lang="en-US" sz="1150" dirty="0"/>
          </a:p>
        </p:txBody>
      </p:sp>
      <p:sp>
        <p:nvSpPr>
          <p:cNvPr id="15" name="Shape 12"/>
          <p:cNvSpPr/>
          <p:nvPr/>
        </p:nvSpPr>
        <p:spPr>
          <a:xfrm>
            <a:off x="7543800" y="5358384"/>
            <a:ext cx="4142232" cy="786384"/>
          </a:xfrm>
          <a:prstGeom prst="roundRect">
            <a:avLst>
              <a:gd name="adj" fmla="val 6977"/>
            </a:avLst>
          </a:prstGeom>
          <a:solidFill>
            <a:srgbClr val="0A2559"/>
          </a:solidFill>
          <a:ln w="9525">
            <a:solidFill>
              <a:srgbClr val="0A2559"/>
            </a:solidFill>
            <a:prstDash val="solid"/>
          </a:ln>
        </p:spPr>
      </p:sp>
      <p:sp>
        <p:nvSpPr>
          <p:cNvPr id="16" name="Text 13"/>
          <p:cNvSpPr txBox="1"/>
          <p:nvPr/>
        </p:nvSpPr>
        <p:spPr>
          <a:xfrm>
            <a:off x="7726680" y="5358384"/>
            <a:ext cx="1143000" cy="786384"/>
          </a:xfrm>
          <a:prstGeom prst="rect">
            <a:avLst/>
          </a:prstGeom>
          <a:noFill/>
          <a:ln/>
        </p:spPr>
        <p:txBody>
          <a:bodyPr wrap="square" lIns="0" tIns="0" rIns="0" bIns="0" rtlCol="0" anchor="ctr"/>
          <a:lstStyle/>
          <a:p>
            <a:pPr marL="0" indent="0">
              <a:buNone/>
            </a:pPr>
            <a:r>
              <a:rPr lang="en-US" sz="1500" b="1" dirty="0">
                <a:solidFill>
                  <a:srgbClr val="12B886"/>
                </a:solidFill>
                <a:latin typeface="Calibri" pitchFamily="34" charset="0"/>
                <a:ea typeface="Calibri" pitchFamily="34" charset="-122"/>
                <a:cs typeface="Calibri" pitchFamily="34" charset="-120"/>
              </a:rPr>
              <a:t>en medio</a:t>
            </a:r>
            <a:endParaRPr lang="en-US" sz="1500" dirty="0"/>
          </a:p>
        </p:txBody>
      </p:sp>
      <p:sp>
        <p:nvSpPr>
          <p:cNvPr id="17" name="Text 14"/>
          <p:cNvSpPr txBox="1"/>
          <p:nvPr/>
        </p:nvSpPr>
        <p:spPr>
          <a:xfrm>
            <a:off x="8869680" y="5358384"/>
            <a:ext cx="2697480" cy="786384"/>
          </a:xfrm>
          <a:prstGeom prst="rect">
            <a:avLst/>
          </a:prstGeom>
          <a:noFill/>
          <a:ln/>
        </p:spPr>
        <p:txBody>
          <a:bodyPr wrap="square" lIns="0" tIns="0" rIns="0" bIns="0" rtlCol="0" anchor="ctr"/>
          <a:lstStyle/>
          <a:p>
            <a:pPr marL="0" indent="0">
              <a:spcAft>
                <a:spcPts val="400"/>
              </a:spcAft>
              <a:buNone/>
            </a:pPr>
            <a:r>
              <a:rPr lang="en-US" sz="1150" dirty="0">
                <a:solidFill>
                  <a:srgbClr val="C9D4EA"/>
                </a:solidFill>
                <a:latin typeface="Calibri" pitchFamily="34" charset="0"/>
                <a:ea typeface="Calibri" pitchFamily="34" charset="-122"/>
                <a:cs typeface="Calibri" pitchFamily="34" charset="-120"/>
              </a:rPr>
              <a:t>acepta ajustar un poco peor a cambio de coeficientes más modestos y estables</a:t>
            </a:r>
            <a:endParaRPr lang="en-US" sz="1150" dirty="0"/>
          </a:p>
        </p:txBody>
      </p:sp>
      <p:sp>
        <p:nvSpPr>
          <p:cNvPr id="18" name="Text 15"/>
          <p:cNvSpPr txBox="1"/>
          <p:nvPr/>
        </p:nvSpPr>
        <p:spPr>
          <a:xfrm>
            <a:off x="502920" y="5577840"/>
            <a:ext cx="6766560" cy="548640"/>
          </a:xfrm>
          <a:prstGeom prst="rect">
            <a:avLst/>
          </a:prstGeom>
          <a:noFill/>
          <a:ln/>
        </p:spPr>
        <p:txBody>
          <a:bodyPr wrap="square" lIns="0" tIns="0" rIns="0" bIns="0" rtlCol="0" anchor="t"/>
          <a:lstStyle/>
          <a:p>
            <a:pPr marL="0" indent="0">
              <a:spcAft>
                <a:spcPts val="400"/>
              </a:spcAft>
              <a:buNone/>
            </a:pPr>
            <a:r>
              <a:rPr lang="en-US" sz="1200" i="1" dirty="0">
                <a:solidFill>
                  <a:srgbClr val="5B6B87"/>
                </a:solidFill>
                <a:latin typeface="Calibri" pitchFamily="34" charset="0"/>
                <a:ea typeface="Calibri" pitchFamily="34" charset="-122"/>
                <a:cs typeface="Calibri" pitchFamily="34" charset="-120"/>
              </a:rPr>
              <a:t>Es la curva de la Clase 1 otra vez: α es un control de complejidad, como la profundidad del árbol o el grado del polinomio.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1</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Ridge a mano: α suma al denominador</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Los 5 distritos de la Clase 2. Con una variable, la pendiente de Ridge tiene fórmula cerrada.</a:t>
            </a:r>
            <a:endParaRPr lang="en-US" sz="1400" dirty="0"/>
          </a:p>
        </p:txBody>
      </p:sp>
      <p:sp>
        <p:nvSpPr>
          <p:cNvPr id="6" name="Shape 4"/>
          <p:cNvSpPr/>
          <p:nvPr/>
        </p:nvSpPr>
        <p:spPr>
          <a:xfrm>
            <a:off x="502920" y="2103120"/>
            <a:ext cx="4937760" cy="1828800"/>
          </a:xfrm>
          <a:prstGeom prst="roundRect">
            <a:avLst>
              <a:gd name="adj" fmla="val 3000"/>
            </a:avLst>
          </a:prstGeom>
          <a:solidFill>
            <a:srgbClr val="0A2559"/>
          </a:solidFill>
          <a:ln w="9525">
            <a:solidFill>
              <a:srgbClr val="0A2559"/>
            </a:solidFill>
            <a:prstDash val="solid"/>
          </a:ln>
        </p:spPr>
      </p:sp>
      <p:sp>
        <p:nvSpPr>
          <p:cNvPr id="7" name="Text 5"/>
          <p:cNvSpPr txBox="1"/>
          <p:nvPr/>
        </p:nvSpPr>
        <p:spPr>
          <a:xfrm>
            <a:off x="502920" y="2194560"/>
            <a:ext cx="49377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b₁ = Σ dx·dy / (Σ dx² + α)</a:t>
            </a:r>
            <a:endParaRPr lang="en-US" sz="2200" dirty="0"/>
          </a:p>
        </p:txBody>
      </p:sp>
      <p:sp>
        <p:nvSpPr>
          <p:cNvPr id="8" name="Text 6"/>
          <p:cNvSpPr txBox="1"/>
          <p:nvPr/>
        </p:nvSpPr>
        <p:spPr>
          <a:xfrm>
            <a:off x="731520" y="3063240"/>
            <a:ext cx="4480560" cy="822960"/>
          </a:xfrm>
          <a:prstGeom prst="rect">
            <a:avLst/>
          </a:prstGeom>
          <a:noFill/>
          <a:ln/>
        </p:spPr>
        <p:txBody>
          <a:bodyPr wrap="square" lIns="0" tIns="0" rIns="0" bIns="0" rtlCol="0" anchor="t"/>
          <a:lstStyle/>
          <a:p>
            <a:pPr marL="0" indent="0" algn="ctr">
              <a:spcAft>
                <a:spcPts val="400"/>
              </a:spcAft>
              <a:buNone/>
            </a:pPr>
            <a:r>
              <a:rPr lang="en-US" sz="1200" dirty="0">
                <a:solidFill>
                  <a:srgbClr val="C9D4EA"/>
                </a:solidFill>
                <a:latin typeface="Calibri" pitchFamily="34" charset="0"/>
                <a:ea typeface="Calibri" pitchFamily="34" charset="-122"/>
                <a:cs typeface="Calibri" pitchFamily="34" charset="-120"/>
              </a:rPr>
              <a:t>Con los 5 distritos: Σ dx·dy = 250 y Σ dx² = 10. Con α = 0 es exactamente la fórmula de mínimos cuadrados.</a:t>
            </a:r>
            <a:endParaRPr lang="en-US" sz="1200" dirty="0"/>
          </a:p>
        </p:txBody>
      </p:sp>
      <p:sp>
        <p:nvSpPr>
          <p:cNvPr id="9" name="Shape 7"/>
          <p:cNvSpPr/>
          <p:nvPr/>
        </p:nvSpPr>
        <p:spPr>
          <a:xfrm>
            <a:off x="5715000" y="2103120"/>
            <a:ext cx="5971032" cy="4114800"/>
          </a:xfrm>
          <a:prstGeom prst="roundRect">
            <a:avLst>
              <a:gd name="adj" fmla="val 1333"/>
            </a:avLst>
          </a:prstGeom>
          <a:solidFill>
            <a:srgbClr val="FFFFFF"/>
          </a:solidFill>
          <a:ln w="9525">
            <a:solidFill>
              <a:srgbClr val="D2DBEC"/>
            </a:solidFill>
            <a:prstDash val="solid"/>
          </a:ln>
        </p:spPr>
      </p:sp>
      <p:sp>
        <p:nvSpPr>
          <p:cNvPr id="10" name="Shape 8"/>
          <p:cNvSpPr/>
          <p:nvPr/>
        </p:nvSpPr>
        <p:spPr>
          <a:xfrm>
            <a:off x="5943600" y="2350008"/>
            <a:ext cx="128016" cy="128016"/>
          </a:xfrm>
          <a:prstGeom prst="roundRect">
            <a:avLst>
              <a:gd name="adj" fmla="val 21429"/>
            </a:avLst>
          </a:prstGeom>
          <a:solidFill>
            <a:srgbClr val="E6115E"/>
          </a:solidFill>
          <a:ln w="12700">
            <a:solidFill>
              <a:srgbClr val="E6115E"/>
            </a:solidFill>
            <a:prstDash val="solid"/>
          </a:ln>
        </p:spPr>
      </p:sp>
      <p:sp>
        <p:nvSpPr>
          <p:cNvPr id="11" name="Text 9"/>
          <p:cNvSpPr txBox="1"/>
          <p:nvPr/>
        </p:nvSpPr>
        <p:spPr>
          <a:xfrm>
            <a:off x="6172200" y="2240280"/>
            <a:ext cx="533095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pendiente según el freno</a:t>
            </a:r>
            <a:endParaRPr lang="en-US" sz="1400" dirty="0"/>
          </a:p>
        </p:txBody>
      </p:sp>
      <p:sp>
        <p:nvSpPr>
          <p:cNvPr id="12" name="Text 10"/>
          <p:cNvSpPr txBox="1"/>
          <p:nvPr/>
        </p:nvSpPr>
        <p:spPr>
          <a:xfrm>
            <a:off x="5943600" y="2697480"/>
            <a:ext cx="1005840" cy="54864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α = 0</a:t>
            </a:r>
            <a:endParaRPr lang="en-US" sz="1400" dirty="0"/>
          </a:p>
        </p:txBody>
      </p:sp>
      <p:sp>
        <p:nvSpPr>
          <p:cNvPr id="13" name="Text 11"/>
          <p:cNvSpPr txBox="1"/>
          <p:nvPr/>
        </p:nvSpPr>
        <p:spPr>
          <a:xfrm>
            <a:off x="6949440" y="2697480"/>
            <a:ext cx="1005840" cy="548640"/>
          </a:xfrm>
          <a:prstGeom prst="rect">
            <a:avLst/>
          </a:prstGeom>
          <a:noFill/>
          <a:ln/>
        </p:spPr>
        <p:txBody>
          <a:bodyPr wrap="square" lIns="0" tIns="0" rIns="0" bIns="0" rtlCol="0" anchor="ctr"/>
          <a:lstStyle/>
          <a:p>
            <a:pPr marL="0" indent="0">
              <a:buNone/>
            </a:pPr>
            <a:r>
              <a:rPr lang="en-US" sz="1200" dirty="0">
                <a:solidFill>
                  <a:srgbClr val="5B6B87"/>
                </a:solidFill>
                <a:latin typeface="Calibri" pitchFamily="34" charset="0"/>
                <a:ea typeface="Calibri" pitchFamily="34" charset="-122"/>
                <a:cs typeface="Calibri" pitchFamily="34" charset="-120"/>
              </a:rPr>
              <a:t>250 / 10</a:t>
            </a:r>
            <a:endParaRPr lang="en-US" sz="1200" dirty="0"/>
          </a:p>
        </p:txBody>
      </p:sp>
      <p:sp>
        <p:nvSpPr>
          <p:cNvPr id="14" name="Shape 12"/>
          <p:cNvSpPr/>
          <p:nvPr/>
        </p:nvSpPr>
        <p:spPr>
          <a:xfrm>
            <a:off x="8001000" y="2807208"/>
            <a:ext cx="3291840" cy="329184"/>
          </a:xfrm>
          <a:prstGeom prst="rect">
            <a:avLst/>
          </a:prstGeom>
          <a:solidFill>
            <a:srgbClr val="1A56E8"/>
          </a:solidFill>
          <a:ln w="12700">
            <a:solidFill>
              <a:srgbClr val="E6115E"/>
            </a:solidFill>
            <a:prstDash val="solid"/>
          </a:ln>
        </p:spPr>
      </p:sp>
      <p:sp>
        <p:nvSpPr>
          <p:cNvPr id="15" name="Text 13"/>
          <p:cNvSpPr txBox="1"/>
          <p:nvPr/>
        </p:nvSpPr>
        <p:spPr>
          <a:xfrm>
            <a:off x="11384280" y="2697480"/>
            <a:ext cx="822960" cy="548640"/>
          </a:xfrm>
          <a:prstGeom prst="rect">
            <a:avLst/>
          </a:prstGeom>
          <a:noFill/>
          <a:ln/>
        </p:spPr>
        <p:txBody>
          <a:bodyPr wrap="square" lIns="0" tIns="0" rIns="0" bIns="0" rtlCol="0" anchor="ctr"/>
          <a:lstStyle/>
          <a:p>
            <a:pPr marL="0" indent="0">
              <a:buNone/>
            </a:pPr>
            <a:r>
              <a:rPr lang="en-US" sz="1500" b="1" dirty="0">
                <a:solidFill>
                  <a:srgbClr val="1A56E8"/>
                </a:solidFill>
                <a:latin typeface="Calibri" pitchFamily="34" charset="0"/>
                <a:ea typeface="Calibri" pitchFamily="34" charset="-122"/>
                <a:cs typeface="Calibri" pitchFamily="34" charset="-120"/>
              </a:rPr>
              <a:t>25.0</a:t>
            </a:r>
            <a:endParaRPr lang="en-US" sz="1500" dirty="0"/>
          </a:p>
        </p:txBody>
      </p:sp>
      <p:sp>
        <p:nvSpPr>
          <p:cNvPr id="16" name="Text 14"/>
          <p:cNvSpPr txBox="1"/>
          <p:nvPr/>
        </p:nvSpPr>
        <p:spPr>
          <a:xfrm>
            <a:off x="5943600" y="3520440"/>
            <a:ext cx="1005840" cy="54864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α = 10</a:t>
            </a:r>
            <a:endParaRPr lang="en-US" sz="1400" dirty="0"/>
          </a:p>
        </p:txBody>
      </p:sp>
      <p:sp>
        <p:nvSpPr>
          <p:cNvPr id="17" name="Text 15"/>
          <p:cNvSpPr txBox="1"/>
          <p:nvPr/>
        </p:nvSpPr>
        <p:spPr>
          <a:xfrm>
            <a:off x="6949440" y="3520440"/>
            <a:ext cx="1005840" cy="548640"/>
          </a:xfrm>
          <a:prstGeom prst="rect">
            <a:avLst/>
          </a:prstGeom>
          <a:noFill/>
          <a:ln/>
        </p:spPr>
        <p:txBody>
          <a:bodyPr wrap="square" lIns="0" tIns="0" rIns="0" bIns="0" rtlCol="0" anchor="ctr"/>
          <a:lstStyle/>
          <a:p>
            <a:pPr marL="0" indent="0">
              <a:buNone/>
            </a:pPr>
            <a:r>
              <a:rPr lang="en-US" sz="1200" dirty="0">
                <a:solidFill>
                  <a:srgbClr val="5B6B87"/>
                </a:solidFill>
                <a:latin typeface="Calibri" pitchFamily="34" charset="0"/>
                <a:ea typeface="Calibri" pitchFamily="34" charset="-122"/>
                <a:cs typeface="Calibri" pitchFamily="34" charset="-120"/>
              </a:rPr>
              <a:t>250 / 20</a:t>
            </a:r>
            <a:endParaRPr lang="en-US" sz="1200" dirty="0"/>
          </a:p>
        </p:txBody>
      </p:sp>
      <p:sp>
        <p:nvSpPr>
          <p:cNvPr id="18" name="Shape 16"/>
          <p:cNvSpPr/>
          <p:nvPr/>
        </p:nvSpPr>
        <p:spPr>
          <a:xfrm>
            <a:off x="8001000" y="3630168"/>
            <a:ext cx="1645920" cy="329184"/>
          </a:xfrm>
          <a:prstGeom prst="rect">
            <a:avLst/>
          </a:prstGeom>
          <a:solidFill>
            <a:srgbClr val="E6115E"/>
          </a:solidFill>
          <a:ln w="12700">
            <a:solidFill>
              <a:srgbClr val="E6115E"/>
            </a:solidFill>
            <a:prstDash val="solid"/>
          </a:ln>
        </p:spPr>
      </p:sp>
      <p:sp>
        <p:nvSpPr>
          <p:cNvPr id="19" name="Text 17"/>
          <p:cNvSpPr txBox="1"/>
          <p:nvPr/>
        </p:nvSpPr>
        <p:spPr>
          <a:xfrm>
            <a:off x="9738360" y="3520440"/>
            <a:ext cx="822960" cy="548640"/>
          </a:xfrm>
          <a:prstGeom prst="rect">
            <a:avLst/>
          </a:prstGeom>
          <a:noFill/>
          <a:ln/>
        </p:spPr>
        <p:txBody>
          <a:bodyPr wrap="square" lIns="0" tIns="0" rIns="0" bIns="0" rtlCol="0" anchor="ctr"/>
          <a:lstStyle/>
          <a:p>
            <a:pPr marL="0" indent="0">
              <a:buNone/>
            </a:pPr>
            <a:r>
              <a:rPr lang="en-US" sz="1500" b="1" dirty="0">
                <a:solidFill>
                  <a:srgbClr val="E6115E"/>
                </a:solidFill>
                <a:latin typeface="Calibri" pitchFamily="34" charset="0"/>
                <a:ea typeface="Calibri" pitchFamily="34" charset="-122"/>
                <a:cs typeface="Calibri" pitchFamily="34" charset="-120"/>
              </a:rPr>
              <a:t>12.5</a:t>
            </a:r>
            <a:endParaRPr lang="en-US" sz="1500" dirty="0"/>
          </a:p>
        </p:txBody>
      </p:sp>
      <p:sp>
        <p:nvSpPr>
          <p:cNvPr id="20" name="Text 18"/>
          <p:cNvSpPr txBox="1"/>
          <p:nvPr/>
        </p:nvSpPr>
        <p:spPr>
          <a:xfrm>
            <a:off x="5943600" y="4343400"/>
            <a:ext cx="1005840" cy="54864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α = 40</a:t>
            </a:r>
            <a:endParaRPr lang="en-US" sz="1400" dirty="0"/>
          </a:p>
        </p:txBody>
      </p:sp>
      <p:sp>
        <p:nvSpPr>
          <p:cNvPr id="21" name="Text 19"/>
          <p:cNvSpPr txBox="1"/>
          <p:nvPr/>
        </p:nvSpPr>
        <p:spPr>
          <a:xfrm>
            <a:off x="6949440" y="4343400"/>
            <a:ext cx="1005840" cy="548640"/>
          </a:xfrm>
          <a:prstGeom prst="rect">
            <a:avLst/>
          </a:prstGeom>
          <a:noFill/>
          <a:ln/>
        </p:spPr>
        <p:txBody>
          <a:bodyPr wrap="square" lIns="0" tIns="0" rIns="0" bIns="0" rtlCol="0" anchor="ctr"/>
          <a:lstStyle/>
          <a:p>
            <a:pPr marL="0" indent="0">
              <a:buNone/>
            </a:pPr>
            <a:r>
              <a:rPr lang="en-US" sz="1200" dirty="0">
                <a:solidFill>
                  <a:srgbClr val="5B6B87"/>
                </a:solidFill>
                <a:latin typeface="Calibri" pitchFamily="34" charset="0"/>
                <a:ea typeface="Calibri" pitchFamily="34" charset="-122"/>
                <a:cs typeface="Calibri" pitchFamily="34" charset="-120"/>
              </a:rPr>
              <a:t>250 / 50</a:t>
            </a:r>
            <a:endParaRPr lang="en-US" sz="1200" dirty="0"/>
          </a:p>
        </p:txBody>
      </p:sp>
      <p:sp>
        <p:nvSpPr>
          <p:cNvPr id="22" name="Shape 20"/>
          <p:cNvSpPr/>
          <p:nvPr/>
        </p:nvSpPr>
        <p:spPr>
          <a:xfrm>
            <a:off x="8001000" y="4453128"/>
            <a:ext cx="658368" cy="329184"/>
          </a:xfrm>
          <a:prstGeom prst="rect">
            <a:avLst/>
          </a:prstGeom>
          <a:solidFill>
            <a:srgbClr val="E6115E"/>
          </a:solidFill>
          <a:ln w="12700">
            <a:solidFill>
              <a:srgbClr val="E6115E"/>
            </a:solidFill>
            <a:prstDash val="solid"/>
          </a:ln>
        </p:spPr>
      </p:sp>
      <p:sp>
        <p:nvSpPr>
          <p:cNvPr id="23" name="Text 21"/>
          <p:cNvSpPr txBox="1"/>
          <p:nvPr/>
        </p:nvSpPr>
        <p:spPr>
          <a:xfrm>
            <a:off x="8750808" y="4343400"/>
            <a:ext cx="822960" cy="548640"/>
          </a:xfrm>
          <a:prstGeom prst="rect">
            <a:avLst/>
          </a:prstGeom>
          <a:noFill/>
          <a:ln/>
        </p:spPr>
        <p:txBody>
          <a:bodyPr wrap="square" lIns="0" tIns="0" rIns="0" bIns="0" rtlCol="0" anchor="ctr"/>
          <a:lstStyle/>
          <a:p>
            <a:pPr marL="0" indent="0">
              <a:buNone/>
            </a:pPr>
            <a:r>
              <a:rPr lang="en-US" sz="1500" b="1" dirty="0">
                <a:solidFill>
                  <a:srgbClr val="E6115E"/>
                </a:solidFill>
                <a:latin typeface="Calibri" pitchFamily="34" charset="0"/>
                <a:ea typeface="Calibri" pitchFamily="34" charset="-122"/>
                <a:cs typeface="Calibri" pitchFamily="34" charset="-120"/>
              </a:rPr>
              <a:t>5.0</a:t>
            </a:r>
            <a:endParaRPr lang="en-US" sz="1500" dirty="0"/>
          </a:p>
        </p:txBody>
      </p:sp>
      <p:sp>
        <p:nvSpPr>
          <p:cNvPr id="24" name="Text 22"/>
          <p:cNvSpPr txBox="1"/>
          <p:nvPr/>
        </p:nvSpPr>
        <p:spPr>
          <a:xfrm>
            <a:off x="5943600" y="5166360"/>
            <a:ext cx="1005840" cy="54864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α = 90</a:t>
            </a:r>
            <a:endParaRPr lang="en-US" sz="1400" dirty="0"/>
          </a:p>
        </p:txBody>
      </p:sp>
      <p:sp>
        <p:nvSpPr>
          <p:cNvPr id="25" name="Text 23"/>
          <p:cNvSpPr txBox="1"/>
          <p:nvPr/>
        </p:nvSpPr>
        <p:spPr>
          <a:xfrm>
            <a:off x="6949440" y="5166360"/>
            <a:ext cx="1005840" cy="548640"/>
          </a:xfrm>
          <a:prstGeom prst="rect">
            <a:avLst/>
          </a:prstGeom>
          <a:noFill/>
          <a:ln/>
        </p:spPr>
        <p:txBody>
          <a:bodyPr wrap="square" lIns="0" tIns="0" rIns="0" bIns="0" rtlCol="0" anchor="ctr"/>
          <a:lstStyle/>
          <a:p>
            <a:pPr marL="0" indent="0">
              <a:buNone/>
            </a:pPr>
            <a:r>
              <a:rPr lang="en-US" sz="1200" dirty="0">
                <a:solidFill>
                  <a:srgbClr val="5B6B87"/>
                </a:solidFill>
                <a:latin typeface="Calibri" pitchFamily="34" charset="0"/>
                <a:ea typeface="Calibri" pitchFamily="34" charset="-122"/>
                <a:cs typeface="Calibri" pitchFamily="34" charset="-120"/>
              </a:rPr>
              <a:t>250 / 100</a:t>
            </a:r>
            <a:endParaRPr lang="en-US" sz="1200" dirty="0"/>
          </a:p>
        </p:txBody>
      </p:sp>
      <p:sp>
        <p:nvSpPr>
          <p:cNvPr id="26" name="Shape 24"/>
          <p:cNvSpPr/>
          <p:nvPr/>
        </p:nvSpPr>
        <p:spPr>
          <a:xfrm>
            <a:off x="8001000" y="5276088"/>
            <a:ext cx="329184" cy="329184"/>
          </a:xfrm>
          <a:prstGeom prst="rect">
            <a:avLst/>
          </a:prstGeom>
          <a:solidFill>
            <a:srgbClr val="E6115E"/>
          </a:solidFill>
          <a:ln w="12700">
            <a:solidFill>
              <a:srgbClr val="E6115E"/>
            </a:solidFill>
            <a:prstDash val="solid"/>
          </a:ln>
        </p:spPr>
      </p:sp>
      <p:sp>
        <p:nvSpPr>
          <p:cNvPr id="27" name="Text 25"/>
          <p:cNvSpPr txBox="1"/>
          <p:nvPr/>
        </p:nvSpPr>
        <p:spPr>
          <a:xfrm>
            <a:off x="8421624" y="5166360"/>
            <a:ext cx="822960" cy="548640"/>
          </a:xfrm>
          <a:prstGeom prst="rect">
            <a:avLst/>
          </a:prstGeom>
          <a:noFill/>
          <a:ln/>
        </p:spPr>
        <p:txBody>
          <a:bodyPr wrap="square" lIns="0" tIns="0" rIns="0" bIns="0" rtlCol="0" anchor="ctr"/>
          <a:lstStyle/>
          <a:p>
            <a:pPr marL="0" indent="0">
              <a:buNone/>
            </a:pPr>
            <a:r>
              <a:rPr lang="en-US" sz="1500" b="1" dirty="0">
                <a:solidFill>
                  <a:srgbClr val="E6115E"/>
                </a:solidFill>
                <a:latin typeface="Calibri" pitchFamily="34" charset="0"/>
                <a:ea typeface="Calibri" pitchFamily="34" charset="-122"/>
                <a:cs typeface="Calibri" pitchFamily="34" charset="-120"/>
              </a:rPr>
              <a:t>2.5</a:t>
            </a:r>
            <a:endParaRPr lang="en-US" sz="1500" dirty="0"/>
          </a:p>
        </p:txBody>
      </p:sp>
      <p:sp>
        <p:nvSpPr>
          <p:cNvPr id="28" name="Text 26"/>
          <p:cNvSpPr txBox="1"/>
          <p:nvPr/>
        </p:nvSpPr>
        <p:spPr>
          <a:xfrm>
            <a:off x="5943600" y="5806440"/>
            <a:ext cx="5486400" cy="320040"/>
          </a:xfrm>
          <a:prstGeom prst="rect">
            <a:avLst/>
          </a:prstGeom>
          <a:noFill/>
          <a:ln/>
        </p:spPr>
        <p:txBody>
          <a:bodyPr wrap="square" lIns="0" tIns="0" rIns="0" bIns="0" rtlCol="0" anchor="t"/>
          <a:lstStyle/>
          <a:p>
            <a:pPr marL="0" indent="0">
              <a:spcAft>
                <a:spcPts val="400"/>
              </a:spcAft>
              <a:buNone/>
            </a:pPr>
            <a:r>
              <a:rPr lang="en-US" sz="1150" i="1" dirty="0">
                <a:solidFill>
                  <a:srgbClr val="5B6B87"/>
                </a:solidFill>
                <a:latin typeface="Calibri" pitchFamily="34" charset="0"/>
                <a:ea typeface="Calibri" pitchFamily="34" charset="-122"/>
                <a:cs typeface="Calibri" pitchFamily="34" charset="-120"/>
              </a:rPr>
              <a:t>Se acerca a cero, pero nunca llega: esa es la marca de Ridge.</a:t>
            </a:r>
            <a:endParaRPr lang="en-US" sz="1150" dirty="0"/>
          </a:p>
        </p:txBody>
      </p:sp>
      <p:sp>
        <p:nvSpPr>
          <p:cNvPr id="29" name="Shape 27"/>
          <p:cNvSpPr/>
          <p:nvPr/>
        </p:nvSpPr>
        <p:spPr>
          <a:xfrm>
            <a:off x="502920" y="4160520"/>
            <a:ext cx="4937760" cy="2057400"/>
          </a:xfrm>
          <a:prstGeom prst="roundRect">
            <a:avLst>
              <a:gd name="adj" fmla="val 2667"/>
            </a:avLst>
          </a:prstGeom>
          <a:solidFill>
            <a:srgbClr val="E9EEF8"/>
          </a:solidFill>
          <a:ln w="9525">
            <a:solidFill>
              <a:srgbClr val="D2DBEC"/>
            </a:solidFill>
            <a:prstDash val="solid"/>
          </a:ln>
        </p:spPr>
      </p:sp>
      <p:sp>
        <p:nvSpPr>
          <p:cNvPr id="30" name="Shape 28"/>
          <p:cNvSpPr/>
          <p:nvPr/>
        </p:nvSpPr>
        <p:spPr>
          <a:xfrm>
            <a:off x="731520" y="4407408"/>
            <a:ext cx="128016" cy="128016"/>
          </a:xfrm>
          <a:prstGeom prst="roundRect">
            <a:avLst>
              <a:gd name="adj" fmla="val 21429"/>
            </a:avLst>
          </a:prstGeom>
          <a:solidFill>
            <a:srgbClr val="1A56E8"/>
          </a:solidFill>
          <a:ln w="12700">
            <a:solidFill>
              <a:srgbClr val="1A56E8"/>
            </a:solidFill>
            <a:prstDash val="solid"/>
          </a:ln>
        </p:spPr>
      </p:sp>
      <p:sp>
        <p:nvSpPr>
          <p:cNvPr id="31" name="Text 29"/>
          <p:cNvSpPr txBox="1"/>
          <p:nvPr/>
        </p:nvSpPr>
        <p:spPr>
          <a:xfrm>
            <a:off x="960120" y="4297680"/>
            <a:ext cx="429768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Cómo se lee</a:t>
            </a:r>
            <a:endParaRPr lang="en-US" sz="1400" dirty="0"/>
          </a:p>
        </p:txBody>
      </p:sp>
      <p:sp>
        <p:nvSpPr>
          <p:cNvPr id="32" name="Text 30"/>
          <p:cNvSpPr txBox="1"/>
          <p:nvPr/>
        </p:nvSpPr>
        <p:spPr>
          <a:xfrm>
            <a:off x="731520" y="4663440"/>
            <a:ext cx="4480560" cy="146304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Sin freno, por cada 10 mil USD de ingreso la vivienda vale 25 mil más. Con α = 10, el modelo solo se atreve a decir 12.5 mil. Ridge prefiere quedarse corto con la pendiente antes que exagerarla. Con 5 datos eso es prudencia; con 14 000, casi no se nota.</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1</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Antes de frenar: escalar es obligatorio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castigo suma coeficientes, y el tamaño de un coeficiente depende de la unidad de su variable.</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6949440" cy="1426464"/>
        </p:xfrm>
        <a:graphic>
          <a:graphicData uri="http://schemas.openxmlformats.org/drawingml/2006/table">
            <a:tbl>
              <a:tblPr/>
              <a:tblGrid>
                <a:gridCol w="17373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7548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Variable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Unidad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Coeficiente sin escalar</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Estandarizado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7548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median_income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por cada 10 mil USD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39 959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73 675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total_rooms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por habitación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-12 905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Shape 4"/>
          <p:cNvSpPr/>
          <p:nvPr/>
        </p:nvSpPr>
        <p:spPr>
          <a:xfrm>
            <a:off x="502920" y="3657600"/>
            <a:ext cx="6949440" cy="2560320"/>
          </a:xfrm>
          <a:prstGeom prst="roundRect">
            <a:avLst>
              <a:gd name="adj" fmla="val 2143"/>
            </a:avLst>
          </a:prstGeom>
          <a:solidFill>
            <a:srgbClr val="0A2559"/>
          </a:solidFill>
          <a:ln w="9525">
            <a:solidFill>
              <a:srgbClr val="0A2559"/>
            </a:solidFill>
            <a:prstDash val="solid"/>
          </a:ln>
        </p:spPr>
      </p:sp>
      <p:sp>
        <p:nvSpPr>
          <p:cNvPr id="8" name="Shape 5"/>
          <p:cNvSpPr/>
          <p:nvPr/>
        </p:nvSpPr>
        <p:spPr>
          <a:xfrm>
            <a:off x="731520" y="3904488"/>
            <a:ext cx="128016" cy="128016"/>
          </a:xfrm>
          <a:prstGeom prst="roundRect">
            <a:avLst>
              <a:gd name="adj" fmla="val 21429"/>
            </a:avLst>
          </a:prstGeom>
          <a:solidFill>
            <a:srgbClr val="E6115E"/>
          </a:solidFill>
          <a:ln w="12700">
            <a:solidFill>
              <a:srgbClr val="E6115E"/>
            </a:solidFill>
            <a:prstDash val="solid"/>
          </a:ln>
        </p:spPr>
      </p:sp>
      <p:sp>
        <p:nvSpPr>
          <p:cNvPr id="9" name="Text 6"/>
          <p:cNvSpPr txBox="1"/>
          <p:nvPr/>
        </p:nvSpPr>
        <p:spPr>
          <a:xfrm>
            <a:off x="960120" y="3794760"/>
            <a:ext cx="630936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problema</a:t>
            </a:r>
            <a:endParaRPr lang="en-US" sz="1400" dirty="0"/>
          </a:p>
        </p:txBody>
      </p:sp>
      <p:sp>
        <p:nvSpPr>
          <p:cNvPr id="10" name="Text 7"/>
          <p:cNvSpPr txBox="1"/>
          <p:nvPr/>
        </p:nvSpPr>
        <p:spPr>
          <a:xfrm>
            <a:off x="731520" y="4160520"/>
            <a:ext cx="6492240" cy="1920240"/>
          </a:xfrm>
          <a:prstGeom prst="rect">
            <a:avLst/>
          </a:prstGeom>
          <a:noFill/>
          <a:ln/>
        </p:spPr>
        <p:txBody>
          <a:bodyPr wrap="square" lIns="0" tIns="0" rIns="0" bIns="0" rtlCol="0" anchor="t"/>
          <a:lstStyle/>
          <a:p>
            <a:pPr marL="0" indent="0">
              <a:spcAft>
                <a:spcPts val="400"/>
              </a:spcAft>
              <a:buNone/>
            </a:pPr>
            <a:r>
              <a:rPr lang="en-US" sz="1300" dirty="0">
                <a:solidFill>
                  <a:srgbClr val="C9D4EA"/>
                </a:solidFill>
                <a:latin typeface="Calibri" pitchFamily="34" charset="0"/>
                <a:ea typeface="Calibri" pitchFamily="34" charset="-122"/>
                <a:cs typeface="Calibri" pitchFamily="34" charset="-120"/>
              </a:rPr>
              <a:t>Sin escalar, el castigo de Ridge caería casi entero sobre el ingreso (su coeficiente es 6 600 veces más grande) y casi nada sobre las habitaciones. No porque el ingreso importe menos, sino porque se mide en una unidad más grande. Estandarizando, todas las variables quedan en «desviaciones estándar» y el freno es parejo.</a:t>
            </a:r>
            <a:endParaRPr lang="en-US" sz="1300" dirty="0"/>
          </a:p>
        </p:txBody>
      </p:sp>
      <p:sp>
        <p:nvSpPr>
          <p:cNvPr id="11" name="Shape 8"/>
          <p:cNvSpPr/>
          <p:nvPr/>
        </p:nvSpPr>
        <p:spPr>
          <a:xfrm>
            <a:off x="7726680" y="2103120"/>
            <a:ext cx="3959352" cy="4114800"/>
          </a:xfrm>
          <a:prstGeom prst="roundRect">
            <a:avLst>
              <a:gd name="adj" fmla="val 1386"/>
            </a:avLst>
          </a:prstGeom>
          <a:solidFill>
            <a:srgbClr val="061834"/>
          </a:solidFill>
          <a:ln w="9525">
            <a:solidFill>
              <a:srgbClr val="061834"/>
            </a:solidFill>
            <a:prstDash val="solid"/>
          </a:ln>
        </p:spPr>
      </p:sp>
      <p:sp>
        <p:nvSpPr>
          <p:cNvPr id="12" name="Text 9"/>
          <p:cNvSpPr txBox="1"/>
          <p:nvPr/>
        </p:nvSpPr>
        <p:spPr>
          <a:xfrm>
            <a:off x="7955280" y="2331720"/>
            <a:ext cx="3566160" cy="3657600"/>
          </a:xfrm>
          <a:prstGeom prst="rect">
            <a:avLst/>
          </a:prstGeom>
          <a:noFill/>
          <a:ln/>
        </p:spPr>
        <p:txBody>
          <a:bodyPr wrap="square" lIns="0" tIns="0" rIns="0" bIns="0" rtlCol="0" anchor="t"/>
          <a:lstStyle/>
          <a:p>
            <a:pPr marL="0" indent="0">
              <a:buNone/>
            </a:pPr>
            <a:r>
              <a:rPr lang="en-US" sz="1250" dirty="0">
                <a:solidFill>
                  <a:srgbClr val="C9D4EA"/>
                </a:solidFill>
                <a:latin typeface="Courier New" pitchFamily="34" charset="0"/>
                <a:ea typeface="Courier New" pitchFamily="34" charset="-122"/>
                <a:cs typeface="Courier New" pitchFamily="34" charset="-120"/>
              </a:rPr>
              <a:t>modelo = make_pipeline(</a:t>
            </a:r>
            <a:endParaRPr lang="en-US" sz="1250" dirty="0"/>
          </a:p>
          <a:p>
            <a:pPr marL="0" indent="0">
              <a:buNone/>
            </a:pPr>
            <a:r>
              <a:rPr lang="en-US" sz="1250" b="1" dirty="0">
                <a:solidFill>
                  <a:srgbClr val="FFFFFF"/>
                </a:solidFill>
                <a:latin typeface="Courier New" pitchFamily="34" charset="0"/>
                <a:ea typeface="Courier New" pitchFamily="34" charset="-122"/>
                <a:cs typeface="Courier New" pitchFamily="34" charset="-120"/>
              </a:rPr>
              <a:t>    StandardScaler(),</a:t>
            </a:r>
            <a:endParaRPr lang="en-US" sz="1250" dirty="0"/>
          </a:p>
          <a:p>
            <a:pPr marL="0" indent="0">
              <a:buNone/>
            </a:pPr>
            <a:r>
              <a:rPr lang="en-US" sz="1250" b="1" dirty="0">
                <a:solidFill>
                  <a:srgbClr val="FFFFFF"/>
                </a:solidFill>
                <a:latin typeface="Courier New" pitchFamily="34" charset="0"/>
                <a:ea typeface="Courier New" pitchFamily="34" charset="-122"/>
                <a:cs typeface="Courier New" pitchFamily="34" charset="-120"/>
              </a:rPr>
              <a:t>    Ridge(alpha=10)</a:t>
            </a:r>
            <a:endParaRPr lang="en-US" sz="1250" dirty="0"/>
          </a:p>
          <a:p>
            <a:pPr marL="0" indent="0">
              <a:buNone/>
            </a:pPr>
            <a:r>
              <a:rPr lang="en-US" sz="1250" dirty="0">
                <a:solidFill>
                  <a:srgbClr val="C9D4EA"/>
                </a:solidFill>
                <a:latin typeface="Courier New" pitchFamily="34" charset="0"/>
                <a:ea typeface="Courier New" pitchFamily="34" charset="-122"/>
                <a:cs typeface="Courier New" pitchFamily="34" charset="-120"/>
              </a:rPr>
              <a:t>)</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a:t>
            </a:r>
            <a:endParaRPr lang="en-US" sz="1250" dirty="0"/>
          </a:p>
          <a:p>
            <a:pPr marL="0" indent="0">
              <a:buNone/>
            </a:pPr>
            <a:r>
              <a:rPr lang="en-US" sz="1250" dirty="0">
                <a:solidFill>
                  <a:srgbClr val="C9D4EA"/>
                </a:solidFill>
                <a:latin typeface="Courier New" pitchFamily="34" charset="0"/>
                <a:ea typeface="Courier New" pitchFamily="34" charset="-122"/>
                <a:cs typeface="Courier New" pitchFamily="34" charset="-120"/>
              </a:rPr>
              <a:t>modelo.fit(X_train, y_train)</a:t>
            </a:r>
            <a:endParaRPr lang="en-US" sz="1250" dirty="0"/>
          </a:p>
          <a:p>
            <a:pPr marL="0" indent="0">
              <a:buNone/>
            </a:pPr>
            <a:r>
              <a:rPr lang="en-US" sz="1250" dirty="0">
                <a:solidFill>
                  <a:srgbClr val="000000"/>
                </a:solidFill>
                <a:latin typeface="Courier New" pitchFamily="34" charset="0"/>
                <a:ea typeface="Courier New" pitchFamily="34" charset="-122"/>
                <a:cs typeface="Courier New" pitchFamily="34" charset="-120"/>
              </a:rPr>
              <a:t> </a:t>
            </a:r>
            <a:endParaRPr lang="en-US" sz="1250" dirty="0"/>
          </a:p>
          <a:p>
            <a:pPr marL="0" indent="0">
              <a:buNone/>
            </a:pPr>
            <a:r>
              <a:rPr lang="en-US" sz="1250" dirty="0">
                <a:solidFill>
                  <a:srgbClr val="6F86B8"/>
                </a:solidFill>
                <a:latin typeface="Courier New" pitchFamily="34" charset="0"/>
                <a:ea typeface="Courier New" pitchFamily="34" charset="-122"/>
                <a:cs typeface="Courier New" pitchFamily="34" charset="-120"/>
              </a:rPr>
              <a:t># el escalado se aprende con</a:t>
            </a:r>
            <a:endParaRPr lang="en-US" sz="1250" dirty="0"/>
          </a:p>
          <a:p>
            <a:pPr marL="0" indent="0">
              <a:buNone/>
            </a:pPr>
            <a:r>
              <a:rPr lang="en-US" sz="1250" dirty="0">
                <a:solidFill>
                  <a:srgbClr val="6F86B8"/>
                </a:solidFill>
                <a:latin typeface="Courier New" pitchFamily="34" charset="0"/>
                <a:ea typeface="Courier New" pitchFamily="34" charset="-122"/>
                <a:cs typeface="Courier New" pitchFamily="34" charset="-120"/>
              </a:rPr>
              <a:t># el entrenamiento y se aplica</a:t>
            </a:r>
            <a:endParaRPr lang="en-US" sz="1250" dirty="0"/>
          </a:p>
          <a:p>
            <a:pPr marL="0" indent="0">
              <a:buNone/>
            </a:pPr>
            <a:r>
              <a:rPr lang="en-US" sz="1250" dirty="0">
                <a:solidFill>
                  <a:srgbClr val="6F86B8"/>
                </a:solidFill>
                <a:latin typeface="Courier New" pitchFamily="34" charset="0"/>
                <a:ea typeface="Courier New" pitchFamily="34" charset="-122"/>
                <a:cs typeface="Courier New" pitchFamily="34" charset="-120"/>
              </a:rPr>
              <a:t># igual a la prueba</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1</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Con todos los datos casi no cambia; con pocos, estabiliza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A la izquierda, el camino de Ridge con los 14 448 distritos. A la derecha, las 5 muestras de 300 de la Clase 2.</a:t>
            </a:r>
            <a:endParaRPr lang="en-US" sz="1400" dirty="0"/>
          </a:p>
        </p:txBody>
      </p:sp>
      <p:graphicFrame>
        <p:nvGraphicFramePr>
          <p:cNvPr id="6" name="Chart 0"/>
          <p:cNvGraphicFramePr/>
          <p:nvPr/>
        </p:nvGraphicFramePr>
        <p:xfrm>
          <a:off x="502920" y="2057400"/>
          <a:ext cx="585216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502920" y="5852160"/>
            <a:ext cx="5852160" cy="320040"/>
          </a:xfrm>
          <a:prstGeom prst="rect">
            <a:avLst/>
          </a:prstGeom>
          <a:noFill/>
          <a:ln/>
        </p:spPr>
        <p:txBody>
          <a:bodyPr wrap="square" lIns="0" tIns="0" rIns="0" bIns="0" rtlCol="0" anchor="t"/>
          <a:lstStyle/>
          <a:p>
            <a:pPr marL="0" indent="0">
              <a:spcAft>
                <a:spcPts val="400"/>
              </a:spcAft>
              <a:buNone/>
            </a:pPr>
            <a:r>
              <a:rPr lang="en-US" sz="1050" i="1" dirty="0">
                <a:solidFill>
                  <a:srgbClr val="5B6B87"/>
                </a:solidFill>
                <a:latin typeface="Calibri" pitchFamily="34" charset="0"/>
                <a:ea typeface="Calibri" pitchFamily="34" charset="-122"/>
                <a:cs typeface="Calibri" pitchFamily="34" charset="-120"/>
              </a:rPr>
              <a:t>Coeficientes estandarizados. Con α = 10 todavía no se movió casi nada.</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29400" y="2103120"/>
          <a:ext cx="5056632" cy="2194560"/>
        </p:xfrm>
        <a:graphic>
          <a:graphicData uri="http://schemas.openxmlformats.org/drawingml/2006/table">
            <a:tbl>
              <a:tblPr/>
              <a:tblGrid>
                <a:gridCol w="1280160">
                  <a:extLst>
                    <a:ext uri="{9D8B030D-6E8A-4147-A177-3AD203B41FA5}">
                      <a16:colId xmlns:a16="http://schemas.microsoft.com/office/drawing/2014/main" val="20000"/>
                    </a:ext>
                  </a:extLst>
                </a:gridCol>
                <a:gridCol w="1883664">
                  <a:extLst>
                    <a:ext uri="{9D8B030D-6E8A-4147-A177-3AD203B41FA5}">
                      <a16:colId xmlns:a16="http://schemas.microsoft.com/office/drawing/2014/main" val="20001"/>
                    </a:ext>
                  </a:extLst>
                </a:gridCol>
                <a:gridCol w="1892808">
                  <a:extLst>
                    <a:ext uri="{9D8B030D-6E8A-4147-A177-3AD203B41FA5}">
                      <a16:colId xmlns:a16="http://schemas.microsoft.com/office/drawing/2014/main" val="20002"/>
                    </a:ext>
                  </a:extLst>
                </a:gridCol>
              </a:tblGrid>
              <a:tr h="36576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Muestra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Lineal: hogares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Ridge: hogares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65760">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26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61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-89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-64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88</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59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92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56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 5"/>
          <p:cNvSpPr txBox="1"/>
          <p:nvPr/>
        </p:nvSpPr>
        <p:spPr>
          <a:xfrm>
            <a:off x="6629400" y="4343400"/>
            <a:ext cx="5056632" cy="274320"/>
          </a:xfrm>
          <a:prstGeom prst="rect">
            <a:avLst/>
          </a:prstGeom>
          <a:noFill/>
          <a:ln/>
        </p:spPr>
        <p:txBody>
          <a:bodyPr wrap="square" lIns="0" tIns="0" rIns="0" bIns="0" rtlCol="0" anchor="t"/>
          <a:lstStyle/>
          <a:p>
            <a:pPr marL="0" indent="0">
              <a:spcAft>
                <a:spcPts val="400"/>
              </a:spcAft>
              <a:buNone/>
            </a:pPr>
            <a:r>
              <a:rPr lang="en-US" sz="1050" i="1" dirty="0">
                <a:solidFill>
                  <a:srgbClr val="5B6B87"/>
                </a:solidFill>
                <a:latin typeface="Calibri" pitchFamily="34" charset="0"/>
                <a:ea typeface="Calibri" pitchFamily="34" charset="-122"/>
                <a:cs typeface="Calibri" pitchFamily="34" charset="-120"/>
              </a:rPr>
              <a:t>USD por hogar adicional · Ridge α = 10</a:t>
            </a:r>
            <a:endParaRPr lang="en-US" sz="1050" dirty="0"/>
          </a:p>
        </p:txBody>
      </p:sp>
      <p:sp>
        <p:nvSpPr>
          <p:cNvPr id="10" name="Shape 6"/>
          <p:cNvSpPr/>
          <p:nvPr/>
        </p:nvSpPr>
        <p:spPr>
          <a:xfrm>
            <a:off x="6629400" y="4709160"/>
            <a:ext cx="5056632" cy="1508760"/>
          </a:xfrm>
          <a:prstGeom prst="roundRect">
            <a:avLst>
              <a:gd name="adj" fmla="val 3636"/>
            </a:avLst>
          </a:prstGeom>
          <a:solidFill>
            <a:srgbClr val="0A2559"/>
          </a:solidFill>
          <a:ln w="9525">
            <a:solidFill>
              <a:srgbClr val="0A2559"/>
            </a:solidFill>
            <a:prstDash val="solid"/>
          </a:ln>
        </p:spPr>
      </p:sp>
      <p:sp>
        <p:nvSpPr>
          <p:cNvPr id="11" name="Text 7"/>
          <p:cNvSpPr txBox="1"/>
          <p:nvPr/>
        </p:nvSpPr>
        <p:spPr>
          <a:xfrm>
            <a:off x="6858000" y="4709160"/>
            <a:ext cx="4663440" cy="1508760"/>
          </a:xfrm>
          <a:prstGeom prst="rect">
            <a:avLst/>
          </a:prstGeom>
          <a:noFill/>
          <a:ln/>
        </p:spPr>
        <p:txBody>
          <a:bodyPr wrap="square" lIns="0" tIns="0" rIns="0" bIns="0" rtlCol="0" anchor="ctr"/>
          <a:lstStyle/>
          <a:p>
            <a:pPr marL="0" indent="0">
              <a:spcAft>
                <a:spcPts val="400"/>
              </a:spcAft>
              <a:buNone/>
            </a:pPr>
            <a:r>
              <a:rPr lang="en-US" sz="1200" b="1" dirty="0">
                <a:solidFill>
                  <a:srgbClr val="FFFFFF"/>
                </a:solidFill>
                <a:latin typeface="Calibri" pitchFamily="34" charset="0"/>
                <a:ea typeface="Calibri" pitchFamily="34" charset="-122"/>
                <a:cs typeface="Calibri" pitchFamily="34" charset="-120"/>
              </a:rPr>
              <a:t>Ridge no elimina la multicolinealidad: la domestica. </a:t>
            </a:r>
            <a:r>
              <a:rPr lang="en-US" sz="1200" dirty="0">
                <a:solidFill>
                  <a:srgbClr val="C9D4EA"/>
                </a:solidFill>
                <a:latin typeface="Calibri" pitchFamily="34" charset="0"/>
                <a:ea typeface="Calibri" pitchFamily="34" charset="-122"/>
                <a:cs typeface="Calibri" pitchFamily="34" charset="-120"/>
              </a:rPr>
              <a:t>Reparte el efecto entre las variables correlacionadas en vez de dejar que una se dispare hacia arriba y otra hacia abajo. Ningún cambio de signo.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CASO REAL</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Dos papers que nacieron de problemas concretos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Ridge y Lasso no son trucos de machine learning: vienen de la estadística aplicada, y resolvían lo mismo que vimos en la Clase 2.</a:t>
            </a:r>
            <a:endParaRPr lang="en-US" sz="1400" dirty="0"/>
          </a:p>
        </p:txBody>
      </p:sp>
      <p:sp>
        <p:nvSpPr>
          <p:cNvPr id="6" name="Shape 4"/>
          <p:cNvSpPr/>
          <p:nvPr/>
        </p:nvSpPr>
        <p:spPr>
          <a:xfrm>
            <a:off x="502920" y="2103120"/>
            <a:ext cx="5486400" cy="3291840"/>
          </a:xfrm>
          <a:prstGeom prst="roundRect">
            <a:avLst>
              <a:gd name="adj" fmla="val 1667"/>
            </a:avLst>
          </a:prstGeom>
          <a:solidFill>
            <a:srgbClr val="FFFFFF"/>
          </a:solidFill>
          <a:ln w="9525">
            <a:solidFill>
              <a:srgbClr val="D2DBEC"/>
            </a:solidFill>
            <a:prstDash val="solid"/>
          </a:ln>
        </p:spPr>
      </p:sp>
      <p:sp>
        <p:nvSpPr>
          <p:cNvPr id="7" name="Text 5"/>
          <p:cNvSpPr txBox="1"/>
          <p:nvPr/>
        </p:nvSpPr>
        <p:spPr>
          <a:xfrm>
            <a:off x="731520" y="2194560"/>
            <a:ext cx="5029200" cy="822960"/>
          </a:xfrm>
          <a:prstGeom prst="rect">
            <a:avLst/>
          </a:prstGeom>
          <a:noFill/>
          <a:ln/>
        </p:spPr>
        <p:txBody>
          <a:bodyPr wrap="square" lIns="0" tIns="0" rIns="0" bIns="0" rtlCol="0" anchor="ctr"/>
          <a:lstStyle/>
          <a:p>
            <a:pPr marL="0" indent="0">
              <a:buNone/>
            </a:pPr>
            <a:r>
              <a:rPr lang="en-US" sz="4800" b="1" dirty="0">
                <a:solidFill>
                  <a:srgbClr val="1A56E8"/>
                </a:solidFill>
                <a:latin typeface="Calibri" pitchFamily="34" charset="0"/>
                <a:ea typeface="Calibri" pitchFamily="34" charset="-122"/>
                <a:cs typeface="Calibri" pitchFamily="34" charset="-120"/>
              </a:rPr>
              <a:t>1970</a:t>
            </a:r>
            <a:endParaRPr lang="en-US" sz="4800" dirty="0"/>
          </a:p>
        </p:txBody>
      </p:sp>
      <p:sp>
        <p:nvSpPr>
          <p:cNvPr id="8" name="Text 6"/>
          <p:cNvSpPr txBox="1"/>
          <p:nvPr/>
        </p:nvSpPr>
        <p:spPr>
          <a:xfrm>
            <a:off x="731520" y="3017520"/>
            <a:ext cx="5029200" cy="365760"/>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Ridge · Hoerl y Kennard</a:t>
            </a:r>
            <a:endParaRPr lang="en-US" sz="1600" dirty="0"/>
          </a:p>
        </p:txBody>
      </p:sp>
      <p:sp>
        <p:nvSpPr>
          <p:cNvPr id="9" name="Text 7"/>
          <p:cNvSpPr txBox="1"/>
          <p:nvPr/>
        </p:nvSpPr>
        <p:spPr>
          <a:xfrm>
            <a:off x="731520" y="3474720"/>
            <a:ext cx="5029200" cy="182880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Su título lo dice todo: «estimación sesgada para problemas no ortogonales». No ortogonal significa variables explicativas correlacionadas. Propusieron aceptar un poco de sesgo (coeficientes algo más chicos de lo «correcto») a cambio de mucha menos varianza: coeficientes que no saltan de una muestra a otra.</a:t>
            </a:r>
            <a:endParaRPr lang="en-US" sz="1250" dirty="0"/>
          </a:p>
        </p:txBody>
      </p:sp>
      <p:sp>
        <p:nvSpPr>
          <p:cNvPr id="10" name="Shape 8"/>
          <p:cNvSpPr/>
          <p:nvPr/>
        </p:nvSpPr>
        <p:spPr>
          <a:xfrm>
            <a:off x="6199632" y="2103120"/>
            <a:ext cx="5486400" cy="3291840"/>
          </a:xfrm>
          <a:prstGeom prst="roundRect">
            <a:avLst>
              <a:gd name="adj" fmla="val 1667"/>
            </a:avLst>
          </a:prstGeom>
          <a:solidFill>
            <a:srgbClr val="0A2559"/>
          </a:solidFill>
          <a:ln w="9525">
            <a:solidFill>
              <a:srgbClr val="0A2559"/>
            </a:solidFill>
            <a:prstDash val="solid"/>
          </a:ln>
        </p:spPr>
      </p:sp>
      <p:sp>
        <p:nvSpPr>
          <p:cNvPr id="11" name="Text 9"/>
          <p:cNvSpPr txBox="1"/>
          <p:nvPr/>
        </p:nvSpPr>
        <p:spPr>
          <a:xfrm>
            <a:off x="6428232" y="2194560"/>
            <a:ext cx="5029200" cy="822960"/>
          </a:xfrm>
          <a:prstGeom prst="rect">
            <a:avLst/>
          </a:prstGeom>
          <a:noFill/>
          <a:ln/>
        </p:spPr>
        <p:txBody>
          <a:bodyPr wrap="square" lIns="0" tIns="0" rIns="0" bIns="0" rtlCol="0" anchor="ctr"/>
          <a:lstStyle/>
          <a:p>
            <a:pPr marL="0" indent="0">
              <a:buNone/>
            </a:pPr>
            <a:r>
              <a:rPr lang="en-US" sz="4800" b="1" dirty="0">
                <a:solidFill>
                  <a:srgbClr val="FF6B9A"/>
                </a:solidFill>
                <a:latin typeface="Calibri" pitchFamily="34" charset="0"/>
                <a:ea typeface="Calibri" pitchFamily="34" charset="-122"/>
                <a:cs typeface="Calibri" pitchFamily="34" charset="-120"/>
              </a:rPr>
              <a:t>1996</a:t>
            </a:r>
            <a:endParaRPr lang="en-US" sz="4800" dirty="0"/>
          </a:p>
        </p:txBody>
      </p:sp>
      <p:sp>
        <p:nvSpPr>
          <p:cNvPr id="12" name="Text 10"/>
          <p:cNvSpPr txBox="1"/>
          <p:nvPr/>
        </p:nvSpPr>
        <p:spPr>
          <a:xfrm>
            <a:off x="6428232" y="3017520"/>
            <a:ext cx="50292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Lasso · Tibshirani</a:t>
            </a:r>
            <a:endParaRPr lang="en-US" sz="1600" dirty="0"/>
          </a:p>
        </p:txBody>
      </p:sp>
      <p:sp>
        <p:nvSpPr>
          <p:cNvPr id="13" name="Text 11"/>
          <p:cNvSpPr txBox="1"/>
          <p:nvPr/>
        </p:nvSpPr>
        <p:spPr>
          <a:xfrm>
            <a:off x="6428232" y="3474720"/>
            <a:ext cx="5029200" cy="182880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LASSO es una sigla en inglés: operador de mínima contracción y selección absoluta. El aporte fue el «y selección»: con el valor absoluto, algunos coeficientes quedan en cero exacto, y el modelo elige solo qué variables usar. Es de los papers más citados de la estadística.</a:t>
            </a:r>
            <a:endParaRPr lang="en-US" sz="1250" dirty="0"/>
          </a:p>
        </p:txBody>
      </p:sp>
      <p:sp>
        <p:nvSpPr>
          <p:cNvPr id="14" name="Shape 12"/>
          <p:cNvSpPr/>
          <p:nvPr/>
        </p:nvSpPr>
        <p:spPr>
          <a:xfrm>
            <a:off x="502920" y="5577840"/>
            <a:ext cx="11183112" cy="685800"/>
          </a:xfrm>
          <a:prstGeom prst="roundRect">
            <a:avLst>
              <a:gd name="adj" fmla="val 8000"/>
            </a:avLst>
          </a:prstGeom>
          <a:solidFill>
            <a:srgbClr val="E9EEF8"/>
          </a:solidFill>
          <a:ln w="9525">
            <a:solidFill>
              <a:srgbClr val="D2DBEC"/>
            </a:solidFill>
            <a:prstDash val="solid"/>
          </a:ln>
        </p:spPr>
      </p:sp>
      <p:sp>
        <p:nvSpPr>
          <p:cNvPr id="15" name="Text 13"/>
          <p:cNvSpPr txBox="1"/>
          <p:nvPr/>
        </p:nvSpPr>
        <p:spPr>
          <a:xfrm>
            <a:off x="731520" y="5577840"/>
            <a:ext cx="10789920" cy="685800"/>
          </a:xfrm>
          <a:prstGeom prst="rect">
            <a:avLst/>
          </a:prstGeom>
          <a:noFill/>
          <a:ln/>
        </p:spPr>
        <p:txBody>
          <a:bodyPr wrap="square" lIns="0" tIns="0" rIns="0" bIns="0" rtlCol="0" anchor="ctr"/>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El trade-off sesgo-varianza de la Clase 1, </a:t>
            </a:r>
            <a:r>
              <a:rPr lang="en-US" sz="1250" dirty="0">
                <a:solidFill>
                  <a:srgbClr val="2C3A55"/>
                </a:solidFill>
                <a:latin typeface="Calibri" pitchFamily="34" charset="0"/>
                <a:ea typeface="Calibri" pitchFamily="34" charset="-122"/>
                <a:cs typeface="Calibri" pitchFamily="34" charset="-120"/>
              </a:rPr>
              <a:t>otra vez: un poco de sesgo a propósito para que el modelo sea más estable con datos nuevos.</a:t>
            </a:r>
            <a:endParaRPr lang="en-US" sz="1250" dirty="0"/>
          </a:p>
        </p:txBody>
      </p:sp>
      <p:sp>
        <p:nvSpPr>
          <p:cNvPr id="16" name="Text 14"/>
          <p:cNvSpPr txBox="1"/>
          <p:nvPr/>
        </p:nvSpPr>
        <p:spPr>
          <a:xfrm>
            <a:off x="502920" y="6419088"/>
            <a:ext cx="11155680" cy="274320"/>
          </a:xfrm>
          <a:prstGeom prst="rect">
            <a:avLst/>
          </a:prstGeom>
          <a:noFill/>
          <a:ln/>
        </p:spPr>
        <p:txBody>
          <a:bodyPr wrap="square" lIns="0" tIns="0" rIns="0" bIns="0" rtlCol="0" anchor="ctr"/>
          <a:lstStyle/>
          <a:p>
            <a:pPr marL="0" indent="0">
              <a:buNone/>
            </a:pPr>
            <a:r>
              <a:rPr lang="en-US" sz="950" i="1" dirty="0">
                <a:solidFill>
                  <a:srgbClr val="5B6B87"/>
                </a:solidFill>
                <a:latin typeface="Calibri" pitchFamily="34" charset="0"/>
                <a:ea typeface="Calibri" pitchFamily="34" charset="-122"/>
                <a:cs typeface="Calibri" pitchFamily="34" charset="-120"/>
              </a:rPr>
              <a:t>Hoerl, A. E. y Kennard, R. W. (1970). Ridge regression: Biased estimation for nonorthogonal problems. Technometrics, 12(1), 55–67 · Tibshirani, R. (1996). Regression shrinkage and selection via the lasso. Journal of the Royal Statistical Society, Series B, 58(1), 267–288.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Lasso: encoger y, además, eliminar</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Cambia el cuadrado por el valor absoluto. Parece un detalle; tiene una consecuencia enorme.</a:t>
            </a:r>
            <a:endParaRPr lang="en-US" sz="1400" dirty="0"/>
          </a:p>
        </p:txBody>
      </p:sp>
      <p:sp>
        <p:nvSpPr>
          <p:cNvPr id="6" name="Shape 4"/>
          <p:cNvSpPr/>
          <p:nvPr/>
        </p:nvSpPr>
        <p:spPr>
          <a:xfrm>
            <a:off x="502920" y="2103120"/>
            <a:ext cx="11183112" cy="1097280"/>
          </a:xfrm>
          <a:prstGeom prst="roundRect">
            <a:avLst>
              <a:gd name="adj" fmla="val 5000"/>
            </a:avLst>
          </a:prstGeom>
          <a:solidFill>
            <a:srgbClr val="0A2559"/>
          </a:solidFill>
          <a:ln w="9525">
            <a:solidFill>
              <a:srgbClr val="0A2559"/>
            </a:solidFill>
            <a:prstDash val="solid"/>
          </a:ln>
        </p:spPr>
      </p:sp>
      <p:sp>
        <p:nvSpPr>
          <p:cNvPr id="7" name="Text 5"/>
          <p:cNvSpPr txBox="1"/>
          <p:nvPr/>
        </p:nvSpPr>
        <p:spPr>
          <a:xfrm>
            <a:off x="502920" y="2103120"/>
            <a:ext cx="11183112" cy="1097280"/>
          </a:xfrm>
          <a:prstGeom prst="rect">
            <a:avLst/>
          </a:prstGeom>
          <a:noFill/>
          <a:ln/>
        </p:spPr>
        <p:txBody>
          <a:bodyPr wrap="square" lIns="0" tIns="0" rIns="0" bIns="0" rtlCol="0" anchor="ctr"/>
          <a:lstStyle/>
          <a:p>
            <a:pPr marL="0" indent="0" algn="ctr">
              <a:buNone/>
            </a:pPr>
            <a:r>
              <a:rPr lang="en-US" sz="1800" b="1" dirty="0">
                <a:solidFill>
                  <a:srgbClr val="A9B7D4"/>
                </a:solidFill>
                <a:latin typeface="Calibri" pitchFamily="34" charset="0"/>
                <a:ea typeface="Calibri" pitchFamily="34" charset="-122"/>
                <a:cs typeface="Calibri" pitchFamily="34" charset="-120"/>
              </a:rPr>
              <a:t>Lasso minimiza   </a:t>
            </a:r>
            <a:r>
              <a:rPr lang="en-US" sz="2800" b="1" dirty="0">
                <a:solidFill>
                  <a:srgbClr val="FFFFFF"/>
                </a:solidFill>
                <a:latin typeface="Calibri" pitchFamily="34" charset="0"/>
                <a:ea typeface="Calibri" pitchFamily="34" charset="-122"/>
                <a:cs typeface="Calibri" pitchFamily="34" charset="-120"/>
              </a:rPr>
              <a:t>Σ eᵢ²</a:t>
            </a:r>
            <a:r>
              <a:rPr lang="en-US" sz="2800" b="1" dirty="0">
                <a:solidFill>
                  <a:srgbClr val="A9B7D4"/>
                </a:solidFill>
                <a:latin typeface="Calibri" pitchFamily="34" charset="0"/>
                <a:ea typeface="Calibri" pitchFamily="34" charset="-122"/>
                <a:cs typeface="Calibri" pitchFamily="34" charset="-120"/>
              </a:rPr>
              <a:t>   +   </a:t>
            </a:r>
            <a:r>
              <a:rPr lang="en-US" sz="2800" b="1" dirty="0">
                <a:solidFill>
                  <a:srgbClr val="FF6B9A"/>
                </a:solidFill>
                <a:latin typeface="Calibri" pitchFamily="34" charset="0"/>
                <a:ea typeface="Calibri" pitchFamily="34" charset="-122"/>
                <a:cs typeface="Calibri" pitchFamily="34" charset="-120"/>
              </a:rPr>
              <a:t>α · Σ |bⱼ|</a:t>
            </a:r>
            <a:endParaRPr lang="en-US" sz="2800" dirty="0"/>
          </a:p>
        </p:txBody>
      </p:sp>
      <p:sp>
        <p:nvSpPr>
          <p:cNvPr id="8" name="Shape 6"/>
          <p:cNvSpPr/>
          <p:nvPr/>
        </p:nvSpPr>
        <p:spPr>
          <a:xfrm>
            <a:off x="502920" y="3429000"/>
            <a:ext cx="5486400" cy="2788920"/>
          </a:xfrm>
          <a:prstGeom prst="roundRect">
            <a:avLst>
              <a:gd name="adj" fmla="val 1967"/>
            </a:avLst>
          </a:prstGeom>
          <a:solidFill>
            <a:srgbClr val="FFFFFF"/>
          </a:solidFill>
          <a:ln w="9525">
            <a:solidFill>
              <a:srgbClr val="D2DBEC"/>
            </a:solidFill>
            <a:prstDash val="solid"/>
          </a:ln>
        </p:spPr>
      </p:sp>
      <p:sp>
        <p:nvSpPr>
          <p:cNvPr id="9" name="Shape 7"/>
          <p:cNvSpPr/>
          <p:nvPr/>
        </p:nvSpPr>
        <p:spPr>
          <a:xfrm>
            <a:off x="731520" y="3675888"/>
            <a:ext cx="128016" cy="128016"/>
          </a:xfrm>
          <a:prstGeom prst="roundRect">
            <a:avLst>
              <a:gd name="adj" fmla="val 21429"/>
            </a:avLst>
          </a:prstGeom>
          <a:solidFill>
            <a:srgbClr val="1A56E8"/>
          </a:solidFill>
          <a:ln w="12700">
            <a:solidFill>
              <a:srgbClr val="1A56E8"/>
            </a:solidFill>
            <a:prstDash val="solid"/>
          </a:ln>
        </p:spPr>
      </p:sp>
      <p:sp>
        <p:nvSpPr>
          <p:cNvPr id="10" name="Text 8"/>
          <p:cNvSpPr txBox="1"/>
          <p:nvPr/>
        </p:nvSpPr>
        <p:spPr>
          <a:xfrm>
            <a:off x="960120" y="356616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llega a cero</a:t>
            </a:r>
            <a:endParaRPr lang="en-US" sz="1400" dirty="0"/>
          </a:p>
        </p:txBody>
      </p:sp>
      <p:sp>
        <p:nvSpPr>
          <p:cNvPr id="11" name="Text 9"/>
          <p:cNvSpPr txBox="1"/>
          <p:nvPr/>
        </p:nvSpPr>
        <p:spPr>
          <a:xfrm>
            <a:off x="731520" y="3931920"/>
            <a:ext cx="5029200" cy="219456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Con el cuadrado, cuando un coeficiente ya es chico, el castigo por él es casi nada (0.1² = 0.01), así que Ridge deja de empujarlo. Con el valor absoluto, el empujón es el mismo aunque el coeficiente sea chico (|0.1| = 0.1). Si la variable no aporta lo suficiente para resistir ese empujón, su coeficiente termina en cero exacto.</a:t>
            </a:r>
            <a:endParaRPr lang="en-US" sz="1250" dirty="0"/>
          </a:p>
        </p:txBody>
      </p:sp>
      <p:sp>
        <p:nvSpPr>
          <p:cNvPr id="12" name="Shape 10"/>
          <p:cNvSpPr/>
          <p:nvPr/>
        </p:nvSpPr>
        <p:spPr>
          <a:xfrm>
            <a:off x="6199632" y="3429000"/>
            <a:ext cx="5486400" cy="1325880"/>
          </a:xfrm>
          <a:prstGeom prst="roundRect">
            <a:avLst>
              <a:gd name="adj" fmla="val 4138"/>
            </a:avLst>
          </a:prstGeom>
          <a:solidFill>
            <a:srgbClr val="E9EEF8"/>
          </a:solidFill>
          <a:ln w="9525">
            <a:solidFill>
              <a:srgbClr val="D2DBEC"/>
            </a:solidFill>
            <a:prstDash val="solid"/>
          </a:ln>
        </p:spPr>
      </p:sp>
      <p:sp>
        <p:nvSpPr>
          <p:cNvPr id="13" name="Text 11"/>
          <p:cNvSpPr txBox="1"/>
          <p:nvPr/>
        </p:nvSpPr>
        <p:spPr>
          <a:xfrm>
            <a:off x="6428232" y="3429000"/>
            <a:ext cx="5029200" cy="1325880"/>
          </a:xfrm>
          <a:prstGeom prst="rect">
            <a:avLst/>
          </a:prstGeom>
          <a:noFill/>
          <a:ln/>
        </p:spPr>
        <p:txBody>
          <a:bodyPr wrap="square" lIns="0" tIns="0" rIns="0" bIns="0" rtlCol="0" anchor="ctr"/>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α = 1 000: elimina 2 de 12. </a:t>
            </a:r>
            <a:r>
              <a:rPr lang="en-US" sz="1250" dirty="0">
                <a:solidFill>
                  <a:srgbClr val="2C3A55"/>
                </a:solidFill>
                <a:latin typeface="Calibri" pitchFamily="34" charset="0"/>
                <a:ea typeface="Calibri" pitchFamily="34" charset="-122"/>
                <a:cs typeface="Calibri" pitchFamily="34" charset="-120"/>
              </a:rPr>
              <a:t>Apaga total_rooms y NEAR BAY. R² de 0.651 a 0.647.</a:t>
            </a:r>
            <a:endParaRPr lang="en-US" sz="1250" dirty="0"/>
          </a:p>
        </p:txBody>
      </p:sp>
      <p:sp>
        <p:nvSpPr>
          <p:cNvPr id="14" name="Shape 12"/>
          <p:cNvSpPr/>
          <p:nvPr/>
        </p:nvSpPr>
        <p:spPr>
          <a:xfrm>
            <a:off x="6199632" y="4892040"/>
            <a:ext cx="5486400" cy="1325880"/>
          </a:xfrm>
          <a:prstGeom prst="roundRect">
            <a:avLst>
              <a:gd name="adj" fmla="val 4138"/>
            </a:avLst>
          </a:prstGeom>
          <a:solidFill>
            <a:srgbClr val="0A2559"/>
          </a:solidFill>
          <a:ln w="9525">
            <a:solidFill>
              <a:srgbClr val="0A2559"/>
            </a:solidFill>
            <a:prstDash val="solid"/>
          </a:ln>
        </p:spPr>
      </p:sp>
      <p:sp>
        <p:nvSpPr>
          <p:cNvPr id="15" name="Text 13"/>
          <p:cNvSpPr txBox="1"/>
          <p:nvPr/>
        </p:nvSpPr>
        <p:spPr>
          <a:xfrm>
            <a:off x="6428232" y="4892040"/>
            <a:ext cx="5029200" cy="1325880"/>
          </a:xfrm>
          <a:prstGeom prst="rect">
            <a:avLst/>
          </a:prstGeom>
          <a:noFill/>
          <a:ln/>
        </p:spPr>
        <p:txBody>
          <a:bodyPr wrap="square" lIns="0" tIns="0" rIns="0" bIns="0" rtlCol="0" anchor="ctr"/>
          <a:lstStyle/>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α = 5 000: sobreviven 6. </a:t>
            </a:r>
            <a:r>
              <a:rPr lang="en-US" sz="1250" dirty="0">
                <a:solidFill>
                  <a:srgbClr val="C9D4EA"/>
                </a:solidFill>
                <a:latin typeface="Calibri" pitchFamily="34" charset="0"/>
                <a:ea typeface="Calibri" pitchFamily="34" charset="-122"/>
                <a:cs typeface="Calibri" pitchFamily="34" charset="-120"/>
              </a:rPr>
              <a:t>La mitad de las variables explica casi todo: R² 0.604. ¿Cuánta precisión cambiarías por un modelo más simple de explicar?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El camino de Lasso, y cuándo usar cada uno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Las variables se apagan una a una. El ingreso no se apaga nunca en este rango: es la más importante.</a:t>
            </a:r>
            <a:endParaRPr lang="en-US" sz="1400" dirty="0"/>
          </a:p>
        </p:txBody>
      </p:sp>
      <p:graphicFrame>
        <p:nvGraphicFramePr>
          <p:cNvPr id="6" name="Chart 0"/>
          <p:cNvGraphicFramePr/>
          <p:nvPr/>
        </p:nvGraphicFramePr>
        <p:xfrm>
          <a:off x="502920" y="2057400"/>
          <a:ext cx="5486400" cy="4160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63640" y="2103120"/>
          <a:ext cx="5422392" cy="2834640"/>
        </p:xfrm>
        <a:graphic>
          <a:graphicData uri="http://schemas.openxmlformats.org/drawingml/2006/table">
            <a:tbl>
              <a:tblPr/>
              <a:tblGrid>
                <a:gridCol w="1371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99032">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566928">
                <a:tc>
                  <a:txBody>
                    <a:bodyPr/>
                    <a:lstStyle/>
                    <a:p>
                      <a:pPr marL="0" indent="0">
                        <a:buNone/>
                      </a:pP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Ridge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Lasso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Elastic Net</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56692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Castiga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Σ b²</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Σ |b|</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una mezcla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¿Lleva a cero?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no, encoge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Variables correlacionadas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reparte el efecto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se queda con una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reparte y selecciona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Úsalo cuando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todas aportan algo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sospechas que muchas sobran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hay grupos correlacionados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hape 4"/>
          <p:cNvSpPr/>
          <p:nvPr/>
        </p:nvSpPr>
        <p:spPr>
          <a:xfrm>
            <a:off x="6263640" y="5120640"/>
            <a:ext cx="5422392" cy="1097280"/>
          </a:xfrm>
          <a:prstGeom prst="roundRect">
            <a:avLst>
              <a:gd name="adj" fmla="val 5000"/>
            </a:avLst>
          </a:prstGeom>
          <a:solidFill>
            <a:srgbClr val="E9EEF8"/>
          </a:solidFill>
          <a:ln w="9525">
            <a:solidFill>
              <a:srgbClr val="D2DBEC"/>
            </a:solidFill>
            <a:prstDash val="solid"/>
          </a:ln>
        </p:spPr>
      </p:sp>
      <p:sp>
        <p:nvSpPr>
          <p:cNvPr id="9" name="Text 5"/>
          <p:cNvSpPr txBox="1"/>
          <p:nvPr/>
        </p:nvSpPr>
        <p:spPr>
          <a:xfrm>
            <a:off x="6492240" y="5120640"/>
            <a:ext cx="5029200" cy="1097280"/>
          </a:xfrm>
          <a:prstGeom prst="rect">
            <a:avLst/>
          </a:prstGeom>
          <a:noFill/>
          <a:ln/>
        </p:spPr>
        <p:txBody>
          <a:bodyPr wrap="square" lIns="0" tIns="0" rIns="0" bIns="0" rtlCol="0" anchor="ctr"/>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En scikit-learn: </a:t>
            </a:r>
            <a:r>
              <a:rPr lang="en-US" sz="1200" dirty="0">
                <a:solidFill>
                  <a:srgbClr val="2C3A55"/>
                </a:solidFill>
                <a:latin typeface="Calibri" pitchFamily="34" charset="0"/>
                <a:ea typeface="Calibri" pitchFamily="34" charset="-122"/>
                <a:cs typeface="Calibri" pitchFamily="34" charset="-120"/>
              </a:rPr>
              <a:t>ElasticNet(alpha, l1_ratio). Con l1_ratio = 1 es Lasso puro; con 0, Ridge puro.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¿Entonces la regularización no sirve?</a:t>
            </a:r>
            <a:endParaRPr lang="en-US" sz="3000" dirty="0"/>
          </a:p>
        </p:txBody>
      </p:sp>
      <p:sp>
        <p:nvSpPr>
          <p:cNvPr id="5" name="Text 3"/>
          <p:cNvSpPr txBox="1"/>
          <p:nvPr/>
        </p:nvSpPr>
        <p:spPr>
          <a:xfrm>
            <a:off x="502920" y="1499616"/>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Con los 14 448 distritos, Ridge y Lasso empatan con la regresión lineal en precisión.</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6949440" cy="1901952"/>
        </p:xfrm>
        <a:graphic>
          <a:graphicData uri="http://schemas.openxmlformats.org/drawingml/2006/table">
            <a:tbl>
              <a:tblPr/>
              <a:tblGrid>
                <a:gridCol w="31089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7548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 14 448 distritos y 12 variables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Variables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R²</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MAE (USD)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7548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Regresión lineal</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0.651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49 664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Ridge α = 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0.651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49 653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Lasso α = 1 000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0.647</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49 973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02920" y="4206240"/>
            <a:ext cx="6949440" cy="2011680"/>
          </a:xfrm>
          <a:prstGeom prst="roundRect">
            <a:avLst>
              <a:gd name="adj" fmla="val 2727"/>
            </a:avLst>
          </a:prstGeom>
          <a:solidFill>
            <a:srgbClr val="0A2559"/>
          </a:solidFill>
          <a:ln w="9525">
            <a:solidFill>
              <a:srgbClr val="0A2559"/>
            </a:solidFill>
            <a:prstDash val="solid"/>
          </a:ln>
        </p:spPr>
      </p:sp>
      <p:sp>
        <p:nvSpPr>
          <p:cNvPr id="8" name="Shape 5"/>
          <p:cNvSpPr/>
          <p:nvPr/>
        </p:nvSpPr>
        <p:spPr>
          <a:xfrm>
            <a:off x="731520" y="4453128"/>
            <a:ext cx="128016" cy="128016"/>
          </a:xfrm>
          <a:prstGeom prst="roundRect">
            <a:avLst>
              <a:gd name="adj" fmla="val 21429"/>
            </a:avLst>
          </a:prstGeom>
          <a:solidFill>
            <a:srgbClr val="E6115E"/>
          </a:solidFill>
          <a:ln w="12700">
            <a:solidFill>
              <a:srgbClr val="E6115E"/>
            </a:solidFill>
            <a:prstDash val="solid"/>
          </a:ln>
        </p:spPr>
      </p:sp>
      <p:sp>
        <p:nvSpPr>
          <p:cNvPr id="9" name="Text 6"/>
          <p:cNvSpPr txBox="1"/>
          <p:nvPr/>
        </p:nvSpPr>
        <p:spPr>
          <a:xfrm>
            <a:off x="960120" y="4343400"/>
            <a:ext cx="630936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 es casualidad</a:t>
            </a:r>
            <a:endParaRPr lang="en-US" sz="1400" dirty="0"/>
          </a:p>
        </p:txBody>
      </p:sp>
      <p:sp>
        <p:nvSpPr>
          <p:cNvPr id="10" name="Text 7"/>
          <p:cNvSpPr txBox="1"/>
          <p:nvPr/>
        </p:nvSpPr>
        <p:spPr>
          <a:xfrm>
            <a:off x="731520" y="4709160"/>
            <a:ext cx="6492240" cy="1417320"/>
          </a:xfrm>
          <a:prstGeom prst="rect">
            <a:avLst/>
          </a:prstGeom>
          <a:noFill/>
          <a:ln/>
        </p:spPr>
        <p:txBody>
          <a:bodyPr wrap="square" lIns="0" tIns="0" rIns="0" bIns="0" rtlCol="0" anchor="t"/>
          <a:lstStyle/>
          <a:p>
            <a:pPr marL="0" indent="0">
              <a:spcAft>
                <a:spcPts val="400"/>
              </a:spcAft>
              <a:buNone/>
            </a:pPr>
            <a:r>
              <a:rPr lang="en-US" sz="1300" dirty="0">
                <a:solidFill>
                  <a:srgbClr val="C9D4EA"/>
                </a:solidFill>
                <a:latin typeface="Calibri" pitchFamily="34" charset="0"/>
                <a:ea typeface="Calibri" pitchFamily="34" charset="-122"/>
                <a:cs typeface="Calibri" pitchFamily="34" charset="-120"/>
              </a:rPr>
              <a:t>Con 1 200 filas por cada variable, la regresión lineal no sobreajusta: no hay nada que frenar. El valor de Ridge aquí es la estabilidad (slide 7) y el de Lasso, la simpleza. En precisión, empatan.</a:t>
            </a:r>
            <a:endParaRPr lang="en-US" sz="1300" dirty="0"/>
          </a:p>
        </p:txBody>
      </p:sp>
      <p:sp>
        <p:nvSpPr>
          <p:cNvPr id="11" name="Shape 8"/>
          <p:cNvSpPr/>
          <p:nvPr/>
        </p:nvSpPr>
        <p:spPr>
          <a:xfrm>
            <a:off x="7726680" y="2103120"/>
            <a:ext cx="3959352" cy="1920240"/>
          </a:xfrm>
          <a:prstGeom prst="roundRect">
            <a:avLst>
              <a:gd name="adj" fmla="val 2857"/>
            </a:avLst>
          </a:prstGeom>
          <a:solidFill>
            <a:srgbClr val="FFFFFF"/>
          </a:solidFill>
          <a:ln w="9525">
            <a:solidFill>
              <a:srgbClr val="D2DBEC"/>
            </a:solidFill>
            <a:prstDash val="solid"/>
          </a:ln>
        </p:spPr>
      </p:sp>
      <p:sp>
        <p:nvSpPr>
          <p:cNvPr id="6" name="Shape 9"/>
          <p:cNvSpPr/>
          <p:nvPr/>
        </p:nvSpPr>
        <p:spPr>
          <a:xfrm>
            <a:off x="7955280" y="2350008"/>
            <a:ext cx="128016" cy="128016"/>
          </a:xfrm>
          <a:prstGeom prst="roundRect">
            <a:avLst>
              <a:gd name="adj" fmla="val 21429"/>
            </a:avLst>
          </a:prstGeom>
          <a:solidFill>
            <a:srgbClr val="1A56E8"/>
          </a:solidFill>
          <a:ln w="12700">
            <a:solidFill>
              <a:srgbClr val="1A56E8"/>
            </a:solidFill>
            <a:prstDash val="solid"/>
          </a:ln>
        </p:spPr>
      </p:sp>
      <p:sp>
        <p:nvSpPr>
          <p:cNvPr id="13" name="Text 10"/>
          <p:cNvSpPr txBox="1"/>
          <p:nvPr/>
        </p:nvSpPr>
        <p:spPr>
          <a:xfrm>
            <a:off x="8183880" y="2240280"/>
            <a:ext cx="331927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Muchas filas, pocas variables</a:t>
            </a:r>
            <a:endParaRPr lang="en-US" sz="1400" dirty="0"/>
          </a:p>
        </p:txBody>
      </p:sp>
      <p:sp>
        <p:nvSpPr>
          <p:cNvPr id="14" name="Text 11"/>
          <p:cNvSpPr txBox="1"/>
          <p:nvPr/>
        </p:nvSpPr>
        <p:spPr>
          <a:xfrm>
            <a:off x="7955280" y="2651760"/>
            <a:ext cx="3566160" cy="128016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La regularización casi no cambia la precisión. Úsala por estabilidad o simpleza.</a:t>
            </a:r>
            <a:endParaRPr lang="en-US" sz="1250" dirty="0"/>
          </a:p>
        </p:txBody>
      </p:sp>
      <p:sp>
        <p:nvSpPr>
          <p:cNvPr id="15" name="Shape 12"/>
          <p:cNvSpPr/>
          <p:nvPr/>
        </p:nvSpPr>
        <p:spPr>
          <a:xfrm>
            <a:off x="7726680" y="4206240"/>
            <a:ext cx="3959352" cy="1920240"/>
          </a:xfrm>
          <a:prstGeom prst="roundRect">
            <a:avLst>
              <a:gd name="adj" fmla="val 2857"/>
            </a:avLst>
          </a:prstGeom>
          <a:solidFill>
            <a:srgbClr val="FFFFFF"/>
          </a:solidFill>
          <a:ln w="9525">
            <a:solidFill>
              <a:srgbClr val="D2DBEC"/>
            </a:solidFill>
            <a:prstDash val="solid"/>
          </a:ln>
        </p:spPr>
      </p:sp>
      <p:sp>
        <p:nvSpPr>
          <p:cNvPr id="16" name="Shape 13"/>
          <p:cNvSpPr/>
          <p:nvPr/>
        </p:nvSpPr>
        <p:spPr>
          <a:xfrm>
            <a:off x="7955280" y="4453128"/>
            <a:ext cx="128016" cy="128016"/>
          </a:xfrm>
          <a:prstGeom prst="roundRect">
            <a:avLst>
              <a:gd name="adj" fmla="val 21429"/>
            </a:avLst>
          </a:prstGeom>
          <a:solidFill>
            <a:srgbClr val="E6115E"/>
          </a:solidFill>
          <a:ln w="12700">
            <a:solidFill>
              <a:srgbClr val="E6115E"/>
            </a:solidFill>
            <a:prstDash val="solid"/>
          </a:ln>
        </p:spPr>
      </p:sp>
      <p:sp>
        <p:nvSpPr>
          <p:cNvPr id="17" name="Text 14"/>
          <p:cNvSpPr txBox="1"/>
          <p:nvPr/>
        </p:nvSpPr>
        <p:spPr>
          <a:xfrm>
            <a:off x="8183880" y="4343400"/>
            <a:ext cx="331927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Pocas filas, muchas variables</a:t>
            </a:r>
            <a:endParaRPr lang="en-US" sz="1400" dirty="0"/>
          </a:p>
        </p:txBody>
      </p:sp>
      <p:sp>
        <p:nvSpPr>
          <p:cNvPr id="18" name="Text 15"/>
          <p:cNvSpPr txBox="1"/>
          <p:nvPr/>
        </p:nvSpPr>
        <p:spPr>
          <a:xfrm>
            <a:off x="7955280" y="4754880"/>
            <a:ext cx="3566160" cy="128016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Aquí brilla: evita el overfitting. Lo fabricamos en la slide siguiente.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500 distritos, 90 variables: ahora sí</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Todas las combinaciones de a dos entre las 12 variables (ingreso × latitud, edad², …) con solo 500 filas.</a:t>
            </a:r>
            <a:endParaRPr lang="en-US" sz="1400" dirty="0"/>
          </a:p>
        </p:txBody>
      </p:sp>
      <p:sp>
        <p:nvSpPr>
          <p:cNvPr id="6" name="Shape 4"/>
          <p:cNvSpPr/>
          <p:nvPr/>
        </p:nvSpPr>
        <p:spPr>
          <a:xfrm>
            <a:off x="502920" y="2103120"/>
            <a:ext cx="6949440" cy="4114800"/>
          </a:xfrm>
          <a:prstGeom prst="roundRect">
            <a:avLst>
              <a:gd name="adj" fmla="val 1333"/>
            </a:avLst>
          </a:prstGeom>
          <a:solidFill>
            <a:srgbClr val="FFFFFF"/>
          </a:solidFill>
          <a:ln w="9525">
            <a:solidFill>
              <a:srgbClr val="D2DBEC"/>
            </a:solidFill>
            <a:prstDash val="solid"/>
          </a:ln>
        </p:spPr>
      </p:sp>
      <p:sp>
        <p:nvSpPr>
          <p:cNvPr id="7" name="Shape 5"/>
          <p:cNvSpPr/>
          <p:nvPr/>
        </p:nvSpPr>
        <p:spPr>
          <a:xfrm>
            <a:off x="731520" y="2350008"/>
            <a:ext cx="128016" cy="128016"/>
          </a:xfrm>
          <a:prstGeom prst="roundRect">
            <a:avLst>
              <a:gd name="adj" fmla="val 21429"/>
            </a:avLst>
          </a:prstGeom>
          <a:solidFill>
            <a:srgbClr val="1A56E8"/>
          </a:solidFill>
          <a:ln w="12700">
            <a:solidFill>
              <a:srgbClr val="1A56E8"/>
            </a:solidFill>
            <a:prstDash val="solid"/>
          </a:ln>
        </p:spPr>
      </p:sp>
      <p:sp>
        <p:nvSpPr>
          <p:cNvPr id="8" name="Text 6"/>
          <p:cNvSpPr txBox="1"/>
          <p:nvPr/>
        </p:nvSpPr>
        <p:spPr>
          <a:xfrm>
            <a:off x="960120" y="2240280"/>
            <a:ext cx="630936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R² en entrenamiento (claro) y en prueba (oscuro)</a:t>
            </a:r>
            <a:endParaRPr lang="en-US" sz="1400" dirty="0"/>
          </a:p>
        </p:txBody>
      </p:sp>
      <p:sp>
        <p:nvSpPr>
          <p:cNvPr id="9" name="Text 7"/>
          <p:cNvSpPr txBox="1"/>
          <p:nvPr/>
        </p:nvSpPr>
        <p:spPr>
          <a:xfrm>
            <a:off x="731520" y="2697480"/>
            <a:ext cx="2514600" cy="685800"/>
          </a:xfrm>
          <a:prstGeom prst="rect">
            <a:avLst/>
          </a:prstGeom>
          <a:noFill/>
          <a:ln/>
        </p:spPr>
        <p:txBody>
          <a:bodyPr wrap="square" lIns="0" tIns="0" rIns="0" bIns="0" rtlCol="0" anchor="ctr"/>
          <a:lstStyle/>
          <a:p>
            <a:pPr marL="0" indent="0">
              <a:buNone/>
            </a:pPr>
            <a:r>
              <a:rPr lang="en-US" sz="1200" b="1" dirty="0">
                <a:solidFill>
                  <a:srgbClr val="0A2559"/>
                </a:solidFill>
                <a:latin typeface="Calibri" pitchFamily="34" charset="0"/>
                <a:ea typeface="Calibri" pitchFamily="34" charset="-122"/>
                <a:cs typeface="Calibri" pitchFamily="34" charset="-120"/>
              </a:rPr>
              <a:t>Lineal, 12 variables</a:t>
            </a:r>
            <a:endParaRPr lang="en-US" sz="1200" dirty="0"/>
          </a:p>
        </p:txBody>
      </p:sp>
      <p:sp>
        <p:nvSpPr>
          <p:cNvPr id="10" name="Shape 8"/>
          <p:cNvSpPr/>
          <p:nvPr/>
        </p:nvSpPr>
        <p:spPr>
          <a:xfrm>
            <a:off x="3291840" y="2743200"/>
            <a:ext cx="2755939" cy="274320"/>
          </a:xfrm>
          <a:prstGeom prst="rect">
            <a:avLst/>
          </a:prstGeom>
          <a:solidFill>
            <a:srgbClr val="8A97AD">
              <a:alpha val="35000"/>
            </a:srgbClr>
          </a:solidFill>
          <a:ln/>
        </p:spPr>
      </p:sp>
      <p:sp>
        <p:nvSpPr>
          <p:cNvPr id="11" name="Text 9"/>
          <p:cNvSpPr txBox="1"/>
          <p:nvPr/>
        </p:nvSpPr>
        <p:spPr>
          <a:xfrm>
            <a:off x="6120931" y="2715768"/>
            <a:ext cx="640080" cy="292608"/>
          </a:xfrm>
          <a:prstGeom prst="rect">
            <a:avLst/>
          </a:prstGeom>
          <a:noFill/>
          <a:ln/>
        </p:spPr>
        <p:txBody>
          <a:bodyPr wrap="square" lIns="0" tIns="0" rIns="0" bIns="0" rtlCol="0" anchor="ctr"/>
          <a:lstStyle/>
          <a:p>
            <a:pPr marL="0" indent="0">
              <a:buNone/>
            </a:pPr>
            <a:r>
              <a:rPr lang="en-US" sz="1100" dirty="0">
                <a:solidFill>
                  <a:srgbClr val="5B6B87"/>
                </a:solidFill>
                <a:latin typeface="Calibri" pitchFamily="34" charset="0"/>
                <a:ea typeface="Calibri" pitchFamily="34" charset="-122"/>
                <a:cs typeface="Calibri" pitchFamily="34" charset="-120"/>
              </a:rPr>
              <a:t>0.670</a:t>
            </a:r>
            <a:endParaRPr lang="en-US" sz="1100" dirty="0"/>
          </a:p>
        </p:txBody>
      </p:sp>
      <p:sp>
        <p:nvSpPr>
          <p:cNvPr id="12" name="Shape 10"/>
          <p:cNvSpPr/>
          <p:nvPr/>
        </p:nvSpPr>
        <p:spPr>
          <a:xfrm>
            <a:off x="3291840" y="3044952"/>
            <a:ext cx="2649785" cy="274320"/>
          </a:xfrm>
          <a:prstGeom prst="rect">
            <a:avLst/>
          </a:prstGeom>
          <a:solidFill>
            <a:srgbClr val="8A97AD"/>
          </a:solidFill>
          <a:ln/>
        </p:spPr>
      </p:sp>
      <p:sp>
        <p:nvSpPr>
          <p:cNvPr id="13" name="Text 11"/>
          <p:cNvSpPr txBox="1"/>
          <p:nvPr/>
        </p:nvSpPr>
        <p:spPr>
          <a:xfrm>
            <a:off x="6014777" y="3026664"/>
            <a:ext cx="640080" cy="292608"/>
          </a:xfrm>
          <a:prstGeom prst="rect">
            <a:avLst/>
          </a:prstGeom>
          <a:noFill/>
          <a:ln/>
        </p:spPr>
        <p:txBody>
          <a:bodyPr wrap="square" lIns="0" tIns="0" rIns="0" bIns="0" rtlCol="0" anchor="ctr"/>
          <a:lstStyle/>
          <a:p>
            <a:pPr marL="0" indent="0">
              <a:buNone/>
            </a:pPr>
            <a:r>
              <a:rPr lang="en-US" sz="1200" b="1" dirty="0">
                <a:solidFill>
                  <a:srgbClr val="5B6B87"/>
                </a:solidFill>
                <a:latin typeface="Calibri" pitchFamily="34" charset="0"/>
                <a:ea typeface="Calibri" pitchFamily="34" charset="-122"/>
                <a:cs typeface="Calibri" pitchFamily="34" charset="-120"/>
              </a:rPr>
              <a:t>0.644</a:t>
            </a:r>
            <a:endParaRPr lang="en-US" sz="1200" dirty="0"/>
          </a:p>
        </p:txBody>
      </p:sp>
      <p:sp>
        <p:nvSpPr>
          <p:cNvPr id="14" name="Text 12"/>
          <p:cNvSpPr txBox="1"/>
          <p:nvPr/>
        </p:nvSpPr>
        <p:spPr>
          <a:xfrm>
            <a:off x="731520" y="3566160"/>
            <a:ext cx="2514600" cy="685800"/>
          </a:xfrm>
          <a:prstGeom prst="rect">
            <a:avLst/>
          </a:prstGeom>
          <a:noFill/>
          <a:ln/>
        </p:spPr>
        <p:txBody>
          <a:bodyPr wrap="square" lIns="0" tIns="0" rIns="0" bIns="0" rtlCol="0" anchor="ctr"/>
          <a:lstStyle/>
          <a:p>
            <a:pPr marL="0" indent="0">
              <a:buNone/>
            </a:pPr>
            <a:r>
              <a:rPr lang="en-US" sz="1200" b="1" dirty="0">
                <a:solidFill>
                  <a:srgbClr val="0A2559"/>
                </a:solidFill>
                <a:latin typeface="Calibri" pitchFamily="34" charset="0"/>
                <a:ea typeface="Calibri" pitchFamily="34" charset="-122"/>
                <a:cs typeface="Calibri" pitchFamily="34" charset="-120"/>
              </a:rPr>
              <a:t>Lineal, 90 variables</a:t>
            </a:r>
            <a:endParaRPr lang="en-US" sz="1200" dirty="0"/>
          </a:p>
        </p:txBody>
      </p:sp>
      <p:sp>
        <p:nvSpPr>
          <p:cNvPr id="15" name="Shape 13"/>
          <p:cNvSpPr/>
          <p:nvPr/>
        </p:nvSpPr>
        <p:spPr>
          <a:xfrm>
            <a:off x="3291840" y="3611880"/>
            <a:ext cx="3237889" cy="274320"/>
          </a:xfrm>
          <a:prstGeom prst="rect">
            <a:avLst/>
          </a:prstGeom>
          <a:solidFill>
            <a:srgbClr val="0A2559">
              <a:alpha val="35000"/>
            </a:srgbClr>
          </a:solidFill>
          <a:ln/>
        </p:spPr>
      </p:sp>
      <p:sp>
        <p:nvSpPr>
          <p:cNvPr id="16" name="Text 14"/>
          <p:cNvSpPr txBox="1"/>
          <p:nvPr/>
        </p:nvSpPr>
        <p:spPr>
          <a:xfrm>
            <a:off x="6602881" y="3584448"/>
            <a:ext cx="640080" cy="292608"/>
          </a:xfrm>
          <a:prstGeom prst="rect">
            <a:avLst/>
          </a:prstGeom>
          <a:noFill/>
          <a:ln/>
        </p:spPr>
        <p:txBody>
          <a:bodyPr wrap="square" lIns="0" tIns="0" rIns="0" bIns="0" rtlCol="0" anchor="ctr"/>
          <a:lstStyle/>
          <a:p>
            <a:pPr marL="0" indent="0">
              <a:buNone/>
            </a:pPr>
            <a:r>
              <a:rPr lang="en-US" sz="1100" dirty="0">
                <a:solidFill>
                  <a:srgbClr val="5B6B87"/>
                </a:solidFill>
                <a:latin typeface="Calibri" pitchFamily="34" charset="0"/>
                <a:ea typeface="Calibri" pitchFamily="34" charset="-122"/>
                <a:cs typeface="Calibri" pitchFamily="34" charset="-120"/>
              </a:rPr>
              <a:t>0.787</a:t>
            </a:r>
            <a:endParaRPr lang="en-US" sz="1100" dirty="0"/>
          </a:p>
        </p:txBody>
      </p:sp>
      <p:sp>
        <p:nvSpPr>
          <p:cNvPr id="17" name="Shape 15"/>
          <p:cNvSpPr/>
          <p:nvPr/>
        </p:nvSpPr>
        <p:spPr>
          <a:xfrm>
            <a:off x="3291840" y="3913632"/>
            <a:ext cx="2184316" cy="274320"/>
          </a:xfrm>
          <a:prstGeom prst="rect">
            <a:avLst/>
          </a:prstGeom>
          <a:solidFill>
            <a:srgbClr val="0A2559"/>
          </a:solidFill>
          <a:ln/>
        </p:spPr>
      </p:sp>
      <p:sp>
        <p:nvSpPr>
          <p:cNvPr id="18" name="Text 16"/>
          <p:cNvSpPr txBox="1"/>
          <p:nvPr/>
        </p:nvSpPr>
        <p:spPr>
          <a:xfrm>
            <a:off x="5549308" y="3895344"/>
            <a:ext cx="640080" cy="292608"/>
          </a:xfrm>
          <a:prstGeom prst="rect">
            <a:avLst/>
          </a:prstGeom>
          <a:noFill/>
          <a:ln/>
        </p:spPr>
        <p:txBody>
          <a:bodyPr wrap="square" lIns="0" tIns="0" rIns="0" bIns="0" rtlCol="0" anchor="ctr"/>
          <a:lstStyle/>
          <a:p>
            <a:pPr marL="0" indent="0">
              <a:buNone/>
            </a:pPr>
            <a:r>
              <a:rPr lang="en-US" sz="1200" b="1" dirty="0">
                <a:solidFill>
                  <a:srgbClr val="0A2559"/>
                </a:solidFill>
                <a:latin typeface="Calibri" pitchFamily="34" charset="0"/>
                <a:ea typeface="Calibri" pitchFamily="34" charset="-122"/>
                <a:cs typeface="Calibri" pitchFamily="34" charset="-120"/>
              </a:rPr>
              <a:t>0.531</a:t>
            </a:r>
            <a:endParaRPr lang="en-US" sz="1200" dirty="0"/>
          </a:p>
        </p:txBody>
      </p:sp>
      <p:sp>
        <p:nvSpPr>
          <p:cNvPr id="19" name="Text 17"/>
          <p:cNvSpPr txBox="1"/>
          <p:nvPr/>
        </p:nvSpPr>
        <p:spPr>
          <a:xfrm>
            <a:off x="731520" y="4434840"/>
            <a:ext cx="2514600" cy="685800"/>
          </a:xfrm>
          <a:prstGeom prst="rect">
            <a:avLst/>
          </a:prstGeom>
          <a:noFill/>
          <a:ln/>
        </p:spPr>
        <p:txBody>
          <a:bodyPr wrap="square" lIns="0" tIns="0" rIns="0" bIns="0" rtlCol="0" anchor="ctr"/>
          <a:lstStyle/>
          <a:p>
            <a:pPr marL="0" indent="0">
              <a:buNone/>
            </a:pPr>
            <a:r>
              <a:rPr lang="en-US" sz="1200" b="1" dirty="0">
                <a:solidFill>
                  <a:srgbClr val="0A2559"/>
                </a:solidFill>
                <a:latin typeface="Calibri" pitchFamily="34" charset="0"/>
                <a:ea typeface="Calibri" pitchFamily="34" charset="-122"/>
                <a:cs typeface="Calibri" pitchFamily="34" charset="-120"/>
              </a:rPr>
              <a:t>Ridge, 90 variables (α = 10)</a:t>
            </a:r>
            <a:endParaRPr lang="en-US" sz="1200" dirty="0"/>
          </a:p>
        </p:txBody>
      </p:sp>
      <p:sp>
        <p:nvSpPr>
          <p:cNvPr id="20" name="Shape 18"/>
          <p:cNvSpPr/>
          <p:nvPr/>
        </p:nvSpPr>
        <p:spPr>
          <a:xfrm>
            <a:off x="3291840" y="4480560"/>
            <a:ext cx="3052937" cy="274320"/>
          </a:xfrm>
          <a:prstGeom prst="rect">
            <a:avLst/>
          </a:prstGeom>
          <a:solidFill>
            <a:srgbClr val="1A56E8">
              <a:alpha val="35000"/>
            </a:srgbClr>
          </a:solidFill>
          <a:ln/>
        </p:spPr>
      </p:sp>
      <p:sp>
        <p:nvSpPr>
          <p:cNvPr id="21" name="Text 19"/>
          <p:cNvSpPr txBox="1"/>
          <p:nvPr/>
        </p:nvSpPr>
        <p:spPr>
          <a:xfrm>
            <a:off x="6417929" y="4453128"/>
            <a:ext cx="640080" cy="292608"/>
          </a:xfrm>
          <a:prstGeom prst="rect">
            <a:avLst/>
          </a:prstGeom>
          <a:noFill/>
          <a:ln/>
        </p:spPr>
        <p:txBody>
          <a:bodyPr wrap="square" lIns="0" tIns="0" rIns="0" bIns="0" rtlCol="0" anchor="ctr"/>
          <a:lstStyle/>
          <a:p>
            <a:pPr marL="0" indent="0">
              <a:buNone/>
            </a:pPr>
            <a:r>
              <a:rPr lang="en-US" sz="1100" dirty="0">
                <a:solidFill>
                  <a:srgbClr val="5B6B87"/>
                </a:solidFill>
                <a:latin typeface="Calibri" pitchFamily="34" charset="0"/>
                <a:ea typeface="Calibri" pitchFamily="34" charset="-122"/>
                <a:cs typeface="Calibri" pitchFamily="34" charset="-120"/>
              </a:rPr>
              <a:t>0.742</a:t>
            </a:r>
            <a:endParaRPr lang="en-US" sz="1100" dirty="0"/>
          </a:p>
        </p:txBody>
      </p:sp>
      <p:sp>
        <p:nvSpPr>
          <p:cNvPr id="22" name="Shape 20"/>
          <p:cNvSpPr/>
          <p:nvPr/>
        </p:nvSpPr>
        <p:spPr>
          <a:xfrm>
            <a:off x="3291840" y="4782312"/>
            <a:ext cx="2704190" cy="274320"/>
          </a:xfrm>
          <a:prstGeom prst="rect">
            <a:avLst/>
          </a:prstGeom>
          <a:solidFill>
            <a:srgbClr val="1A56E8"/>
          </a:solidFill>
          <a:ln/>
        </p:spPr>
      </p:sp>
      <p:sp>
        <p:nvSpPr>
          <p:cNvPr id="23" name="Text 21"/>
          <p:cNvSpPr txBox="1"/>
          <p:nvPr/>
        </p:nvSpPr>
        <p:spPr>
          <a:xfrm>
            <a:off x="6069182" y="4764024"/>
            <a:ext cx="640080" cy="292608"/>
          </a:xfrm>
          <a:prstGeom prst="rect">
            <a:avLst/>
          </a:prstGeom>
          <a:noFill/>
          <a:ln/>
        </p:spPr>
        <p:txBody>
          <a:bodyPr wrap="square" lIns="0" tIns="0" rIns="0" bIns="0" rtlCol="0" anchor="ctr"/>
          <a:lstStyle/>
          <a:p>
            <a:pPr marL="0" indent="0">
              <a:buNone/>
            </a:pPr>
            <a:r>
              <a:rPr lang="en-US" sz="1200" b="1" dirty="0">
                <a:solidFill>
                  <a:srgbClr val="1A56E8"/>
                </a:solidFill>
                <a:latin typeface="Calibri" pitchFamily="34" charset="0"/>
                <a:ea typeface="Calibri" pitchFamily="34" charset="-122"/>
                <a:cs typeface="Calibri" pitchFamily="34" charset="-120"/>
              </a:rPr>
              <a:t>0.657</a:t>
            </a:r>
            <a:endParaRPr lang="en-US" sz="1200" dirty="0"/>
          </a:p>
        </p:txBody>
      </p:sp>
      <p:sp>
        <p:nvSpPr>
          <p:cNvPr id="24" name="Text 22"/>
          <p:cNvSpPr txBox="1"/>
          <p:nvPr/>
        </p:nvSpPr>
        <p:spPr>
          <a:xfrm>
            <a:off x="731520" y="5303520"/>
            <a:ext cx="2514600" cy="685800"/>
          </a:xfrm>
          <a:prstGeom prst="rect">
            <a:avLst/>
          </a:prstGeom>
          <a:noFill/>
          <a:ln/>
        </p:spPr>
        <p:txBody>
          <a:bodyPr wrap="square" lIns="0" tIns="0" rIns="0" bIns="0" rtlCol="0" anchor="ctr"/>
          <a:lstStyle/>
          <a:p>
            <a:pPr marL="0" indent="0">
              <a:buNone/>
            </a:pPr>
            <a:r>
              <a:rPr lang="en-US" sz="1200" b="1" dirty="0">
                <a:solidFill>
                  <a:srgbClr val="0A2559"/>
                </a:solidFill>
                <a:latin typeface="Calibri" pitchFamily="34" charset="0"/>
                <a:ea typeface="Calibri" pitchFamily="34" charset="-122"/>
                <a:cs typeface="Calibri" pitchFamily="34" charset="-120"/>
              </a:rPr>
              <a:t>Lasso, 90 → 34 variables</a:t>
            </a:r>
            <a:endParaRPr lang="en-US" sz="1200" dirty="0"/>
          </a:p>
        </p:txBody>
      </p:sp>
      <p:sp>
        <p:nvSpPr>
          <p:cNvPr id="25" name="Shape 23"/>
          <p:cNvSpPr/>
          <p:nvPr/>
        </p:nvSpPr>
        <p:spPr>
          <a:xfrm>
            <a:off x="3291840" y="5349240"/>
            <a:ext cx="2929950" cy="274320"/>
          </a:xfrm>
          <a:prstGeom prst="rect">
            <a:avLst/>
          </a:prstGeom>
          <a:solidFill>
            <a:srgbClr val="E6115E">
              <a:alpha val="35000"/>
            </a:srgbClr>
          </a:solidFill>
          <a:ln/>
        </p:spPr>
      </p:sp>
      <p:sp>
        <p:nvSpPr>
          <p:cNvPr id="26" name="Text 24"/>
          <p:cNvSpPr txBox="1"/>
          <p:nvPr/>
        </p:nvSpPr>
        <p:spPr>
          <a:xfrm>
            <a:off x="6294942" y="5321808"/>
            <a:ext cx="640080" cy="292608"/>
          </a:xfrm>
          <a:prstGeom prst="rect">
            <a:avLst/>
          </a:prstGeom>
          <a:noFill/>
          <a:ln/>
        </p:spPr>
        <p:txBody>
          <a:bodyPr wrap="square" lIns="0" tIns="0" rIns="0" bIns="0" rtlCol="0" anchor="ctr"/>
          <a:lstStyle/>
          <a:p>
            <a:pPr marL="0" indent="0">
              <a:buNone/>
            </a:pPr>
            <a:r>
              <a:rPr lang="en-US" sz="1100" dirty="0">
                <a:solidFill>
                  <a:srgbClr val="5B6B87"/>
                </a:solidFill>
                <a:latin typeface="Calibri" pitchFamily="34" charset="0"/>
                <a:ea typeface="Calibri" pitchFamily="34" charset="-122"/>
                <a:cs typeface="Calibri" pitchFamily="34" charset="-120"/>
              </a:rPr>
              <a:t>0.712</a:t>
            </a:r>
            <a:endParaRPr lang="en-US" sz="1100" dirty="0"/>
          </a:p>
        </p:txBody>
      </p:sp>
      <p:sp>
        <p:nvSpPr>
          <p:cNvPr id="27" name="Shape 25"/>
          <p:cNvSpPr/>
          <p:nvPr/>
        </p:nvSpPr>
        <p:spPr>
          <a:xfrm>
            <a:off x="3291840" y="5650992"/>
            <a:ext cx="2734983" cy="274320"/>
          </a:xfrm>
          <a:prstGeom prst="rect">
            <a:avLst/>
          </a:prstGeom>
          <a:solidFill>
            <a:srgbClr val="E6115E"/>
          </a:solidFill>
          <a:ln/>
        </p:spPr>
      </p:sp>
      <p:sp>
        <p:nvSpPr>
          <p:cNvPr id="28" name="Text 26"/>
          <p:cNvSpPr txBox="1"/>
          <p:nvPr/>
        </p:nvSpPr>
        <p:spPr>
          <a:xfrm>
            <a:off x="6097889" y="5646420"/>
            <a:ext cx="640080" cy="29260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0.665</a:t>
            </a:r>
            <a:endParaRPr lang="en-US" sz="1200" dirty="0"/>
          </a:p>
        </p:txBody>
      </p:sp>
      <p:sp>
        <p:nvSpPr>
          <p:cNvPr id="29" name="Shape 27"/>
          <p:cNvSpPr/>
          <p:nvPr/>
        </p:nvSpPr>
        <p:spPr>
          <a:xfrm>
            <a:off x="7726680" y="2103120"/>
            <a:ext cx="3959352" cy="1965960"/>
          </a:xfrm>
          <a:prstGeom prst="roundRect">
            <a:avLst>
              <a:gd name="adj" fmla="val 2791"/>
            </a:avLst>
          </a:prstGeom>
          <a:solidFill>
            <a:srgbClr val="0A2559"/>
          </a:solidFill>
          <a:ln w="9525">
            <a:solidFill>
              <a:srgbClr val="0A2559"/>
            </a:solidFill>
            <a:prstDash val="solid"/>
          </a:ln>
        </p:spPr>
      </p:sp>
      <p:sp>
        <p:nvSpPr>
          <p:cNvPr id="30" name="Shape 28"/>
          <p:cNvSpPr/>
          <p:nvPr/>
        </p:nvSpPr>
        <p:spPr>
          <a:xfrm>
            <a:off x="7955280" y="2350008"/>
            <a:ext cx="128016" cy="128016"/>
          </a:xfrm>
          <a:prstGeom prst="roundRect">
            <a:avLst>
              <a:gd name="adj" fmla="val 21429"/>
            </a:avLst>
          </a:prstGeom>
          <a:solidFill>
            <a:srgbClr val="E6115E"/>
          </a:solidFill>
          <a:ln w="12700">
            <a:solidFill>
              <a:srgbClr val="E6115E"/>
            </a:solidFill>
            <a:prstDash val="solid"/>
          </a:ln>
        </p:spPr>
      </p:sp>
      <p:sp>
        <p:nvSpPr>
          <p:cNvPr id="31" name="Text 29"/>
          <p:cNvSpPr txBox="1"/>
          <p:nvPr/>
        </p:nvSpPr>
        <p:spPr>
          <a:xfrm>
            <a:off x="8183880" y="2240280"/>
            <a:ext cx="331927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 brecha de la Clase 1</a:t>
            </a:r>
            <a:endParaRPr lang="en-US" sz="1400" dirty="0"/>
          </a:p>
        </p:txBody>
      </p:sp>
      <p:sp>
        <p:nvSpPr>
          <p:cNvPr id="32" name="Text 30"/>
          <p:cNvSpPr txBox="1"/>
          <p:nvPr/>
        </p:nvSpPr>
        <p:spPr>
          <a:xfrm>
            <a:off x="7955280" y="2606040"/>
            <a:ext cx="3566160" cy="137160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La lineal con 90 variables saca 0.787 entrenando y 0.531 en prueba: peor que la lineal simple con 12. Memorizó.</a:t>
            </a:r>
            <a:endParaRPr lang="en-US" sz="1250" dirty="0"/>
          </a:p>
        </p:txBody>
      </p:sp>
      <p:sp>
        <p:nvSpPr>
          <p:cNvPr id="33" name="Shape 31"/>
          <p:cNvSpPr/>
          <p:nvPr/>
        </p:nvSpPr>
        <p:spPr>
          <a:xfrm>
            <a:off x="7726680" y="4251960"/>
            <a:ext cx="3959352" cy="1965960"/>
          </a:xfrm>
          <a:prstGeom prst="roundRect">
            <a:avLst>
              <a:gd name="adj" fmla="val 2791"/>
            </a:avLst>
          </a:prstGeom>
          <a:solidFill>
            <a:srgbClr val="FFFFFF"/>
          </a:solidFill>
          <a:ln w="9525">
            <a:solidFill>
              <a:srgbClr val="D2DBEC"/>
            </a:solidFill>
            <a:prstDash val="solid"/>
          </a:ln>
        </p:spPr>
      </p:sp>
      <p:sp>
        <p:nvSpPr>
          <p:cNvPr id="34" name="Shape 32"/>
          <p:cNvSpPr/>
          <p:nvPr/>
        </p:nvSpPr>
        <p:spPr>
          <a:xfrm>
            <a:off x="7955280" y="4498848"/>
            <a:ext cx="128016" cy="128016"/>
          </a:xfrm>
          <a:prstGeom prst="roundRect">
            <a:avLst>
              <a:gd name="adj" fmla="val 21429"/>
            </a:avLst>
          </a:prstGeom>
          <a:solidFill>
            <a:srgbClr val="1A56E8"/>
          </a:solidFill>
          <a:ln w="12700">
            <a:solidFill>
              <a:srgbClr val="1A56E8"/>
            </a:solidFill>
            <a:prstDash val="solid"/>
          </a:ln>
        </p:spPr>
      </p:sp>
      <p:sp>
        <p:nvSpPr>
          <p:cNvPr id="35" name="Text 33"/>
          <p:cNvSpPr txBox="1"/>
          <p:nvPr/>
        </p:nvSpPr>
        <p:spPr>
          <a:xfrm>
            <a:off x="8183880" y="4389120"/>
            <a:ext cx="331927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El freno lo arregla</a:t>
            </a:r>
            <a:endParaRPr lang="en-US" sz="1400" dirty="0"/>
          </a:p>
        </p:txBody>
      </p:sp>
      <p:sp>
        <p:nvSpPr>
          <p:cNvPr id="36" name="Text 34"/>
          <p:cNvSpPr txBox="1"/>
          <p:nvPr/>
        </p:nvSpPr>
        <p:spPr>
          <a:xfrm>
            <a:off x="7955280" y="4754880"/>
            <a:ext cx="3566160" cy="137160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Ridge sacrifica entrenamiento (0.742) y gana en prueba (0.657). Lasso además se queda con 34 de las 90 variables.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Elegir α sin tocar la prueba: validación cruzada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Con solo 500 filas, apartar 100 para validar duele. La validación cruzada usa todas, por turnos.</a:t>
            </a:r>
            <a:endParaRPr lang="en-US" sz="1400" dirty="0"/>
          </a:p>
        </p:txBody>
      </p:sp>
      <p:sp>
        <p:nvSpPr>
          <p:cNvPr id="6" name="Text 4"/>
          <p:cNvSpPr txBox="1"/>
          <p:nvPr/>
        </p:nvSpPr>
        <p:spPr>
          <a:xfrm>
            <a:off x="502920" y="2103120"/>
            <a:ext cx="1024128" cy="320040"/>
          </a:xfrm>
          <a:prstGeom prst="rect">
            <a:avLst/>
          </a:prstGeom>
          <a:noFill/>
          <a:ln/>
        </p:spPr>
        <p:txBody>
          <a:bodyPr wrap="square" lIns="0" tIns="0" rIns="0" bIns="0" rtlCol="0" anchor="ctr"/>
          <a:lstStyle/>
          <a:p>
            <a:pPr marL="0" indent="0" algn="ctr">
              <a:buNone/>
            </a:pPr>
            <a:endParaRPr lang="en-US" sz="1100" dirty="0"/>
          </a:p>
        </p:txBody>
      </p:sp>
      <p:sp>
        <p:nvSpPr>
          <p:cNvPr id="7" name="Text 5"/>
          <p:cNvSpPr txBox="1"/>
          <p:nvPr/>
        </p:nvSpPr>
        <p:spPr>
          <a:xfrm>
            <a:off x="1527048" y="2103120"/>
            <a:ext cx="1024128" cy="320040"/>
          </a:xfrm>
          <a:prstGeom prst="rect">
            <a:avLst/>
          </a:prstGeom>
          <a:noFill/>
          <a:ln/>
        </p:spPr>
        <p:txBody>
          <a:bodyPr wrap="square" lIns="0" tIns="0" rIns="0" bIns="0" rtlCol="0" anchor="ctr"/>
          <a:lstStyle/>
          <a:p>
            <a:pPr marL="0" indent="0" algn="ctr">
              <a:buNone/>
            </a:pPr>
            <a:r>
              <a:rPr lang="en-US" sz="1100" b="1" dirty="0">
                <a:solidFill>
                  <a:srgbClr val="0A2559"/>
                </a:solidFill>
                <a:latin typeface="Calibri" pitchFamily="34" charset="0"/>
                <a:ea typeface="Calibri" pitchFamily="34" charset="-122"/>
                <a:cs typeface="Calibri" pitchFamily="34" charset="-120"/>
              </a:rPr>
              <a:t>Part. 1</a:t>
            </a:r>
            <a:endParaRPr lang="en-US" sz="1100" dirty="0"/>
          </a:p>
        </p:txBody>
      </p:sp>
      <p:sp>
        <p:nvSpPr>
          <p:cNvPr id="8" name="Text 6"/>
          <p:cNvSpPr txBox="1"/>
          <p:nvPr/>
        </p:nvSpPr>
        <p:spPr>
          <a:xfrm>
            <a:off x="2551176" y="2103120"/>
            <a:ext cx="1024128" cy="320040"/>
          </a:xfrm>
          <a:prstGeom prst="rect">
            <a:avLst/>
          </a:prstGeom>
          <a:noFill/>
          <a:ln/>
        </p:spPr>
        <p:txBody>
          <a:bodyPr wrap="square" lIns="0" tIns="0" rIns="0" bIns="0" rtlCol="0" anchor="ctr"/>
          <a:lstStyle/>
          <a:p>
            <a:pPr marL="0" indent="0" algn="ctr">
              <a:buNone/>
            </a:pPr>
            <a:r>
              <a:rPr lang="en-US" sz="1100" b="1" dirty="0">
                <a:solidFill>
                  <a:srgbClr val="0A2559"/>
                </a:solidFill>
                <a:latin typeface="Calibri" pitchFamily="34" charset="0"/>
                <a:ea typeface="Calibri" pitchFamily="34" charset="-122"/>
                <a:cs typeface="Calibri" pitchFamily="34" charset="-120"/>
              </a:rPr>
              <a:t>Part. 2</a:t>
            </a:r>
            <a:endParaRPr lang="en-US" sz="1100" dirty="0"/>
          </a:p>
        </p:txBody>
      </p:sp>
      <p:sp>
        <p:nvSpPr>
          <p:cNvPr id="9" name="Text 7"/>
          <p:cNvSpPr txBox="1"/>
          <p:nvPr/>
        </p:nvSpPr>
        <p:spPr>
          <a:xfrm>
            <a:off x="3575304" y="2103120"/>
            <a:ext cx="1024128" cy="320040"/>
          </a:xfrm>
          <a:prstGeom prst="rect">
            <a:avLst/>
          </a:prstGeom>
          <a:noFill/>
          <a:ln/>
        </p:spPr>
        <p:txBody>
          <a:bodyPr wrap="square" lIns="0" tIns="0" rIns="0" bIns="0" rtlCol="0" anchor="ctr"/>
          <a:lstStyle/>
          <a:p>
            <a:pPr marL="0" indent="0" algn="ctr">
              <a:buNone/>
            </a:pPr>
            <a:r>
              <a:rPr lang="en-US" sz="1100" b="1" dirty="0">
                <a:solidFill>
                  <a:srgbClr val="0A2559"/>
                </a:solidFill>
                <a:latin typeface="Calibri" pitchFamily="34" charset="0"/>
                <a:ea typeface="Calibri" pitchFamily="34" charset="-122"/>
                <a:cs typeface="Calibri" pitchFamily="34" charset="-120"/>
              </a:rPr>
              <a:t>Part. 3</a:t>
            </a:r>
            <a:endParaRPr lang="en-US" sz="1100" dirty="0"/>
          </a:p>
        </p:txBody>
      </p:sp>
      <p:sp>
        <p:nvSpPr>
          <p:cNvPr id="10" name="Text 8"/>
          <p:cNvSpPr txBox="1"/>
          <p:nvPr/>
        </p:nvSpPr>
        <p:spPr>
          <a:xfrm>
            <a:off x="4599432" y="2103120"/>
            <a:ext cx="1024128" cy="320040"/>
          </a:xfrm>
          <a:prstGeom prst="rect">
            <a:avLst/>
          </a:prstGeom>
          <a:noFill/>
          <a:ln/>
        </p:spPr>
        <p:txBody>
          <a:bodyPr wrap="square" lIns="0" tIns="0" rIns="0" bIns="0" rtlCol="0" anchor="ctr"/>
          <a:lstStyle/>
          <a:p>
            <a:pPr marL="0" indent="0" algn="ctr">
              <a:buNone/>
            </a:pPr>
            <a:r>
              <a:rPr lang="en-US" sz="1100" b="1" dirty="0">
                <a:solidFill>
                  <a:srgbClr val="0A2559"/>
                </a:solidFill>
                <a:latin typeface="Calibri" pitchFamily="34" charset="0"/>
                <a:ea typeface="Calibri" pitchFamily="34" charset="-122"/>
                <a:cs typeface="Calibri" pitchFamily="34" charset="-120"/>
              </a:rPr>
              <a:t>Part. 4</a:t>
            </a:r>
            <a:endParaRPr lang="en-US" sz="1100" dirty="0"/>
          </a:p>
        </p:txBody>
      </p:sp>
      <p:sp>
        <p:nvSpPr>
          <p:cNvPr id="11" name="Text 9"/>
          <p:cNvSpPr txBox="1"/>
          <p:nvPr/>
        </p:nvSpPr>
        <p:spPr>
          <a:xfrm>
            <a:off x="5623560" y="2103120"/>
            <a:ext cx="1024128" cy="320040"/>
          </a:xfrm>
          <a:prstGeom prst="rect">
            <a:avLst/>
          </a:prstGeom>
          <a:noFill/>
          <a:ln/>
        </p:spPr>
        <p:txBody>
          <a:bodyPr wrap="square" lIns="0" tIns="0" rIns="0" bIns="0" rtlCol="0" anchor="ctr"/>
          <a:lstStyle/>
          <a:p>
            <a:pPr marL="0" indent="0" algn="ctr">
              <a:buNone/>
            </a:pPr>
            <a:r>
              <a:rPr lang="en-US" sz="1100" b="1" dirty="0">
                <a:solidFill>
                  <a:srgbClr val="0A2559"/>
                </a:solidFill>
                <a:latin typeface="Calibri" pitchFamily="34" charset="0"/>
                <a:ea typeface="Calibri" pitchFamily="34" charset="-122"/>
                <a:cs typeface="Calibri" pitchFamily="34" charset="-120"/>
              </a:rPr>
              <a:t>Part. 5</a:t>
            </a:r>
            <a:endParaRPr lang="en-US" sz="1100" dirty="0"/>
          </a:p>
        </p:txBody>
      </p:sp>
      <p:sp>
        <p:nvSpPr>
          <p:cNvPr id="12" name="Text 10"/>
          <p:cNvSpPr txBox="1"/>
          <p:nvPr/>
        </p:nvSpPr>
        <p:spPr>
          <a:xfrm>
            <a:off x="502920" y="2487168"/>
            <a:ext cx="1024128" cy="384048"/>
          </a:xfrm>
          <a:prstGeom prst="rect">
            <a:avLst/>
          </a:prstGeom>
          <a:noFill/>
          <a:ln/>
        </p:spPr>
        <p:txBody>
          <a:bodyPr wrap="square" lIns="0" tIns="0" rIns="0" bIns="0" rtlCol="0" anchor="ctr"/>
          <a:lstStyle/>
          <a:p>
            <a:pPr marL="0" indent="0" algn="ctr">
              <a:buNone/>
            </a:pPr>
            <a:r>
              <a:rPr lang="en-US" sz="1100" dirty="0">
                <a:solidFill>
                  <a:srgbClr val="2C3A55"/>
                </a:solidFill>
                <a:latin typeface="Calibri" pitchFamily="34" charset="0"/>
                <a:ea typeface="Calibri" pitchFamily="34" charset="-122"/>
                <a:cs typeface="Calibri" pitchFamily="34" charset="-120"/>
              </a:rPr>
              <a:t>Vuelta 1</a:t>
            </a:r>
            <a:endParaRPr lang="en-US" sz="1100" dirty="0"/>
          </a:p>
        </p:txBody>
      </p:sp>
      <p:sp>
        <p:nvSpPr>
          <p:cNvPr id="13" name="Shape 11"/>
          <p:cNvSpPr/>
          <p:nvPr/>
        </p:nvSpPr>
        <p:spPr>
          <a:xfrm>
            <a:off x="1563624" y="2487168"/>
            <a:ext cx="950976" cy="384048"/>
          </a:xfrm>
          <a:prstGeom prst="roundRect">
            <a:avLst>
              <a:gd name="adj" fmla="val 9524"/>
            </a:avLst>
          </a:prstGeom>
          <a:solidFill>
            <a:srgbClr val="E6115E"/>
          </a:solidFill>
          <a:ln w="9525">
            <a:solidFill>
              <a:srgbClr val="E6115E"/>
            </a:solidFill>
            <a:prstDash val="solid"/>
          </a:ln>
        </p:spPr>
      </p:sp>
      <p:sp>
        <p:nvSpPr>
          <p:cNvPr id="14" name="Text 12"/>
          <p:cNvSpPr txBox="1"/>
          <p:nvPr/>
        </p:nvSpPr>
        <p:spPr>
          <a:xfrm>
            <a:off x="1563624" y="2487168"/>
            <a:ext cx="950976"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valida</a:t>
            </a:r>
            <a:endParaRPr lang="en-US" sz="1050" dirty="0"/>
          </a:p>
        </p:txBody>
      </p:sp>
      <p:sp>
        <p:nvSpPr>
          <p:cNvPr id="15" name="Shape 13"/>
          <p:cNvSpPr/>
          <p:nvPr/>
        </p:nvSpPr>
        <p:spPr>
          <a:xfrm>
            <a:off x="2587752" y="2487168"/>
            <a:ext cx="950976" cy="384048"/>
          </a:xfrm>
          <a:prstGeom prst="roundRect">
            <a:avLst>
              <a:gd name="adj" fmla="val 9524"/>
            </a:avLst>
          </a:prstGeom>
          <a:solidFill>
            <a:srgbClr val="E9EEF8"/>
          </a:solidFill>
          <a:ln w="9525">
            <a:solidFill>
              <a:srgbClr val="D2DBEC"/>
            </a:solidFill>
            <a:prstDash val="solid"/>
          </a:ln>
        </p:spPr>
      </p:sp>
      <p:sp>
        <p:nvSpPr>
          <p:cNvPr id="16" name="Text 14"/>
          <p:cNvSpPr txBox="1"/>
          <p:nvPr/>
        </p:nvSpPr>
        <p:spPr>
          <a:xfrm>
            <a:off x="2587752" y="24871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17" name="Shape 15"/>
          <p:cNvSpPr/>
          <p:nvPr/>
        </p:nvSpPr>
        <p:spPr>
          <a:xfrm>
            <a:off x="3611880" y="2487168"/>
            <a:ext cx="950976" cy="384048"/>
          </a:xfrm>
          <a:prstGeom prst="roundRect">
            <a:avLst>
              <a:gd name="adj" fmla="val 9524"/>
            </a:avLst>
          </a:prstGeom>
          <a:solidFill>
            <a:srgbClr val="E9EEF8"/>
          </a:solidFill>
          <a:ln w="9525">
            <a:solidFill>
              <a:srgbClr val="D2DBEC"/>
            </a:solidFill>
            <a:prstDash val="solid"/>
          </a:ln>
        </p:spPr>
      </p:sp>
      <p:sp>
        <p:nvSpPr>
          <p:cNvPr id="18" name="Text 16"/>
          <p:cNvSpPr txBox="1"/>
          <p:nvPr/>
        </p:nvSpPr>
        <p:spPr>
          <a:xfrm>
            <a:off x="3611880" y="24871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19" name="Shape 17"/>
          <p:cNvSpPr/>
          <p:nvPr/>
        </p:nvSpPr>
        <p:spPr>
          <a:xfrm>
            <a:off x="4636008" y="2487168"/>
            <a:ext cx="950976" cy="384048"/>
          </a:xfrm>
          <a:prstGeom prst="roundRect">
            <a:avLst>
              <a:gd name="adj" fmla="val 9524"/>
            </a:avLst>
          </a:prstGeom>
          <a:solidFill>
            <a:srgbClr val="E9EEF8"/>
          </a:solidFill>
          <a:ln w="9525">
            <a:solidFill>
              <a:srgbClr val="D2DBEC"/>
            </a:solidFill>
            <a:prstDash val="solid"/>
          </a:ln>
        </p:spPr>
      </p:sp>
      <p:sp>
        <p:nvSpPr>
          <p:cNvPr id="20" name="Text 18"/>
          <p:cNvSpPr txBox="1"/>
          <p:nvPr/>
        </p:nvSpPr>
        <p:spPr>
          <a:xfrm>
            <a:off x="4636008" y="24871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21" name="Shape 19"/>
          <p:cNvSpPr/>
          <p:nvPr/>
        </p:nvSpPr>
        <p:spPr>
          <a:xfrm>
            <a:off x="5660136" y="2487168"/>
            <a:ext cx="950976" cy="384048"/>
          </a:xfrm>
          <a:prstGeom prst="roundRect">
            <a:avLst>
              <a:gd name="adj" fmla="val 9524"/>
            </a:avLst>
          </a:prstGeom>
          <a:solidFill>
            <a:srgbClr val="E9EEF8"/>
          </a:solidFill>
          <a:ln w="9525">
            <a:solidFill>
              <a:srgbClr val="D2DBEC"/>
            </a:solidFill>
            <a:prstDash val="solid"/>
          </a:ln>
        </p:spPr>
      </p:sp>
      <p:sp>
        <p:nvSpPr>
          <p:cNvPr id="22" name="Text 20"/>
          <p:cNvSpPr txBox="1"/>
          <p:nvPr/>
        </p:nvSpPr>
        <p:spPr>
          <a:xfrm>
            <a:off x="5660136" y="24871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23" name="Text 21"/>
          <p:cNvSpPr txBox="1"/>
          <p:nvPr/>
        </p:nvSpPr>
        <p:spPr>
          <a:xfrm>
            <a:off x="502920" y="2944368"/>
            <a:ext cx="1024128" cy="384048"/>
          </a:xfrm>
          <a:prstGeom prst="rect">
            <a:avLst/>
          </a:prstGeom>
          <a:noFill/>
          <a:ln/>
        </p:spPr>
        <p:txBody>
          <a:bodyPr wrap="square" lIns="0" tIns="0" rIns="0" bIns="0" rtlCol="0" anchor="ctr"/>
          <a:lstStyle/>
          <a:p>
            <a:pPr marL="0" indent="0" algn="ctr">
              <a:buNone/>
            </a:pPr>
            <a:r>
              <a:rPr lang="en-US" sz="1100" dirty="0">
                <a:solidFill>
                  <a:srgbClr val="2C3A55"/>
                </a:solidFill>
                <a:latin typeface="Calibri" pitchFamily="34" charset="0"/>
                <a:ea typeface="Calibri" pitchFamily="34" charset="-122"/>
                <a:cs typeface="Calibri" pitchFamily="34" charset="-120"/>
              </a:rPr>
              <a:t>Vuelta 2</a:t>
            </a:r>
            <a:endParaRPr lang="en-US" sz="1100" dirty="0"/>
          </a:p>
        </p:txBody>
      </p:sp>
      <p:sp>
        <p:nvSpPr>
          <p:cNvPr id="24" name="Shape 22"/>
          <p:cNvSpPr/>
          <p:nvPr/>
        </p:nvSpPr>
        <p:spPr>
          <a:xfrm>
            <a:off x="1563624" y="2944368"/>
            <a:ext cx="950976" cy="384048"/>
          </a:xfrm>
          <a:prstGeom prst="roundRect">
            <a:avLst>
              <a:gd name="adj" fmla="val 9524"/>
            </a:avLst>
          </a:prstGeom>
          <a:solidFill>
            <a:srgbClr val="E9EEF8"/>
          </a:solidFill>
          <a:ln w="9525">
            <a:solidFill>
              <a:srgbClr val="D2DBEC"/>
            </a:solidFill>
            <a:prstDash val="solid"/>
          </a:ln>
        </p:spPr>
      </p:sp>
      <p:sp>
        <p:nvSpPr>
          <p:cNvPr id="25" name="Text 23"/>
          <p:cNvSpPr txBox="1"/>
          <p:nvPr/>
        </p:nvSpPr>
        <p:spPr>
          <a:xfrm>
            <a:off x="1563624" y="29443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26" name="Shape 24"/>
          <p:cNvSpPr/>
          <p:nvPr/>
        </p:nvSpPr>
        <p:spPr>
          <a:xfrm>
            <a:off x="2587752" y="2944368"/>
            <a:ext cx="950976" cy="384048"/>
          </a:xfrm>
          <a:prstGeom prst="roundRect">
            <a:avLst>
              <a:gd name="adj" fmla="val 9524"/>
            </a:avLst>
          </a:prstGeom>
          <a:solidFill>
            <a:srgbClr val="E6115E"/>
          </a:solidFill>
          <a:ln w="9525">
            <a:solidFill>
              <a:srgbClr val="E6115E"/>
            </a:solidFill>
            <a:prstDash val="solid"/>
          </a:ln>
        </p:spPr>
      </p:sp>
      <p:sp>
        <p:nvSpPr>
          <p:cNvPr id="27" name="Text 25"/>
          <p:cNvSpPr txBox="1"/>
          <p:nvPr/>
        </p:nvSpPr>
        <p:spPr>
          <a:xfrm>
            <a:off x="2587752" y="2944368"/>
            <a:ext cx="950976"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valida</a:t>
            </a:r>
            <a:endParaRPr lang="en-US" sz="1050" dirty="0"/>
          </a:p>
        </p:txBody>
      </p:sp>
      <p:sp>
        <p:nvSpPr>
          <p:cNvPr id="28" name="Shape 26"/>
          <p:cNvSpPr/>
          <p:nvPr/>
        </p:nvSpPr>
        <p:spPr>
          <a:xfrm>
            <a:off x="3611880" y="2944368"/>
            <a:ext cx="950976" cy="384048"/>
          </a:xfrm>
          <a:prstGeom prst="roundRect">
            <a:avLst>
              <a:gd name="adj" fmla="val 9524"/>
            </a:avLst>
          </a:prstGeom>
          <a:solidFill>
            <a:srgbClr val="E9EEF8"/>
          </a:solidFill>
          <a:ln w="9525">
            <a:solidFill>
              <a:srgbClr val="D2DBEC"/>
            </a:solidFill>
            <a:prstDash val="solid"/>
          </a:ln>
        </p:spPr>
      </p:sp>
      <p:sp>
        <p:nvSpPr>
          <p:cNvPr id="29" name="Text 27"/>
          <p:cNvSpPr txBox="1"/>
          <p:nvPr/>
        </p:nvSpPr>
        <p:spPr>
          <a:xfrm>
            <a:off x="3611880" y="29443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30" name="Shape 28"/>
          <p:cNvSpPr/>
          <p:nvPr/>
        </p:nvSpPr>
        <p:spPr>
          <a:xfrm>
            <a:off x="4636008" y="2944368"/>
            <a:ext cx="950976" cy="384048"/>
          </a:xfrm>
          <a:prstGeom prst="roundRect">
            <a:avLst>
              <a:gd name="adj" fmla="val 9524"/>
            </a:avLst>
          </a:prstGeom>
          <a:solidFill>
            <a:srgbClr val="E9EEF8"/>
          </a:solidFill>
          <a:ln w="9525">
            <a:solidFill>
              <a:srgbClr val="D2DBEC"/>
            </a:solidFill>
            <a:prstDash val="solid"/>
          </a:ln>
        </p:spPr>
      </p:sp>
      <p:sp>
        <p:nvSpPr>
          <p:cNvPr id="31" name="Text 29"/>
          <p:cNvSpPr txBox="1"/>
          <p:nvPr/>
        </p:nvSpPr>
        <p:spPr>
          <a:xfrm>
            <a:off x="4636008" y="29443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32" name="Shape 30"/>
          <p:cNvSpPr/>
          <p:nvPr/>
        </p:nvSpPr>
        <p:spPr>
          <a:xfrm>
            <a:off x="5660136" y="2944368"/>
            <a:ext cx="950976" cy="384048"/>
          </a:xfrm>
          <a:prstGeom prst="roundRect">
            <a:avLst>
              <a:gd name="adj" fmla="val 9524"/>
            </a:avLst>
          </a:prstGeom>
          <a:solidFill>
            <a:srgbClr val="E9EEF8"/>
          </a:solidFill>
          <a:ln w="9525">
            <a:solidFill>
              <a:srgbClr val="D2DBEC"/>
            </a:solidFill>
            <a:prstDash val="solid"/>
          </a:ln>
        </p:spPr>
      </p:sp>
      <p:sp>
        <p:nvSpPr>
          <p:cNvPr id="33" name="Text 31"/>
          <p:cNvSpPr txBox="1"/>
          <p:nvPr/>
        </p:nvSpPr>
        <p:spPr>
          <a:xfrm>
            <a:off x="5660136" y="29443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34" name="Text 32"/>
          <p:cNvSpPr txBox="1"/>
          <p:nvPr/>
        </p:nvSpPr>
        <p:spPr>
          <a:xfrm>
            <a:off x="502920" y="3401568"/>
            <a:ext cx="1024128" cy="384048"/>
          </a:xfrm>
          <a:prstGeom prst="rect">
            <a:avLst/>
          </a:prstGeom>
          <a:noFill/>
          <a:ln/>
        </p:spPr>
        <p:txBody>
          <a:bodyPr wrap="square" lIns="0" tIns="0" rIns="0" bIns="0" rtlCol="0" anchor="ctr"/>
          <a:lstStyle/>
          <a:p>
            <a:pPr marL="0" indent="0" algn="ctr">
              <a:buNone/>
            </a:pPr>
            <a:r>
              <a:rPr lang="en-US" sz="1100" dirty="0">
                <a:solidFill>
                  <a:srgbClr val="2C3A55"/>
                </a:solidFill>
                <a:latin typeface="Calibri" pitchFamily="34" charset="0"/>
                <a:ea typeface="Calibri" pitchFamily="34" charset="-122"/>
                <a:cs typeface="Calibri" pitchFamily="34" charset="-120"/>
              </a:rPr>
              <a:t>Vuelta 3</a:t>
            </a:r>
            <a:endParaRPr lang="en-US" sz="1100" dirty="0"/>
          </a:p>
        </p:txBody>
      </p:sp>
      <p:sp>
        <p:nvSpPr>
          <p:cNvPr id="35" name="Shape 33"/>
          <p:cNvSpPr/>
          <p:nvPr/>
        </p:nvSpPr>
        <p:spPr>
          <a:xfrm>
            <a:off x="1563624" y="3401568"/>
            <a:ext cx="950976" cy="384048"/>
          </a:xfrm>
          <a:prstGeom prst="roundRect">
            <a:avLst>
              <a:gd name="adj" fmla="val 9524"/>
            </a:avLst>
          </a:prstGeom>
          <a:solidFill>
            <a:srgbClr val="E9EEF8"/>
          </a:solidFill>
          <a:ln w="9525">
            <a:solidFill>
              <a:srgbClr val="D2DBEC"/>
            </a:solidFill>
            <a:prstDash val="solid"/>
          </a:ln>
        </p:spPr>
      </p:sp>
      <p:sp>
        <p:nvSpPr>
          <p:cNvPr id="36" name="Text 34"/>
          <p:cNvSpPr txBox="1"/>
          <p:nvPr/>
        </p:nvSpPr>
        <p:spPr>
          <a:xfrm>
            <a:off x="1563624" y="34015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37" name="Shape 35"/>
          <p:cNvSpPr/>
          <p:nvPr/>
        </p:nvSpPr>
        <p:spPr>
          <a:xfrm>
            <a:off x="2587752" y="3401568"/>
            <a:ext cx="950976" cy="384048"/>
          </a:xfrm>
          <a:prstGeom prst="roundRect">
            <a:avLst>
              <a:gd name="adj" fmla="val 9524"/>
            </a:avLst>
          </a:prstGeom>
          <a:solidFill>
            <a:srgbClr val="E9EEF8"/>
          </a:solidFill>
          <a:ln w="9525">
            <a:solidFill>
              <a:srgbClr val="D2DBEC"/>
            </a:solidFill>
            <a:prstDash val="solid"/>
          </a:ln>
        </p:spPr>
      </p:sp>
      <p:sp>
        <p:nvSpPr>
          <p:cNvPr id="38" name="Text 36"/>
          <p:cNvSpPr txBox="1"/>
          <p:nvPr/>
        </p:nvSpPr>
        <p:spPr>
          <a:xfrm>
            <a:off x="2587752" y="34015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39" name="Shape 37"/>
          <p:cNvSpPr/>
          <p:nvPr/>
        </p:nvSpPr>
        <p:spPr>
          <a:xfrm>
            <a:off x="3611880" y="3401568"/>
            <a:ext cx="950976" cy="384048"/>
          </a:xfrm>
          <a:prstGeom prst="roundRect">
            <a:avLst>
              <a:gd name="adj" fmla="val 9524"/>
            </a:avLst>
          </a:prstGeom>
          <a:solidFill>
            <a:srgbClr val="E6115E"/>
          </a:solidFill>
          <a:ln w="9525">
            <a:solidFill>
              <a:srgbClr val="E6115E"/>
            </a:solidFill>
            <a:prstDash val="solid"/>
          </a:ln>
        </p:spPr>
      </p:sp>
      <p:sp>
        <p:nvSpPr>
          <p:cNvPr id="40" name="Text 38"/>
          <p:cNvSpPr txBox="1"/>
          <p:nvPr/>
        </p:nvSpPr>
        <p:spPr>
          <a:xfrm>
            <a:off x="3611880" y="3401568"/>
            <a:ext cx="950976"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valida</a:t>
            </a:r>
            <a:endParaRPr lang="en-US" sz="1050" dirty="0"/>
          </a:p>
        </p:txBody>
      </p:sp>
      <p:sp>
        <p:nvSpPr>
          <p:cNvPr id="41" name="Shape 39"/>
          <p:cNvSpPr/>
          <p:nvPr/>
        </p:nvSpPr>
        <p:spPr>
          <a:xfrm>
            <a:off x="4636008" y="3401568"/>
            <a:ext cx="950976" cy="384048"/>
          </a:xfrm>
          <a:prstGeom prst="roundRect">
            <a:avLst>
              <a:gd name="adj" fmla="val 9524"/>
            </a:avLst>
          </a:prstGeom>
          <a:solidFill>
            <a:srgbClr val="E9EEF8"/>
          </a:solidFill>
          <a:ln w="9525">
            <a:solidFill>
              <a:srgbClr val="D2DBEC"/>
            </a:solidFill>
            <a:prstDash val="solid"/>
          </a:ln>
        </p:spPr>
      </p:sp>
      <p:sp>
        <p:nvSpPr>
          <p:cNvPr id="42" name="Text 40"/>
          <p:cNvSpPr txBox="1"/>
          <p:nvPr/>
        </p:nvSpPr>
        <p:spPr>
          <a:xfrm>
            <a:off x="4636008" y="34015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43" name="Shape 41"/>
          <p:cNvSpPr/>
          <p:nvPr/>
        </p:nvSpPr>
        <p:spPr>
          <a:xfrm>
            <a:off x="5660136" y="3401568"/>
            <a:ext cx="950976" cy="384048"/>
          </a:xfrm>
          <a:prstGeom prst="roundRect">
            <a:avLst>
              <a:gd name="adj" fmla="val 9524"/>
            </a:avLst>
          </a:prstGeom>
          <a:solidFill>
            <a:srgbClr val="E9EEF8"/>
          </a:solidFill>
          <a:ln w="9525">
            <a:solidFill>
              <a:srgbClr val="D2DBEC"/>
            </a:solidFill>
            <a:prstDash val="solid"/>
          </a:ln>
        </p:spPr>
      </p:sp>
      <p:sp>
        <p:nvSpPr>
          <p:cNvPr id="44" name="Text 42"/>
          <p:cNvSpPr txBox="1"/>
          <p:nvPr/>
        </p:nvSpPr>
        <p:spPr>
          <a:xfrm>
            <a:off x="5660136" y="34015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45" name="Text 43"/>
          <p:cNvSpPr txBox="1"/>
          <p:nvPr/>
        </p:nvSpPr>
        <p:spPr>
          <a:xfrm>
            <a:off x="502920" y="3858768"/>
            <a:ext cx="1024128" cy="384048"/>
          </a:xfrm>
          <a:prstGeom prst="rect">
            <a:avLst/>
          </a:prstGeom>
          <a:noFill/>
          <a:ln/>
        </p:spPr>
        <p:txBody>
          <a:bodyPr wrap="square" lIns="0" tIns="0" rIns="0" bIns="0" rtlCol="0" anchor="ctr"/>
          <a:lstStyle/>
          <a:p>
            <a:pPr marL="0" indent="0" algn="ctr">
              <a:buNone/>
            </a:pPr>
            <a:r>
              <a:rPr lang="en-US" sz="1100" dirty="0">
                <a:solidFill>
                  <a:srgbClr val="2C3A55"/>
                </a:solidFill>
                <a:latin typeface="Calibri" pitchFamily="34" charset="0"/>
                <a:ea typeface="Calibri" pitchFamily="34" charset="-122"/>
                <a:cs typeface="Calibri" pitchFamily="34" charset="-120"/>
              </a:rPr>
              <a:t>Vuelta 4</a:t>
            </a:r>
            <a:endParaRPr lang="en-US" sz="1100" dirty="0"/>
          </a:p>
        </p:txBody>
      </p:sp>
      <p:sp>
        <p:nvSpPr>
          <p:cNvPr id="46" name="Shape 44"/>
          <p:cNvSpPr/>
          <p:nvPr/>
        </p:nvSpPr>
        <p:spPr>
          <a:xfrm>
            <a:off x="1563624" y="3858768"/>
            <a:ext cx="950976" cy="384048"/>
          </a:xfrm>
          <a:prstGeom prst="roundRect">
            <a:avLst>
              <a:gd name="adj" fmla="val 9524"/>
            </a:avLst>
          </a:prstGeom>
          <a:solidFill>
            <a:srgbClr val="E9EEF8"/>
          </a:solidFill>
          <a:ln w="9525">
            <a:solidFill>
              <a:srgbClr val="D2DBEC"/>
            </a:solidFill>
            <a:prstDash val="solid"/>
          </a:ln>
        </p:spPr>
      </p:sp>
      <p:sp>
        <p:nvSpPr>
          <p:cNvPr id="47" name="Text 45"/>
          <p:cNvSpPr txBox="1"/>
          <p:nvPr/>
        </p:nvSpPr>
        <p:spPr>
          <a:xfrm>
            <a:off x="1563624" y="38587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48" name="Shape 46"/>
          <p:cNvSpPr/>
          <p:nvPr/>
        </p:nvSpPr>
        <p:spPr>
          <a:xfrm>
            <a:off x="2587752" y="3858768"/>
            <a:ext cx="950976" cy="384048"/>
          </a:xfrm>
          <a:prstGeom prst="roundRect">
            <a:avLst>
              <a:gd name="adj" fmla="val 9524"/>
            </a:avLst>
          </a:prstGeom>
          <a:solidFill>
            <a:srgbClr val="E9EEF8"/>
          </a:solidFill>
          <a:ln w="9525">
            <a:solidFill>
              <a:srgbClr val="D2DBEC"/>
            </a:solidFill>
            <a:prstDash val="solid"/>
          </a:ln>
        </p:spPr>
      </p:sp>
      <p:sp>
        <p:nvSpPr>
          <p:cNvPr id="49" name="Text 47"/>
          <p:cNvSpPr txBox="1"/>
          <p:nvPr/>
        </p:nvSpPr>
        <p:spPr>
          <a:xfrm>
            <a:off x="2587752" y="38587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50" name="Shape 48"/>
          <p:cNvSpPr/>
          <p:nvPr/>
        </p:nvSpPr>
        <p:spPr>
          <a:xfrm>
            <a:off x="3611880" y="3858768"/>
            <a:ext cx="950976" cy="384048"/>
          </a:xfrm>
          <a:prstGeom prst="roundRect">
            <a:avLst>
              <a:gd name="adj" fmla="val 9524"/>
            </a:avLst>
          </a:prstGeom>
          <a:solidFill>
            <a:srgbClr val="E9EEF8"/>
          </a:solidFill>
          <a:ln w="9525">
            <a:solidFill>
              <a:srgbClr val="D2DBEC"/>
            </a:solidFill>
            <a:prstDash val="solid"/>
          </a:ln>
        </p:spPr>
      </p:sp>
      <p:sp>
        <p:nvSpPr>
          <p:cNvPr id="51" name="Text 49"/>
          <p:cNvSpPr txBox="1"/>
          <p:nvPr/>
        </p:nvSpPr>
        <p:spPr>
          <a:xfrm>
            <a:off x="3611880" y="38587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52" name="Shape 50"/>
          <p:cNvSpPr/>
          <p:nvPr/>
        </p:nvSpPr>
        <p:spPr>
          <a:xfrm>
            <a:off x="4636008" y="3858768"/>
            <a:ext cx="950976" cy="384048"/>
          </a:xfrm>
          <a:prstGeom prst="roundRect">
            <a:avLst>
              <a:gd name="adj" fmla="val 9524"/>
            </a:avLst>
          </a:prstGeom>
          <a:solidFill>
            <a:srgbClr val="E6115E"/>
          </a:solidFill>
          <a:ln w="9525">
            <a:solidFill>
              <a:srgbClr val="E6115E"/>
            </a:solidFill>
            <a:prstDash val="solid"/>
          </a:ln>
        </p:spPr>
      </p:sp>
      <p:sp>
        <p:nvSpPr>
          <p:cNvPr id="53" name="Text 51"/>
          <p:cNvSpPr txBox="1"/>
          <p:nvPr/>
        </p:nvSpPr>
        <p:spPr>
          <a:xfrm>
            <a:off x="4636008" y="3858768"/>
            <a:ext cx="950976"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valida</a:t>
            </a:r>
            <a:endParaRPr lang="en-US" sz="1050" dirty="0"/>
          </a:p>
        </p:txBody>
      </p:sp>
      <p:sp>
        <p:nvSpPr>
          <p:cNvPr id="54" name="Shape 52"/>
          <p:cNvSpPr/>
          <p:nvPr/>
        </p:nvSpPr>
        <p:spPr>
          <a:xfrm>
            <a:off x="5660136" y="3858768"/>
            <a:ext cx="950976" cy="384048"/>
          </a:xfrm>
          <a:prstGeom prst="roundRect">
            <a:avLst>
              <a:gd name="adj" fmla="val 9524"/>
            </a:avLst>
          </a:prstGeom>
          <a:solidFill>
            <a:srgbClr val="E9EEF8"/>
          </a:solidFill>
          <a:ln w="9525">
            <a:solidFill>
              <a:srgbClr val="D2DBEC"/>
            </a:solidFill>
            <a:prstDash val="solid"/>
          </a:ln>
        </p:spPr>
      </p:sp>
      <p:sp>
        <p:nvSpPr>
          <p:cNvPr id="55" name="Text 53"/>
          <p:cNvSpPr txBox="1"/>
          <p:nvPr/>
        </p:nvSpPr>
        <p:spPr>
          <a:xfrm>
            <a:off x="5660136" y="38587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56" name="Text 54"/>
          <p:cNvSpPr txBox="1"/>
          <p:nvPr/>
        </p:nvSpPr>
        <p:spPr>
          <a:xfrm>
            <a:off x="502920" y="4315968"/>
            <a:ext cx="1024128" cy="384048"/>
          </a:xfrm>
          <a:prstGeom prst="rect">
            <a:avLst/>
          </a:prstGeom>
          <a:noFill/>
          <a:ln/>
        </p:spPr>
        <p:txBody>
          <a:bodyPr wrap="square" lIns="0" tIns="0" rIns="0" bIns="0" rtlCol="0" anchor="ctr"/>
          <a:lstStyle/>
          <a:p>
            <a:pPr marL="0" indent="0" algn="ctr">
              <a:buNone/>
            </a:pPr>
            <a:r>
              <a:rPr lang="en-US" sz="1100" dirty="0">
                <a:solidFill>
                  <a:srgbClr val="2C3A55"/>
                </a:solidFill>
                <a:latin typeface="Calibri" pitchFamily="34" charset="0"/>
                <a:ea typeface="Calibri" pitchFamily="34" charset="-122"/>
                <a:cs typeface="Calibri" pitchFamily="34" charset="-120"/>
              </a:rPr>
              <a:t>Vuelta 5</a:t>
            </a:r>
            <a:endParaRPr lang="en-US" sz="1100" dirty="0"/>
          </a:p>
        </p:txBody>
      </p:sp>
      <p:sp>
        <p:nvSpPr>
          <p:cNvPr id="57" name="Shape 55"/>
          <p:cNvSpPr/>
          <p:nvPr/>
        </p:nvSpPr>
        <p:spPr>
          <a:xfrm>
            <a:off x="1563624" y="4315968"/>
            <a:ext cx="950976" cy="384048"/>
          </a:xfrm>
          <a:prstGeom prst="roundRect">
            <a:avLst>
              <a:gd name="adj" fmla="val 9524"/>
            </a:avLst>
          </a:prstGeom>
          <a:solidFill>
            <a:srgbClr val="E9EEF8"/>
          </a:solidFill>
          <a:ln w="9525">
            <a:solidFill>
              <a:srgbClr val="D2DBEC"/>
            </a:solidFill>
            <a:prstDash val="solid"/>
          </a:ln>
        </p:spPr>
      </p:sp>
      <p:sp>
        <p:nvSpPr>
          <p:cNvPr id="58" name="Text 56"/>
          <p:cNvSpPr txBox="1"/>
          <p:nvPr/>
        </p:nvSpPr>
        <p:spPr>
          <a:xfrm>
            <a:off x="1563624" y="43159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59" name="Shape 57"/>
          <p:cNvSpPr/>
          <p:nvPr/>
        </p:nvSpPr>
        <p:spPr>
          <a:xfrm>
            <a:off x="2587752" y="4315968"/>
            <a:ext cx="950976" cy="384048"/>
          </a:xfrm>
          <a:prstGeom prst="roundRect">
            <a:avLst>
              <a:gd name="adj" fmla="val 9524"/>
            </a:avLst>
          </a:prstGeom>
          <a:solidFill>
            <a:srgbClr val="E9EEF8"/>
          </a:solidFill>
          <a:ln w="9525">
            <a:solidFill>
              <a:srgbClr val="D2DBEC"/>
            </a:solidFill>
            <a:prstDash val="solid"/>
          </a:ln>
        </p:spPr>
      </p:sp>
      <p:sp>
        <p:nvSpPr>
          <p:cNvPr id="60" name="Text 58"/>
          <p:cNvSpPr txBox="1"/>
          <p:nvPr/>
        </p:nvSpPr>
        <p:spPr>
          <a:xfrm>
            <a:off x="2587752" y="43159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61" name="Shape 59"/>
          <p:cNvSpPr/>
          <p:nvPr/>
        </p:nvSpPr>
        <p:spPr>
          <a:xfrm>
            <a:off x="3611880" y="4315968"/>
            <a:ext cx="950976" cy="384048"/>
          </a:xfrm>
          <a:prstGeom prst="roundRect">
            <a:avLst>
              <a:gd name="adj" fmla="val 9524"/>
            </a:avLst>
          </a:prstGeom>
          <a:solidFill>
            <a:srgbClr val="E9EEF8"/>
          </a:solidFill>
          <a:ln w="9525">
            <a:solidFill>
              <a:srgbClr val="D2DBEC"/>
            </a:solidFill>
            <a:prstDash val="solid"/>
          </a:ln>
        </p:spPr>
      </p:sp>
      <p:sp>
        <p:nvSpPr>
          <p:cNvPr id="62" name="Text 60"/>
          <p:cNvSpPr txBox="1"/>
          <p:nvPr/>
        </p:nvSpPr>
        <p:spPr>
          <a:xfrm>
            <a:off x="3611880" y="43159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63" name="Shape 61"/>
          <p:cNvSpPr/>
          <p:nvPr/>
        </p:nvSpPr>
        <p:spPr>
          <a:xfrm>
            <a:off x="4636008" y="4315968"/>
            <a:ext cx="950976" cy="384048"/>
          </a:xfrm>
          <a:prstGeom prst="roundRect">
            <a:avLst>
              <a:gd name="adj" fmla="val 9524"/>
            </a:avLst>
          </a:prstGeom>
          <a:solidFill>
            <a:srgbClr val="E9EEF8"/>
          </a:solidFill>
          <a:ln w="9525">
            <a:solidFill>
              <a:srgbClr val="D2DBEC"/>
            </a:solidFill>
            <a:prstDash val="solid"/>
          </a:ln>
        </p:spPr>
      </p:sp>
      <p:sp>
        <p:nvSpPr>
          <p:cNvPr id="64" name="Text 62"/>
          <p:cNvSpPr txBox="1"/>
          <p:nvPr/>
        </p:nvSpPr>
        <p:spPr>
          <a:xfrm>
            <a:off x="4636008" y="4315968"/>
            <a:ext cx="950976" cy="384048"/>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entrena</a:t>
            </a:r>
            <a:endParaRPr lang="en-US" sz="1050" dirty="0"/>
          </a:p>
        </p:txBody>
      </p:sp>
      <p:sp>
        <p:nvSpPr>
          <p:cNvPr id="65" name="Shape 63"/>
          <p:cNvSpPr/>
          <p:nvPr/>
        </p:nvSpPr>
        <p:spPr>
          <a:xfrm>
            <a:off x="5660136" y="4315968"/>
            <a:ext cx="950976" cy="384048"/>
          </a:xfrm>
          <a:prstGeom prst="roundRect">
            <a:avLst>
              <a:gd name="adj" fmla="val 9524"/>
            </a:avLst>
          </a:prstGeom>
          <a:solidFill>
            <a:srgbClr val="E6115E"/>
          </a:solidFill>
          <a:ln w="9525">
            <a:solidFill>
              <a:srgbClr val="E6115E"/>
            </a:solidFill>
            <a:prstDash val="solid"/>
          </a:ln>
        </p:spPr>
      </p:sp>
      <p:sp>
        <p:nvSpPr>
          <p:cNvPr id="66" name="Text 64"/>
          <p:cNvSpPr txBox="1"/>
          <p:nvPr/>
        </p:nvSpPr>
        <p:spPr>
          <a:xfrm>
            <a:off x="5660136" y="4315968"/>
            <a:ext cx="950976"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valida</a:t>
            </a:r>
            <a:endParaRPr lang="en-US" sz="1050" dirty="0"/>
          </a:p>
        </p:txBody>
      </p:sp>
      <p:sp>
        <p:nvSpPr>
          <p:cNvPr id="67" name="Text 65"/>
          <p:cNvSpPr txBox="1"/>
          <p:nvPr/>
        </p:nvSpPr>
        <p:spPr>
          <a:xfrm>
            <a:off x="502920" y="4800600"/>
            <a:ext cx="6126480" cy="365760"/>
          </a:xfrm>
          <a:prstGeom prst="rect">
            <a:avLst/>
          </a:prstGeom>
          <a:noFill/>
          <a:ln/>
        </p:spPr>
        <p:txBody>
          <a:bodyPr wrap="square" lIns="0" tIns="0" rIns="0" bIns="0" rtlCol="0" anchor="t"/>
          <a:lstStyle/>
          <a:p>
            <a:pPr marL="0" indent="0">
              <a:spcAft>
                <a:spcPts val="400"/>
              </a:spcAft>
              <a:buNone/>
            </a:pPr>
            <a:r>
              <a:rPr lang="en-US" sz="1200" i="1" dirty="0">
                <a:solidFill>
                  <a:srgbClr val="5B6B87"/>
                </a:solidFill>
                <a:latin typeface="Calibri" pitchFamily="34" charset="0"/>
                <a:ea typeface="Calibri" pitchFamily="34" charset="-122"/>
                <a:cs typeface="Calibri" pitchFamily="34" charset="-120"/>
              </a:rPr>
              <a:t>Cada distrito valida una vez y entrena cuatro. Se promedian los 5 resultados. La prueba no se toca.</a:t>
            </a:r>
            <a:endParaRPr lang="en-US" sz="1200" dirty="0"/>
          </a:p>
        </p:txBody>
      </p:sp>
      <p:sp>
        <p:nvSpPr>
          <p:cNvPr id="68" name="Shape 66"/>
          <p:cNvSpPr/>
          <p:nvPr/>
        </p:nvSpPr>
        <p:spPr>
          <a:xfrm>
            <a:off x="502920" y="5257800"/>
            <a:ext cx="6126480" cy="960120"/>
          </a:xfrm>
          <a:prstGeom prst="roundRect">
            <a:avLst>
              <a:gd name="adj" fmla="val 5714"/>
            </a:avLst>
          </a:prstGeom>
          <a:solidFill>
            <a:srgbClr val="0A2559"/>
          </a:solidFill>
          <a:ln w="9525">
            <a:solidFill>
              <a:srgbClr val="0A2559"/>
            </a:solidFill>
            <a:prstDash val="solid"/>
          </a:ln>
        </p:spPr>
      </p:sp>
      <p:sp>
        <p:nvSpPr>
          <p:cNvPr id="69" name="Text 67"/>
          <p:cNvSpPr txBox="1"/>
          <p:nvPr/>
        </p:nvSpPr>
        <p:spPr>
          <a:xfrm>
            <a:off x="731520" y="5257800"/>
            <a:ext cx="5669280" cy="960120"/>
          </a:xfrm>
          <a:prstGeom prst="rect">
            <a:avLst/>
          </a:prstGeom>
          <a:noFill/>
          <a:ln/>
        </p:spPr>
        <p:txBody>
          <a:bodyPr wrap="square" lIns="0" tIns="0" rIns="0" bIns="0" rtlCol="0" anchor="ctr"/>
          <a:lstStyle/>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Es el simulacro de la Clase 1, repetido 5 veces. </a:t>
            </a:r>
            <a:r>
              <a:rPr lang="en-US" sz="1250" dirty="0">
                <a:solidFill>
                  <a:srgbClr val="C9D4EA"/>
                </a:solidFill>
                <a:latin typeface="Calibri" pitchFamily="34" charset="0"/>
                <a:ea typeface="Calibri" pitchFamily="34" charset="-122"/>
                <a:cs typeface="Calibri" pitchFamily="34" charset="-120"/>
              </a:rPr>
              <a:t>A fondo, en la Clase 13. Hoy basta con cross_val_score(modelo, X, y, cv=5).</a:t>
            </a:r>
            <a:endParaRPr lang="en-US" sz="125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6903720" y="2103120"/>
          <a:ext cx="4782312" cy="2633472"/>
        </p:xfrm>
        <a:graphic>
          <a:graphicData uri="http://schemas.openxmlformats.org/drawingml/2006/table">
            <a:tbl>
              <a:tblPr/>
              <a:tblGrid>
                <a:gridCol w="8229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039112">
                  <a:extLst>
                    <a:ext uri="{9D8B030D-6E8A-4147-A177-3AD203B41FA5}">
                      <a16:colId xmlns:a16="http://schemas.microsoft.com/office/drawing/2014/main" val="20002"/>
                    </a:ext>
                  </a:extLst>
                </a:gridCol>
              </a:tblGrid>
              <a:tr h="438912">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α</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R² promedio (5 particiones)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38912">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0.543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050" i="1" dirty="0">
                          <a:solidFill>
                            <a:srgbClr val="5B6B87"/>
                          </a:solidFill>
                          <a:latin typeface="Calibri" pitchFamily="34" charset="0"/>
                          <a:ea typeface="Calibri" pitchFamily="34" charset="-122"/>
                          <a:cs typeface="Calibri" pitchFamily="34" charset="-120"/>
                        </a:rPr>
                        <a:t>poco freno: overfitting</a:t>
                      </a:r>
                      <a:endParaRPr lang="en-US" sz="10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0.616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050" i="1" dirty="0">
                          <a:solidFill>
                            <a:srgbClr val="5B6B87"/>
                          </a:solidFill>
                          <a:latin typeface="Calibri" pitchFamily="34" charset="0"/>
                          <a:ea typeface="Calibri" pitchFamily="34" charset="-122"/>
                          <a:cs typeface="Calibri" pitchFamily="34" charset="-120"/>
                        </a:rPr>
                        <a:t>poco freno: overfitting</a:t>
                      </a:r>
                      <a:endParaRPr lang="en-US" sz="10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0.658</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050" b="1" dirty="0">
                          <a:solidFill>
                            <a:srgbClr val="E6115E"/>
                          </a:solidFill>
                          <a:latin typeface="Calibri" pitchFamily="34" charset="0"/>
                          <a:ea typeface="Calibri" pitchFamily="34" charset="-122"/>
                          <a:cs typeface="Calibri" pitchFamily="34" charset="-120"/>
                        </a:rPr>
                        <a:t>← el mejor</a:t>
                      </a:r>
                      <a:endParaRPr lang="en-US" sz="10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0.615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050" i="1" dirty="0">
                          <a:solidFill>
                            <a:srgbClr val="5B6B87"/>
                          </a:solidFill>
                          <a:latin typeface="Calibri" pitchFamily="34" charset="0"/>
                          <a:ea typeface="Calibri" pitchFamily="34" charset="-122"/>
                          <a:cs typeface="Calibri" pitchFamily="34" charset="-120"/>
                        </a:rPr>
                        <a:t>mucho freno: underfitting</a:t>
                      </a:r>
                      <a:endParaRPr lang="en-US" sz="10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1 000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0.413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050" i="1" dirty="0">
                          <a:solidFill>
                            <a:srgbClr val="5B6B87"/>
                          </a:solidFill>
                          <a:latin typeface="Calibri" pitchFamily="34" charset="0"/>
                          <a:ea typeface="Calibri" pitchFamily="34" charset="-122"/>
                          <a:cs typeface="Calibri" pitchFamily="34" charset="-120"/>
                        </a:rPr>
                        <a:t>mucho freno: underfitting</a:t>
                      </a:r>
                      <a:endParaRPr lang="en-US" sz="10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1" name="Shape 68"/>
          <p:cNvSpPr/>
          <p:nvPr/>
        </p:nvSpPr>
        <p:spPr>
          <a:xfrm>
            <a:off x="6903720" y="4892040"/>
            <a:ext cx="4782312" cy="1325880"/>
          </a:xfrm>
          <a:prstGeom prst="roundRect">
            <a:avLst>
              <a:gd name="adj" fmla="val 4138"/>
            </a:avLst>
          </a:prstGeom>
          <a:solidFill>
            <a:srgbClr val="E9EEF8"/>
          </a:solidFill>
          <a:ln w="9525">
            <a:solidFill>
              <a:srgbClr val="D2DBEC"/>
            </a:solidFill>
            <a:prstDash val="solid"/>
          </a:ln>
        </p:spPr>
      </p:sp>
      <p:sp>
        <p:nvSpPr>
          <p:cNvPr id="72" name="Text 69"/>
          <p:cNvSpPr txBox="1"/>
          <p:nvPr/>
        </p:nvSpPr>
        <p:spPr>
          <a:xfrm>
            <a:off x="7132320" y="4892040"/>
            <a:ext cx="4389120" cy="1325880"/>
          </a:xfrm>
          <a:prstGeom prst="rect">
            <a:avLst/>
          </a:prstGeom>
          <a:noFill/>
          <a:ln/>
        </p:spPr>
        <p:txBody>
          <a:bodyPr wrap="square" lIns="0" tIns="0" rIns="0" bIns="0" rtlCol="0" anchor="ctr"/>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Con α = 10, medido una sola vez en prueba: </a:t>
            </a:r>
            <a:r>
              <a:rPr lang="en-US" sz="1250" b="1" dirty="0">
                <a:solidFill>
                  <a:srgbClr val="0A2559"/>
                </a:solidFill>
                <a:latin typeface="Calibri" pitchFamily="34" charset="0"/>
                <a:ea typeface="Calibri" pitchFamily="34" charset="-122"/>
                <a:cs typeface="Calibri" pitchFamily="34" charset="-120"/>
              </a:rPr>
              <a:t>R² 0.657.</a:t>
            </a:r>
            <a:r>
              <a:rPr lang="en-US" sz="1250" dirty="0">
                <a:solidFill>
                  <a:srgbClr val="2C3A55"/>
                </a:solidFill>
                <a:latin typeface="Calibri" pitchFamily="34" charset="0"/>
                <a:ea typeface="Calibri" pitchFamily="34" charset="-122"/>
                <a:cs typeface="Calibri" pitchFamily="34" charset="-120"/>
              </a:rPr>
              <a:t> La validación cruzada había estimado 0.658: una buena estimación.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4</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SVR: un tubo que ignora los errores pequeños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Otra familia. No frena coeficientes: cambia qué errores se castigan y cómo.</a:t>
            </a:r>
            <a:endParaRPr lang="en-US" sz="1400" dirty="0"/>
          </a:p>
        </p:txBody>
      </p:sp>
      <p:graphicFrame>
        <p:nvGraphicFramePr>
          <p:cNvPr id="6" name="Chart 0"/>
          <p:cNvGraphicFramePr/>
          <p:nvPr/>
        </p:nvGraphicFramePr>
        <p:xfrm>
          <a:off x="502920" y="2011680"/>
          <a:ext cx="5669280" cy="2788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4892040"/>
          <a:ext cx="5669280" cy="1316736"/>
        </p:xfrm>
        <a:graphic>
          <a:graphicData uri="http://schemas.openxmlformats.org/drawingml/2006/table">
            <a:tbl>
              <a:tblPr/>
              <a:tblGrid>
                <a:gridCol w="18288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219456">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Residuo</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ε-insensible</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al cuadrado</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219456">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225</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9456">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900</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9456">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2 500</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9456">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3 650</a:t>
                      </a:r>
                      <a:endParaRPr lang="en-US" sz="1150" dirty="0">
                        <a:latin typeface="Calibri" charset="0"/>
                        <a:ea typeface="Calibri" charset="0"/>
                        <a:cs typeface="Calibri" charset="0"/>
                      </a:endParaRPr>
                    </a:p>
                  </a:txBody>
                  <a:tcPr marL="45720" marR="45720"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5"/>
                  </a:ext>
                </a:extLst>
              </a:tr>
            </a:tbl>
          </a:graphicData>
        </a:graphic>
      </p:graphicFrame>
      <p:sp>
        <p:nvSpPr>
          <p:cNvPr id="8" name="Shape 4"/>
          <p:cNvSpPr/>
          <p:nvPr/>
        </p:nvSpPr>
        <p:spPr>
          <a:xfrm>
            <a:off x="6446520" y="2103120"/>
            <a:ext cx="5239512" cy="896112"/>
          </a:xfrm>
          <a:prstGeom prst="roundRect">
            <a:avLst>
              <a:gd name="adj" fmla="val 6122"/>
            </a:avLst>
          </a:prstGeom>
          <a:solidFill>
            <a:srgbClr val="FFFFFF"/>
          </a:solidFill>
          <a:ln w="9525">
            <a:solidFill>
              <a:srgbClr val="D2DBEC"/>
            </a:solidFill>
            <a:prstDash val="solid"/>
          </a:ln>
        </p:spPr>
      </p:sp>
      <p:sp>
        <p:nvSpPr>
          <p:cNvPr id="9" name="Text 5"/>
          <p:cNvSpPr txBox="1"/>
          <p:nvPr/>
        </p:nvSpPr>
        <p:spPr>
          <a:xfrm>
            <a:off x="6675120" y="2103120"/>
            <a:ext cx="1371600" cy="896112"/>
          </a:xfrm>
          <a:prstGeom prst="rect">
            <a:avLst/>
          </a:prstGeom>
          <a:noFill/>
          <a:ln/>
        </p:spPr>
        <p:txBody>
          <a:bodyPr wrap="square" lIns="0" tIns="0" rIns="0" bIns="0" rtlCol="0" anchor="ctr"/>
          <a:lstStyle/>
          <a:p>
            <a:pPr marL="0" indent="0">
              <a:buNone/>
            </a:pPr>
            <a:r>
              <a:rPr lang="en-US" sz="1400" b="1" dirty="0">
                <a:solidFill>
                  <a:srgbClr val="E6115E"/>
                </a:solidFill>
                <a:latin typeface="Calibri" pitchFamily="34" charset="0"/>
                <a:ea typeface="Calibri" pitchFamily="34" charset="-122"/>
                <a:cs typeface="Calibri" pitchFamily="34" charset="-120"/>
              </a:rPr>
              <a:t>ε · épsilon</a:t>
            </a:r>
            <a:endParaRPr lang="en-US" sz="1400" dirty="0"/>
          </a:p>
        </p:txBody>
      </p:sp>
      <p:sp>
        <p:nvSpPr>
          <p:cNvPr id="10" name="Text 6"/>
          <p:cNvSpPr txBox="1"/>
          <p:nvPr/>
        </p:nvSpPr>
        <p:spPr>
          <a:xfrm>
            <a:off x="8092440" y="2103120"/>
            <a:ext cx="3474720" cy="896112"/>
          </a:xfrm>
          <a:prstGeom prst="rect">
            <a:avLst/>
          </a:prstGeom>
          <a:noFill/>
          <a:ln/>
        </p:spPr>
        <p:txBody>
          <a:bodyPr wrap="square" lIns="0" tIns="0" rIns="0" bIns="0" rtlCol="0" anchor="ctr"/>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el ancho del tubo. Errores menores a ε no cuentan nada.</a:t>
            </a:r>
            <a:endParaRPr lang="en-US" sz="1200" dirty="0"/>
          </a:p>
        </p:txBody>
      </p:sp>
      <p:sp>
        <p:nvSpPr>
          <p:cNvPr id="11" name="Shape 7"/>
          <p:cNvSpPr/>
          <p:nvPr/>
        </p:nvSpPr>
        <p:spPr>
          <a:xfrm>
            <a:off x="6446520" y="3127248"/>
            <a:ext cx="5239512" cy="896112"/>
          </a:xfrm>
          <a:prstGeom prst="roundRect">
            <a:avLst>
              <a:gd name="adj" fmla="val 6122"/>
            </a:avLst>
          </a:prstGeom>
          <a:solidFill>
            <a:srgbClr val="FFFFFF"/>
          </a:solidFill>
          <a:ln w="9525">
            <a:solidFill>
              <a:srgbClr val="D2DBEC"/>
            </a:solidFill>
            <a:prstDash val="solid"/>
          </a:ln>
        </p:spPr>
      </p:sp>
      <p:sp>
        <p:nvSpPr>
          <p:cNvPr id="12" name="Text 8"/>
          <p:cNvSpPr txBox="1"/>
          <p:nvPr/>
        </p:nvSpPr>
        <p:spPr>
          <a:xfrm>
            <a:off x="6675120" y="3127248"/>
            <a:ext cx="1371600" cy="896112"/>
          </a:xfrm>
          <a:prstGeom prst="rect">
            <a:avLst/>
          </a:prstGeom>
          <a:noFill/>
          <a:ln/>
        </p:spPr>
        <p:txBody>
          <a:bodyPr wrap="square" lIns="0" tIns="0" rIns="0" bIns="0" rtlCol="0" anchor="ctr"/>
          <a:lstStyle/>
          <a:p>
            <a:pPr marL="0" indent="0">
              <a:buNone/>
            </a:pPr>
            <a:r>
              <a:rPr lang="en-US" sz="1400" b="1" dirty="0">
                <a:solidFill>
                  <a:srgbClr val="1A56E8"/>
                </a:solidFill>
                <a:latin typeface="Calibri" pitchFamily="34" charset="0"/>
                <a:ea typeface="Calibri" pitchFamily="34" charset="-122"/>
                <a:cs typeface="Calibri" pitchFamily="34" charset="-120"/>
              </a:rPr>
              <a:t>C · ce</a:t>
            </a:r>
            <a:endParaRPr lang="en-US" sz="1400" dirty="0"/>
          </a:p>
        </p:txBody>
      </p:sp>
      <p:sp>
        <p:nvSpPr>
          <p:cNvPr id="13" name="Text 9"/>
          <p:cNvSpPr txBox="1"/>
          <p:nvPr/>
        </p:nvSpPr>
        <p:spPr>
          <a:xfrm>
            <a:off x="8092440" y="3127248"/>
            <a:ext cx="3474720" cy="896112"/>
          </a:xfrm>
          <a:prstGeom prst="rect">
            <a:avLst/>
          </a:prstGeom>
          <a:noFill/>
          <a:ln/>
        </p:spPr>
        <p:txBody>
          <a:bodyPr wrap="square" lIns="0" tIns="0" rIns="0" bIns="0" rtlCol="0" anchor="ctr"/>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cuánto importa salirse del tubo. C grande: el modelo se esfuerza más por ajustar.</a:t>
            </a:r>
            <a:endParaRPr lang="en-US" sz="1200" dirty="0"/>
          </a:p>
        </p:txBody>
      </p:sp>
      <p:sp>
        <p:nvSpPr>
          <p:cNvPr id="14" name="Shape 10"/>
          <p:cNvSpPr/>
          <p:nvPr/>
        </p:nvSpPr>
        <p:spPr>
          <a:xfrm>
            <a:off x="6446520" y="4151376"/>
            <a:ext cx="5239512" cy="896112"/>
          </a:xfrm>
          <a:prstGeom prst="roundRect">
            <a:avLst>
              <a:gd name="adj" fmla="val 6122"/>
            </a:avLst>
          </a:prstGeom>
          <a:solidFill>
            <a:srgbClr val="FFFFFF"/>
          </a:solidFill>
          <a:ln w="9525">
            <a:solidFill>
              <a:srgbClr val="D2DBEC"/>
            </a:solidFill>
            <a:prstDash val="solid"/>
          </a:ln>
        </p:spPr>
      </p:sp>
      <p:sp>
        <p:nvSpPr>
          <p:cNvPr id="7" name="Text 11"/>
          <p:cNvSpPr txBox="1"/>
          <p:nvPr/>
        </p:nvSpPr>
        <p:spPr>
          <a:xfrm>
            <a:off x="6675120" y="4151376"/>
            <a:ext cx="1371600" cy="89611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kernel</a:t>
            </a:r>
            <a:endParaRPr lang="en-US" sz="1400" dirty="0"/>
          </a:p>
        </p:txBody>
      </p:sp>
      <p:sp>
        <p:nvSpPr>
          <p:cNvPr id="16" name="Text 12"/>
          <p:cNvSpPr txBox="1"/>
          <p:nvPr/>
        </p:nvSpPr>
        <p:spPr>
          <a:xfrm>
            <a:off x="8092440" y="4151376"/>
            <a:ext cx="3474720" cy="896112"/>
          </a:xfrm>
          <a:prstGeom prst="rect">
            <a:avLst/>
          </a:prstGeom>
          <a:noFill/>
          <a:ln/>
        </p:spPr>
        <p:txBody>
          <a:bodyPr wrap="square" lIns="0" tIns="0" rIns="0" bIns="0" rtlCol="0" anchor="ctr"/>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«linear» traza un plano; «rbf» puede curvarse.</a:t>
            </a:r>
            <a:endParaRPr lang="en-US" sz="1200" dirty="0"/>
          </a:p>
        </p:txBody>
      </p:sp>
      <p:sp>
        <p:nvSpPr>
          <p:cNvPr id="17" name="Shape 13"/>
          <p:cNvSpPr/>
          <p:nvPr/>
        </p:nvSpPr>
        <p:spPr>
          <a:xfrm>
            <a:off x="6446520" y="5257800"/>
            <a:ext cx="5239512" cy="960120"/>
          </a:xfrm>
          <a:prstGeom prst="roundRect">
            <a:avLst>
              <a:gd name="adj" fmla="val 5714"/>
            </a:avLst>
          </a:prstGeom>
          <a:solidFill>
            <a:srgbClr val="0A2559"/>
          </a:solidFill>
          <a:ln w="9525">
            <a:solidFill>
              <a:srgbClr val="0A2559"/>
            </a:solidFill>
            <a:prstDash val="solid"/>
          </a:ln>
        </p:spPr>
      </p:sp>
      <p:sp>
        <p:nvSpPr>
          <p:cNvPr id="18" name="Text 14"/>
          <p:cNvSpPr txBox="1"/>
          <p:nvPr/>
        </p:nvSpPr>
        <p:spPr>
          <a:xfrm>
            <a:off x="6675120" y="5257800"/>
            <a:ext cx="4846320" cy="960120"/>
          </a:xfrm>
          <a:prstGeom prst="rect">
            <a:avLst/>
          </a:prstGeom>
          <a:noFill/>
          <a:ln/>
        </p:spPr>
        <p:txBody>
          <a:bodyPr wrap="square" lIns="0" tIns="0" rIns="0" bIns="0" rtlCol="0" anchor="ctr"/>
          <a:lstStyle/>
          <a:p>
            <a:pPr marL="0" indent="0">
              <a:spcAft>
                <a:spcPts val="400"/>
              </a:spcAft>
              <a:buNone/>
            </a:pPr>
            <a:r>
              <a:rPr lang="en-US" sz="1200" b="1" dirty="0">
                <a:solidFill>
                  <a:srgbClr val="FFFFFF"/>
                </a:solidFill>
                <a:latin typeface="Calibri" pitchFamily="34" charset="0"/>
                <a:ea typeface="Calibri" pitchFamily="34" charset="-122"/>
                <a:cs typeface="Calibri" pitchFamily="34" charset="-120"/>
              </a:rPr>
              <a:t>El de −50 pesa 30, no 2 500. </a:t>
            </a:r>
            <a:r>
              <a:rPr lang="en-US" sz="1200" dirty="0">
                <a:solidFill>
                  <a:srgbClr val="C9D4EA"/>
                </a:solidFill>
                <a:latin typeface="Calibri" pitchFamily="34" charset="0"/>
                <a:ea typeface="Calibri" pitchFamily="34" charset="-122"/>
                <a:cs typeface="Calibri" pitchFamily="34" charset="-120"/>
              </a:rPr>
              <a:t>Un distrito topado o atípico no arrastra todo el modelo: castiga en línea recta, como el MAE.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4</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¿El tubo o la curva? Separemos las dos ventajas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Los tres entrenados con los mismos 5 000 distritos (SVR es lento: crece con el cuadrado de las filas).</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3282659447"/>
              </p:ext>
            </p:extLst>
          </p:nvPr>
        </p:nvGraphicFramePr>
        <p:xfrm>
          <a:off x="502920" y="2103120"/>
          <a:ext cx="11183112" cy="1901952"/>
        </p:xfrm>
        <a:graphic>
          <a:graphicData uri="http://schemas.openxmlformats.org/drawingml/2006/table">
            <a:tbl>
              <a:tblPr/>
              <a:tblGrid>
                <a:gridCol w="32918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947672">
                  <a:extLst>
                    <a:ext uri="{9D8B030D-6E8A-4147-A177-3AD203B41FA5}">
                      <a16:colId xmlns:a16="http://schemas.microsoft.com/office/drawing/2014/main" val="20005"/>
                    </a:ext>
                  </a:extLst>
                </a:gridCol>
              </a:tblGrid>
              <a:tr h="47548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Modelo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Tubo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Curva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R²</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MAE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RMSE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7548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Regresión lineal</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0.652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49 501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68 011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SVR lineal</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0.642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48 002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69 036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SVR RBF (C = 100, ε = 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0.740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39 820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58 782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02920" y="4206240"/>
            <a:ext cx="3630168" cy="2011680"/>
          </a:xfrm>
          <a:prstGeom prst="roundRect">
            <a:avLst>
              <a:gd name="adj" fmla="val 2727"/>
            </a:avLst>
          </a:prstGeom>
          <a:solidFill>
            <a:srgbClr val="FFFFFF"/>
          </a:solidFill>
          <a:ln w="9525">
            <a:solidFill>
              <a:srgbClr val="D2DBEC"/>
            </a:solidFill>
            <a:prstDash val="solid"/>
          </a:ln>
        </p:spPr>
      </p:sp>
      <p:sp>
        <p:nvSpPr>
          <p:cNvPr id="8" name="Text 5"/>
          <p:cNvSpPr txBox="1"/>
          <p:nvPr/>
        </p:nvSpPr>
        <p:spPr>
          <a:xfrm>
            <a:off x="731520" y="4343400"/>
            <a:ext cx="3200400" cy="365760"/>
          </a:xfrm>
          <a:prstGeom prst="rect">
            <a:avLst/>
          </a:prstGeom>
          <a:noFill/>
          <a:ln/>
        </p:spPr>
        <p:txBody>
          <a:bodyPr wrap="square" lIns="0" tIns="0" rIns="0" bIns="0" rtlCol="0" anchor="ctr"/>
          <a:lstStyle/>
          <a:p>
            <a:pPr marL="0" indent="0">
              <a:buNone/>
            </a:pPr>
            <a:r>
              <a:rPr lang="en-US" sz="1450" b="1" dirty="0">
                <a:solidFill>
                  <a:srgbClr val="1A56E8"/>
                </a:solidFill>
                <a:latin typeface="Calibri" pitchFamily="34" charset="0"/>
                <a:ea typeface="Calibri" pitchFamily="34" charset="-122"/>
                <a:cs typeface="Calibri" pitchFamily="34" charset="-120"/>
              </a:rPr>
              <a:t>Solo el tubo</a:t>
            </a:r>
            <a:endParaRPr lang="en-US" sz="1450" dirty="0"/>
          </a:p>
        </p:txBody>
      </p:sp>
      <p:sp>
        <p:nvSpPr>
          <p:cNvPr id="9" name="Text 6"/>
          <p:cNvSpPr txBox="1"/>
          <p:nvPr/>
        </p:nvSpPr>
        <p:spPr>
          <a:xfrm>
            <a:off x="731520" y="4754880"/>
            <a:ext cx="3200400" cy="13716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baja el MAE pero sube el RMSE: como no eleva al cuadrado, le preocupan menos los errores grandes. Es MAE vs RMSE convertido en modelo.</a:t>
            </a:r>
            <a:endParaRPr lang="en-US" sz="1150" dirty="0"/>
          </a:p>
        </p:txBody>
      </p:sp>
      <p:sp>
        <p:nvSpPr>
          <p:cNvPr id="10" name="Shape 7"/>
          <p:cNvSpPr/>
          <p:nvPr/>
        </p:nvSpPr>
        <p:spPr>
          <a:xfrm>
            <a:off x="4279392" y="4206240"/>
            <a:ext cx="3630168" cy="2011680"/>
          </a:xfrm>
          <a:prstGeom prst="roundRect">
            <a:avLst>
              <a:gd name="adj" fmla="val 2727"/>
            </a:avLst>
          </a:prstGeom>
          <a:solidFill>
            <a:srgbClr val="FFFFFF"/>
          </a:solidFill>
          <a:ln w="9525">
            <a:solidFill>
              <a:srgbClr val="D2DBEC"/>
            </a:solidFill>
            <a:prstDash val="solid"/>
          </a:ln>
        </p:spPr>
      </p:sp>
      <p:sp>
        <p:nvSpPr>
          <p:cNvPr id="11" name="Text 8"/>
          <p:cNvSpPr txBox="1"/>
          <p:nvPr/>
        </p:nvSpPr>
        <p:spPr>
          <a:xfrm>
            <a:off x="4507992" y="4343400"/>
            <a:ext cx="3200400" cy="365760"/>
          </a:xfrm>
          <a:prstGeom prst="rect">
            <a:avLst/>
          </a:prstGeom>
          <a:noFill/>
          <a:ln/>
        </p:spPr>
        <p:txBody>
          <a:bodyPr wrap="square" lIns="0" tIns="0" rIns="0" bIns="0" rtlCol="0" anchor="ctr"/>
          <a:lstStyle/>
          <a:p>
            <a:pPr marL="0" indent="0">
              <a:buNone/>
            </a:pPr>
            <a:r>
              <a:rPr lang="en-US" sz="1450" b="1" dirty="0">
                <a:solidFill>
                  <a:srgbClr val="E6115E"/>
                </a:solidFill>
                <a:latin typeface="Calibri" pitchFamily="34" charset="0"/>
                <a:ea typeface="Calibri" pitchFamily="34" charset="-122"/>
                <a:cs typeface="Calibri" pitchFamily="34" charset="-120"/>
              </a:rPr>
              <a:t>El tubo y la curva</a:t>
            </a:r>
            <a:endParaRPr lang="en-US" sz="1450" dirty="0"/>
          </a:p>
        </p:txBody>
      </p:sp>
      <p:sp>
        <p:nvSpPr>
          <p:cNvPr id="12" name="Text 9"/>
          <p:cNvSpPr txBox="1"/>
          <p:nvPr/>
        </p:nvSpPr>
        <p:spPr>
          <a:xfrm>
            <a:off x="4507992" y="4754880"/>
            <a:ext cx="3200400" cy="13716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mejoran todo. La ganancia grande viene del kernel: el valor no depende de la latitud en línea recta, sino de en qué zona exacta está el distrito.</a:t>
            </a:r>
            <a:endParaRPr lang="en-US" sz="1150" dirty="0"/>
          </a:p>
        </p:txBody>
      </p:sp>
      <p:sp>
        <p:nvSpPr>
          <p:cNvPr id="13" name="Shape 10"/>
          <p:cNvSpPr/>
          <p:nvPr/>
        </p:nvSpPr>
        <p:spPr>
          <a:xfrm>
            <a:off x="8055864" y="4206240"/>
            <a:ext cx="3630168" cy="2011680"/>
          </a:xfrm>
          <a:prstGeom prst="roundRect">
            <a:avLst>
              <a:gd name="adj" fmla="val 2727"/>
            </a:avLst>
          </a:prstGeom>
          <a:solidFill>
            <a:srgbClr val="0A2559"/>
          </a:solidFill>
          <a:ln w="9525">
            <a:solidFill>
              <a:srgbClr val="0A2559"/>
            </a:solidFill>
            <a:prstDash val="solid"/>
          </a:ln>
        </p:spPr>
      </p:sp>
      <p:sp>
        <p:nvSpPr>
          <p:cNvPr id="14" name="Text 11"/>
          <p:cNvSpPr txBox="1"/>
          <p:nvPr/>
        </p:nvSpPr>
        <p:spPr>
          <a:xfrm>
            <a:off x="8284464" y="4343400"/>
            <a:ext cx="3200400" cy="365760"/>
          </a:xfrm>
          <a:prstGeom prst="rect">
            <a:avLst/>
          </a:prstGeom>
          <a:noFill/>
          <a:ln/>
        </p:spPr>
        <p:txBody>
          <a:bodyPr wrap="square" lIns="0" tIns="0" rIns="0" bIns="0" rtlCol="0" anchor="ctr"/>
          <a:lstStyle/>
          <a:p>
            <a:pPr marL="0" indent="0">
              <a:buNone/>
            </a:pPr>
            <a:r>
              <a:rPr lang="en-US" sz="1450" b="1" dirty="0">
                <a:solidFill>
                  <a:srgbClr val="FF6B9A"/>
                </a:solidFill>
                <a:latin typeface="Calibri" pitchFamily="34" charset="0"/>
                <a:ea typeface="Calibri" pitchFamily="34" charset="-122"/>
                <a:cs typeface="Calibri" pitchFamily="34" charset="-120"/>
              </a:rPr>
              <a:t>C = 1000, ε = 20</a:t>
            </a:r>
            <a:endParaRPr lang="en-US" sz="1450" dirty="0"/>
          </a:p>
        </p:txBody>
      </p:sp>
      <p:sp>
        <p:nvSpPr>
          <p:cNvPr id="15" name="Text 12"/>
          <p:cNvSpPr txBox="1"/>
          <p:nvPr/>
        </p:nvSpPr>
        <p:spPr>
          <a:xfrm>
            <a:off x="8284464" y="4754880"/>
            <a:ext cx="3200400" cy="1371600"/>
          </a:xfrm>
          <a:prstGeom prst="rect">
            <a:avLst/>
          </a:prstGeom>
          <a:noFill/>
          <a:ln/>
        </p:spPr>
        <p:txBody>
          <a:bodyPr wrap="square" lIns="0" tIns="0" rIns="0" bIns="0" rtlCol="0" anchor="t"/>
          <a:lstStyle/>
          <a:p>
            <a:pPr marL="0" indent="0">
              <a:spcAft>
                <a:spcPts val="400"/>
              </a:spcAft>
              <a:buNone/>
            </a:pPr>
            <a:r>
              <a:rPr lang="en-US" sz="1150" dirty="0">
                <a:solidFill>
                  <a:srgbClr val="C9D4EA"/>
                </a:solidFill>
                <a:latin typeface="Calibri" pitchFamily="34" charset="0"/>
                <a:ea typeface="Calibri" pitchFamily="34" charset="-122"/>
                <a:cs typeface="Calibri" pitchFamily="34" charset="-120"/>
              </a:rPr>
              <a:t>elegidos con 2 000 distritos de validación (no la prueba). En prueba, una vez: R² 0.759 · MAE 37 926.</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LABORATORIO · 60 MIN</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Lo que vas a hacer en Colab</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Mismo dataset y misma preparación que la Clase 2. Semilla 42: tus números coinciden con estas slides.</a:t>
            </a:r>
            <a:endParaRPr lang="en-US" sz="1400" dirty="0"/>
          </a:p>
        </p:txBody>
      </p:sp>
      <p:sp>
        <p:nvSpPr>
          <p:cNvPr id="6" name="Shape 4"/>
          <p:cNvSpPr/>
          <p:nvPr/>
        </p:nvSpPr>
        <p:spPr>
          <a:xfrm>
            <a:off x="502920" y="2103120"/>
            <a:ext cx="11183112" cy="621792"/>
          </a:xfrm>
          <a:prstGeom prst="roundRect">
            <a:avLst>
              <a:gd name="adj" fmla="val 8824"/>
            </a:avLst>
          </a:prstGeom>
          <a:solidFill>
            <a:srgbClr val="FFFFFF"/>
          </a:solidFill>
          <a:ln w="9525">
            <a:solidFill>
              <a:srgbClr val="D2DBEC"/>
            </a:solidFill>
            <a:prstDash val="solid"/>
          </a:ln>
        </p:spPr>
      </p:sp>
      <p:sp>
        <p:nvSpPr>
          <p:cNvPr id="7" name="Shape 5"/>
          <p:cNvSpPr/>
          <p:nvPr/>
        </p:nvSpPr>
        <p:spPr>
          <a:xfrm>
            <a:off x="685800" y="2221992"/>
            <a:ext cx="384048" cy="384048"/>
          </a:xfrm>
          <a:prstGeom prst="ellipse">
            <a:avLst/>
          </a:prstGeom>
          <a:solidFill>
            <a:srgbClr val="0A2559"/>
          </a:solidFill>
          <a:ln w="12700">
            <a:solidFill>
              <a:srgbClr val="0A2559"/>
            </a:solidFill>
            <a:prstDash val="solid"/>
          </a:ln>
        </p:spPr>
      </p:sp>
      <p:sp>
        <p:nvSpPr>
          <p:cNvPr id="8" name="Text 6"/>
          <p:cNvSpPr txBox="1"/>
          <p:nvPr/>
        </p:nvSpPr>
        <p:spPr>
          <a:xfrm>
            <a:off x="685800" y="22219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9" name="Text 7"/>
          <p:cNvSpPr txBox="1"/>
          <p:nvPr/>
        </p:nvSpPr>
        <p:spPr>
          <a:xfrm>
            <a:off x="1234440" y="210312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Preparación</a:t>
            </a:r>
            <a:endParaRPr lang="en-US" sz="1350" dirty="0"/>
          </a:p>
        </p:txBody>
      </p:sp>
      <p:sp>
        <p:nvSpPr>
          <p:cNvPr id="10" name="Text 8"/>
          <p:cNvSpPr txBox="1"/>
          <p:nvPr/>
        </p:nvSpPr>
        <p:spPr>
          <a:xfrm>
            <a:off x="4754880" y="210312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8 min</a:t>
            </a:r>
            <a:endParaRPr lang="en-US" sz="1250" dirty="0"/>
          </a:p>
        </p:txBody>
      </p:sp>
      <p:sp>
        <p:nvSpPr>
          <p:cNvPr id="11" name="Text 9"/>
          <p:cNvSpPr txBox="1"/>
          <p:nvPr/>
        </p:nvSpPr>
        <p:spPr>
          <a:xfrm>
            <a:off x="5760720" y="210312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Carga, corte, relleno, one-hot y la regresión lineal de referencia.</a:t>
            </a:r>
            <a:endParaRPr lang="en-US" sz="1200" dirty="0"/>
          </a:p>
        </p:txBody>
      </p:sp>
      <p:sp>
        <p:nvSpPr>
          <p:cNvPr id="12" name="Shape 10"/>
          <p:cNvSpPr/>
          <p:nvPr/>
        </p:nvSpPr>
        <p:spPr>
          <a:xfrm>
            <a:off x="502920" y="2834640"/>
            <a:ext cx="11183112" cy="621792"/>
          </a:xfrm>
          <a:prstGeom prst="roundRect">
            <a:avLst>
              <a:gd name="adj" fmla="val 8824"/>
            </a:avLst>
          </a:prstGeom>
          <a:solidFill>
            <a:srgbClr val="FFFFFF"/>
          </a:solidFill>
          <a:ln w="9525">
            <a:solidFill>
              <a:srgbClr val="D2DBEC"/>
            </a:solidFill>
            <a:prstDash val="solid"/>
          </a:ln>
        </p:spPr>
      </p:sp>
      <p:sp>
        <p:nvSpPr>
          <p:cNvPr id="13" name="Shape 11"/>
          <p:cNvSpPr/>
          <p:nvPr/>
        </p:nvSpPr>
        <p:spPr>
          <a:xfrm>
            <a:off x="685800" y="2953512"/>
            <a:ext cx="384048" cy="384048"/>
          </a:xfrm>
          <a:prstGeom prst="ellipse">
            <a:avLst/>
          </a:prstGeom>
          <a:solidFill>
            <a:srgbClr val="0A2559"/>
          </a:solidFill>
          <a:ln w="12700">
            <a:solidFill>
              <a:srgbClr val="0A2559"/>
            </a:solidFill>
            <a:prstDash val="solid"/>
          </a:ln>
        </p:spPr>
      </p:sp>
      <p:sp>
        <p:nvSpPr>
          <p:cNvPr id="14" name="Text 12"/>
          <p:cNvSpPr txBox="1"/>
          <p:nvPr/>
        </p:nvSpPr>
        <p:spPr>
          <a:xfrm>
            <a:off x="685800" y="29535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txBox="1"/>
          <p:nvPr/>
        </p:nvSpPr>
        <p:spPr>
          <a:xfrm>
            <a:off x="1234440" y="283464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Ridge</a:t>
            </a:r>
            <a:endParaRPr lang="en-US" sz="1350" dirty="0"/>
          </a:p>
        </p:txBody>
      </p:sp>
      <p:sp>
        <p:nvSpPr>
          <p:cNvPr id="16" name="Text 14"/>
          <p:cNvSpPr txBox="1"/>
          <p:nvPr/>
        </p:nvSpPr>
        <p:spPr>
          <a:xfrm>
            <a:off x="4754880" y="283464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15 min</a:t>
            </a:r>
            <a:endParaRPr lang="en-US" sz="1250" dirty="0"/>
          </a:p>
        </p:txBody>
      </p:sp>
      <p:sp>
        <p:nvSpPr>
          <p:cNvPr id="17" name="Text 15"/>
          <p:cNvSpPr txBox="1"/>
          <p:nvPr/>
        </p:nvSpPr>
        <p:spPr>
          <a:xfrm>
            <a:off x="5760720" y="283464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La pendiente a mano con α, Ridge con los datos, su camino y la estabilidad.</a:t>
            </a:r>
            <a:endParaRPr lang="en-US" sz="1200" dirty="0"/>
          </a:p>
        </p:txBody>
      </p:sp>
      <p:sp>
        <p:nvSpPr>
          <p:cNvPr id="18" name="Shape 16"/>
          <p:cNvSpPr/>
          <p:nvPr/>
        </p:nvSpPr>
        <p:spPr>
          <a:xfrm>
            <a:off x="502920" y="3566160"/>
            <a:ext cx="11183112" cy="621792"/>
          </a:xfrm>
          <a:prstGeom prst="roundRect">
            <a:avLst>
              <a:gd name="adj" fmla="val 8824"/>
            </a:avLst>
          </a:prstGeom>
          <a:solidFill>
            <a:srgbClr val="FFFFFF"/>
          </a:solidFill>
          <a:ln w="9525">
            <a:solidFill>
              <a:srgbClr val="D2DBEC"/>
            </a:solidFill>
            <a:prstDash val="solid"/>
          </a:ln>
        </p:spPr>
      </p:sp>
      <p:sp>
        <p:nvSpPr>
          <p:cNvPr id="19" name="Shape 17"/>
          <p:cNvSpPr/>
          <p:nvPr/>
        </p:nvSpPr>
        <p:spPr>
          <a:xfrm>
            <a:off x="685800" y="3685032"/>
            <a:ext cx="384048" cy="384048"/>
          </a:xfrm>
          <a:prstGeom prst="ellipse">
            <a:avLst/>
          </a:prstGeom>
          <a:solidFill>
            <a:srgbClr val="0A2559"/>
          </a:solidFill>
          <a:ln w="12700">
            <a:solidFill>
              <a:srgbClr val="0A2559"/>
            </a:solidFill>
            <a:prstDash val="solid"/>
          </a:ln>
        </p:spPr>
      </p:sp>
      <p:sp>
        <p:nvSpPr>
          <p:cNvPr id="20" name="Text 18"/>
          <p:cNvSpPr txBox="1"/>
          <p:nvPr/>
        </p:nvSpPr>
        <p:spPr>
          <a:xfrm>
            <a:off x="685800" y="36850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9"/>
          <p:cNvSpPr txBox="1"/>
          <p:nvPr/>
        </p:nvSpPr>
        <p:spPr>
          <a:xfrm>
            <a:off x="1234440" y="356616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Lasso</a:t>
            </a:r>
            <a:endParaRPr lang="en-US" sz="1350" dirty="0"/>
          </a:p>
        </p:txBody>
      </p:sp>
      <p:sp>
        <p:nvSpPr>
          <p:cNvPr id="22" name="Text 20"/>
          <p:cNvSpPr txBox="1"/>
          <p:nvPr/>
        </p:nvSpPr>
        <p:spPr>
          <a:xfrm>
            <a:off x="4754880" y="356616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10 min</a:t>
            </a:r>
            <a:endParaRPr lang="en-US" sz="1250" dirty="0"/>
          </a:p>
        </p:txBody>
      </p:sp>
      <p:sp>
        <p:nvSpPr>
          <p:cNvPr id="23" name="Text 21"/>
          <p:cNvSpPr txBox="1"/>
          <p:nvPr/>
        </p:nvSpPr>
        <p:spPr>
          <a:xfrm>
            <a:off x="5760720" y="356616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Qué variables elimina, en qué orden, y qué pasa con un α muy exigente.</a:t>
            </a:r>
            <a:endParaRPr lang="en-US" sz="1200" dirty="0"/>
          </a:p>
        </p:txBody>
      </p:sp>
      <p:sp>
        <p:nvSpPr>
          <p:cNvPr id="24" name="Shape 22"/>
          <p:cNvSpPr/>
          <p:nvPr/>
        </p:nvSpPr>
        <p:spPr>
          <a:xfrm>
            <a:off x="502920" y="4297680"/>
            <a:ext cx="11183112" cy="621792"/>
          </a:xfrm>
          <a:prstGeom prst="roundRect">
            <a:avLst>
              <a:gd name="adj" fmla="val 8824"/>
            </a:avLst>
          </a:prstGeom>
          <a:solidFill>
            <a:srgbClr val="0A2559"/>
          </a:solidFill>
          <a:ln w="9525">
            <a:solidFill>
              <a:srgbClr val="0A2559"/>
            </a:solidFill>
            <a:prstDash val="solid"/>
          </a:ln>
        </p:spPr>
      </p:sp>
      <p:sp>
        <p:nvSpPr>
          <p:cNvPr id="25" name="Shape 23"/>
          <p:cNvSpPr/>
          <p:nvPr/>
        </p:nvSpPr>
        <p:spPr>
          <a:xfrm>
            <a:off x="685800" y="4416552"/>
            <a:ext cx="384048" cy="384048"/>
          </a:xfrm>
          <a:prstGeom prst="ellipse">
            <a:avLst/>
          </a:prstGeom>
          <a:solidFill>
            <a:srgbClr val="E6115E"/>
          </a:solidFill>
          <a:ln w="12700">
            <a:solidFill>
              <a:srgbClr val="E6115E"/>
            </a:solidFill>
            <a:prstDash val="solid"/>
          </a:ln>
        </p:spPr>
      </p:sp>
      <p:sp>
        <p:nvSpPr>
          <p:cNvPr id="26" name="Text 24"/>
          <p:cNvSpPr txBox="1"/>
          <p:nvPr/>
        </p:nvSpPr>
        <p:spPr>
          <a:xfrm>
            <a:off x="685800" y="441655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5"/>
          <p:cNvSpPr txBox="1"/>
          <p:nvPr/>
        </p:nvSpPr>
        <p:spPr>
          <a:xfrm>
            <a:off x="1234440" y="4297680"/>
            <a:ext cx="3566160" cy="62179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Cuándo ayuda · validación cruzada</a:t>
            </a:r>
            <a:endParaRPr lang="en-US" sz="1350" dirty="0"/>
          </a:p>
        </p:txBody>
      </p:sp>
      <p:sp>
        <p:nvSpPr>
          <p:cNvPr id="28" name="Text 26"/>
          <p:cNvSpPr txBox="1"/>
          <p:nvPr/>
        </p:nvSpPr>
        <p:spPr>
          <a:xfrm>
            <a:off x="4754880" y="429768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13 min</a:t>
            </a:r>
            <a:endParaRPr lang="en-US" sz="1250" dirty="0"/>
          </a:p>
        </p:txBody>
      </p:sp>
      <p:sp>
        <p:nvSpPr>
          <p:cNvPr id="29" name="Text 27"/>
          <p:cNvSpPr txBox="1"/>
          <p:nvPr/>
        </p:nvSpPr>
        <p:spPr>
          <a:xfrm>
            <a:off x="5760720" y="4297680"/>
            <a:ext cx="5760720" cy="621792"/>
          </a:xfrm>
          <a:prstGeom prst="rect">
            <a:avLst/>
          </a:prstGeom>
          <a:noFill/>
          <a:ln/>
        </p:spPr>
        <p:txBody>
          <a:bodyPr wrap="square" lIns="0" tIns="0" rIns="0" bIns="0" rtlCol="0" anchor="ctr"/>
          <a:lstStyle/>
          <a:p>
            <a:pPr marL="0" indent="0">
              <a:buNone/>
            </a:pPr>
            <a:r>
              <a:rPr lang="en-US" sz="1200" dirty="0">
                <a:solidFill>
                  <a:srgbClr val="C9D4EA"/>
                </a:solidFill>
                <a:latin typeface="Calibri" pitchFamily="34" charset="0"/>
                <a:ea typeface="Calibri" pitchFamily="34" charset="-122"/>
                <a:cs typeface="Calibri" pitchFamily="34" charset="-120"/>
              </a:rPr>
              <a:t>500 distritos y 90 variables: overfitting, y α elegido con cross_val_score.</a:t>
            </a:r>
            <a:endParaRPr lang="en-US" sz="1200" dirty="0"/>
          </a:p>
        </p:txBody>
      </p:sp>
      <p:sp>
        <p:nvSpPr>
          <p:cNvPr id="30" name="Shape 28"/>
          <p:cNvSpPr/>
          <p:nvPr/>
        </p:nvSpPr>
        <p:spPr>
          <a:xfrm>
            <a:off x="502920" y="5029200"/>
            <a:ext cx="11183112" cy="621792"/>
          </a:xfrm>
          <a:prstGeom prst="roundRect">
            <a:avLst>
              <a:gd name="adj" fmla="val 8824"/>
            </a:avLst>
          </a:prstGeom>
          <a:solidFill>
            <a:srgbClr val="FFFFFF"/>
          </a:solidFill>
          <a:ln w="9525">
            <a:solidFill>
              <a:srgbClr val="D2DBEC"/>
            </a:solidFill>
            <a:prstDash val="solid"/>
          </a:ln>
        </p:spPr>
      </p:sp>
      <p:sp>
        <p:nvSpPr>
          <p:cNvPr id="31" name="Shape 29"/>
          <p:cNvSpPr/>
          <p:nvPr/>
        </p:nvSpPr>
        <p:spPr>
          <a:xfrm>
            <a:off x="685800" y="5148072"/>
            <a:ext cx="384048" cy="384048"/>
          </a:xfrm>
          <a:prstGeom prst="ellipse">
            <a:avLst/>
          </a:prstGeom>
          <a:solidFill>
            <a:srgbClr val="0A2559"/>
          </a:solidFill>
          <a:ln w="12700">
            <a:solidFill>
              <a:srgbClr val="0A2559"/>
            </a:solidFill>
            <a:prstDash val="solid"/>
          </a:ln>
        </p:spPr>
      </p:sp>
      <p:sp>
        <p:nvSpPr>
          <p:cNvPr id="32" name="Text 30"/>
          <p:cNvSpPr txBox="1"/>
          <p:nvPr/>
        </p:nvSpPr>
        <p:spPr>
          <a:xfrm>
            <a:off x="685800" y="51480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1"/>
          <p:cNvSpPr txBox="1"/>
          <p:nvPr/>
        </p:nvSpPr>
        <p:spPr>
          <a:xfrm>
            <a:off x="1234440" y="502920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SVR</a:t>
            </a:r>
            <a:endParaRPr lang="en-US" sz="1350" dirty="0"/>
          </a:p>
        </p:txBody>
      </p:sp>
      <p:sp>
        <p:nvSpPr>
          <p:cNvPr id="34" name="Text 32"/>
          <p:cNvSpPr txBox="1"/>
          <p:nvPr/>
        </p:nvSpPr>
        <p:spPr>
          <a:xfrm>
            <a:off x="4754880" y="502920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14 min</a:t>
            </a:r>
            <a:endParaRPr lang="en-US" sz="1250" dirty="0"/>
          </a:p>
        </p:txBody>
      </p:sp>
      <p:sp>
        <p:nvSpPr>
          <p:cNvPr id="35" name="Text 33"/>
          <p:cNvSpPr txBox="1"/>
          <p:nvPr/>
        </p:nvSpPr>
        <p:spPr>
          <a:xfrm>
            <a:off x="5760720" y="502920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La pérdida ε a mano, SVR RBF, tubo vs curva, C y ε por validación, el mapa.</a:t>
            </a:r>
            <a:endParaRPr lang="en-US" sz="1200" dirty="0"/>
          </a:p>
        </p:txBody>
      </p:sp>
      <p:sp>
        <p:nvSpPr>
          <p:cNvPr id="36" name="Shape 34"/>
          <p:cNvSpPr/>
          <p:nvPr/>
        </p:nvSpPr>
        <p:spPr>
          <a:xfrm>
            <a:off x="502920" y="5852160"/>
            <a:ext cx="11183112" cy="457200"/>
          </a:xfrm>
          <a:prstGeom prst="roundRect">
            <a:avLst>
              <a:gd name="adj" fmla="val 12000"/>
            </a:avLst>
          </a:prstGeom>
          <a:solidFill>
            <a:srgbClr val="E9EEF8"/>
          </a:solidFill>
          <a:ln w="9525">
            <a:solidFill>
              <a:srgbClr val="D2DBEC"/>
            </a:solidFill>
            <a:prstDash val="solid"/>
          </a:ln>
        </p:spPr>
      </p:sp>
      <p:sp>
        <p:nvSpPr>
          <p:cNvPr id="37" name="Text 35"/>
          <p:cNvSpPr txBox="1"/>
          <p:nvPr/>
        </p:nvSpPr>
        <p:spPr>
          <a:xfrm>
            <a:off x="731520" y="5852160"/>
            <a:ext cx="10789920" cy="457200"/>
          </a:xfrm>
          <a:prstGeom prst="rect">
            <a:avLst/>
          </a:prstGeom>
          <a:noFill/>
          <a:ln/>
        </p:spPr>
        <p:txBody>
          <a:bodyPr wrap="square" lIns="0" tIns="0" rIns="0" bIns="0" rtlCol="0" anchor="ctr"/>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Reto para quien termine antes: </a:t>
            </a:r>
            <a:r>
              <a:rPr lang="en-US" sz="1200" dirty="0">
                <a:solidFill>
                  <a:srgbClr val="2C3A55"/>
                </a:solidFill>
                <a:latin typeface="Calibri" pitchFamily="34" charset="0"/>
                <a:ea typeface="Calibri" pitchFamily="34" charset="-122"/>
                <a:cs typeface="Calibri" pitchFamily="34" charset="-120"/>
              </a:rPr>
              <a:t>repite el ejercicio 3.2 con Lasso y con ElasticNet(l1_ratio=0.5). ¿Cuál gana en validación cruzada?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502920" y="411480"/>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411480"/>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CIERRE · 10 MIN</a:t>
            </a:r>
            <a:endParaRPr lang="en-US" sz="1100" dirty="0"/>
          </a:p>
        </p:txBody>
      </p:sp>
      <p:sp>
        <p:nvSpPr>
          <p:cNvPr id="4" name="Text 2"/>
          <p:cNvSpPr txBox="1"/>
          <p:nvPr/>
        </p:nvSpPr>
        <p:spPr>
          <a:xfrm>
            <a:off x="502920" y="914400"/>
            <a:ext cx="109728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Si te llevas una sola cosa</a:t>
            </a:r>
            <a:endParaRPr lang="en-US" sz="3200" dirty="0"/>
          </a:p>
        </p:txBody>
      </p:sp>
      <p:sp>
        <p:nvSpPr>
          <p:cNvPr id="5" name="Text 3"/>
          <p:cNvSpPr txBox="1"/>
          <p:nvPr/>
        </p:nvSpPr>
        <p:spPr>
          <a:xfrm>
            <a:off x="502920" y="1554480"/>
            <a:ext cx="11155680" cy="411480"/>
          </a:xfrm>
          <a:prstGeom prst="rect">
            <a:avLst/>
          </a:prstGeom>
          <a:noFill/>
          <a:ln/>
        </p:spPr>
        <p:txBody>
          <a:bodyPr wrap="square" lIns="0" tIns="0" rIns="0" bIns="0" rtlCol="0" anchor="ctr"/>
          <a:lstStyle/>
          <a:p>
            <a:pPr marL="0" indent="0">
              <a:buNone/>
            </a:pPr>
            <a:r>
              <a:rPr lang="en-US" sz="1450" i="1" dirty="0">
                <a:solidFill>
                  <a:srgbClr val="C9D4EA"/>
                </a:solidFill>
                <a:latin typeface="Calibri" pitchFamily="34" charset="0"/>
                <a:ea typeface="Calibri" pitchFamily="34" charset="-122"/>
                <a:cs typeface="Calibri" pitchFamily="34" charset="-120"/>
              </a:rPr>
              <a:t>Regularizar no es «mejorar el modelo» en abstracto: es cambiar ajuste por estabilidad. Vale la pena cuando hay muchas variables y pocos datos.</a:t>
            </a:r>
            <a:endParaRPr lang="en-US" sz="1450" dirty="0"/>
          </a:p>
        </p:txBody>
      </p:sp>
      <p:sp>
        <p:nvSpPr>
          <p:cNvPr id="6" name="Shape 4"/>
          <p:cNvSpPr/>
          <p:nvPr/>
        </p:nvSpPr>
        <p:spPr>
          <a:xfrm>
            <a:off x="502920" y="2240280"/>
            <a:ext cx="6035040" cy="3611880"/>
          </a:xfrm>
          <a:prstGeom prst="roundRect">
            <a:avLst>
              <a:gd name="adj" fmla="val 1519"/>
            </a:avLst>
          </a:prstGeom>
          <a:solidFill>
            <a:srgbClr val="0F2F6B"/>
          </a:solidFill>
          <a:ln w="9525">
            <a:solidFill>
              <a:srgbClr val="1E3F7F"/>
            </a:solidFill>
            <a:prstDash val="solid"/>
          </a:ln>
        </p:spPr>
      </p:sp>
      <p:sp>
        <p:nvSpPr>
          <p:cNvPr id="7" name="Shape 5"/>
          <p:cNvSpPr/>
          <p:nvPr/>
        </p:nvSpPr>
        <p:spPr>
          <a:xfrm>
            <a:off x="731520" y="2487168"/>
            <a:ext cx="128016" cy="128016"/>
          </a:xfrm>
          <a:prstGeom prst="roundRect">
            <a:avLst>
              <a:gd name="adj" fmla="val 21429"/>
            </a:avLst>
          </a:prstGeom>
          <a:solidFill>
            <a:srgbClr val="E6115E"/>
          </a:solidFill>
          <a:ln w="12700">
            <a:solidFill>
              <a:srgbClr val="E6115E"/>
            </a:solidFill>
            <a:prstDash val="solid"/>
          </a:ln>
        </p:spPr>
      </p:sp>
      <p:sp>
        <p:nvSpPr>
          <p:cNvPr id="8" name="Text 6"/>
          <p:cNvSpPr txBox="1"/>
          <p:nvPr/>
        </p:nvSpPr>
        <p:spPr>
          <a:xfrm>
            <a:off x="960120" y="2377440"/>
            <a:ext cx="539496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Los números del día (en prueba)</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2743200"/>
          <a:ext cx="5577840" cy="2752344"/>
        </p:xfrm>
        <a:graphic>
          <a:graphicData uri="http://schemas.openxmlformats.org/drawingml/2006/table">
            <a:tbl>
              <a:tblPr/>
              <a:tblGrid>
                <a:gridCol w="26517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93192">
                <a:tc>
                  <a:txBody>
                    <a:bodyPr/>
                    <a:lstStyle/>
                    <a:p>
                      <a:pPr marL="0" indent="0" algn="l">
                        <a:buNone/>
                      </a:pPr>
                      <a:r>
                        <a:rPr lang="en-US" sz="1100" b="1" dirty="0">
                          <a:solidFill>
                            <a:srgbClr val="A9B7D4"/>
                          </a:solidFill>
                          <a:latin typeface="Calibri" pitchFamily="34" charset="0"/>
                          <a:ea typeface="Calibri" pitchFamily="34" charset="-122"/>
                          <a:cs typeface="Calibri" pitchFamily="34" charset="-120"/>
                        </a:rPr>
                        <a:t>Modelo</a:t>
                      </a: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00" b="1" dirty="0">
                          <a:solidFill>
                            <a:srgbClr val="A9B7D4"/>
                          </a:solidFill>
                          <a:latin typeface="Calibri" pitchFamily="34" charset="0"/>
                          <a:ea typeface="Calibri" pitchFamily="34" charset="-122"/>
                          <a:cs typeface="Calibri" pitchFamily="34" charset="-120"/>
                        </a:rPr>
                        <a:t>filas</a:t>
                      </a: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00" b="1" dirty="0">
                          <a:solidFill>
                            <a:srgbClr val="A9B7D4"/>
                          </a:solidFill>
                          <a:latin typeface="Calibri" pitchFamily="34" charset="0"/>
                          <a:ea typeface="Calibri" pitchFamily="34" charset="-122"/>
                          <a:cs typeface="Calibri" pitchFamily="34" charset="-120"/>
                        </a:rPr>
                        <a:t>R²</a:t>
                      </a: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00" b="1" dirty="0">
                          <a:solidFill>
                            <a:srgbClr val="A9B7D4"/>
                          </a:solidFill>
                          <a:latin typeface="Calibri" pitchFamily="34" charset="0"/>
                          <a:ea typeface="Calibri" pitchFamily="34" charset="-122"/>
                          <a:cs typeface="Calibri" pitchFamily="34" charset="-120"/>
                        </a:rPr>
                        <a:t>MAE</a:t>
                      </a: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0"/>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Lineal (Clase 2)</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00" dirty="0">
                          <a:solidFill>
                            <a:srgbClr val="A9B7D4"/>
                          </a:solidFill>
                          <a:latin typeface="Calibri" pitchFamily="34" charset="0"/>
                          <a:ea typeface="Calibri" pitchFamily="34" charset="-122"/>
                          <a:cs typeface="Calibri" pitchFamily="34" charset="-120"/>
                        </a:rPr>
                        <a:t>14 448</a:t>
                      </a: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0.651</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49 664</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1"/>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Ridge α = 10</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00" dirty="0">
                          <a:solidFill>
                            <a:srgbClr val="A9B7D4"/>
                          </a:solidFill>
                          <a:latin typeface="Calibri" pitchFamily="34" charset="0"/>
                          <a:ea typeface="Calibri" pitchFamily="34" charset="-122"/>
                          <a:cs typeface="Calibri" pitchFamily="34" charset="-120"/>
                        </a:rPr>
                        <a:t>14 448</a:t>
                      </a: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0.651</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49 653</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2"/>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Lasso α = 1 000 (10 var.)</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00" dirty="0">
                          <a:solidFill>
                            <a:srgbClr val="A9B7D4"/>
                          </a:solidFill>
                          <a:latin typeface="Calibri" pitchFamily="34" charset="0"/>
                          <a:ea typeface="Calibri" pitchFamily="34" charset="-122"/>
                          <a:cs typeface="Calibri" pitchFamily="34" charset="-120"/>
                        </a:rPr>
                        <a:t>14 448</a:t>
                      </a: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0.647</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49 973</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3"/>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Lineal, 90 variables</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00" dirty="0">
                          <a:solidFill>
                            <a:srgbClr val="A9B7D4"/>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A9B7D4"/>
                          </a:solidFill>
                          <a:latin typeface="Calibri" pitchFamily="34" charset="0"/>
                          <a:ea typeface="Calibri" pitchFamily="34" charset="-122"/>
                          <a:cs typeface="Calibri" pitchFamily="34" charset="-120"/>
                        </a:rPr>
                        <a:t>0.531</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A9B7D4"/>
                          </a:solidFill>
                          <a:latin typeface="Calibri" pitchFamily="34" charset="0"/>
                          <a:ea typeface="Calibri" pitchFamily="34" charset="-122"/>
                          <a:cs typeface="Calibri" pitchFamily="34" charset="-120"/>
                        </a:rPr>
                        <a:t>49 787</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4"/>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Ridge, 90 variables</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00" dirty="0">
                          <a:solidFill>
                            <a:srgbClr val="A9B7D4"/>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0.657</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48 262</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5"/>
                  </a:ext>
                </a:extLst>
              </a:tr>
              <a:tr h="393192">
                <a:tc>
                  <a:txBody>
                    <a:bodyPr/>
                    <a:lstStyle/>
                    <a:p>
                      <a:pPr marL="0" indent="0">
                        <a:buNone/>
                      </a:pPr>
                      <a:r>
                        <a:rPr lang="en-US" sz="1150" dirty="0">
                          <a:solidFill>
                            <a:srgbClr val="C9D4EA"/>
                          </a:solidFill>
                          <a:latin typeface="Calibri" pitchFamily="34" charset="0"/>
                          <a:ea typeface="Calibri" pitchFamily="34" charset="-122"/>
                          <a:cs typeface="Calibri" pitchFamily="34" charset="-120"/>
                        </a:rPr>
                        <a:t>SVR RBF (por validación)</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00" dirty="0">
                          <a:solidFill>
                            <a:srgbClr val="A9B7D4"/>
                          </a:solidFill>
                          <a:latin typeface="Calibri" pitchFamily="34" charset="0"/>
                          <a:ea typeface="Calibri" pitchFamily="34" charset="-122"/>
                          <a:cs typeface="Calibri" pitchFamily="34" charset="-120"/>
                        </a:rPr>
                        <a:t>5 000</a:t>
                      </a:r>
                      <a:endParaRPr lang="en-US" sz="11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6B9A"/>
                          </a:solidFill>
                          <a:latin typeface="Calibri" pitchFamily="34" charset="0"/>
                          <a:ea typeface="Calibri" pitchFamily="34" charset="-122"/>
                          <a:cs typeface="Calibri" pitchFamily="34" charset="-120"/>
                        </a:rPr>
                        <a:t>0.759</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00" b="1" dirty="0">
                          <a:solidFill>
                            <a:srgbClr val="FF6B9A"/>
                          </a:solidFill>
                          <a:latin typeface="Calibri" pitchFamily="34" charset="0"/>
                          <a:ea typeface="Calibri" pitchFamily="34" charset="-122"/>
                          <a:cs typeface="Calibri" pitchFamily="34" charset="-120"/>
                        </a:rPr>
                        <a:t>37 926</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6"/>
                  </a:ext>
                </a:extLst>
              </a:tr>
            </a:tbl>
          </a:graphicData>
        </a:graphic>
      </p:graphicFrame>
      <p:sp>
        <p:nvSpPr>
          <p:cNvPr id="10" name="Shape 7"/>
          <p:cNvSpPr/>
          <p:nvPr/>
        </p:nvSpPr>
        <p:spPr>
          <a:xfrm>
            <a:off x="6812280" y="2240280"/>
            <a:ext cx="4873752" cy="1737360"/>
          </a:xfrm>
          <a:prstGeom prst="roundRect">
            <a:avLst>
              <a:gd name="adj" fmla="val 3158"/>
            </a:avLst>
          </a:prstGeom>
          <a:solidFill>
            <a:srgbClr val="FFFFFF"/>
          </a:solidFill>
          <a:ln w="9525">
            <a:solidFill>
              <a:srgbClr val="FFFFFF"/>
            </a:solidFill>
            <a:prstDash val="solid"/>
          </a:ln>
        </p:spPr>
      </p:sp>
      <p:sp>
        <p:nvSpPr>
          <p:cNvPr id="11" name="Shape 8"/>
          <p:cNvSpPr/>
          <p:nvPr/>
        </p:nvSpPr>
        <p:spPr>
          <a:xfrm>
            <a:off x="7040880" y="2487168"/>
            <a:ext cx="128016" cy="128016"/>
          </a:xfrm>
          <a:prstGeom prst="roundRect">
            <a:avLst>
              <a:gd name="adj" fmla="val 21429"/>
            </a:avLst>
          </a:prstGeom>
          <a:solidFill>
            <a:srgbClr val="E6115E"/>
          </a:solidFill>
          <a:ln w="12700">
            <a:solidFill>
              <a:srgbClr val="E6115E"/>
            </a:solidFill>
            <a:prstDash val="solid"/>
          </a:ln>
        </p:spPr>
      </p:sp>
      <p:sp>
        <p:nvSpPr>
          <p:cNvPr id="12" name="Text 9"/>
          <p:cNvSpPr txBox="1"/>
          <p:nvPr/>
        </p:nvSpPr>
        <p:spPr>
          <a:xfrm>
            <a:off x="7269480" y="2377440"/>
            <a:ext cx="423367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Próxima clase · lunes 5/10</a:t>
            </a:r>
            <a:endParaRPr lang="en-US" sz="1400" dirty="0"/>
          </a:p>
        </p:txBody>
      </p:sp>
      <p:sp>
        <p:nvSpPr>
          <p:cNvPr id="13" name="Text 10"/>
          <p:cNvSpPr txBox="1"/>
          <p:nvPr/>
        </p:nvSpPr>
        <p:spPr>
          <a:xfrm>
            <a:off x="7040880" y="2743200"/>
            <a:ext cx="4434840" cy="1188720"/>
          </a:xfrm>
          <a:prstGeom prst="rect">
            <a:avLst/>
          </a:prstGeom>
          <a:noFill/>
          <a:ln/>
        </p:spPr>
        <p:txBody>
          <a:bodyPr wrap="square" lIns="0" tIns="0" rIns="0" bIns="0" rtlCol="0" anchor="t"/>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Clase 4 · Árboles, Random Forest y XGBoost</a:t>
            </a:r>
            <a:endParaRPr lang="en-US" sz="1200" dirty="0"/>
          </a:p>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El SVR mostró cuánta precisión hay en las curvas. Los árboles la buscan partiendo el mapa en regiones, y sin escalar nada.</a:t>
            </a:r>
            <a:endParaRPr lang="en-US" sz="1200" dirty="0"/>
          </a:p>
        </p:txBody>
      </p:sp>
      <p:sp>
        <p:nvSpPr>
          <p:cNvPr id="14" name="Shape 11"/>
          <p:cNvSpPr/>
          <p:nvPr/>
        </p:nvSpPr>
        <p:spPr>
          <a:xfrm>
            <a:off x="6812280" y="4160520"/>
            <a:ext cx="4873752" cy="1691640"/>
          </a:xfrm>
          <a:prstGeom prst="roundRect">
            <a:avLst>
              <a:gd name="adj" fmla="val 3243"/>
            </a:avLst>
          </a:prstGeom>
          <a:solidFill>
            <a:srgbClr val="0F2F6B"/>
          </a:solidFill>
          <a:ln w="9525">
            <a:solidFill>
              <a:srgbClr val="1E3F7F"/>
            </a:solidFill>
            <a:prstDash val="solid"/>
          </a:ln>
        </p:spPr>
      </p:sp>
      <p:sp>
        <p:nvSpPr>
          <p:cNvPr id="15" name="Shape 12"/>
          <p:cNvSpPr/>
          <p:nvPr/>
        </p:nvSpPr>
        <p:spPr>
          <a:xfrm>
            <a:off x="7040880" y="4407408"/>
            <a:ext cx="128016" cy="128016"/>
          </a:xfrm>
          <a:prstGeom prst="roundRect">
            <a:avLst>
              <a:gd name="adj" fmla="val 21429"/>
            </a:avLst>
          </a:prstGeom>
          <a:solidFill>
            <a:srgbClr val="4A82FF"/>
          </a:solidFill>
          <a:ln w="12700">
            <a:solidFill>
              <a:srgbClr val="4A82FF"/>
            </a:solidFill>
            <a:prstDash val="solid"/>
          </a:ln>
        </p:spPr>
      </p:sp>
      <p:sp>
        <p:nvSpPr>
          <p:cNvPr id="16" name="Text 13"/>
          <p:cNvSpPr txBox="1"/>
          <p:nvPr/>
        </p:nvSpPr>
        <p:spPr>
          <a:xfrm>
            <a:off x="7269480" y="4297680"/>
            <a:ext cx="423367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Checklist de salida</a:t>
            </a:r>
            <a:endParaRPr lang="en-US" sz="1400" dirty="0"/>
          </a:p>
        </p:txBody>
      </p:sp>
      <p:sp>
        <p:nvSpPr>
          <p:cNvPr id="17" name="Text 14"/>
          <p:cNvSpPr txBox="1"/>
          <p:nvPr/>
        </p:nvSpPr>
        <p:spPr>
          <a:xfrm>
            <a:off x="7040880" y="4617720"/>
            <a:ext cx="4480560" cy="11887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C9D4EA"/>
                </a:solidFill>
                <a:latin typeface="Calibri" pitchFamily="34" charset="0"/>
                <a:ea typeface="Calibri" pitchFamily="34" charset="-122"/>
                <a:cs typeface="Calibri" pitchFamily="34" charset="-120"/>
              </a:rPr>
              <a:t>Sé qué castigan Ridge y Lasso</a:t>
            </a:r>
            <a:endParaRPr lang="en-US" sz="1150" dirty="0"/>
          </a:p>
          <a:p>
            <a:pPr marL="342900" indent="-342900">
              <a:spcAft>
                <a:spcPts val="300"/>
              </a:spcAft>
              <a:buSzPct val="100000"/>
              <a:buChar char="•"/>
            </a:pPr>
            <a:r>
              <a:rPr lang="en-US" sz="1150" dirty="0">
                <a:solidFill>
                  <a:srgbClr val="C9D4EA"/>
                </a:solidFill>
                <a:latin typeface="Calibri" pitchFamily="34" charset="0"/>
                <a:ea typeface="Calibri" pitchFamily="34" charset="-122"/>
                <a:cs typeface="Calibri" pitchFamily="34" charset="-120"/>
              </a:rPr>
              <a:t>Escalo dentro de un pipeline antes de regularizar</a:t>
            </a:r>
            <a:endParaRPr lang="en-US" sz="1150" dirty="0"/>
          </a:p>
          <a:p>
            <a:pPr marL="342900" indent="-342900">
              <a:spcAft>
                <a:spcPts val="300"/>
              </a:spcAft>
              <a:buSzPct val="100000"/>
              <a:buChar char="•"/>
            </a:pPr>
            <a:r>
              <a:rPr lang="en-US" sz="1150" dirty="0">
                <a:solidFill>
                  <a:srgbClr val="C9D4EA"/>
                </a:solidFill>
                <a:latin typeface="Calibri" pitchFamily="34" charset="0"/>
                <a:ea typeface="Calibri" pitchFamily="34" charset="-122"/>
                <a:cs typeface="Calibri" pitchFamily="34" charset="-120"/>
              </a:rPr>
              <a:t>Elijo α, C y ε sin tocar la prueba</a:t>
            </a:r>
            <a:endParaRPr lang="en-US" sz="1150" dirty="0"/>
          </a:p>
          <a:p>
            <a:pPr marL="342900" indent="-342900">
              <a:spcAft>
                <a:spcPts val="300"/>
              </a:spcAft>
              <a:buSzPct val="100000"/>
              <a:buChar char="•"/>
            </a:pPr>
            <a:r>
              <a:rPr lang="en-US" sz="1150" dirty="0">
                <a:solidFill>
                  <a:srgbClr val="C9D4EA"/>
                </a:solidFill>
                <a:latin typeface="Calibri" pitchFamily="34" charset="0"/>
                <a:ea typeface="Calibri" pitchFamily="34" charset="-122"/>
                <a:cs typeface="Calibri" pitchFamily="34" charset="-120"/>
              </a:rPr>
              <a:t>Sé que más precisión puede costar interpretabilidad</a:t>
            </a:r>
            <a:endParaRPr lang="en-US" sz="1150" dirty="0"/>
          </a:p>
        </p:txBody>
      </p:sp>
      <p:sp>
        <p:nvSpPr>
          <p:cNvPr id="9" name="Text 15"/>
          <p:cNvSpPr txBox="1"/>
          <p:nvPr/>
        </p:nvSpPr>
        <p:spPr>
          <a:xfrm>
            <a:off x="502920" y="6217920"/>
            <a:ext cx="10972800" cy="274320"/>
          </a:xfrm>
          <a:prstGeom prst="rect">
            <a:avLst/>
          </a:prstGeom>
          <a:noFill/>
          <a:ln/>
        </p:spPr>
        <p:txBody>
          <a:bodyPr wrap="square" lIns="0" tIns="0" rIns="0" bIns="0" rtlCol="0" anchor="ctr"/>
          <a:lstStyle/>
          <a:p>
            <a:pPr marL="0" indent="0">
              <a:buNone/>
            </a:pPr>
            <a:r>
              <a:rPr lang="en-US" sz="1050" i="1" dirty="0">
                <a:solidFill>
                  <a:srgbClr val="8595B5"/>
                </a:solidFill>
                <a:latin typeface="Calibri" pitchFamily="34" charset="0"/>
                <a:ea typeface="Calibri" pitchFamily="34" charset="-122"/>
                <a:cs typeface="Calibri" pitchFamily="34" charset="-120"/>
              </a:rPr>
              <a:t>Machine Learning · Curso 7 · Clase 3 de 16 · Docente: Josef Renato Rodriguez</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3692</Words>
  <Application>Microsoft Macintosh PowerPoint</Application>
  <PresentationFormat>Widescreen</PresentationFormat>
  <Paragraphs>474</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3 · Ridge, Lasso y SVR</dc:title>
  <dc:subject>PptxGenJS Presentation</dc:subject>
  <dc:creator>Josef Renato Rodriguez</dc:creator>
  <cp:lastModifiedBy>Josef Rodriguez</cp:lastModifiedBy>
  <cp:revision>2</cp:revision>
  <dcterms:created xsi:type="dcterms:W3CDTF">2026-10-02T23:28:47Z</dcterms:created>
  <dcterms:modified xsi:type="dcterms:W3CDTF">2026-10-03T02:18:45Z</dcterms:modified>
</cp:coreProperties>
</file>